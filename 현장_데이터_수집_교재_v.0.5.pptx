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47" r:id="rId17"/>
    <p:sldId id="348" r:id="rId18"/>
    <p:sldId id="349" r:id="rId19"/>
    <p:sldId id="350" r:id="rId20"/>
    <p:sldId id="351" r:id="rId21"/>
    <p:sldId id="358" r:id="rId22"/>
    <p:sldId id="359" r:id="rId23"/>
    <p:sldId id="738" r:id="rId24"/>
    <p:sldId id="360" r:id="rId25"/>
    <p:sldId id="361" r:id="rId26"/>
    <p:sldId id="362" r:id="rId27"/>
    <p:sldId id="363" r:id="rId28"/>
    <p:sldId id="367" r:id="rId29"/>
    <p:sldId id="368" r:id="rId30"/>
    <p:sldId id="369" r:id="rId31"/>
    <p:sldId id="282" r:id="rId32"/>
    <p:sldId id="283" r:id="rId33"/>
    <p:sldId id="281" r:id="rId34"/>
    <p:sldId id="285" r:id="rId35"/>
    <p:sldId id="287" r:id="rId36"/>
    <p:sldId id="295" r:id="rId37"/>
    <p:sldId id="296" r:id="rId38"/>
    <p:sldId id="297" r:id="rId39"/>
    <p:sldId id="298" r:id="rId40"/>
    <p:sldId id="299" r:id="rId41"/>
    <p:sldId id="305" r:id="rId42"/>
    <p:sldId id="306" r:id="rId43"/>
    <p:sldId id="307" r:id="rId44"/>
    <p:sldId id="308" r:id="rId45"/>
    <p:sldId id="309" r:id="rId46"/>
    <p:sldId id="315" r:id="rId47"/>
    <p:sldId id="316" r:id="rId48"/>
    <p:sldId id="739" r:id="rId49"/>
    <p:sldId id="317" r:id="rId50"/>
    <p:sldId id="318" r:id="rId51"/>
    <p:sldId id="319" r:id="rId52"/>
    <p:sldId id="325" r:id="rId53"/>
    <p:sldId id="326" r:id="rId54"/>
    <p:sldId id="327" r:id="rId55"/>
    <p:sldId id="328" r:id="rId56"/>
    <p:sldId id="329" r:id="rId57"/>
    <p:sldId id="331" r:id="rId58"/>
    <p:sldId id="337" r:id="rId59"/>
    <p:sldId id="338" r:id="rId60"/>
    <p:sldId id="339" r:id="rId61"/>
    <p:sldId id="340" r:id="rId62"/>
    <p:sldId id="341" r:id="rId63"/>
    <p:sldId id="375" r:id="rId64"/>
    <p:sldId id="376" r:id="rId65"/>
    <p:sldId id="377" r:id="rId66"/>
    <p:sldId id="740" r:id="rId67"/>
    <p:sldId id="378" r:id="rId68"/>
    <p:sldId id="379" r:id="rId69"/>
    <p:sldId id="385" r:id="rId70"/>
    <p:sldId id="386" r:id="rId71"/>
    <p:sldId id="387" r:id="rId72"/>
    <p:sldId id="741" r:id="rId73"/>
    <p:sldId id="388" r:id="rId74"/>
    <p:sldId id="389" r:id="rId75"/>
    <p:sldId id="395" r:id="rId76"/>
    <p:sldId id="396" r:id="rId77"/>
    <p:sldId id="397" r:id="rId78"/>
    <p:sldId id="398" r:id="rId79"/>
    <p:sldId id="399" r:id="rId80"/>
    <p:sldId id="405" r:id="rId81"/>
    <p:sldId id="406" r:id="rId82"/>
    <p:sldId id="407" r:id="rId83"/>
    <p:sldId id="408" r:id="rId84"/>
    <p:sldId id="409" r:id="rId85"/>
    <p:sldId id="415" r:id="rId86"/>
    <p:sldId id="416" r:id="rId87"/>
    <p:sldId id="417" r:id="rId88"/>
    <p:sldId id="418" r:id="rId89"/>
    <p:sldId id="419" r:id="rId90"/>
    <p:sldId id="425" r:id="rId91"/>
    <p:sldId id="426" r:id="rId92"/>
    <p:sldId id="427" r:id="rId93"/>
    <p:sldId id="428" r:id="rId94"/>
    <p:sldId id="429" r:id="rId95"/>
    <p:sldId id="435" r:id="rId96"/>
    <p:sldId id="436" r:id="rId97"/>
    <p:sldId id="437" r:id="rId98"/>
    <p:sldId id="438" r:id="rId99"/>
    <p:sldId id="439" r:id="rId100"/>
    <p:sldId id="445" r:id="rId101"/>
    <p:sldId id="446" r:id="rId102"/>
    <p:sldId id="447" r:id="rId103"/>
    <p:sldId id="448" r:id="rId104"/>
    <p:sldId id="449" r:id="rId105"/>
    <p:sldId id="455" r:id="rId106"/>
    <p:sldId id="736" r:id="rId107"/>
    <p:sldId id="456" r:id="rId108"/>
    <p:sldId id="457" r:id="rId109"/>
    <p:sldId id="458" r:id="rId110"/>
    <p:sldId id="459" r:id="rId111"/>
    <p:sldId id="465" r:id="rId112"/>
    <p:sldId id="466" r:id="rId113"/>
    <p:sldId id="467" r:id="rId114"/>
    <p:sldId id="468" r:id="rId115"/>
    <p:sldId id="737" r:id="rId116"/>
    <p:sldId id="469" r:id="rId117"/>
    <p:sldId id="475" r:id="rId118"/>
    <p:sldId id="476" r:id="rId119"/>
    <p:sldId id="735" r:id="rId120"/>
    <p:sldId id="477" r:id="rId121"/>
    <p:sldId id="478" r:id="rId122"/>
    <p:sldId id="479" r:id="rId123"/>
    <p:sldId id="485" r:id="rId124"/>
    <p:sldId id="486" r:id="rId125"/>
    <p:sldId id="487" r:id="rId126"/>
    <p:sldId id="488" r:id="rId127"/>
    <p:sldId id="489" r:id="rId128"/>
    <p:sldId id="496" r:id="rId129"/>
    <p:sldId id="497" r:id="rId130"/>
    <p:sldId id="498" r:id="rId131"/>
    <p:sldId id="499" r:id="rId132"/>
    <p:sldId id="500" r:id="rId133"/>
    <p:sldId id="501" r:id="rId134"/>
    <p:sldId id="507" r:id="rId135"/>
    <p:sldId id="508" r:id="rId136"/>
    <p:sldId id="509" r:id="rId137"/>
    <p:sldId id="510" r:id="rId138"/>
    <p:sldId id="511" r:id="rId139"/>
    <p:sldId id="517" r:id="rId140"/>
    <p:sldId id="518" r:id="rId141"/>
    <p:sldId id="519" r:id="rId142"/>
    <p:sldId id="520" r:id="rId143"/>
    <p:sldId id="528" r:id="rId144"/>
    <p:sldId id="530" r:id="rId145"/>
    <p:sldId id="526" r:id="rId146"/>
    <p:sldId id="532" r:id="rId147"/>
    <p:sldId id="534" r:id="rId148"/>
    <p:sldId id="536" r:id="rId149"/>
    <p:sldId id="538" r:id="rId150"/>
    <p:sldId id="540" r:id="rId151"/>
    <p:sldId id="542" r:id="rId152"/>
    <p:sldId id="544" r:id="rId153"/>
    <p:sldId id="724" r:id="rId154"/>
    <p:sldId id="546" r:id="rId155"/>
    <p:sldId id="548" r:id="rId156"/>
    <p:sldId id="550" r:id="rId157"/>
    <p:sldId id="552" r:id="rId158"/>
    <p:sldId id="554" r:id="rId159"/>
    <p:sldId id="556" r:id="rId160"/>
    <p:sldId id="558" r:id="rId161"/>
    <p:sldId id="560" r:id="rId162"/>
    <p:sldId id="562" r:id="rId163"/>
    <p:sldId id="564" r:id="rId164"/>
    <p:sldId id="566" r:id="rId165"/>
    <p:sldId id="568" r:id="rId166"/>
    <p:sldId id="570" r:id="rId167"/>
    <p:sldId id="572" r:id="rId168"/>
    <p:sldId id="574" r:id="rId169"/>
    <p:sldId id="576" r:id="rId170"/>
    <p:sldId id="578" r:id="rId171"/>
    <p:sldId id="580" r:id="rId172"/>
    <p:sldId id="582" r:id="rId173"/>
    <p:sldId id="584" r:id="rId174"/>
    <p:sldId id="586" r:id="rId175"/>
    <p:sldId id="588" r:id="rId176"/>
    <p:sldId id="590" r:id="rId177"/>
    <p:sldId id="592" r:id="rId178"/>
    <p:sldId id="594" r:id="rId179"/>
    <p:sldId id="596" r:id="rId180"/>
    <p:sldId id="598" r:id="rId181"/>
    <p:sldId id="600" r:id="rId182"/>
    <p:sldId id="602" r:id="rId183"/>
    <p:sldId id="604" r:id="rId184"/>
    <p:sldId id="606" r:id="rId185"/>
    <p:sldId id="608" r:id="rId186"/>
    <p:sldId id="610" r:id="rId187"/>
    <p:sldId id="612" r:id="rId188"/>
    <p:sldId id="614" r:id="rId189"/>
    <p:sldId id="616" r:id="rId190"/>
    <p:sldId id="618" r:id="rId191"/>
    <p:sldId id="620" r:id="rId192"/>
    <p:sldId id="622" r:id="rId193"/>
    <p:sldId id="624" r:id="rId194"/>
    <p:sldId id="626" r:id="rId195"/>
    <p:sldId id="628" r:id="rId196"/>
    <p:sldId id="630" r:id="rId197"/>
    <p:sldId id="632" r:id="rId198"/>
    <p:sldId id="634" r:id="rId199"/>
    <p:sldId id="636" r:id="rId200"/>
    <p:sldId id="638" r:id="rId201"/>
    <p:sldId id="640" r:id="rId202"/>
    <p:sldId id="642" r:id="rId203"/>
    <p:sldId id="644" r:id="rId204"/>
    <p:sldId id="646" r:id="rId205"/>
    <p:sldId id="648" r:id="rId206"/>
    <p:sldId id="650" r:id="rId207"/>
    <p:sldId id="652" r:id="rId208"/>
    <p:sldId id="654" r:id="rId209"/>
    <p:sldId id="656" r:id="rId210"/>
    <p:sldId id="658" r:id="rId211"/>
    <p:sldId id="660" r:id="rId212"/>
    <p:sldId id="662" r:id="rId213"/>
    <p:sldId id="664" r:id="rId214"/>
    <p:sldId id="666" r:id="rId215"/>
    <p:sldId id="668" r:id="rId216"/>
    <p:sldId id="670" r:id="rId217"/>
    <p:sldId id="672" r:id="rId218"/>
    <p:sldId id="674" r:id="rId219"/>
    <p:sldId id="676" r:id="rId220"/>
    <p:sldId id="678" r:id="rId221"/>
    <p:sldId id="680" r:id="rId222"/>
    <p:sldId id="682" r:id="rId223"/>
    <p:sldId id="730" r:id="rId224"/>
    <p:sldId id="731" r:id="rId225"/>
    <p:sldId id="726" r:id="rId226"/>
    <p:sldId id="686" r:id="rId227"/>
    <p:sldId id="732" r:id="rId228"/>
    <p:sldId id="688" r:id="rId229"/>
    <p:sldId id="690" r:id="rId230"/>
    <p:sldId id="692" r:id="rId231"/>
    <p:sldId id="694" r:id="rId232"/>
    <p:sldId id="733" r:id="rId233"/>
    <p:sldId id="696" r:id="rId234"/>
    <p:sldId id="698" r:id="rId235"/>
    <p:sldId id="700" r:id="rId236"/>
    <p:sldId id="702" r:id="rId237"/>
    <p:sldId id="704" r:id="rId238"/>
    <p:sldId id="706" r:id="rId239"/>
    <p:sldId id="708" r:id="rId240"/>
    <p:sldId id="710" r:id="rId241"/>
    <p:sldId id="712" r:id="rId242"/>
    <p:sldId id="714" r:id="rId243"/>
    <p:sldId id="716" r:id="rId244"/>
    <p:sldId id="718" r:id="rId245"/>
    <p:sldId id="720" r:id="rId246"/>
  </p:sld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2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4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tableStyles" Target="tableStyle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3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63002" cy="533369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rcRect l="-6" r="-6"/>
          <a:stretch/>
        </p:blipFill>
        <p:spPr>
          <a:xfrm>
            <a:off x="0" y="5333695"/>
            <a:ext cx="7563002" cy="53620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0" y="0"/>
            <a:ext cx="7563002" cy="5333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0" y="0"/>
            <a:ext cx="800100" cy="950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0" y="0"/>
            <a:ext cx="95098" cy="8001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43154" y="1333195"/>
            <a:ext cx="2667305" cy="323698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6793" y="5810098"/>
            <a:ext cx="1999793" cy="1999793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42793" y="5715000"/>
            <a:ext cx="1428293" cy="1428293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4857293" y="5715000"/>
            <a:ext cx="1943100" cy="1276502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5238598" y="7239305"/>
            <a:ext cx="761695" cy="7616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543154" y="8762695"/>
            <a:ext cx="6476695" cy="9144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6793" y="5810098"/>
            <a:ext cx="1999793" cy="1999793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rcRect t="-1184" b="-1184"/>
          <a:stretch/>
        </p:blipFill>
        <p:spPr>
          <a:xfrm>
            <a:off x="3381451" y="5952744"/>
            <a:ext cx="952805" cy="1463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3"/>
          <a:srcRect t="-1221" b="-1221"/>
          <a:stretch/>
        </p:blipFill>
        <p:spPr>
          <a:xfrm>
            <a:off x="3381451" y="6381598"/>
            <a:ext cx="761695" cy="1463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4"/>
          <a:srcRect t="-1200" b="-1200"/>
          <a:stretch/>
        </p:blipFill>
        <p:spPr>
          <a:xfrm>
            <a:off x="3381451" y="6810451"/>
            <a:ext cx="571500" cy="14630"/>
          </a:xfrm>
          <a:prstGeom prst="rect">
            <a:avLst/>
          </a:prstGeom>
        </p:spPr>
      </p:pic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5"/>
          <a:srcRect t="-16" b="-16"/>
          <a:stretch/>
        </p:blipFill>
        <p:spPr>
          <a:xfrm>
            <a:off x="4953305" y="5810098"/>
            <a:ext cx="1714500" cy="476402"/>
          </a:xfrm>
          <a:prstGeom prst="rect">
            <a:avLst/>
          </a:prstGeom>
          <a:ln>
            <a:solidFill>
              <a:srgbClr val="194237"/>
            </a:solidFill>
          </a:ln>
        </p:spPr>
      </p:pic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6"/>
          <a:srcRect t="-1251" b="-1251"/>
          <a:stretch/>
        </p:blipFill>
        <p:spPr>
          <a:xfrm>
            <a:off x="3238805" y="7524598"/>
            <a:ext cx="304495" cy="14630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7"/>
          <a:srcRect l="-1251" r="-1251"/>
          <a:stretch/>
        </p:blipFill>
        <p:spPr>
          <a:xfrm>
            <a:off x="3381451" y="7391095"/>
            <a:ext cx="14630" cy="304495"/>
          </a:xfrm>
          <a:prstGeom prst="rect">
            <a:avLst/>
          </a:prstGeom>
        </p:spPr>
      </p:pic>
      <p:sp>
        <p:nvSpPr>
          <p:cNvPr id="21" name="Text 4"/>
          <p:cNvSpPr txBox="1"/>
          <p:nvPr/>
        </p:nvSpPr>
        <p:spPr>
          <a:xfrm>
            <a:off x="543154" y="543154"/>
            <a:ext cx="4247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CHONNAM NATIONAL UNIVERSITY · 한국디지털융합진흥원</a:t>
            </a:r>
            <a:endParaRPr lang="en-US" sz="800" dirty="0"/>
          </a:p>
        </p:txBody>
      </p:sp>
      <p:sp>
        <p:nvSpPr>
          <p:cNvPr id="22" name="Text 5"/>
          <p:cNvSpPr txBox="1"/>
          <p:nvPr/>
        </p:nvSpPr>
        <p:spPr>
          <a:xfrm>
            <a:off x="6168542" y="547726"/>
            <a:ext cx="102595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FFFFF">
                    <a:alpha val="5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EDITION</a:t>
            </a:r>
            <a:endParaRPr lang="en-US" sz="800" dirty="0"/>
          </a:p>
        </p:txBody>
      </p:sp>
      <p:sp>
        <p:nvSpPr>
          <p:cNvPr id="23" name="Text 6"/>
          <p:cNvSpPr txBox="1"/>
          <p:nvPr/>
        </p:nvSpPr>
        <p:spPr>
          <a:xfrm>
            <a:off x="543154" y="1904695"/>
            <a:ext cx="647761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9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적용을 위한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9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 수집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kern="0" spc="-79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디지털화 </a:t>
            </a:r>
            <a:endParaRPr lang="en-US" sz="3100" dirty="0"/>
          </a:p>
        </p:txBody>
      </p:sp>
      <p:sp>
        <p:nvSpPr>
          <p:cNvPr id="24" name="Text 7"/>
          <p:cNvSpPr txBox="1"/>
          <p:nvPr/>
        </p:nvSpPr>
        <p:spPr>
          <a:xfrm>
            <a:off x="543154" y="4095598"/>
            <a:ext cx="6477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9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암묵지의 데이터 및 정보화 방법</a:t>
            </a:r>
            <a:endParaRPr lang="en-US" sz="900" dirty="0"/>
          </a:p>
        </p:txBody>
      </p:sp>
      <p:sp>
        <p:nvSpPr>
          <p:cNvPr id="25" name="Text 8"/>
          <p:cNvSpPr txBox="1"/>
          <p:nvPr/>
        </p:nvSpPr>
        <p:spPr>
          <a:xfrm>
            <a:off x="543154" y="4333342"/>
            <a:ext cx="647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머릿속 노하우를 AI가 학습 가능한 데이터로 바꾸는 실무 가이드</a:t>
            </a:r>
            <a:endParaRPr lang="en-US" sz="800" dirty="0"/>
          </a:p>
        </p:txBody>
      </p:sp>
      <p:sp>
        <p:nvSpPr>
          <p:cNvPr id="26" name="Text 9"/>
          <p:cNvSpPr txBox="1"/>
          <p:nvPr/>
        </p:nvSpPr>
        <p:spPr>
          <a:xfrm>
            <a:off x="543154" y="8952890"/>
            <a:ext cx="1524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3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800" dirty="0"/>
          </a:p>
        </p:txBody>
      </p:sp>
      <p:sp>
        <p:nvSpPr>
          <p:cNvPr id="27" name="Text 10"/>
          <p:cNvSpPr txBox="1"/>
          <p:nvPr/>
        </p:nvSpPr>
        <p:spPr>
          <a:xfrm>
            <a:off x="543154" y="9124798"/>
            <a:ext cx="1524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 이해</a:t>
            </a:r>
            <a:endParaRPr lang="en-US" sz="800" dirty="0"/>
          </a:p>
        </p:txBody>
      </p:sp>
      <p:sp>
        <p:nvSpPr>
          <p:cNvPr id="28" name="Text 11"/>
          <p:cNvSpPr txBox="1"/>
          <p:nvPr/>
        </p:nvSpPr>
        <p:spPr>
          <a:xfrm>
            <a:off x="2190902" y="8952890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3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800" dirty="0"/>
          </a:p>
        </p:txBody>
      </p:sp>
      <p:sp>
        <p:nvSpPr>
          <p:cNvPr id="29" name="Text 12"/>
          <p:cNvSpPr txBox="1"/>
          <p:nvPr/>
        </p:nvSpPr>
        <p:spPr>
          <a:xfrm>
            <a:off x="2190902" y="9124798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캡처 방법</a:t>
            </a:r>
            <a:endParaRPr lang="en-US" sz="800" dirty="0"/>
          </a:p>
        </p:txBody>
      </p:sp>
      <p:sp>
        <p:nvSpPr>
          <p:cNvPr id="30" name="Text 13"/>
          <p:cNvSpPr txBox="1"/>
          <p:nvPr/>
        </p:nvSpPr>
        <p:spPr>
          <a:xfrm>
            <a:off x="3905402" y="8952890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3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800" dirty="0"/>
          </a:p>
        </p:txBody>
      </p:sp>
      <p:sp>
        <p:nvSpPr>
          <p:cNvPr id="31" name="Text 14"/>
          <p:cNvSpPr txBox="1"/>
          <p:nvPr/>
        </p:nvSpPr>
        <p:spPr>
          <a:xfrm>
            <a:off x="3905402" y="9124798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 · 라벨링</a:t>
            </a:r>
            <a:endParaRPr lang="en-US" sz="800" dirty="0"/>
          </a:p>
        </p:txBody>
      </p:sp>
      <p:sp>
        <p:nvSpPr>
          <p:cNvPr id="32" name="Text 15"/>
          <p:cNvSpPr txBox="1"/>
          <p:nvPr/>
        </p:nvSpPr>
        <p:spPr>
          <a:xfrm>
            <a:off x="5619902" y="8952890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3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800" dirty="0"/>
          </a:p>
        </p:txBody>
      </p:sp>
      <p:sp>
        <p:nvSpPr>
          <p:cNvPr id="33" name="Text 16"/>
          <p:cNvSpPr txBox="1"/>
          <p:nvPr/>
        </p:nvSpPr>
        <p:spPr>
          <a:xfrm>
            <a:off x="5619902" y="9124798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자료실</a:t>
            </a:r>
            <a:endParaRPr lang="en-US" sz="800" dirty="0"/>
          </a:p>
        </p:txBody>
      </p:sp>
      <p:sp>
        <p:nvSpPr>
          <p:cNvPr id="34" name="Text 17"/>
          <p:cNvSpPr txBox="1"/>
          <p:nvPr/>
        </p:nvSpPr>
        <p:spPr>
          <a:xfrm>
            <a:off x="543154" y="9905695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전남대학교 · 한국디지털융합진흥원</a:t>
            </a:r>
            <a:endParaRPr lang="en-US" sz="800" dirty="0"/>
          </a:p>
        </p:txBody>
      </p:sp>
      <p:sp>
        <p:nvSpPr>
          <p:cNvPr id="35" name="Text 18"/>
          <p:cNvSpPr txBox="1"/>
          <p:nvPr/>
        </p:nvSpPr>
        <p:spPr>
          <a:xfrm>
            <a:off x="543154" y="10077602"/>
            <a:ext cx="3810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CHONNAM NATIONAL UNIVERSITY · KDCPA · 2026</a:t>
            </a:r>
            <a:endParaRPr lang="en-US" sz="800" dirty="0"/>
          </a:p>
        </p:txBody>
      </p:sp>
      <p:sp>
        <p:nvSpPr>
          <p:cNvPr id="36" name="Text 19"/>
          <p:cNvSpPr txBox="1"/>
          <p:nvPr/>
        </p:nvSpPr>
        <p:spPr>
          <a:xfrm>
            <a:off x="4953305" y="9905695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7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VOL. 02 · ISBN 000-00-00000-00-2</a:t>
            </a:r>
            <a:endParaRPr lang="en-US" sz="800" dirty="0"/>
          </a:p>
        </p:txBody>
      </p:sp>
      <p:sp>
        <p:nvSpPr>
          <p:cNvPr id="37" name="Text 20"/>
          <p:cNvSpPr txBox="1"/>
          <p:nvPr/>
        </p:nvSpPr>
        <p:spPr>
          <a:xfrm>
            <a:off x="4953305" y="10058400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초교 · 비매품</a:t>
            </a:r>
            <a:endParaRPr lang="en-US" sz="800" dirty="0"/>
          </a:p>
        </p:txBody>
      </p:sp>
      <p:sp>
        <p:nvSpPr>
          <p:cNvPr id="38" name="Text 21"/>
          <p:cNvSpPr txBox="1"/>
          <p:nvPr/>
        </p:nvSpPr>
        <p:spPr>
          <a:xfrm>
            <a:off x="813816" y="1419149"/>
            <a:ext cx="2438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· DIGITALIZATION</a:t>
            </a:r>
            <a:endParaRPr lang="en-US" sz="800" dirty="0"/>
          </a:p>
        </p:txBody>
      </p:sp>
      <p:sp>
        <p:nvSpPr>
          <p:cNvPr id="39" name="Text 22"/>
          <p:cNvSpPr txBox="1"/>
          <p:nvPr/>
        </p:nvSpPr>
        <p:spPr>
          <a:xfrm>
            <a:off x="1028700" y="7429500"/>
            <a:ext cx="1714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· 01</a:t>
            </a:r>
            <a:endParaRPr lang="en-US" sz="800" dirty="0"/>
          </a:p>
        </p:txBody>
      </p:sp>
      <p:sp>
        <p:nvSpPr>
          <p:cNvPr id="40" name="Text 23"/>
          <p:cNvSpPr txBox="1"/>
          <p:nvPr/>
        </p:nvSpPr>
        <p:spPr>
          <a:xfrm>
            <a:off x="1028700" y="7572146"/>
            <a:ext cx="1714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-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TACIT (암묵지)</a:t>
            </a:r>
            <a:endParaRPr lang="en-US" sz="900" dirty="0"/>
          </a:p>
        </p:txBody>
      </p:sp>
      <p:sp>
        <p:nvSpPr>
          <p:cNvPr id="41" name="Text 24"/>
          <p:cNvSpPr txBox="1"/>
          <p:nvPr/>
        </p:nvSpPr>
        <p:spPr>
          <a:xfrm>
            <a:off x="3314700" y="6762902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· 02</a:t>
            </a:r>
            <a:endParaRPr lang="en-US" sz="800" dirty="0"/>
          </a:p>
        </p:txBody>
      </p:sp>
      <p:sp>
        <p:nvSpPr>
          <p:cNvPr id="42" name="Text 25"/>
          <p:cNvSpPr txBox="1"/>
          <p:nvPr/>
        </p:nvSpPr>
        <p:spPr>
          <a:xfrm>
            <a:off x="3314700" y="6905549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CAPTURE</a:t>
            </a:r>
            <a:endParaRPr lang="en-US" sz="800" dirty="0"/>
          </a:p>
        </p:txBody>
      </p:sp>
      <p:sp>
        <p:nvSpPr>
          <p:cNvPr id="43" name="Text 26"/>
          <p:cNvSpPr txBox="1"/>
          <p:nvPr/>
        </p:nvSpPr>
        <p:spPr>
          <a:xfrm>
            <a:off x="4990795" y="6571793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· 03</a:t>
            </a:r>
            <a:endParaRPr lang="en-US" sz="800" dirty="0"/>
          </a:p>
        </p:txBody>
      </p:sp>
      <p:sp>
        <p:nvSpPr>
          <p:cNvPr id="44" name="Text 27"/>
          <p:cNvSpPr txBox="1"/>
          <p:nvPr/>
        </p:nvSpPr>
        <p:spPr>
          <a:xfrm>
            <a:off x="4990795" y="6715354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STRUCTURED</a:t>
            </a:r>
            <a:endParaRPr lang="en-US" sz="800" dirty="0"/>
          </a:p>
        </p:txBody>
      </p:sp>
      <p:sp>
        <p:nvSpPr>
          <p:cNvPr id="45" name="Text 28"/>
          <p:cNvSpPr txBox="1"/>
          <p:nvPr/>
        </p:nvSpPr>
        <p:spPr>
          <a:xfrm>
            <a:off x="5238598" y="8096098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2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READY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3154" y="6286500"/>
            <a:ext cx="6495898" cy="3638398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543154" y="6286500"/>
            <a:ext cx="6476695" cy="36191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7563002" cy="1709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23951" y="1238098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3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VOL. 02 / 02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43154" y="4524451"/>
            <a:ext cx="6476695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43000" y="7048195"/>
            <a:ext cx="1143000" cy="2286000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2476195" y="7619695"/>
            <a:ext cx="1143000" cy="17145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810305" y="7334402"/>
            <a:ext cx="1181405" cy="2038198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8191195"/>
            <a:ext cx="1143000" cy="1143000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0" y="7048195"/>
            <a:ext cx="1143000" cy="22860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6" r="-16"/>
          <a:stretch/>
        </p:blipFill>
        <p:spPr>
          <a:xfrm>
            <a:off x="3905402" y="7429500"/>
            <a:ext cx="952805" cy="5715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2089" r="-2089"/>
          <a:stretch/>
        </p:blipFill>
        <p:spPr>
          <a:xfrm>
            <a:off x="5143500" y="6571793"/>
            <a:ext cx="1619402" cy="9144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t="-1876" b="-1876"/>
          <a:stretch/>
        </p:blipFill>
        <p:spPr>
          <a:xfrm>
            <a:off x="5143500" y="6543446"/>
            <a:ext cx="9144" cy="7589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t="-1876" b="-1876"/>
          <a:stretch/>
        </p:blipFill>
        <p:spPr>
          <a:xfrm>
            <a:off x="6752844" y="6543446"/>
            <a:ext cx="9144" cy="758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43154" y="476402"/>
            <a:ext cx="2533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CHONNAM NATIONAL UNIVERSITY</a:t>
            </a:r>
            <a:endParaRPr lang="en-US" sz="800" dirty="0"/>
          </a:p>
        </p:txBody>
      </p:sp>
      <p:sp>
        <p:nvSpPr>
          <p:cNvPr id="18" name="Text 9"/>
          <p:cNvSpPr txBox="1"/>
          <p:nvPr/>
        </p:nvSpPr>
        <p:spPr>
          <a:xfrm>
            <a:off x="5191049" y="480974"/>
            <a:ext cx="211409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· DIGITALIZATION</a:t>
            </a:r>
            <a:endParaRPr lang="en-US" sz="800" dirty="0"/>
          </a:p>
        </p:txBody>
      </p:sp>
      <p:sp>
        <p:nvSpPr>
          <p:cNvPr id="19" name="Text 10"/>
          <p:cNvSpPr txBox="1"/>
          <p:nvPr/>
        </p:nvSpPr>
        <p:spPr>
          <a:xfrm>
            <a:off x="543154" y="1619402"/>
            <a:ext cx="41916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0" b="1" kern="0" spc="-222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암묵지를 </a:t>
            </a:r>
            <a:r>
              <a:rPr lang="en-US" sz="5500" b="1" kern="0" spc="-222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5500" dirty="0"/>
          </a:p>
        </p:txBody>
      </p:sp>
      <p:sp>
        <p:nvSpPr>
          <p:cNvPr id="20" name="Text 11"/>
          <p:cNvSpPr txBox="1"/>
          <p:nvPr/>
        </p:nvSpPr>
        <p:spPr>
          <a:xfrm>
            <a:off x="543154" y="2359152"/>
            <a:ext cx="41916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0" b="1" kern="0" spc="-222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</a:t>
            </a:r>
            <a:endParaRPr lang="en-US" sz="5500" dirty="0"/>
          </a:p>
        </p:txBody>
      </p:sp>
      <p:sp>
        <p:nvSpPr>
          <p:cNvPr id="21" name="Text 12"/>
          <p:cNvSpPr txBox="1"/>
          <p:nvPr/>
        </p:nvSpPr>
        <p:spPr>
          <a:xfrm>
            <a:off x="543154" y="3156509"/>
            <a:ext cx="49569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9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→ 디지털 워크북</a:t>
            </a:r>
            <a:endParaRPr lang="en-US" sz="3100" dirty="0"/>
          </a:p>
        </p:txBody>
      </p:sp>
      <p:sp>
        <p:nvSpPr>
          <p:cNvPr id="22" name="Text 13"/>
          <p:cNvSpPr txBox="1"/>
          <p:nvPr/>
        </p:nvSpPr>
        <p:spPr>
          <a:xfrm>
            <a:off x="4953305" y="1733702"/>
            <a:ext cx="2067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1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EDITION</a:t>
            </a:r>
            <a:endParaRPr lang="en-US" sz="800" dirty="0"/>
          </a:p>
        </p:txBody>
      </p:sp>
      <p:sp>
        <p:nvSpPr>
          <p:cNvPr id="23" name="Text 14"/>
          <p:cNvSpPr txBox="1"/>
          <p:nvPr/>
        </p:nvSpPr>
        <p:spPr>
          <a:xfrm>
            <a:off x="4953305" y="1914754"/>
            <a:ext cx="20674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2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rcRect t="-360" b="-360"/>
          <a:stretch/>
        </p:blipFill>
        <p:spPr>
          <a:xfrm>
            <a:off x="6638544" y="2314346"/>
            <a:ext cx="381305" cy="192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953305" y="2428646"/>
            <a:ext cx="20674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한국디지털융합진흥원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전남대학교 평생교육원</a:t>
            </a:r>
            <a:endParaRPr lang="en-US" sz="800" dirty="0"/>
          </a:p>
        </p:txBody>
      </p:sp>
      <p:sp>
        <p:nvSpPr>
          <p:cNvPr id="26" name="Text 16"/>
          <p:cNvSpPr txBox="1"/>
          <p:nvPr/>
        </p:nvSpPr>
        <p:spPr>
          <a:xfrm>
            <a:off x="543154" y="4714646"/>
            <a:ext cx="6477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적용을 위한 현장 데이터 수집 및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 — 암묵지의 정보화 방법</a:t>
            </a:r>
            <a:endParaRPr lang="en-US" sz="1700" dirty="0"/>
          </a:p>
        </p:txBody>
      </p:sp>
      <p:sp>
        <p:nvSpPr>
          <p:cNvPr id="27" name="Text 17"/>
          <p:cNvSpPr txBox="1"/>
          <p:nvPr/>
        </p:nvSpPr>
        <p:spPr>
          <a:xfrm>
            <a:off x="543154" y="5465369"/>
            <a:ext cx="6477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베테랑의 머릿속을 데이터셋으로 만드는 실무 가이드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 · 인터뷰 · 라벨링 · 검수까지 4단계 워크북 </a:t>
            </a:r>
            <a:endParaRPr lang="en-US" sz="900" dirty="0"/>
          </a:p>
        </p:txBody>
      </p:sp>
      <p:sp>
        <p:nvSpPr>
          <p:cNvPr id="28" name="Text 18"/>
          <p:cNvSpPr txBox="1"/>
          <p:nvPr/>
        </p:nvSpPr>
        <p:spPr>
          <a:xfrm>
            <a:off x="543154" y="10115093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전남대학교 · 한국디지털융합진흥원 발행</a:t>
            </a:r>
            <a:endParaRPr lang="en-US" sz="800" dirty="0"/>
          </a:p>
        </p:txBody>
      </p:sp>
      <p:sp>
        <p:nvSpPr>
          <p:cNvPr id="29" name="Text 19"/>
          <p:cNvSpPr txBox="1"/>
          <p:nvPr/>
        </p:nvSpPr>
        <p:spPr>
          <a:xfrm>
            <a:off x="543154" y="10287000"/>
            <a:ext cx="3810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CHONNAM NATIONAL UNIVERSITY · 2026</a:t>
            </a:r>
            <a:endParaRPr lang="en-US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4953305" y="10115093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VOL. 02 · ISBN 000-00-00000-00-2</a:t>
            </a:r>
            <a:endParaRPr lang="en-US" sz="800" dirty="0"/>
          </a:p>
        </p:txBody>
      </p:sp>
      <p:sp>
        <p:nvSpPr>
          <p:cNvPr id="31" name="Text 21"/>
          <p:cNvSpPr txBox="1"/>
          <p:nvPr/>
        </p:nvSpPr>
        <p:spPr>
          <a:xfrm>
            <a:off x="4953305" y="10267798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초교 · 비매품</a:t>
            </a:r>
            <a:endParaRPr lang="en-US" sz="800" dirty="0"/>
          </a:p>
        </p:txBody>
      </p:sp>
      <p:sp>
        <p:nvSpPr>
          <p:cNvPr id="32" name="Text 22"/>
          <p:cNvSpPr txBox="1"/>
          <p:nvPr/>
        </p:nvSpPr>
        <p:spPr>
          <a:xfrm>
            <a:off x="714146" y="6476695"/>
            <a:ext cx="300746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3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A — TACIT TO STRUCTURED PIPELINE</a:t>
            </a:r>
            <a:endParaRPr lang="en-US" sz="800" dirty="0"/>
          </a:p>
        </p:txBody>
      </p:sp>
      <p:sp>
        <p:nvSpPr>
          <p:cNvPr id="33" name="Text 23"/>
          <p:cNvSpPr txBox="1"/>
          <p:nvPr/>
        </p:nvSpPr>
        <p:spPr>
          <a:xfrm>
            <a:off x="1218895" y="9001354"/>
            <a:ext cx="11430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TACIT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2553005" y="9001354"/>
            <a:ext cx="131673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CAPTURE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3886200" y="9001354"/>
            <a:ext cx="11430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STRUCT</a:t>
            </a:r>
            <a:endParaRPr lang="en-US" sz="800" dirty="0"/>
          </a:p>
        </p:txBody>
      </p:sp>
      <p:sp>
        <p:nvSpPr>
          <p:cNvPr id="36" name="Text 26"/>
          <p:cNvSpPr txBox="1"/>
          <p:nvPr/>
        </p:nvSpPr>
        <p:spPr>
          <a:xfrm>
            <a:off x="5219395" y="9001354"/>
            <a:ext cx="11430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APPNDX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5143500" y="6686093"/>
            <a:ext cx="1619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1 : 100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63002" cy="3995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33849" y="5428793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28946" y="7905902"/>
            <a:ext cx="571500" cy="5715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95544" y="7905902"/>
            <a:ext cx="609905" cy="609905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162142" y="7905902"/>
            <a:ext cx="571500" cy="571500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43154" y="9334195"/>
            <a:ext cx="6476695" cy="914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18000"/>
          </a:blip>
          <a:srcRect l="-58" r="-58"/>
          <a:stretch/>
        </p:blipFill>
        <p:spPr>
          <a:xfrm>
            <a:off x="0" y="0"/>
            <a:ext cx="7563002" cy="399593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33849" y="5428793"/>
            <a:ext cx="22860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543154" y="761695"/>
            <a:ext cx="27258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2" name="Text 7"/>
          <p:cNvSpPr txBox="1"/>
          <p:nvPr/>
        </p:nvSpPr>
        <p:spPr>
          <a:xfrm>
            <a:off x="5648249" y="761695"/>
            <a:ext cx="1638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KOR · ISSUE 02</a:t>
            </a:r>
            <a:endParaRPr lang="en-US" sz="800" dirty="0"/>
          </a:p>
        </p:txBody>
      </p:sp>
      <p:sp>
        <p:nvSpPr>
          <p:cNvPr id="13" name="Text 8"/>
          <p:cNvSpPr txBox="1"/>
          <p:nvPr/>
        </p:nvSpPr>
        <p:spPr>
          <a:xfrm>
            <a:off x="543154" y="1333195"/>
            <a:ext cx="647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WORKBOOK FOR TURNING TACIT KNOWLEDGE INTO DATA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543154" y="1714500"/>
            <a:ext cx="647761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kern="0" spc="-12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베테랑의 손끝을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kern="0" spc="-12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학습할 수 있는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kern="0" spc="-12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만든다.</a:t>
            </a:r>
            <a:endParaRPr lang="en-US" sz="3500" dirty="0"/>
          </a:p>
        </p:txBody>
      </p:sp>
      <p:sp>
        <p:nvSpPr>
          <p:cNvPr id="15" name="Text 10"/>
          <p:cNvSpPr txBox="1"/>
          <p:nvPr/>
        </p:nvSpPr>
        <p:spPr>
          <a:xfrm>
            <a:off x="543154" y="4572000"/>
            <a:ext cx="64776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책은 현장에서 베테랑의 머릿속에 있는 암묵지를, AI가 학습할 수 있는 정형 데이터로 옮기는 실무 워크북입니다.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이론은 줄이고, 양식과 체크리스트를 따라가며 실제 데이터셋을 한 단계씩 만들어 봅니다. 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43154" y="5686654"/>
            <a:ext cx="228600" cy="192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6851" y="5619902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책의 특징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714146" y="5905195"/>
            <a:ext cx="3067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관찰·인터뷰·라벨링·검수의 4단계 표준화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714146" y="6191402"/>
            <a:ext cx="3067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음성·영상·텍스트·센서 데이터 통합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714146" y="6477610"/>
            <a:ext cx="3067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"양식 → 빈칸 채우기"로 즉시 적용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714146" y="6763817"/>
            <a:ext cx="33265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학습용 데이터셋의 첫 1,000행을 만들어 냅니다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43154" y="9524390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전남대학교 · 한국디지털융합진흥원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543154" y="9743846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CHONNAM NATIONAL UNIVERSITY · 2026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0" y="9524390"/>
            <a:ext cx="2448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VOL. 02 · ISBN 000-00-00000-00-2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9696298"/>
            <a:ext cx="2448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초교 · 비매품 · A4 국배판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4943246" y="5905195"/>
            <a:ext cx="1905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4943246" y="6105449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100" dirty="0"/>
          </a:p>
        </p:txBody>
      </p:sp>
      <p:sp>
        <p:nvSpPr>
          <p:cNvPr id="28" name="Text 22"/>
          <p:cNvSpPr txBox="1"/>
          <p:nvPr/>
        </p:nvSpPr>
        <p:spPr>
          <a:xfrm>
            <a:off x="4943246" y="6581851"/>
            <a:ext cx="1905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→ 인터뷰 → 라벨링 → 검수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파이프라인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8286293"/>
            <a:ext cx="5771693" cy="1524305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13" b="-413"/>
          <a:stretch/>
        </p:blipFill>
        <p:spPr>
          <a:xfrm>
            <a:off x="895198" y="8286293"/>
            <a:ext cx="56693" cy="1524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895198" y="2286000"/>
            <a:ext cx="5771693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895198" y="4238244"/>
            <a:ext cx="5771693" cy="914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895198" y="6191402"/>
            <a:ext cx="5771693" cy="914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43154" y="543154"/>
            <a:ext cx="6476695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543154" y="304495"/>
            <a:ext cx="132770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 · 차례</a:t>
            </a:r>
            <a:endParaRPr lang="en-US" sz="800" dirty="0"/>
          </a:p>
        </p:txBody>
      </p:sp>
      <p:sp>
        <p:nvSpPr>
          <p:cNvPr id="10" name="Text 3"/>
          <p:cNvSpPr txBox="1"/>
          <p:nvPr/>
        </p:nvSpPr>
        <p:spPr>
          <a:xfrm>
            <a:off x="4805172" y="304495"/>
            <a:ext cx="27441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적용을 위한 현장 데이터 수집 및 디지털화</a:t>
            </a:r>
            <a:endParaRPr lang="en-US" sz="800" dirty="0"/>
          </a:p>
        </p:txBody>
      </p:sp>
      <p:sp>
        <p:nvSpPr>
          <p:cNvPr id="11" name="Text 4"/>
          <p:cNvSpPr txBox="1"/>
          <p:nvPr/>
        </p:nvSpPr>
        <p:spPr>
          <a:xfrm>
            <a:off x="895198" y="1047902"/>
            <a:ext cx="5772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800" dirty="0"/>
          </a:p>
        </p:txBody>
      </p:sp>
      <p:sp>
        <p:nvSpPr>
          <p:cNvPr id="12" name="Text 5"/>
          <p:cNvSpPr txBox="1"/>
          <p:nvPr/>
        </p:nvSpPr>
        <p:spPr>
          <a:xfrm>
            <a:off x="895198" y="1276502"/>
            <a:ext cx="5772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5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례</a:t>
            </a:r>
            <a:endParaRPr lang="en-US" sz="2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895198" y="1746504"/>
            <a:ext cx="571500" cy="2834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895198" y="2428646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800" dirty="0"/>
          </a:p>
        </p:txBody>
      </p:sp>
      <p:sp>
        <p:nvSpPr>
          <p:cNvPr id="15" name="Text 7"/>
          <p:cNvSpPr txBox="1"/>
          <p:nvPr/>
        </p:nvSpPr>
        <p:spPr>
          <a:xfrm>
            <a:off x="895198" y="2571293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10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16" name="Text 8"/>
          <p:cNvSpPr txBox="1"/>
          <p:nvPr/>
        </p:nvSpPr>
        <p:spPr>
          <a:xfrm>
            <a:off x="2190902" y="2476195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데이터와 암묵지의 이해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2190902" y="3087014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2190902" y="2876702"/>
            <a:ext cx="1972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· 정보 · 지식 · 지혜의 위계</a:t>
            </a:r>
            <a:endParaRPr lang="en-US" sz="800" dirty="0"/>
          </a:p>
        </p:txBody>
      </p:sp>
      <p:sp>
        <p:nvSpPr>
          <p:cNvPr id="19" name="Text 11"/>
          <p:cNvSpPr txBox="1"/>
          <p:nvPr/>
        </p:nvSpPr>
        <p:spPr>
          <a:xfrm>
            <a:off x="6482182" y="2876702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009</a:t>
            </a:r>
            <a:endParaRPr lang="en-US" sz="800" dirty="0"/>
          </a:p>
        </p:txBody>
      </p:sp>
      <p:sp>
        <p:nvSpPr>
          <p:cNvPr id="20" name="Shape 12"/>
          <p:cNvSpPr/>
          <p:nvPr/>
        </p:nvSpPr>
        <p:spPr>
          <a:xfrm>
            <a:off x="2190902" y="3331159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 txBox="1"/>
          <p:nvPr/>
        </p:nvSpPr>
        <p:spPr>
          <a:xfrm>
            <a:off x="2190902" y="3121762"/>
            <a:ext cx="2200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형식지 vs 암묵지 — Nonaka SECI 모형</a:t>
            </a:r>
            <a:endParaRPr lang="en-US" sz="800" dirty="0"/>
          </a:p>
        </p:txBody>
      </p:sp>
      <p:sp>
        <p:nvSpPr>
          <p:cNvPr id="22" name="Text 14"/>
          <p:cNvSpPr txBox="1"/>
          <p:nvPr/>
        </p:nvSpPr>
        <p:spPr>
          <a:xfrm>
            <a:off x="6482182" y="3121762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018</a:t>
            </a:r>
            <a:endParaRPr lang="en-US" sz="800" dirty="0"/>
          </a:p>
        </p:txBody>
      </p:sp>
      <p:sp>
        <p:nvSpPr>
          <p:cNvPr id="23" name="Text 15"/>
          <p:cNvSpPr txBox="1"/>
          <p:nvPr/>
        </p:nvSpPr>
        <p:spPr>
          <a:xfrm>
            <a:off x="2190902" y="3365906"/>
            <a:ext cx="20455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현장 데이터 인벤토리 작성 (워크북)</a:t>
            </a:r>
            <a:endParaRPr lang="en-US" sz="800" dirty="0"/>
          </a:p>
        </p:txBody>
      </p:sp>
      <p:sp>
        <p:nvSpPr>
          <p:cNvPr id="24" name="Text 16"/>
          <p:cNvSpPr txBox="1"/>
          <p:nvPr/>
        </p:nvSpPr>
        <p:spPr>
          <a:xfrm>
            <a:off x="6482182" y="3365906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032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895198" y="4381805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895198" y="4524451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10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27" name="Text 19"/>
          <p:cNvSpPr txBox="1"/>
          <p:nvPr/>
        </p:nvSpPr>
        <p:spPr>
          <a:xfrm>
            <a:off x="2190902" y="4429354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캡처의 4가지 방법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2190902" y="5039258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2190902" y="4828946"/>
            <a:ext cx="17876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 · 인터뷰 · 영상 · 센서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6482182" y="4828946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044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2190902" y="5284318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2190902" y="5074006"/>
            <a:ext cx="18964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캡처 도구 매트릭스 (4가지 비교)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6482182" y="5074006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053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2190902" y="5319065"/>
            <a:ext cx="19805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베테랑 인터뷰 시뮬레이션 (워크북)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6482182" y="5319065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068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895198" y="6334049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895198" y="6476695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10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38" name="Text 30"/>
          <p:cNvSpPr txBox="1"/>
          <p:nvPr/>
        </p:nvSpPr>
        <p:spPr>
          <a:xfrm>
            <a:off x="2190902" y="6381598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 · 라벨링 · 데이터 품질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2190902" y="6991502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2190902" y="6782105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라벨링 표준 · 스키마 설계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6482182" y="6782105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082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2190902" y="7236562"/>
            <a:ext cx="4476902" cy="9144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 txBox="1"/>
          <p:nvPr/>
        </p:nvSpPr>
        <p:spPr>
          <a:xfrm>
            <a:off x="2190902" y="7026250"/>
            <a:ext cx="16669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품질 지표 · IAA · 정합성 검사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6482182" y="7026250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092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2190902" y="7271309"/>
            <a:ext cx="148315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비식별화 · 윤리</a:t>
            </a:r>
            <a:endParaRPr lang="en-US" sz="800" dirty="0"/>
          </a:p>
        </p:txBody>
      </p:sp>
      <p:sp>
        <p:nvSpPr>
          <p:cNvPr id="46" name="Text 38"/>
          <p:cNvSpPr txBox="1"/>
          <p:nvPr/>
        </p:nvSpPr>
        <p:spPr>
          <a:xfrm>
            <a:off x="6482182" y="7271309"/>
            <a:ext cx="224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800" dirty="0"/>
          </a:p>
        </p:txBody>
      </p:sp>
      <p:sp>
        <p:nvSpPr>
          <p:cNvPr id="47" name="Text 39"/>
          <p:cNvSpPr txBox="1"/>
          <p:nvPr/>
        </p:nvSpPr>
        <p:spPr>
          <a:xfrm>
            <a:off x="1143000" y="8458200"/>
            <a:ext cx="5334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TO USE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1143000" y="8639251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책의 사용법</a:t>
            </a:r>
            <a:endParaRPr lang="en-US" sz="1100" dirty="0"/>
          </a:p>
        </p:txBody>
      </p:sp>
      <p:sp>
        <p:nvSpPr>
          <p:cNvPr id="49" name="Text 41"/>
          <p:cNvSpPr txBox="1"/>
          <p:nvPr/>
        </p:nvSpPr>
        <p:spPr>
          <a:xfrm>
            <a:off x="1143000" y="8915400"/>
            <a:ext cx="5334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실습은 </a:t>
            </a:r>
            <a:r>
              <a:rPr lang="en-US" sz="8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 → 시나리오 → 따라하기 → 직접 해보기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순서로 5개 블록으로 구성됩니다.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[코드 X-Y] 형식의 양식·스키마는 그대로 복사해 회사 데이터에 적용할 수 있도록 설계되었으며,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단원의 </a:t>
            </a: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박스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개인정보·영업비밀 보호를 위해 반드시 확인할 항목입니다. </a:t>
            </a:r>
            <a:endParaRPr lang="en-US" sz="800" dirty="0"/>
          </a:p>
        </p:txBody>
      </p:sp>
      <p:sp>
        <p:nvSpPr>
          <p:cNvPr id="50" name="Text 42"/>
          <p:cNvSpPr txBox="1"/>
          <p:nvPr/>
        </p:nvSpPr>
        <p:spPr>
          <a:xfrm>
            <a:off x="543154" y="10253167"/>
            <a:ext cx="155813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전남대학교 · 한국디지털융합진흥원</a:t>
            </a:r>
            <a:endParaRPr lang="en-US" sz="800" dirty="0"/>
          </a:p>
        </p:txBody>
      </p:sp>
      <p:sp>
        <p:nvSpPr>
          <p:cNvPr id="51" name="Text 43"/>
          <p:cNvSpPr txBox="1"/>
          <p:nvPr/>
        </p:nvSpPr>
        <p:spPr>
          <a:xfrm>
            <a:off x="6679692" y="10239451"/>
            <a:ext cx="5065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143500" y="571500"/>
            <a:ext cx="761695" cy="761695"/>
          </a:xfrm>
          <a:prstGeom prst="rect">
            <a:avLst/>
          </a:prstGeom>
          <a:solidFill>
            <a:srgbClr val="F4B40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10098" y="856793"/>
            <a:ext cx="856793" cy="856793"/>
          </a:xfrm>
          <a:prstGeom prst="rect">
            <a:avLst/>
          </a:prstGeom>
          <a:solidFill>
            <a:srgbClr val="0F3A2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33695" y="1333195"/>
            <a:ext cx="571500" cy="571500"/>
          </a:xfrm>
          <a:prstGeom prst="rect">
            <a:avLst/>
          </a:prstGeom>
          <a:solidFill>
            <a:srgbClr val="E8521C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895198" y="6476695"/>
            <a:ext cx="5771693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1405" y="9620402"/>
            <a:ext cx="476402" cy="476402"/>
          </a:xfrm>
          <a:prstGeom prst="rect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752905" y="9620402"/>
            <a:ext cx="476402" cy="476402"/>
          </a:xfrm>
          <a:prstGeom prst="rect">
            <a:avLst/>
          </a:prstGeom>
          <a:solidFill>
            <a:srgbClr val="0F3A2E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895198" y="4953305"/>
            <a:ext cx="1143000" cy="566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5198" y="7048195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95198" y="7714793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95198" y="8381390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95198" y="9334195"/>
            <a:ext cx="476402" cy="476402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66698" y="9334195"/>
            <a:ext cx="476402" cy="476402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038198" y="9334195"/>
            <a:ext cx="513893" cy="513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2609698" y="9334195"/>
            <a:ext cx="476402" cy="476402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543154" y="543154"/>
            <a:ext cx="247802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168542" y="543154"/>
            <a:ext cx="102595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EDITION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95198" y="2667305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95198" y="2838298"/>
            <a:ext cx="5772607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00" b="1" kern="0" spc="-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900" dirty="0"/>
          </a:p>
        </p:txBody>
      </p:sp>
      <p:sp>
        <p:nvSpPr>
          <p:cNvPr id="21" name="Text 17"/>
          <p:cNvSpPr txBox="1"/>
          <p:nvPr/>
        </p:nvSpPr>
        <p:spPr>
          <a:xfrm>
            <a:off x="895198" y="5238598"/>
            <a:ext cx="5772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데이터와 암묵지의 이해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95198" y="5642762"/>
            <a:ext cx="5772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Field Data and Tacit Knowledge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95198" y="6667805"/>
            <a:ext cx="5772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CHAPTERS IN THIS PART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7086600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정보 · 지식 · 지혜의 위계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410005" y="7362749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DIKW 피라미드 — AI가 학습하는 지점은 어디인가.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410005" y="7753198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 vs 암묵지 — SECI 모형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410005" y="8029346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Nonaka의 지식 변환 4단계 — 외부화가 핵심.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1410005" y="841979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 인벤토리 작성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410005" y="8695944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회사가 가진 데이터를 한 장으로 펼치기.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5715000" y="1023945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008 —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1021385" y="7105802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021385" y="7772400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21385" y="8438998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4714646"/>
            <a:ext cx="5790895" cy="2305202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8905342"/>
            <a:ext cx="5771693" cy="838505"/>
          </a:xfrm>
          <a:prstGeom prst="rect">
            <a:avLst/>
          </a:prstGeom>
          <a:solidFill>
            <a:srgbClr val="FFF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98" b="-98"/>
          <a:stretch/>
        </p:blipFill>
        <p:spPr>
          <a:xfrm>
            <a:off x="895198" y="8905342"/>
            <a:ext cx="47549" cy="8385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895198" y="1218895"/>
            <a:ext cx="513893" cy="5138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2857500" y="5238598"/>
            <a:ext cx="761695" cy="3044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2553005" y="5581498"/>
            <a:ext cx="1371600" cy="3044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247595" y="5924398"/>
            <a:ext cx="1981505" cy="30449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943100" y="6267298"/>
            <a:ext cx="2590495" cy="342900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43154" y="10115093"/>
            <a:ext cx="6476695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943100" y="6267298"/>
            <a:ext cx="2590495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3154" y="342900"/>
            <a:ext cx="2632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현장 데이터와 암묵지의 이해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5126126" y="342900"/>
            <a:ext cx="211683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1571854" y="1285646"/>
            <a:ext cx="5095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①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1571854" y="1457554"/>
            <a:ext cx="5095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정보 · 지식 · 지혜의 위계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895198" y="2314346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1067105" y="2190902"/>
            <a:ext cx="19943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DIKW 피라미드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95198" y="2667305"/>
            <a:ext cx="5772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r>
              <a:rPr lang="en-US" sz="1400" b="1" kern="0" spc="-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학습할 수 있는 형태는 어디까지인가 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95198" y="3010205"/>
            <a:ext cx="5772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AI는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데이터(Data)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입력으로 받습니다. 그러나 현장의 실무 가치는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정보(Information) · 지식(Knowledge) · 지혜(Wisdom)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있습니다. 따라서 디지털화 작업의 본질은 윗 단계의 가치를 잃지 않고 아래 단계로 끌어내리는 일입니다. DIKW 피라미드는 그 변환 경로를 보여 주는 가장 단순한 지도입니다. 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895198" y="7239305"/>
            <a:ext cx="577260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들어, 굴착기 운전자가 진동만으로 "오일 부족"을 판정한다면 이는 지식(Knowledge) 층입니다. 이를 AI에게 가르치려면 진동 센서값(Data) + "오일 잔량 OK/저"라는 라벨(Information) + 베테랑의 판정 근거(Knowledge 일부)를 함께 묶어 데이터셋으로 만들어야 합니다. 본 절은 그 변환의 출발선이 어디여야 하는지를 정합니다.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85393" y="9029700"/>
            <a:ext cx="5429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C99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POINT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085393" y="9229954"/>
            <a:ext cx="5429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디지털화의 본질은 지식·지혜를 잃지 않고 데이터로 끌어내리는 일입니다. 라벨과 메타데이터가 그 다리 역할을 합니다.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43154" y="10253167"/>
            <a:ext cx="458297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¹⁾ DIKW: Data → Information → Knowledge → Wisdom. R. Ackoff(1989)가 제안한 위계 모형.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009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 rot="10800000">
            <a:off x="99670" y="2846527"/>
            <a:ext cx="143561" cy="2695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현장 데이터와 암묵지의 이해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995782" y="1266444"/>
            <a:ext cx="355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9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1028700" y="4857293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1-1 · DIKW PYRAMID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3018434" y="5314493"/>
            <a:ext cx="448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WISDOM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3714293" y="5314493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</a:t>
            </a:r>
            <a:r>
              <a:rPr lang="en-US" sz="8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가치 판단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2905049" y="5657393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4019702" y="5657393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하는가</a:t>
            </a:r>
            <a:r>
              <a:rPr lang="en-US" sz="8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절차·노하우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2872130" y="6000293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INFORMATION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4324198" y="6000293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보이는가</a:t>
            </a:r>
            <a:r>
              <a:rPr lang="en-US" sz="8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맥락 부여된 데이터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2694737" y="6362395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본 교재의 출발점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4628693" y="6381598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 것</a:t>
            </a:r>
            <a:r>
              <a:rPr lang="en-US" sz="8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측정값·기록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1028700" y="6762902"/>
            <a:ext cx="5524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 갈수록 가치는 커지지만 컴퓨터가 다루기는 어려워집니다. 디지털화의 목표는 </a:t>
            </a: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두 층을 얼마나 손상 없이 아래로 옮기느냐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3619195"/>
            <a:ext cx="2781605" cy="2305202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47795" y="3619195"/>
            <a:ext cx="2838298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8" y="6762902"/>
            <a:ext cx="1428293" cy="1542593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361895" y="6762902"/>
            <a:ext cx="1428293" cy="1542593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28593" y="6762902"/>
            <a:ext cx="1428293" cy="1542593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296205" y="6762902"/>
            <a:ext cx="1371600" cy="1524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5198" y="8876995"/>
            <a:ext cx="5810098" cy="112379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95198" y="8876995"/>
            <a:ext cx="38405" cy="1123798"/>
          </a:xfrm>
          <a:prstGeom prst="rect">
            <a:avLst/>
          </a:prstGeom>
          <a:solidFill>
            <a:srgbClr val="0F3A2E"/>
          </a:solidFill>
          <a:ln w="12700">
            <a:solidFill>
              <a:srgbClr val="0F3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47795" y="3619195"/>
            <a:ext cx="2819095" cy="30449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14" r="-414"/>
          <a:stretch/>
        </p:blipFill>
        <p:spPr>
          <a:xfrm>
            <a:off x="895198" y="6762902"/>
            <a:ext cx="1410005" cy="5669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414" r="-414"/>
          <a:stretch/>
        </p:blipFill>
        <p:spPr>
          <a:xfrm>
            <a:off x="2361895" y="6762902"/>
            <a:ext cx="1410005" cy="56693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414" r="-414"/>
          <a:stretch/>
        </p:blipFill>
        <p:spPr>
          <a:xfrm>
            <a:off x="3828593" y="6762902"/>
            <a:ext cx="1410005" cy="5669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403" r="-403"/>
          <a:stretch/>
        </p:blipFill>
        <p:spPr>
          <a:xfrm>
            <a:off x="5296205" y="6762902"/>
            <a:ext cx="1371600" cy="56693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895198" y="914400"/>
            <a:ext cx="513893" cy="5138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1123798" y="3981298"/>
            <a:ext cx="1085393" cy="800100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2361895" y="3981298"/>
            <a:ext cx="1047902" cy="76169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143000" y="5391302"/>
            <a:ext cx="2286000" cy="19202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543154" y="10115093"/>
            <a:ext cx="6476695" cy="9144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t="-427" b="-427"/>
          <a:stretch/>
        </p:blipFill>
        <p:spPr>
          <a:xfrm>
            <a:off x="1218895" y="4114800"/>
            <a:ext cx="856793" cy="19202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t="-389" b="-389"/>
          <a:stretch/>
        </p:blipFill>
        <p:spPr>
          <a:xfrm>
            <a:off x="1218895" y="4229100"/>
            <a:ext cx="705002" cy="19202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t="-427" b="-427"/>
          <a:stretch/>
        </p:blipFill>
        <p:spPr>
          <a:xfrm>
            <a:off x="1218895" y="4343400"/>
            <a:ext cx="856793" cy="19202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1218895" y="4457700"/>
            <a:ext cx="571500" cy="19202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3"/>
          <a:srcRect l="-27" r="-27"/>
          <a:stretch/>
        </p:blipFill>
        <p:spPr>
          <a:xfrm>
            <a:off x="2361895" y="3981298"/>
            <a:ext cx="1047902" cy="76169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543154" y="342900"/>
            <a:ext cx="2632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현장 데이터와 암묵지의 이해</a:t>
            </a:r>
            <a:endParaRPr lang="en-US" sz="800" dirty="0"/>
          </a:p>
        </p:txBody>
      </p:sp>
      <p:sp>
        <p:nvSpPr>
          <p:cNvPr id="30" name="Text 16"/>
          <p:cNvSpPr txBox="1"/>
          <p:nvPr/>
        </p:nvSpPr>
        <p:spPr>
          <a:xfrm>
            <a:off x="5126126" y="342900"/>
            <a:ext cx="211683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31" name="Text 17"/>
          <p:cNvSpPr txBox="1"/>
          <p:nvPr/>
        </p:nvSpPr>
        <p:spPr>
          <a:xfrm>
            <a:off x="1571854" y="981151"/>
            <a:ext cx="5095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②</a:t>
            </a:r>
            <a:endParaRPr lang="en-US" sz="800" dirty="0"/>
          </a:p>
        </p:txBody>
      </p:sp>
      <p:sp>
        <p:nvSpPr>
          <p:cNvPr id="32" name="Text 18"/>
          <p:cNvSpPr txBox="1"/>
          <p:nvPr/>
        </p:nvSpPr>
        <p:spPr>
          <a:xfrm>
            <a:off x="1571854" y="1152144"/>
            <a:ext cx="5095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 vs 암묵지 · SECI 모형</a:t>
            </a:r>
            <a:endParaRPr lang="en-US" sz="2000" dirty="0"/>
          </a:p>
        </p:txBody>
      </p:sp>
      <p:sp>
        <p:nvSpPr>
          <p:cNvPr id="33" name="Shape 19"/>
          <p:cNvSpPr/>
          <p:nvPr/>
        </p:nvSpPr>
        <p:spPr>
          <a:xfrm>
            <a:off x="895198" y="2029054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0"/>
          <p:cNvSpPr txBox="1"/>
          <p:nvPr/>
        </p:nvSpPr>
        <p:spPr>
          <a:xfrm>
            <a:off x="1067105" y="1904695"/>
            <a:ext cx="3487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두 가지 지식의 결정적 차이</a:t>
            </a:r>
            <a:endParaRPr lang="en-US" sz="1700" dirty="0"/>
          </a:p>
        </p:txBody>
      </p:sp>
      <p:sp>
        <p:nvSpPr>
          <p:cNvPr id="35" name="Text 21"/>
          <p:cNvSpPr txBox="1"/>
          <p:nvPr/>
        </p:nvSpPr>
        <p:spPr>
          <a:xfrm>
            <a:off x="895198" y="2361895"/>
            <a:ext cx="577260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형식지(Explicit)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매뉴얼·도면·표준작업서처럼 글과 그림으로 적힌 지식입니다. 반면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암묵지(Tacit)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베테랑의 손끝·코·귀로만 알 수 있는 감각이며, 본인조차 말로 옮기기 어렵습니다. AI가 학습할 수 있는 형태는 형식지뿐이므로, 우리는 암묵지를 형식지로 옮기는 작업 — Nonaka의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외부화(Externalization)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을 가장 우선해야 합니다. </a:t>
            </a:r>
            <a:endParaRPr lang="en-US" sz="900" dirty="0"/>
          </a:p>
        </p:txBody>
      </p:sp>
      <p:sp>
        <p:nvSpPr>
          <p:cNvPr id="36" name="Shape 22"/>
          <p:cNvSpPr/>
          <p:nvPr/>
        </p:nvSpPr>
        <p:spPr>
          <a:xfrm>
            <a:off x="895198" y="6409944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3"/>
          <p:cNvSpPr txBox="1"/>
          <p:nvPr/>
        </p:nvSpPr>
        <p:spPr>
          <a:xfrm>
            <a:off x="1067105" y="6286500"/>
            <a:ext cx="26874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외부화의 4가지 채널</a:t>
            </a:r>
            <a:endParaRPr lang="en-US" sz="1700" dirty="0"/>
          </a:p>
        </p:txBody>
      </p:sp>
      <p:sp>
        <p:nvSpPr>
          <p:cNvPr id="38" name="Text 24"/>
          <p:cNvSpPr txBox="1"/>
          <p:nvPr/>
        </p:nvSpPr>
        <p:spPr>
          <a:xfrm>
            <a:off x="895198" y="8581644"/>
            <a:ext cx="800100" cy="219456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[코드 1-1]</a:t>
            </a:r>
            <a:endParaRPr lang="en-US" sz="800" dirty="0"/>
          </a:p>
        </p:txBody>
      </p:sp>
      <p:sp>
        <p:nvSpPr>
          <p:cNvPr id="39" name="Text 25"/>
          <p:cNvSpPr txBox="1"/>
          <p:nvPr/>
        </p:nvSpPr>
        <p:spPr>
          <a:xfrm>
            <a:off x="1766621" y="8591702"/>
            <a:ext cx="246613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외부화 결과 — 한 줄짜리 표준 스키마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543154" y="10253167"/>
            <a:ext cx="50109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²⁾ Nonaka, I. &amp; Takeuchi, H. (1995), 「The Knowledge-Creating Company」, Oxford Univ. Press.</a:t>
            </a:r>
            <a:endParaRPr lang="en-US" sz="800" dirty="0"/>
          </a:p>
        </p:txBody>
      </p:sp>
      <p:sp>
        <p:nvSpPr>
          <p:cNvPr id="41" name="Text 27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018</a:t>
            </a:r>
            <a:endParaRPr lang="en-US" sz="800" dirty="0"/>
          </a:p>
        </p:txBody>
      </p:sp>
      <p:sp>
        <p:nvSpPr>
          <p:cNvPr id="42" name="Text 28"/>
          <p:cNvSpPr txBox="1"/>
          <p:nvPr/>
        </p:nvSpPr>
        <p:spPr>
          <a:xfrm rot="10800000">
            <a:off x="99670" y="2846527"/>
            <a:ext cx="143561" cy="2695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현장 데이터와 암묵지의 이해</a:t>
            </a:r>
            <a:endParaRPr lang="en-US" sz="800" dirty="0"/>
          </a:p>
        </p:txBody>
      </p:sp>
      <p:sp>
        <p:nvSpPr>
          <p:cNvPr id="43" name="Text 29"/>
          <p:cNvSpPr txBox="1"/>
          <p:nvPr/>
        </p:nvSpPr>
        <p:spPr>
          <a:xfrm>
            <a:off x="995782" y="961949"/>
            <a:ext cx="355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9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44" name="Text 30"/>
          <p:cNvSpPr txBox="1"/>
          <p:nvPr/>
        </p:nvSpPr>
        <p:spPr>
          <a:xfrm>
            <a:off x="991210" y="4819802"/>
            <a:ext cx="131399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 · EXPLICIT</a:t>
            </a:r>
            <a:endParaRPr lang="en-US" sz="800" dirty="0"/>
          </a:p>
        </p:txBody>
      </p:sp>
      <p:sp>
        <p:nvSpPr>
          <p:cNvPr id="45" name="Text 31"/>
          <p:cNvSpPr txBox="1"/>
          <p:nvPr/>
        </p:nvSpPr>
        <p:spPr>
          <a:xfrm>
            <a:off x="1123798" y="4990795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· 도면</a:t>
            </a:r>
            <a:endParaRPr lang="en-US" sz="800" dirty="0"/>
          </a:p>
        </p:txBody>
      </p:sp>
      <p:sp>
        <p:nvSpPr>
          <p:cNvPr id="46" name="Text 32"/>
          <p:cNvSpPr txBox="1"/>
          <p:nvPr/>
        </p:nvSpPr>
        <p:spPr>
          <a:xfrm>
            <a:off x="2361895" y="4819802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· TACIT</a:t>
            </a:r>
            <a:endParaRPr lang="en-US" sz="800" dirty="0"/>
          </a:p>
        </p:txBody>
      </p:sp>
      <p:sp>
        <p:nvSpPr>
          <p:cNvPr id="47" name="Text 33"/>
          <p:cNvSpPr txBox="1"/>
          <p:nvPr/>
        </p:nvSpPr>
        <p:spPr>
          <a:xfrm>
            <a:off x="2361895" y="4990795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· 노하우</a:t>
            </a:r>
            <a:endParaRPr lang="en-US" sz="800" dirty="0"/>
          </a:p>
        </p:txBody>
      </p:sp>
      <p:sp>
        <p:nvSpPr>
          <p:cNvPr id="48" name="Text 34"/>
          <p:cNvSpPr txBox="1"/>
          <p:nvPr/>
        </p:nvSpPr>
        <p:spPr>
          <a:xfrm>
            <a:off x="1143000" y="5447995"/>
            <a:ext cx="2286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89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⬅ EXTERNALIZATION (외부화) ➜</a:t>
            </a:r>
            <a:endParaRPr lang="en-US" sz="800" dirty="0"/>
          </a:p>
        </p:txBody>
      </p:sp>
      <p:sp>
        <p:nvSpPr>
          <p:cNvPr id="49" name="Text 35"/>
          <p:cNvSpPr txBox="1"/>
          <p:nvPr/>
        </p:nvSpPr>
        <p:spPr>
          <a:xfrm>
            <a:off x="1028700" y="5657393"/>
            <a:ext cx="2524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1-2 · TACIT ⇄ EXPLICIT</a:t>
            </a:r>
            <a:endParaRPr lang="en-US" sz="800" dirty="0"/>
          </a:p>
        </p:txBody>
      </p:sp>
      <p:sp>
        <p:nvSpPr>
          <p:cNvPr id="50" name="Text 36"/>
          <p:cNvSpPr txBox="1"/>
          <p:nvPr/>
        </p:nvSpPr>
        <p:spPr>
          <a:xfrm>
            <a:off x="3981298" y="3714293"/>
            <a:ext cx="20455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1-1 · SECI 4단계</a:t>
            </a:r>
            <a:endParaRPr lang="en-US" sz="800" dirty="0"/>
          </a:p>
        </p:txBody>
      </p:sp>
      <p:sp>
        <p:nvSpPr>
          <p:cNvPr id="51" name="Shape 37"/>
          <p:cNvSpPr/>
          <p:nvPr/>
        </p:nvSpPr>
        <p:spPr>
          <a:xfrm>
            <a:off x="3981298" y="4362602"/>
            <a:ext cx="2553005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 txBox="1"/>
          <p:nvPr/>
        </p:nvSpPr>
        <p:spPr>
          <a:xfrm>
            <a:off x="3981298" y="4104742"/>
            <a:ext cx="6391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· 사회화</a:t>
            </a:r>
            <a:endParaRPr lang="en-US" sz="800" dirty="0"/>
          </a:p>
        </p:txBody>
      </p:sp>
      <p:sp>
        <p:nvSpPr>
          <p:cNvPr id="53" name="Text 39"/>
          <p:cNvSpPr txBox="1"/>
          <p:nvPr/>
        </p:nvSpPr>
        <p:spPr>
          <a:xfrm>
            <a:off x="5692140" y="4104742"/>
            <a:ext cx="11082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 → 암묵 (도제)</a:t>
            </a:r>
            <a:endParaRPr lang="en-US" sz="800" dirty="0"/>
          </a:p>
        </p:txBody>
      </p:sp>
      <p:sp>
        <p:nvSpPr>
          <p:cNvPr id="54" name="Shape 40"/>
          <p:cNvSpPr/>
          <p:nvPr/>
        </p:nvSpPr>
        <p:spPr>
          <a:xfrm>
            <a:off x="3981298" y="4679899"/>
            <a:ext cx="2553005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 txBox="1"/>
          <p:nvPr/>
        </p:nvSpPr>
        <p:spPr>
          <a:xfrm>
            <a:off x="3981298" y="4422953"/>
            <a:ext cx="7891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· 외부화 ★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5692140" y="4422953"/>
            <a:ext cx="11082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 → 형식 (캡처)</a:t>
            </a:r>
            <a:endParaRPr lang="en-US" sz="800" dirty="0"/>
          </a:p>
        </p:txBody>
      </p:sp>
      <p:sp>
        <p:nvSpPr>
          <p:cNvPr id="57" name="Shape 43"/>
          <p:cNvSpPr/>
          <p:nvPr/>
        </p:nvSpPr>
        <p:spPr>
          <a:xfrm>
            <a:off x="3981298" y="4998110"/>
            <a:ext cx="2553005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4"/>
          <p:cNvSpPr txBox="1"/>
          <p:nvPr/>
        </p:nvSpPr>
        <p:spPr>
          <a:xfrm>
            <a:off x="3981298" y="4740250"/>
            <a:ext cx="6409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· 결합화</a:t>
            </a:r>
            <a:endParaRPr lang="en-US" sz="800" dirty="0"/>
          </a:p>
        </p:txBody>
      </p:sp>
      <p:sp>
        <p:nvSpPr>
          <p:cNvPr id="59" name="Text 45"/>
          <p:cNvSpPr txBox="1"/>
          <p:nvPr/>
        </p:nvSpPr>
        <p:spPr>
          <a:xfrm>
            <a:off x="5692140" y="4740250"/>
            <a:ext cx="11082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→ 형식 (정리)</a:t>
            </a:r>
            <a:endParaRPr lang="en-US" sz="800" dirty="0"/>
          </a:p>
        </p:txBody>
      </p:sp>
      <p:sp>
        <p:nvSpPr>
          <p:cNvPr id="60" name="Shape 46"/>
          <p:cNvSpPr/>
          <p:nvPr/>
        </p:nvSpPr>
        <p:spPr>
          <a:xfrm>
            <a:off x="3981298" y="5315407"/>
            <a:ext cx="2553005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7"/>
          <p:cNvSpPr txBox="1"/>
          <p:nvPr/>
        </p:nvSpPr>
        <p:spPr>
          <a:xfrm>
            <a:off x="3981298" y="5057546"/>
            <a:ext cx="6345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· 내면화</a:t>
            </a:r>
            <a:endParaRPr lang="en-US" sz="800" dirty="0"/>
          </a:p>
        </p:txBody>
      </p:sp>
      <p:sp>
        <p:nvSpPr>
          <p:cNvPr id="62" name="Text 48"/>
          <p:cNvSpPr txBox="1"/>
          <p:nvPr/>
        </p:nvSpPr>
        <p:spPr>
          <a:xfrm>
            <a:off x="5692140" y="5057546"/>
            <a:ext cx="11082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→ 암묵 (학습)</a:t>
            </a:r>
            <a:endParaRPr lang="en-US" sz="800" dirty="0"/>
          </a:p>
        </p:txBody>
      </p:sp>
      <p:sp>
        <p:nvSpPr>
          <p:cNvPr id="63" name="Text 49"/>
          <p:cNvSpPr txBox="1"/>
          <p:nvPr/>
        </p:nvSpPr>
        <p:spPr>
          <a:xfrm>
            <a:off x="3981298" y="5375758"/>
            <a:ext cx="6931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교재 범위</a:t>
            </a:r>
            <a:endParaRPr lang="en-US" sz="800" dirty="0"/>
          </a:p>
        </p:txBody>
      </p:sp>
      <p:sp>
        <p:nvSpPr>
          <p:cNvPr id="64" name="Text 50"/>
          <p:cNvSpPr txBox="1"/>
          <p:nvPr/>
        </p:nvSpPr>
        <p:spPr>
          <a:xfrm>
            <a:off x="6057900" y="5375758"/>
            <a:ext cx="6693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+ C 단계</a:t>
            </a:r>
            <a:endParaRPr lang="en-US" sz="800" dirty="0"/>
          </a:p>
        </p:txBody>
      </p:sp>
      <p:sp>
        <p:nvSpPr>
          <p:cNvPr id="65" name="Text 51"/>
          <p:cNvSpPr txBox="1"/>
          <p:nvPr/>
        </p:nvSpPr>
        <p:spPr>
          <a:xfrm>
            <a:off x="1028700" y="6991502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01</a:t>
            </a:r>
            <a:endParaRPr lang="en-US" sz="800" dirty="0"/>
          </a:p>
        </p:txBody>
      </p:sp>
      <p:sp>
        <p:nvSpPr>
          <p:cNvPr id="66" name="Text 52"/>
          <p:cNvSpPr txBox="1"/>
          <p:nvPr/>
        </p:nvSpPr>
        <p:spPr>
          <a:xfrm>
            <a:off x="1028700" y="7153351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67" name="Text 53"/>
          <p:cNvSpPr txBox="1"/>
          <p:nvPr/>
        </p:nvSpPr>
        <p:spPr>
          <a:xfrm>
            <a:off x="1028700" y="7563002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 따라가며 행동을 기록</a:t>
            </a:r>
            <a:endParaRPr lang="en-US" sz="800" dirty="0"/>
          </a:p>
        </p:txBody>
      </p:sp>
      <p:sp>
        <p:nvSpPr>
          <p:cNvPr id="68" name="Text 54"/>
          <p:cNvSpPr txBox="1"/>
          <p:nvPr/>
        </p:nvSpPr>
        <p:spPr>
          <a:xfrm>
            <a:off x="2495398" y="6991502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02</a:t>
            </a:r>
            <a:endParaRPr lang="en-US" sz="800" dirty="0"/>
          </a:p>
        </p:txBody>
      </p:sp>
      <p:sp>
        <p:nvSpPr>
          <p:cNvPr id="69" name="Text 55"/>
          <p:cNvSpPr txBox="1"/>
          <p:nvPr/>
        </p:nvSpPr>
        <p:spPr>
          <a:xfrm>
            <a:off x="2495398" y="7153351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70" name="Text 56"/>
          <p:cNvSpPr txBox="1"/>
          <p:nvPr/>
        </p:nvSpPr>
        <p:spPr>
          <a:xfrm>
            <a:off x="2495398" y="7563002"/>
            <a:ext cx="13158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그렇게 했나요?" 질문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3962095" y="6991502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03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>
            <a:off x="3962095" y="7153351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3962095" y="7563002"/>
            <a:ext cx="1143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손동작·시선·자세 기록</a:t>
            </a:r>
            <a:endParaRPr lang="en-US" sz="800" dirty="0"/>
          </a:p>
        </p:txBody>
      </p:sp>
      <p:sp>
        <p:nvSpPr>
          <p:cNvPr id="74" name="Text 60"/>
          <p:cNvSpPr txBox="1"/>
          <p:nvPr/>
        </p:nvSpPr>
        <p:spPr>
          <a:xfrm>
            <a:off x="5428793" y="6991502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04</a:t>
            </a:r>
            <a:endParaRPr lang="en-US" sz="800" dirty="0"/>
          </a:p>
        </p:txBody>
      </p:sp>
      <p:sp>
        <p:nvSpPr>
          <p:cNvPr id="75" name="Text 61"/>
          <p:cNvSpPr txBox="1"/>
          <p:nvPr/>
        </p:nvSpPr>
        <p:spPr>
          <a:xfrm>
            <a:off x="5428793" y="7153351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 Sensor</a:t>
            </a:r>
            <a:endParaRPr lang="en-US" sz="1000" dirty="0"/>
          </a:p>
        </p:txBody>
      </p:sp>
      <p:sp>
        <p:nvSpPr>
          <p:cNvPr id="76" name="Text 62"/>
          <p:cNvSpPr txBox="1"/>
          <p:nvPr/>
        </p:nvSpPr>
        <p:spPr>
          <a:xfrm>
            <a:off x="5428793" y="7563002"/>
            <a:ext cx="12920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진동·온도·압력 자동 수집</a:t>
            </a:r>
            <a:endParaRPr lang="en-US" sz="800" dirty="0"/>
          </a:p>
        </p:txBody>
      </p:sp>
      <p:sp>
        <p:nvSpPr>
          <p:cNvPr id="77" name="Text 63"/>
          <p:cNvSpPr txBox="1"/>
          <p:nvPr/>
        </p:nvSpPr>
        <p:spPr>
          <a:xfrm>
            <a:off x="1028700" y="9010498"/>
            <a:ext cx="133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id</a:t>
            </a:r>
            <a:endParaRPr lang="en-US" sz="800" dirty="0"/>
          </a:p>
        </p:txBody>
      </p:sp>
      <p:sp>
        <p:nvSpPr>
          <p:cNvPr id="78" name="Text 64"/>
          <p:cNvSpPr txBox="1"/>
          <p:nvPr/>
        </p:nvSpPr>
        <p:spPr>
          <a:xfrm>
            <a:off x="1160374" y="9010498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0001</a:t>
            </a:r>
            <a:endParaRPr lang="en-US" sz="800" dirty="0"/>
          </a:p>
        </p:txBody>
      </p:sp>
      <p:sp>
        <p:nvSpPr>
          <p:cNvPr id="79" name="Text 65"/>
          <p:cNvSpPr txBox="1"/>
          <p:nvPr/>
        </p:nvSpPr>
        <p:spPr>
          <a:xfrm>
            <a:off x="1028700" y="9197035"/>
            <a:ext cx="22768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상황</a:t>
            </a:r>
            <a:endParaRPr lang="en-US" sz="800" dirty="0"/>
          </a:p>
        </p:txBody>
      </p:sp>
      <p:sp>
        <p:nvSpPr>
          <p:cNvPr id="80" name="Text 66"/>
          <p:cNvSpPr txBox="1"/>
          <p:nvPr/>
        </p:nvSpPr>
        <p:spPr>
          <a:xfrm>
            <a:off x="1230782" y="9197035"/>
            <a:ext cx="1543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"굴착기 작업 중 진동 증가"</a:t>
            </a:r>
            <a:endParaRPr lang="en-US" sz="800" dirty="0"/>
          </a:p>
        </p:txBody>
      </p:sp>
      <p:sp>
        <p:nvSpPr>
          <p:cNvPr id="81" name="Text 67"/>
          <p:cNvSpPr txBox="1"/>
          <p:nvPr/>
        </p:nvSpPr>
        <p:spPr>
          <a:xfrm>
            <a:off x="1028700" y="9382658"/>
            <a:ext cx="22768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행동</a:t>
            </a:r>
            <a:endParaRPr lang="en-US" sz="800" dirty="0"/>
          </a:p>
        </p:txBody>
      </p:sp>
      <p:sp>
        <p:nvSpPr>
          <p:cNvPr id="82" name="Text 68"/>
          <p:cNvSpPr txBox="1"/>
          <p:nvPr/>
        </p:nvSpPr>
        <p:spPr>
          <a:xfrm>
            <a:off x="1230782" y="9382658"/>
            <a:ext cx="11055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"오일 게이지 확인"</a:t>
            </a:r>
            <a:endParaRPr lang="en-US" sz="800" dirty="0"/>
          </a:p>
        </p:txBody>
      </p:sp>
      <p:sp>
        <p:nvSpPr>
          <p:cNvPr id="83" name="Text 69"/>
          <p:cNvSpPr txBox="1"/>
          <p:nvPr/>
        </p:nvSpPr>
        <p:spPr>
          <a:xfrm>
            <a:off x="1028700" y="9569196"/>
            <a:ext cx="22768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근거</a:t>
            </a:r>
            <a:endParaRPr lang="en-US" sz="800" dirty="0"/>
          </a:p>
        </p:txBody>
      </p:sp>
      <p:sp>
        <p:nvSpPr>
          <p:cNvPr id="84" name="Text 70"/>
          <p:cNvSpPr txBox="1"/>
          <p:nvPr/>
        </p:nvSpPr>
        <p:spPr>
          <a:xfrm>
            <a:off x="1230782" y="9569196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"이 진동 패턴은 항상 오일 부족"</a:t>
            </a:r>
            <a:endParaRPr lang="en-US" sz="800" dirty="0"/>
          </a:p>
        </p:txBody>
      </p:sp>
      <p:sp>
        <p:nvSpPr>
          <p:cNvPr id="85" name="Text 71"/>
          <p:cNvSpPr txBox="1"/>
          <p:nvPr/>
        </p:nvSpPr>
        <p:spPr>
          <a:xfrm>
            <a:off x="3031236" y="9569196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← 외부화의 핵심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2076602"/>
            <a:ext cx="5771693" cy="742493"/>
          </a:xfrm>
          <a:prstGeom prst="rect">
            <a:avLst/>
          </a:prstGeom>
          <a:solidFill>
            <a:srgbClr val="FFF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2971800"/>
            <a:ext cx="5771693" cy="742493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8" y="4343400"/>
            <a:ext cx="5790895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8" y="6858000"/>
            <a:ext cx="5810098" cy="1656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95198" y="8686800"/>
            <a:ext cx="5771693" cy="609905"/>
          </a:xfrm>
          <a:prstGeom prst="rect">
            <a:avLst/>
          </a:prstGeom>
          <a:solidFill>
            <a:srgbClr val="FF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9" b="-49"/>
          <a:stretch/>
        </p:blipFill>
        <p:spPr>
          <a:xfrm>
            <a:off x="895198" y="2076602"/>
            <a:ext cx="47549" cy="742493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9" b="-49"/>
          <a:stretch/>
        </p:blipFill>
        <p:spPr>
          <a:xfrm>
            <a:off x="895198" y="2971800"/>
            <a:ext cx="47549" cy="7424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5198" y="4343400"/>
            <a:ext cx="5771693" cy="2852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05" b="-105"/>
          <a:stretch/>
        </p:blipFill>
        <p:spPr>
          <a:xfrm>
            <a:off x="895198" y="8686800"/>
            <a:ext cx="47549" cy="6099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895198" y="914400"/>
            <a:ext cx="856793" cy="8567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543154" y="342900"/>
            <a:ext cx="2632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현장 데이터와 암묵지의 이해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5760720" y="342900"/>
            <a:ext cx="145846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WORKBOOK · 인벤토리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1904695" y="914400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③ · 워크북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1904695" y="1085393"/>
            <a:ext cx="4763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 인벤토리 작성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1904695" y="1464869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회사가 가진 데이터를 한 장으로 펼쳐 놓습니다.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085393" y="2190902"/>
            <a:ext cx="5429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C99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1085393" y="2381098"/>
            <a:ext cx="60432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부서가 보유한 데이터·문서·노하우를 형식지/암묵지로 분류해 한 장의 인벤토리로 정리합니다.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085393" y="3086100"/>
            <a:ext cx="5429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085393" y="3276295"/>
            <a:ext cx="5429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부서에서 AI를 적용해 보고 싶다"는 임원 지시를 받았습니다. 무엇부터 봐야 할지를 30분 안에 정리해야 합니다.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5198" y="4024274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067105" y="3924605"/>
            <a:ext cx="31994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— 인벤토리 양식 채우기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1085393" y="7015277"/>
            <a:ext cx="170993" cy="1709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333195" y="7010705"/>
            <a:ext cx="75712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85393" y="7286854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우리 부서의 형식지 5건과 암묵지 3건을 위 양식에 적어 보세요.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1085393" y="7488936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가장 디지털화 효과가 큰 항목 1개를 골라 별표(★)를 붙이세요.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085393" y="7691933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그 항목의 캡처 방법은 무엇이 어울릴까요? 관찰 인터뷰 영상 센서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085393" y="8781898"/>
            <a:ext cx="5429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· CAUTION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1085393" y="8962949"/>
            <a:ext cx="5429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개인정보·고객명·차대번호가 포함된 자료는 인벤토리에 </a:t>
            </a: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"PII 포함"</a:t>
            </a: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표시하세요. 비식별화 절차(Part 03 · ③)를 거치기 전에는 외부 도구로 옮기지 않습니다.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95198" y="9734702"/>
            <a:ext cx="5771693" cy="26700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895198" y="9734702"/>
            <a:ext cx="28346" cy="267005"/>
          </a:xfrm>
          <a:prstGeom prst="rect">
            <a:avLst/>
          </a:prstGeom>
          <a:solidFill>
            <a:srgbClr val="0F3A2E"/>
          </a:solidFill>
          <a:ln w="12700">
            <a:solidFill>
              <a:srgbClr val="0F3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1018642" y="9734702"/>
            <a:ext cx="56491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50800" rIns="889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분류 | 자료명 | 형태 | 위치 | 담당자 | D · I · K | PII 여부 | 우선순위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895198" y="9458554"/>
            <a:ext cx="800100" cy="219456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[코드 1-2]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1766621" y="9467698"/>
            <a:ext cx="173461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인벤토리 한 줄 — 표준 헤더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43154" y="10253167"/>
            <a:ext cx="47823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³⁾ PII(Personally Identifiable Information): 개인을 식별할 수 있는 정보. 이름·연락처·차량번호 등.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032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 rot="10800000">
            <a:off x="99670" y="3555187"/>
            <a:ext cx="143561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워크북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895198" y="990295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16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895198" y="1152144"/>
            <a:ext cx="857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-10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44" name="Text 38"/>
          <p:cNvSpPr txBox="1"/>
          <p:nvPr/>
        </p:nvSpPr>
        <p:spPr>
          <a:xfrm>
            <a:off x="895198" y="1552651"/>
            <a:ext cx="857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8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INVENTORY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1028700" y="4414723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2019910" y="4414723"/>
            <a:ext cx="1657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자료명/형태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3671316" y="4414723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4661611" y="4414723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800" dirty="0"/>
          </a:p>
        </p:txBody>
      </p:sp>
      <p:sp>
        <p:nvSpPr>
          <p:cNvPr id="49" name="Text 43"/>
          <p:cNvSpPr txBox="1"/>
          <p:nvPr/>
        </p:nvSpPr>
        <p:spPr>
          <a:xfrm>
            <a:off x="5432450" y="4414723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D·I·K (체크)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895198" y="4962449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 txBox="1"/>
          <p:nvPr/>
        </p:nvSpPr>
        <p:spPr>
          <a:xfrm>
            <a:off x="1028700" y="4705502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</a:t>
            </a:r>
            <a:endParaRPr lang="en-US" sz="800" dirty="0"/>
          </a:p>
        </p:txBody>
      </p:sp>
      <p:sp>
        <p:nvSpPr>
          <p:cNvPr id="52" name="Text 46"/>
          <p:cNvSpPr txBox="1"/>
          <p:nvPr/>
        </p:nvSpPr>
        <p:spPr>
          <a:xfrm>
            <a:off x="2019910" y="4705502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정비 매뉴얼 PDF</a:t>
            </a:r>
            <a:endParaRPr lang="en-US" sz="800" dirty="0"/>
          </a:p>
        </p:txBody>
      </p:sp>
      <p:sp>
        <p:nvSpPr>
          <p:cNvPr id="53" name="Text 47"/>
          <p:cNvSpPr txBox="1"/>
          <p:nvPr/>
        </p:nvSpPr>
        <p:spPr>
          <a:xfrm>
            <a:off x="3671316" y="4705502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NAS</a:t>
            </a:r>
            <a:endParaRPr lang="en-US" sz="800" dirty="0"/>
          </a:p>
        </p:txBody>
      </p:sp>
      <p:sp>
        <p:nvSpPr>
          <p:cNvPr id="54" name="Text 48"/>
          <p:cNvSpPr txBox="1"/>
          <p:nvPr/>
        </p:nvSpPr>
        <p:spPr>
          <a:xfrm>
            <a:off x="4661611" y="4705502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895198" y="5302606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0"/>
          <p:cNvSpPr txBox="1"/>
          <p:nvPr/>
        </p:nvSpPr>
        <p:spPr>
          <a:xfrm>
            <a:off x="1028700" y="5045659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</a:t>
            </a:r>
            <a:endParaRPr lang="en-US" sz="800" dirty="0"/>
          </a:p>
        </p:txBody>
      </p:sp>
      <p:sp>
        <p:nvSpPr>
          <p:cNvPr id="57" name="Text 51"/>
          <p:cNvSpPr txBox="1"/>
          <p:nvPr/>
        </p:nvSpPr>
        <p:spPr>
          <a:xfrm>
            <a:off x="2019910" y="5045659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점검 일지 .xlsx</a:t>
            </a:r>
            <a:endParaRPr lang="en-US" sz="800" dirty="0"/>
          </a:p>
        </p:txBody>
      </p:sp>
      <p:sp>
        <p:nvSpPr>
          <p:cNvPr id="58" name="Text 52"/>
          <p:cNvSpPr txBox="1"/>
          <p:nvPr/>
        </p:nvSpPr>
        <p:spPr>
          <a:xfrm>
            <a:off x="3671316" y="5045659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</a:t>
            </a:r>
            <a:endParaRPr lang="en-US" sz="800" dirty="0"/>
          </a:p>
        </p:txBody>
      </p:sp>
      <p:sp>
        <p:nvSpPr>
          <p:cNvPr id="59" name="Text 53"/>
          <p:cNvSpPr txBox="1"/>
          <p:nvPr/>
        </p:nvSpPr>
        <p:spPr>
          <a:xfrm>
            <a:off x="4661611" y="5045659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정비팀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895198" y="5642762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5"/>
          <p:cNvSpPr txBox="1"/>
          <p:nvPr/>
        </p:nvSpPr>
        <p:spPr>
          <a:xfrm>
            <a:off x="1028700" y="5385816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★</a:t>
            </a:r>
            <a:endParaRPr lang="en-US" sz="800" dirty="0"/>
          </a:p>
        </p:txBody>
      </p:sp>
      <p:sp>
        <p:nvSpPr>
          <p:cNvPr id="62" name="Text 56"/>
          <p:cNvSpPr txBox="1"/>
          <p:nvPr/>
        </p:nvSpPr>
        <p:spPr>
          <a:xfrm>
            <a:off x="2019910" y="5385816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베테랑의 진동 판정</a:t>
            </a:r>
            <a:endParaRPr lang="en-US" sz="800" dirty="0"/>
          </a:p>
        </p:txBody>
      </p:sp>
      <p:sp>
        <p:nvSpPr>
          <p:cNvPr id="63" name="Text 57"/>
          <p:cNvSpPr txBox="1"/>
          <p:nvPr/>
        </p:nvSpPr>
        <p:spPr>
          <a:xfrm>
            <a:off x="3671316" y="5385816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</a:t>
            </a:r>
            <a:endParaRPr lang="en-US" sz="800" dirty="0"/>
          </a:p>
        </p:txBody>
      </p:sp>
      <p:sp>
        <p:nvSpPr>
          <p:cNvPr id="64" name="Text 58"/>
          <p:cNvSpPr txBox="1"/>
          <p:nvPr/>
        </p:nvSpPr>
        <p:spPr>
          <a:xfrm>
            <a:off x="4661611" y="5385816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김반장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895198" y="5982919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0"/>
          <p:cNvSpPr txBox="1"/>
          <p:nvPr/>
        </p:nvSpPr>
        <p:spPr>
          <a:xfrm>
            <a:off x="1028700" y="5725058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★</a:t>
            </a:r>
            <a:endParaRPr lang="en-US" sz="800" dirty="0"/>
          </a:p>
        </p:txBody>
      </p:sp>
      <p:sp>
        <p:nvSpPr>
          <p:cNvPr id="67" name="Text 61"/>
          <p:cNvSpPr txBox="1"/>
          <p:nvPr/>
        </p:nvSpPr>
        <p:spPr>
          <a:xfrm>
            <a:off x="2019910" y="5725058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차종 적응 노하우</a:t>
            </a:r>
            <a:endParaRPr lang="en-US" sz="800" dirty="0"/>
          </a:p>
        </p:txBody>
      </p:sp>
      <p:sp>
        <p:nvSpPr>
          <p:cNvPr id="68" name="Text 62"/>
          <p:cNvSpPr txBox="1"/>
          <p:nvPr/>
        </p:nvSpPr>
        <p:spPr>
          <a:xfrm>
            <a:off x="3671316" y="5725058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800" dirty="0"/>
          </a:p>
        </p:txBody>
      </p:sp>
      <p:sp>
        <p:nvSpPr>
          <p:cNvPr id="69" name="Text 63"/>
          <p:cNvSpPr txBox="1"/>
          <p:nvPr/>
        </p:nvSpPr>
        <p:spPr>
          <a:xfrm>
            <a:off x="4661611" y="5725058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박과장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895198" y="6323076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5"/>
          <p:cNvSpPr txBox="1"/>
          <p:nvPr/>
        </p:nvSpPr>
        <p:spPr>
          <a:xfrm>
            <a:off x="1028700" y="6065215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형식지</a:t>
            </a:r>
            <a:endParaRPr lang="en-US" sz="800" dirty="0"/>
          </a:p>
        </p:txBody>
      </p:sp>
      <p:sp>
        <p:nvSpPr>
          <p:cNvPr id="72" name="Text 66"/>
          <p:cNvSpPr txBox="1"/>
          <p:nvPr/>
        </p:nvSpPr>
        <p:spPr>
          <a:xfrm>
            <a:off x="2019910" y="6065215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콜 녹음</a:t>
            </a:r>
            <a:endParaRPr lang="en-US" sz="800" dirty="0"/>
          </a:p>
        </p:txBody>
      </p:sp>
      <p:sp>
        <p:nvSpPr>
          <p:cNvPr id="73" name="Text 67"/>
          <p:cNvSpPr txBox="1"/>
          <p:nvPr/>
        </p:nvSpPr>
        <p:spPr>
          <a:xfrm>
            <a:off x="3671316" y="6065215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PBX 서버</a:t>
            </a:r>
            <a:endParaRPr lang="en-US" sz="800" dirty="0"/>
          </a:p>
        </p:txBody>
      </p:sp>
      <p:sp>
        <p:nvSpPr>
          <p:cNvPr id="74" name="Text 68"/>
          <p:cNvSpPr txBox="1"/>
          <p:nvPr/>
        </p:nvSpPr>
        <p:spPr>
          <a:xfrm>
            <a:off x="4661611" y="6065215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CS팀</a:t>
            </a:r>
            <a:endParaRPr lang="en-US" sz="800" dirty="0"/>
          </a:p>
        </p:txBody>
      </p:sp>
      <p:sp>
        <p:nvSpPr>
          <p:cNvPr id="75" name="Text 69"/>
          <p:cNvSpPr txBox="1"/>
          <p:nvPr/>
        </p:nvSpPr>
        <p:spPr>
          <a:xfrm>
            <a:off x="1028700" y="6405372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</a:t>
            </a:r>
            <a:endParaRPr lang="en-US" sz="800" dirty="0"/>
          </a:p>
        </p:txBody>
      </p:sp>
      <p:sp>
        <p:nvSpPr>
          <p:cNvPr id="76" name="Text 70"/>
          <p:cNvSpPr txBox="1"/>
          <p:nvPr/>
        </p:nvSpPr>
        <p:spPr>
          <a:xfrm>
            <a:off x="2019910" y="6405372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_______________________</a:t>
            </a:r>
            <a:endParaRPr lang="en-US" sz="800" dirty="0"/>
          </a:p>
        </p:txBody>
      </p:sp>
      <p:sp>
        <p:nvSpPr>
          <p:cNvPr id="77" name="Text 71"/>
          <p:cNvSpPr txBox="1"/>
          <p:nvPr/>
        </p:nvSpPr>
        <p:spPr>
          <a:xfrm>
            <a:off x="3671316" y="6405372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</a:t>
            </a:r>
            <a:endParaRPr lang="en-US" sz="800" dirty="0"/>
          </a:p>
        </p:txBody>
      </p:sp>
      <p:sp>
        <p:nvSpPr>
          <p:cNvPr id="78" name="Text 72"/>
          <p:cNvSpPr txBox="1"/>
          <p:nvPr/>
        </p:nvSpPr>
        <p:spPr>
          <a:xfrm>
            <a:off x="4661611" y="6405372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</a:t>
            </a:r>
            <a:endParaRPr lang="en-US" sz="800" dirty="0"/>
          </a:p>
        </p:txBody>
      </p:sp>
      <p:sp>
        <p:nvSpPr>
          <p:cNvPr id="79" name="Text 73"/>
          <p:cNvSpPr txBox="1"/>
          <p:nvPr/>
        </p:nvSpPr>
        <p:spPr>
          <a:xfrm>
            <a:off x="5432450" y="6405372"/>
            <a:ext cx="1105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☐ I ☐ K ☐</a:t>
            </a:r>
            <a:endParaRPr lang="en-US" sz="800" dirty="0"/>
          </a:p>
        </p:txBody>
      </p:sp>
      <p:sp>
        <p:nvSpPr>
          <p:cNvPr id="80" name="Text 74"/>
          <p:cNvSpPr txBox="1"/>
          <p:nvPr/>
        </p:nvSpPr>
        <p:spPr>
          <a:xfrm>
            <a:off x="5432450" y="4714646"/>
            <a:ext cx="8019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☐ I ☑ K ☑</a:t>
            </a:r>
            <a:endParaRPr lang="en-US" sz="800" dirty="0"/>
          </a:p>
        </p:txBody>
      </p:sp>
      <p:sp>
        <p:nvSpPr>
          <p:cNvPr id="81" name="Text 75"/>
          <p:cNvSpPr txBox="1"/>
          <p:nvPr/>
        </p:nvSpPr>
        <p:spPr>
          <a:xfrm>
            <a:off x="5432450" y="5054803"/>
            <a:ext cx="8019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☑ I ☑ K ☐</a:t>
            </a:r>
            <a:endParaRPr lang="en-US" sz="800" dirty="0"/>
          </a:p>
        </p:txBody>
      </p:sp>
      <p:sp>
        <p:nvSpPr>
          <p:cNvPr id="82" name="Text 76"/>
          <p:cNvSpPr txBox="1"/>
          <p:nvPr/>
        </p:nvSpPr>
        <p:spPr>
          <a:xfrm>
            <a:off x="5432450" y="5394960"/>
            <a:ext cx="8019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☐ I ☐ K ☑</a:t>
            </a:r>
            <a:endParaRPr lang="en-US" sz="800" dirty="0"/>
          </a:p>
        </p:txBody>
      </p:sp>
      <p:sp>
        <p:nvSpPr>
          <p:cNvPr id="83" name="Text 77"/>
          <p:cNvSpPr txBox="1"/>
          <p:nvPr/>
        </p:nvSpPr>
        <p:spPr>
          <a:xfrm>
            <a:off x="5432450" y="5735117"/>
            <a:ext cx="8019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☐ I ☐ K ☑</a:t>
            </a:r>
            <a:endParaRPr lang="en-US" sz="800" dirty="0"/>
          </a:p>
        </p:txBody>
      </p:sp>
      <p:sp>
        <p:nvSpPr>
          <p:cNvPr id="84" name="Text 78"/>
          <p:cNvSpPr txBox="1"/>
          <p:nvPr/>
        </p:nvSpPr>
        <p:spPr>
          <a:xfrm>
            <a:off x="5432450" y="6075274"/>
            <a:ext cx="8019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☑ I ☐ K ☐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143500" y="571500"/>
            <a:ext cx="761695" cy="761695"/>
          </a:xfrm>
          <a:prstGeom prst="rect">
            <a:avLst/>
          </a:prstGeom>
          <a:solidFill>
            <a:srgbClr val="E8521C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10098" y="856793"/>
            <a:ext cx="856793" cy="856793"/>
          </a:xfrm>
          <a:prstGeom prst="rect">
            <a:avLst/>
          </a:prstGeom>
          <a:solidFill>
            <a:srgbClr val="0F3A2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33695" y="1333195"/>
            <a:ext cx="571500" cy="571500"/>
          </a:xfrm>
          <a:prstGeom prst="rect">
            <a:avLst/>
          </a:prstGeom>
          <a:solidFill>
            <a:srgbClr val="F4B40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895198" y="6476695"/>
            <a:ext cx="5771693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1405" y="9620402"/>
            <a:ext cx="476402" cy="476402"/>
          </a:xfrm>
          <a:prstGeom prst="rect">
            <a:avLst/>
          </a:prstGeom>
          <a:solidFill>
            <a:srgbClr val="0F3A2E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752905" y="9620402"/>
            <a:ext cx="476402" cy="476402"/>
          </a:xfrm>
          <a:prstGeom prst="rect">
            <a:avLst/>
          </a:prstGeom>
          <a:solidFill>
            <a:srgbClr val="F4B4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895198" y="4953305"/>
            <a:ext cx="1143000" cy="566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5198" y="7048195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95198" y="7714793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95198" y="8381390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95198" y="9334195"/>
            <a:ext cx="476402" cy="476402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66698" y="9334195"/>
            <a:ext cx="476402" cy="476402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038198" y="9334195"/>
            <a:ext cx="476402" cy="476402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2609698" y="9334195"/>
            <a:ext cx="513893" cy="513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543154" y="543154"/>
            <a:ext cx="247802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168542" y="543154"/>
            <a:ext cx="102595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EDITION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95198" y="2667305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95198" y="2838298"/>
            <a:ext cx="5772607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00" b="1" kern="0" spc="-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900" dirty="0"/>
          </a:p>
        </p:txBody>
      </p:sp>
      <p:sp>
        <p:nvSpPr>
          <p:cNvPr id="21" name="Text 17"/>
          <p:cNvSpPr txBox="1"/>
          <p:nvPr/>
        </p:nvSpPr>
        <p:spPr>
          <a:xfrm>
            <a:off x="895198" y="5238598"/>
            <a:ext cx="5772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 캡처의 4가지 방법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95198" y="5642762"/>
            <a:ext cx="5772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Channels for Externalizing Tacit Knowledge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95198" y="6667805"/>
            <a:ext cx="5772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CHAPTERS IN THIS PART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7086600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· 인터뷰 · 영상 · 센서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410005" y="7362749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암묵지를 외부화하는 네 가지 표준 채널.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410005" y="7753198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도구 매트릭스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410005" y="8029346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정확도 · 베테랑 부담의 3축 비교.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1410005" y="841979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 인터뷰 시뮬레이션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410005" y="8695944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그렇게 했나요?" 5번의 법칙으로 캐내기.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5715000" y="1023945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042 —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1021385" y="7105802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021385" y="7772400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21385" y="8438998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4095598"/>
            <a:ext cx="5790895" cy="1923898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9239098"/>
            <a:ext cx="5810098" cy="5715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8" y="9239098"/>
            <a:ext cx="38405" cy="571500"/>
          </a:xfrm>
          <a:prstGeom prst="rect">
            <a:avLst/>
          </a:prstGeom>
          <a:solidFill>
            <a:srgbClr val="0F3A2E"/>
          </a:solidFill>
          <a:ln w="12700">
            <a:solidFill>
              <a:srgbClr val="0F3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95198" y="914400"/>
            <a:ext cx="513893" cy="5138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43000" y="4619549"/>
            <a:ext cx="1238098" cy="8567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476195" y="4619549"/>
            <a:ext cx="1238098" cy="8567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10305" y="4619549"/>
            <a:ext cx="1238098" cy="856793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143500" y="4619549"/>
            <a:ext cx="1276502" cy="895198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81405" y="5715000"/>
            <a:ext cx="5238598" cy="914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43154" y="10115093"/>
            <a:ext cx="6476695" cy="91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43154" y="342900"/>
            <a:ext cx="1712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암묵지 캡처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5126126" y="342900"/>
            <a:ext cx="211683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1571854" y="981151"/>
            <a:ext cx="5095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①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571854" y="1152144"/>
            <a:ext cx="5095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· 인터뷰 · 영상 · 센서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895198" y="2048256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1067105" y="1923898"/>
            <a:ext cx="335401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한 가지 채널로는 부족하다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95198" y="2361895"/>
            <a:ext cx="5772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r>
              <a:rPr lang="en-US" sz="1400" b="1" kern="0" spc="-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채널을 겹쳐야 손실이 줄어듭니다 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95198" y="2704795"/>
            <a:ext cx="5772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관찰만 하면 "왜 그렇게 했는지"를 모릅니다. 인터뷰만 하면 "정작 손은 어떻게 움직였는지"를 놓칩니다. 영상은 풍부하지만 라벨링이 무겁고, 센서는 정확하지만 맥락이 없습니다.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두세 개를 겹쳐야 데이터의 손실이 줄어듭니다.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 절에서는 네 가지 채널의 강약을 비교하고, 도메인별 추천 조합을 제시합니다. 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95198" y="6409944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1067105" y="6286500"/>
            <a:ext cx="301569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채널별 강약 — 한 줄 정리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895198" y="7115861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895198" y="6819595"/>
            <a:ext cx="9144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809598" y="6819595"/>
            <a:ext cx="41129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행동의 맥락이 보인다 | </a:t>
            </a: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베테랑이 의식하면 평소와 달라진다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95198" y="7473391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895198" y="7178040"/>
            <a:ext cx="9144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809598" y="7178040"/>
            <a:ext cx="393100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"왜"를 캐낼 수 있다 | </a:t>
            </a: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본인도 모르는 감각은 못 꺼낸다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895198" y="7831836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895198" y="7536485"/>
            <a:ext cx="9144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809598" y="7536485"/>
            <a:ext cx="38240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손동작·시선·자세가 통째로 | </a:t>
            </a: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라벨링 비용이 가장 크다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95198" y="7894015"/>
            <a:ext cx="9144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809598" y="7894015"/>
            <a:ext cx="323057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24/7 자동 수집·정확 | </a:t>
            </a: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"왜"는 절대 알 수 없다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95198" y="8934602"/>
            <a:ext cx="800100" cy="219456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[코드 2-1]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1766621" y="8943746"/>
            <a:ext cx="22503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채널 — 메타데이터 표준 헤더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543154" y="10253167"/>
            <a:ext cx="381487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⁴⁾ 호손 효과(Hawthorne Effect): 관찰당하는 사람이 평소와 다르게 행동하는 현상.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044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 rot="10800000">
            <a:off x="99670" y="3386938"/>
            <a:ext cx="143561" cy="161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암묵지 캡처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995782" y="961949"/>
            <a:ext cx="355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9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43" name="Text 38"/>
          <p:cNvSpPr txBox="1"/>
          <p:nvPr/>
        </p:nvSpPr>
        <p:spPr>
          <a:xfrm>
            <a:off x="1028700" y="4229100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2-1 · CAPTURE CHANNELS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1143000" y="4714646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2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01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1143000" y="4914900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1143000" y="5139842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5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47" name="Text 42"/>
          <p:cNvSpPr txBox="1"/>
          <p:nvPr/>
        </p:nvSpPr>
        <p:spPr>
          <a:xfrm>
            <a:off x="2476195" y="4714646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2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02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2476195" y="4914900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2476195" y="5139842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3A2E">
                    <a:alpha val="5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Interview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3810305" y="4714646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2" dirty="0">
                <a:solidFill>
                  <a:srgbClr val="FFE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03</a:t>
            </a:r>
            <a:endParaRPr lang="en-US" sz="800" dirty="0"/>
          </a:p>
        </p:txBody>
      </p:sp>
      <p:sp>
        <p:nvSpPr>
          <p:cNvPr id="51" name="Text 46"/>
          <p:cNvSpPr txBox="1"/>
          <p:nvPr/>
        </p:nvSpPr>
        <p:spPr>
          <a:xfrm>
            <a:off x="3810305" y="4914900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3810305" y="5139842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</a:t>
            </a:r>
            <a:endParaRPr lang="en-US" sz="800" dirty="0"/>
          </a:p>
        </p:txBody>
      </p:sp>
      <p:sp>
        <p:nvSpPr>
          <p:cNvPr id="53" name="Text 48"/>
          <p:cNvSpPr txBox="1"/>
          <p:nvPr/>
        </p:nvSpPr>
        <p:spPr>
          <a:xfrm>
            <a:off x="5143500" y="4714646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2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04</a:t>
            </a:r>
            <a:endParaRPr lang="en-US" sz="800" dirty="0"/>
          </a:p>
        </p:txBody>
      </p:sp>
      <p:sp>
        <p:nvSpPr>
          <p:cNvPr id="54" name="Text 49"/>
          <p:cNvSpPr txBox="1"/>
          <p:nvPr/>
        </p:nvSpPr>
        <p:spPr>
          <a:xfrm>
            <a:off x="5143500" y="4914900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5143500" y="5139842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 Sensor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1028700" y="5790895"/>
            <a:ext cx="74157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정성적 (사람)</a:t>
            </a:r>
            <a:endParaRPr lang="en-US" sz="800" dirty="0"/>
          </a:p>
        </p:txBody>
      </p:sp>
      <p:sp>
        <p:nvSpPr>
          <p:cNvPr id="57" name="Text 52"/>
          <p:cNvSpPr txBox="1"/>
          <p:nvPr/>
        </p:nvSpPr>
        <p:spPr>
          <a:xfrm>
            <a:off x="5946343" y="5790895"/>
            <a:ext cx="74157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2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(기계)</a:t>
            </a:r>
            <a:endParaRPr lang="en-US" sz="800" dirty="0"/>
          </a:p>
        </p:txBody>
      </p:sp>
      <p:sp>
        <p:nvSpPr>
          <p:cNvPr id="58" name="Text 53"/>
          <p:cNvSpPr txBox="1"/>
          <p:nvPr/>
        </p:nvSpPr>
        <p:spPr>
          <a:xfrm>
            <a:off x="1028700" y="9353398"/>
            <a:ext cx="5524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timestamp | actor_id | channel | sensor_value | observer_note | interview_q | interview_a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1500" y="3810305"/>
            <a:ext cx="6495898" cy="2685593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9239098"/>
            <a:ext cx="5810098" cy="70500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8" y="9239098"/>
            <a:ext cx="38405" cy="705002"/>
          </a:xfrm>
          <a:prstGeom prst="rect">
            <a:avLst/>
          </a:prstGeom>
          <a:solidFill>
            <a:srgbClr val="0F3A2E"/>
          </a:solidFill>
          <a:ln w="12700">
            <a:solidFill>
              <a:srgbClr val="0F3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95198" y="914400"/>
            <a:ext cx="513893" cy="5138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4381805"/>
            <a:ext cx="1495044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381098" y="4381805"/>
            <a:ext cx="1495044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000500" y="4381805"/>
            <a:ext cx="1495044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619902" y="4381805"/>
            <a:ext cx="1238098" cy="190469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43154" y="10115093"/>
            <a:ext cx="6476695" cy="91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61695" y="4381805"/>
            <a:ext cx="1476756" cy="2852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2381098" y="4381805"/>
            <a:ext cx="1476756" cy="2852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000500" y="4381805"/>
            <a:ext cx="1476756" cy="285293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619902" y="4381805"/>
            <a:ext cx="1238098" cy="2852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43154" y="342900"/>
            <a:ext cx="1712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암묵지 캡처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5505602" y="342900"/>
            <a:ext cx="164409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DIAGRAM · TOOL MATRIX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571854" y="981151"/>
            <a:ext cx="5095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②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571854" y="1152144"/>
            <a:ext cx="5095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도구 매트릭스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895198" y="2048256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1067105" y="1923898"/>
            <a:ext cx="353232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비용 × 정확도 × 베테랑 부담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95198" y="2361895"/>
            <a:ext cx="5772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도구를 어떤 순서로 도입할지는 세 가지 축으로 결정합니다 —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정확도 · 베테랑 부담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베테랑이 부담을 느끼면 캡처 자체가 어긋나기 때문에, 처음에는 부담이 가장 적은 음성 메모/사진부터 시작해 점차 영상·센서로 넓혀 가는 것이 정공법입니다. 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95198" y="6724498"/>
            <a:ext cx="5772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r>
              <a:rPr lang="en-US" sz="1400" b="1" kern="0" spc="-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도입 순서 — 한 줄 정리 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95198" y="7439558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895198" y="7143293"/>
            <a:ext cx="7626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656893" y="7143293"/>
            <a:ext cx="47055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메모 + 현장 사진 + 종이 양식. 1~2주, 베테랑 합의 부담 거의 없음.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95198" y="7798003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895198" y="7501738"/>
            <a:ext cx="7626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656893" y="7501738"/>
            <a:ext cx="4888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영상 + 데이터 라벨링 도구. 1~2개월, 외부화 결과물이 누적되기 시작.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895198" y="8155534"/>
            <a:ext cx="5771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895198" y="7860182"/>
            <a:ext cx="7626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656893" y="7860182"/>
            <a:ext cx="396118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 캠 + IoT 센서. 합의 절차와 보안 검토를 거쳐 도입.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95198" y="8218627"/>
            <a:ext cx="7626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금기 ✕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656893" y="8218627"/>
            <a:ext cx="44019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영상·센서 풀세트로 가면 베테랑이 평소처럼 일하지 않습니다.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895198" y="8934602"/>
            <a:ext cx="800100" cy="219456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[코드 2-2]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1766621" y="8943746"/>
            <a:ext cx="1578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메모 — 5문장 골격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543154" y="10253167"/>
            <a:ext cx="372983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⁵⁾ 베테랑의 합의 없이 진행된 캡처는 데이터 품질뿐 아니라 노사관계까지 훼손한다.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056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 rot="10800000">
            <a:off x="99670" y="3386938"/>
            <a:ext cx="143561" cy="161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암묵지 캡처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995782" y="961949"/>
            <a:ext cx="355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9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705002" y="3942893"/>
            <a:ext cx="2857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2-2 · TOOL TRADE-OFF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1229868" y="4447642"/>
            <a:ext cx="625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메모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856793" y="4742993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★☆☆ 매우 낮음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856793" y="4913071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★★☆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856793" y="5083150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★☆☆ 거의 없음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856793" y="5329123"/>
            <a:ext cx="1285646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6"/>
          <p:cNvSpPr txBox="1"/>
          <p:nvPr/>
        </p:nvSpPr>
        <p:spPr>
          <a:xfrm>
            <a:off x="856793" y="5394960"/>
            <a:ext cx="128656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단계 추천</a:t>
            </a:r>
            <a:endParaRPr lang="en-US" sz="800" dirty="0"/>
          </a:p>
        </p:txBody>
      </p:sp>
      <p:sp>
        <p:nvSpPr>
          <p:cNvPr id="51" name="Text 47"/>
          <p:cNvSpPr txBox="1"/>
          <p:nvPr/>
        </p:nvSpPr>
        <p:spPr>
          <a:xfrm>
            <a:off x="2849270" y="4447642"/>
            <a:ext cx="625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00" dirty="0"/>
          </a:p>
        </p:txBody>
      </p:sp>
      <p:sp>
        <p:nvSpPr>
          <p:cNvPr id="52" name="Text 48"/>
          <p:cNvSpPr txBox="1"/>
          <p:nvPr/>
        </p:nvSpPr>
        <p:spPr>
          <a:xfrm>
            <a:off x="2476195" y="4742993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★☆☆</a:t>
            </a:r>
            <a:endParaRPr lang="en-US" sz="800" dirty="0"/>
          </a:p>
        </p:txBody>
      </p:sp>
      <p:sp>
        <p:nvSpPr>
          <p:cNvPr id="53" name="Text 49"/>
          <p:cNvSpPr txBox="1"/>
          <p:nvPr/>
        </p:nvSpPr>
        <p:spPr>
          <a:xfrm>
            <a:off x="2476195" y="4913071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★★★</a:t>
            </a:r>
            <a:endParaRPr lang="en-US" sz="800" dirty="0"/>
          </a:p>
        </p:txBody>
      </p:sp>
      <p:sp>
        <p:nvSpPr>
          <p:cNvPr id="54" name="Text 50"/>
          <p:cNvSpPr txBox="1"/>
          <p:nvPr/>
        </p:nvSpPr>
        <p:spPr>
          <a:xfrm>
            <a:off x="2476195" y="5083150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★☆☆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2476195" y="5329123"/>
            <a:ext cx="1285646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2"/>
          <p:cNvSpPr txBox="1"/>
          <p:nvPr/>
        </p:nvSpPr>
        <p:spPr>
          <a:xfrm>
            <a:off x="2476195" y="5394960"/>
            <a:ext cx="128656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자료로 우수</a:t>
            </a:r>
            <a:endParaRPr lang="en-US" sz="800" dirty="0"/>
          </a:p>
        </p:txBody>
      </p:sp>
      <p:sp>
        <p:nvSpPr>
          <p:cNvPr id="57" name="Text 53"/>
          <p:cNvSpPr txBox="1"/>
          <p:nvPr/>
        </p:nvSpPr>
        <p:spPr>
          <a:xfrm>
            <a:off x="4407408" y="4447642"/>
            <a:ext cx="764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 캠</a:t>
            </a:r>
            <a:endParaRPr lang="en-US" sz="800" dirty="0"/>
          </a:p>
        </p:txBody>
      </p:sp>
      <p:sp>
        <p:nvSpPr>
          <p:cNvPr id="58" name="Text 54"/>
          <p:cNvSpPr txBox="1"/>
          <p:nvPr/>
        </p:nvSpPr>
        <p:spPr>
          <a:xfrm>
            <a:off x="4095598" y="4742993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★★☆</a:t>
            </a:r>
            <a:endParaRPr lang="en-US" sz="800" dirty="0"/>
          </a:p>
        </p:txBody>
      </p:sp>
      <p:sp>
        <p:nvSpPr>
          <p:cNvPr id="59" name="Text 55"/>
          <p:cNvSpPr txBox="1"/>
          <p:nvPr/>
        </p:nvSpPr>
        <p:spPr>
          <a:xfrm>
            <a:off x="4095598" y="4913071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★★★★</a:t>
            </a:r>
            <a:endParaRPr lang="en-US" sz="800" dirty="0"/>
          </a:p>
        </p:txBody>
      </p:sp>
      <p:sp>
        <p:nvSpPr>
          <p:cNvPr id="60" name="Text 56"/>
          <p:cNvSpPr txBox="1"/>
          <p:nvPr/>
        </p:nvSpPr>
        <p:spPr>
          <a:xfrm>
            <a:off x="4095598" y="5083150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★★★ 큼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4095598" y="5329123"/>
            <a:ext cx="1285646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8"/>
          <p:cNvSpPr txBox="1"/>
          <p:nvPr/>
        </p:nvSpPr>
        <p:spPr>
          <a:xfrm>
            <a:off x="4095598" y="5394960"/>
            <a:ext cx="128656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도입</a:t>
            </a:r>
            <a:endParaRPr lang="en-US" sz="800" dirty="0"/>
          </a:p>
        </p:txBody>
      </p:sp>
      <p:sp>
        <p:nvSpPr>
          <p:cNvPr id="63" name="Text 59"/>
          <p:cNvSpPr txBox="1"/>
          <p:nvPr/>
        </p:nvSpPr>
        <p:spPr>
          <a:xfrm>
            <a:off x="5972861" y="4447642"/>
            <a:ext cx="6739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 센서</a:t>
            </a:r>
            <a:endParaRPr lang="en-US" sz="800" dirty="0"/>
          </a:p>
        </p:txBody>
      </p:sp>
      <p:sp>
        <p:nvSpPr>
          <p:cNvPr id="64" name="Text 60"/>
          <p:cNvSpPr txBox="1"/>
          <p:nvPr/>
        </p:nvSpPr>
        <p:spPr>
          <a:xfrm>
            <a:off x="5715000" y="4742993"/>
            <a:ext cx="10954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★★★</a:t>
            </a:r>
            <a:endParaRPr lang="en-US" sz="800" dirty="0"/>
          </a:p>
        </p:txBody>
      </p:sp>
      <p:sp>
        <p:nvSpPr>
          <p:cNvPr id="65" name="Text 61"/>
          <p:cNvSpPr txBox="1"/>
          <p:nvPr/>
        </p:nvSpPr>
        <p:spPr>
          <a:xfrm>
            <a:off x="5715000" y="4913071"/>
            <a:ext cx="10954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★★★★★</a:t>
            </a:r>
            <a:endParaRPr lang="en-US" sz="800" dirty="0"/>
          </a:p>
        </p:txBody>
      </p:sp>
      <p:sp>
        <p:nvSpPr>
          <p:cNvPr id="66" name="Text 62"/>
          <p:cNvSpPr txBox="1"/>
          <p:nvPr/>
        </p:nvSpPr>
        <p:spPr>
          <a:xfrm>
            <a:off x="5715000" y="5083150"/>
            <a:ext cx="10954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☆☆☆</a:t>
            </a:r>
            <a:endParaRPr lang="en-US" sz="800" dirty="0"/>
          </a:p>
        </p:txBody>
      </p:sp>
      <p:sp>
        <p:nvSpPr>
          <p:cNvPr id="67" name="Shape 63"/>
          <p:cNvSpPr/>
          <p:nvPr/>
        </p:nvSpPr>
        <p:spPr>
          <a:xfrm>
            <a:off x="5715000" y="5329123"/>
            <a:ext cx="1095451" cy="914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 txBox="1"/>
          <p:nvPr/>
        </p:nvSpPr>
        <p:spPr>
          <a:xfrm>
            <a:off x="5715000" y="5394960"/>
            <a:ext cx="1095451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운영용</a:t>
            </a:r>
            <a:endParaRPr lang="en-US" sz="800" dirty="0"/>
          </a:p>
        </p:txBody>
      </p:sp>
      <p:sp>
        <p:nvSpPr>
          <p:cNvPr id="69" name="Text 65"/>
          <p:cNvSpPr txBox="1"/>
          <p:nvPr/>
        </p:nvSpPr>
        <p:spPr>
          <a:xfrm>
            <a:off x="1028700" y="9353398"/>
            <a:ext cx="5524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①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지금 무엇을 보고 있는가?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②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무엇이 평소와 다른가?</a:t>
            </a:r>
            <a:endParaRPr lang="en-US" sz="800" dirty="0"/>
          </a:p>
        </p:txBody>
      </p:sp>
      <p:sp>
        <p:nvSpPr>
          <p:cNvPr id="70" name="Text 66"/>
          <p:cNvSpPr txBox="1"/>
          <p:nvPr/>
        </p:nvSpPr>
        <p:spPr>
          <a:xfrm>
            <a:off x="1028700" y="9534449"/>
            <a:ext cx="5524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③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어떤 행동을 했는가?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④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그 근거는 무엇인가?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⑤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결과는?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2076602"/>
            <a:ext cx="5771693" cy="742493"/>
          </a:xfrm>
          <a:prstGeom prst="rect">
            <a:avLst/>
          </a:prstGeom>
          <a:solidFill>
            <a:srgbClr val="FFF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2971800"/>
            <a:ext cx="5771693" cy="742493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8" y="4343400"/>
            <a:ext cx="5790895" cy="2210105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8" y="6762902"/>
            <a:ext cx="5810098" cy="1656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95198" y="8876995"/>
            <a:ext cx="5810098" cy="742493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95198" y="8876995"/>
            <a:ext cx="38405" cy="742493"/>
          </a:xfrm>
          <a:prstGeom prst="rect">
            <a:avLst/>
          </a:prstGeom>
          <a:solidFill>
            <a:srgbClr val="0F3A2E"/>
          </a:solidFill>
          <a:ln w="12700">
            <a:solidFill>
              <a:srgbClr val="0F3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5198" y="9696298"/>
            <a:ext cx="5771693" cy="342900"/>
          </a:xfrm>
          <a:prstGeom prst="rect">
            <a:avLst/>
          </a:prstGeom>
          <a:solidFill>
            <a:srgbClr val="FF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9" b="-49"/>
          <a:stretch/>
        </p:blipFill>
        <p:spPr>
          <a:xfrm>
            <a:off x="895198" y="2076602"/>
            <a:ext cx="47549" cy="74249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9" b="-49"/>
          <a:stretch/>
        </p:blipFill>
        <p:spPr>
          <a:xfrm>
            <a:off x="895198" y="2971800"/>
            <a:ext cx="47549" cy="742493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895198" y="9696298"/>
            <a:ext cx="47549" cy="3429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95198" y="914400"/>
            <a:ext cx="856793" cy="8567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543154" y="342900"/>
            <a:ext cx="1712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암묵지 캡처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5297119" y="342900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WORKBOOK · 인터뷰 시뮬레이션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1904695" y="914400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③ · 워크북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1904695" y="1085393"/>
            <a:ext cx="4763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 인터뷰 시뮬레이션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904695" y="1464869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"왜?"를 다섯 번 반복해 암묵지의 뿌리까지 캐내려 갑니다.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85393" y="2190902"/>
            <a:ext cx="5429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C99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085393" y="2381098"/>
            <a:ext cx="5429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행동을 잡아 "왜?"를 다섯 번 묻고, 베테랑의 판정 근거를 라벨로 옮길 수 있는 형태로 기록합니다.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85393" y="3086100"/>
            <a:ext cx="5429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1085393" y="3276295"/>
            <a:ext cx="5429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20년차 정비반장 김씨가 굴착기 시동을 걸자마자 "이거 오늘 안 되겠는데"라고 말합니다. 그 한 줄의 근거를 끝까지 추적해 봅시다.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95198" y="4024274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067105" y="3924605"/>
            <a:ext cx="25091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8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 — Why를 다섯 번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1085393" y="6920179"/>
            <a:ext cx="170993" cy="1709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1333195" y="6914693"/>
            <a:ext cx="75712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085393" y="7172554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우리 부서 베테랑의 한 가지 판정을 골라 5 Whys를 적어 보세요.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085393" y="7374636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085393" y="7577633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1085393" y="7780630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마지막 답에서 추출한 라벨 후보 1개를 적으세요.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1085393" y="7982712"/>
            <a:ext cx="5429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정확도를 베테랑이 직접 평가한 수치(예: 8/10)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895198" y="8581644"/>
            <a:ext cx="800100" cy="219456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[코드 2-3]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1766621" y="8591702"/>
            <a:ext cx="19504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Whys 결과 — JSON 한 행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085393" y="9763049"/>
            <a:ext cx="5429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r>
              <a:rPr lang="en-US" sz="8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"Why"를 추궁하듯 묻지 마세요. 라포(rapport) 형성이 먼저, 질문은 다음입니다.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543154" y="10253167"/>
            <a:ext cx="3308299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⁶⁾ 5 Whys: Toyota의 Sakichi Toyoda가 제안한 근본 원인 분석 기법.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068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 rot="10800000">
            <a:off x="99670" y="3555187"/>
            <a:ext cx="143561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워크북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895198" y="990295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16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895198" y="1152144"/>
            <a:ext cx="857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-10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43" name="Text 37"/>
          <p:cNvSpPr txBox="1"/>
          <p:nvPr/>
        </p:nvSpPr>
        <p:spPr>
          <a:xfrm>
            <a:off x="895198" y="1552651"/>
            <a:ext cx="857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8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WHYS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1028700" y="4457700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9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2-3 · FIVE WHYS · LADDER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1028700" y="4742993"/>
            <a:ext cx="228600" cy="191110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1352398" y="4742993"/>
            <a:ext cx="30166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안 되겠다고 했나요?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"엔진음이 평소보다 무겁다"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1028700" y="4945990"/>
            <a:ext cx="228600" cy="191110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1352398" y="4945990"/>
            <a:ext cx="36347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무거운 게 문제인가요?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"압축비가 안 맞으면 그 소리가 난다"</a:t>
            </a:r>
            <a:endParaRPr lang="en-US" sz="800" dirty="0"/>
          </a:p>
        </p:txBody>
      </p:sp>
      <p:sp>
        <p:nvSpPr>
          <p:cNvPr id="49" name="Text 43"/>
          <p:cNvSpPr txBox="1"/>
          <p:nvPr/>
        </p:nvSpPr>
        <p:spPr>
          <a:xfrm>
            <a:off x="1028700" y="5148986"/>
            <a:ext cx="228600" cy="191110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800" dirty="0"/>
          </a:p>
        </p:txBody>
      </p:sp>
      <p:sp>
        <p:nvSpPr>
          <p:cNvPr id="50" name="Text 44"/>
          <p:cNvSpPr txBox="1"/>
          <p:nvPr/>
        </p:nvSpPr>
        <p:spPr>
          <a:xfrm>
            <a:off x="1352398" y="5148986"/>
            <a:ext cx="401604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압축비가 어긋나는 건가요?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"보통 인젝터 막힘 또는 밸브 간극 변화"</a:t>
            </a:r>
            <a:endParaRPr lang="en-US" sz="800" dirty="0"/>
          </a:p>
        </p:txBody>
      </p:sp>
      <p:sp>
        <p:nvSpPr>
          <p:cNvPr id="51" name="Text 45"/>
          <p:cNvSpPr txBox="1"/>
          <p:nvPr/>
        </p:nvSpPr>
        <p:spPr>
          <a:xfrm>
            <a:off x="1028700" y="5351069"/>
            <a:ext cx="228600" cy="191110"/>
          </a:xfrm>
          <a:prstGeom prst="rect">
            <a:avLst/>
          </a:prstGeom>
          <a:solidFill>
            <a:srgbClr val="F4B4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800" dirty="0"/>
          </a:p>
        </p:txBody>
      </p:sp>
      <p:sp>
        <p:nvSpPr>
          <p:cNvPr id="52" name="Text 46"/>
          <p:cNvSpPr txBox="1"/>
          <p:nvPr/>
        </p:nvSpPr>
        <p:spPr>
          <a:xfrm>
            <a:off x="1352398" y="5351069"/>
            <a:ext cx="377921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원인을 어떻게 구분하시나요?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"냉시동 시 더 두드러지면 인젝터"</a:t>
            </a:r>
            <a:endParaRPr lang="en-US" sz="800" dirty="0"/>
          </a:p>
        </p:txBody>
      </p:sp>
      <p:sp>
        <p:nvSpPr>
          <p:cNvPr id="53" name="Text 47"/>
          <p:cNvSpPr txBox="1"/>
          <p:nvPr/>
        </p:nvSpPr>
        <p:spPr>
          <a:xfrm>
            <a:off x="1028700" y="5554066"/>
            <a:ext cx="228600" cy="191110"/>
          </a:xfrm>
          <a:prstGeom prst="rect">
            <a:avLst/>
          </a:prstGeom>
          <a:solidFill>
            <a:srgbClr val="E8521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</a:t>
            </a:r>
            <a:endParaRPr lang="en-US" sz="800" dirty="0"/>
          </a:p>
        </p:txBody>
      </p:sp>
      <p:sp>
        <p:nvSpPr>
          <p:cNvPr id="54" name="Text 48"/>
          <p:cNvSpPr txBox="1"/>
          <p:nvPr/>
        </p:nvSpPr>
        <p:spPr>
          <a:xfrm>
            <a:off x="1352398" y="5554066"/>
            <a:ext cx="35981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판정의 정확도는?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"10번 중 8번 정도. 마지막은 OBD로 확인"</a:t>
            </a:r>
            <a:endParaRPr lang="en-US" sz="800" dirty="0"/>
          </a:p>
        </p:txBody>
      </p:sp>
      <p:sp>
        <p:nvSpPr>
          <p:cNvPr id="55" name="Text 49"/>
          <p:cNvSpPr txBox="1"/>
          <p:nvPr/>
        </p:nvSpPr>
        <p:spPr>
          <a:xfrm>
            <a:off x="1028700" y="8991295"/>
            <a:ext cx="5524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{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"증상"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"엔진음 무거움",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"원인_1순위"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"인젝터 막힘",</a:t>
            </a:r>
            <a:endParaRPr lang="en-US" sz="800" dirty="0"/>
          </a:p>
        </p:txBody>
      </p:sp>
      <p:sp>
        <p:nvSpPr>
          <p:cNvPr id="56" name="Text 50"/>
          <p:cNvSpPr txBox="1"/>
          <p:nvPr/>
        </p:nvSpPr>
        <p:spPr>
          <a:xfrm>
            <a:off x="1028700" y="9172346"/>
            <a:ext cx="5524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"근거"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"냉시동 시 더 두드러짐",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"신뢰도"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0.8,</a:t>
            </a:r>
            <a:endParaRPr lang="en-US" sz="800" dirty="0"/>
          </a:p>
        </p:txBody>
      </p:sp>
      <p:sp>
        <p:nvSpPr>
          <p:cNvPr id="57" name="Text 51"/>
          <p:cNvSpPr txBox="1"/>
          <p:nvPr/>
        </p:nvSpPr>
        <p:spPr>
          <a:xfrm>
            <a:off x="1028700" y="9352483"/>
            <a:ext cx="5524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"검증_방법"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"OBD 확인", </a:t>
            </a:r>
            <a:r>
              <a:rPr lang="en-US" sz="800" dirty="0">
                <a:solidFill>
                  <a:srgbClr val="E8521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"라벨"</a:t>
            </a:r>
            <a:r>
              <a:rPr lang="en-US" sz="800" dirty="0">
                <a:solidFill>
                  <a:srgbClr val="0F3A2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"INJECTOR_CLOG" }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F5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143500" y="571500"/>
            <a:ext cx="761695" cy="761695"/>
          </a:xfrm>
          <a:prstGeom prst="rect">
            <a:avLst/>
          </a:prstGeom>
          <a:solidFill>
            <a:srgbClr val="0F3A2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10098" y="856793"/>
            <a:ext cx="856793" cy="856793"/>
          </a:xfrm>
          <a:prstGeom prst="rect">
            <a:avLst/>
          </a:prstGeom>
          <a:solidFill>
            <a:srgbClr val="F4B40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33695" y="1333195"/>
            <a:ext cx="571500" cy="571500"/>
          </a:xfrm>
          <a:prstGeom prst="rect">
            <a:avLst/>
          </a:prstGeom>
          <a:solidFill>
            <a:srgbClr val="E8521C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895198" y="6476695"/>
            <a:ext cx="5771693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1405" y="9620402"/>
            <a:ext cx="476402" cy="476402"/>
          </a:xfrm>
          <a:prstGeom prst="rect">
            <a:avLst/>
          </a:prstGeom>
          <a:solidFill>
            <a:srgbClr val="E8521C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752905" y="9620402"/>
            <a:ext cx="476402" cy="476402"/>
          </a:xfrm>
          <a:prstGeom prst="rect">
            <a:avLst/>
          </a:prstGeom>
          <a:solidFill>
            <a:srgbClr val="0F3A2E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895198" y="4953305"/>
            <a:ext cx="1143000" cy="566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95198" y="7048195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95198" y="7714793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95198" y="8381390"/>
            <a:ext cx="342900" cy="342900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95198" y="9334195"/>
            <a:ext cx="476402" cy="476402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466698" y="9334195"/>
            <a:ext cx="513893" cy="513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038198" y="9334195"/>
            <a:ext cx="476402" cy="476402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2609698" y="9334195"/>
            <a:ext cx="476402" cy="476402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543154" y="543154"/>
            <a:ext cx="247802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168542" y="543154"/>
            <a:ext cx="102595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EDITION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95198" y="2667305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95198" y="2838298"/>
            <a:ext cx="5772607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00" b="1" kern="0" spc="-90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900" dirty="0"/>
          </a:p>
        </p:txBody>
      </p:sp>
      <p:sp>
        <p:nvSpPr>
          <p:cNvPr id="21" name="Text 17"/>
          <p:cNvSpPr txBox="1"/>
          <p:nvPr/>
        </p:nvSpPr>
        <p:spPr>
          <a:xfrm>
            <a:off x="895198" y="5238598"/>
            <a:ext cx="5772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 · 라벨링 · 데이터 품질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95198" y="5642762"/>
            <a:ext cx="5772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· Labeling · Quality · De-identification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95198" y="6667805"/>
            <a:ext cx="5772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25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CHAPTERS IN THIS PART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410005" y="7086600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 표준 · 스키마 설계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410005" y="7362749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정한 스키마는 6개월 이상 간다 — 처음이 중요.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410005" y="7753198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지표 · IAA · 정합성 검사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410005" y="8029346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같은 라벨을 붙이는가 — 일치도가 핵심.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1410005" y="841979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7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비식별화 · 윤리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410005" y="8695944"/>
            <a:ext cx="5143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제거 · 영업비밀 · 베테랑의 동의.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5715000" y="1023945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080 —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1021385" y="7105802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021385" y="7772400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21385" y="8438998"/>
            <a:ext cx="96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5198" y="3810305"/>
            <a:ext cx="3257093" cy="2305202"/>
          </a:xfrm>
          <a:prstGeom prst="rect">
            <a:avLst/>
          </a:prstGeom>
          <a:solidFill>
            <a:srgbClr val="F5F2EC"/>
          </a:solidFill>
          <a:ln w="12700">
            <a:solidFill>
              <a:srgbClr val="D6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95198" y="8667598"/>
            <a:ext cx="5771693" cy="914400"/>
          </a:xfrm>
          <a:prstGeom prst="rect">
            <a:avLst/>
          </a:prstGeom>
          <a:solidFill>
            <a:srgbClr val="FFF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895198" y="8667598"/>
            <a:ext cx="47549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43154" y="590702"/>
            <a:ext cx="647669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1238098"/>
            <a:ext cx="342900" cy="4953305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895198" y="914400"/>
            <a:ext cx="513893" cy="513893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085393" y="4285793"/>
            <a:ext cx="2876702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95198" y="6819595"/>
            <a:ext cx="1885493" cy="1619402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838298" y="6819595"/>
            <a:ext cx="1885493" cy="1619402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781398" y="6819595"/>
            <a:ext cx="1923898" cy="1656893"/>
          </a:xfrm>
          <a:prstGeom prst="rect">
            <a:avLst/>
          </a:prstGeom>
          <a:solidFill>
            <a:srgbClr val="FFFFFF"/>
          </a:solidFill>
          <a:ln w="25399">
            <a:solidFill>
              <a:srgbClr val="0F3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43154" y="10115093"/>
            <a:ext cx="6476695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1238098"/>
            <a:ext cx="342900" cy="761695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85393" y="4285793"/>
            <a:ext cx="2857500" cy="285293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89" r="-189"/>
          <a:stretch/>
        </p:blipFill>
        <p:spPr>
          <a:xfrm>
            <a:off x="895198" y="6819595"/>
            <a:ext cx="1885493" cy="758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89" r="-189"/>
          <a:stretch/>
        </p:blipFill>
        <p:spPr>
          <a:xfrm>
            <a:off x="2838298" y="6819595"/>
            <a:ext cx="1885493" cy="7589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189" r="-189"/>
          <a:stretch/>
        </p:blipFill>
        <p:spPr>
          <a:xfrm>
            <a:off x="4781398" y="6819595"/>
            <a:ext cx="1885493" cy="758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43154" y="342900"/>
            <a:ext cx="21268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디지털화 · 라벨링</a:t>
            </a:r>
            <a:endParaRPr lang="en-US" sz="800" dirty="0"/>
          </a:p>
        </p:txBody>
      </p:sp>
      <p:sp>
        <p:nvSpPr>
          <p:cNvPr id="20" name="Text 12"/>
          <p:cNvSpPr txBox="1"/>
          <p:nvPr/>
        </p:nvSpPr>
        <p:spPr>
          <a:xfrm>
            <a:off x="5126126" y="342900"/>
            <a:ext cx="211683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</a:t>
            </a:r>
            <a:endParaRPr lang="en-US" sz="800" dirty="0"/>
          </a:p>
        </p:txBody>
      </p:sp>
      <p:sp>
        <p:nvSpPr>
          <p:cNvPr id="21" name="Text 13"/>
          <p:cNvSpPr txBox="1"/>
          <p:nvPr/>
        </p:nvSpPr>
        <p:spPr>
          <a:xfrm>
            <a:off x="1571854" y="981151"/>
            <a:ext cx="5095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7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· ①</a:t>
            </a:r>
            <a:endParaRPr lang="en-US" sz="800" dirty="0"/>
          </a:p>
        </p:txBody>
      </p:sp>
      <p:sp>
        <p:nvSpPr>
          <p:cNvPr id="22" name="Text 14"/>
          <p:cNvSpPr txBox="1"/>
          <p:nvPr/>
        </p:nvSpPr>
        <p:spPr>
          <a:xfrm>
            <a:off x="1571854" y="1152144"/>
            <a:ext cx="5095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 표준 · 스키마 설계</a:t>
            </a:r>
            <a:endParaRPr lang="en-US" sz="2000" dirty="0"/>
          </a:p>
        </p:txBody>
      </p:sp>
      <p:sp>
        <p:nvSpPr>
          <p:cNvPr id="23" name="Shape 15"/>
          <p:cNvSpPr/>
          <p:nvPr/>
        </p:nvSpPr>
        <p:spPr>
          <a:xfrm>
            <a:off x="895198" y="2048256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1067105" y="1923898"/>
            <a:ext cx="277429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처음이 가장 중요하다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895198" y="2361895"/>
            <a:ext cx="57726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 정한 라벨 스키마는 보통 6개월 이상 사용되며, 중간에 바꾸면 기존 데이터를 모두 다시 라벨링해야 합니다. 따라서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라벨 세트(MVL)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시작하되, 확장 여지를 남겨 두는 것이 핵심입니다. 스키마는 </a:t>
            </a:r>
            <a:r>
              <a:rPr lang="en-US" sz="9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레이블 ID · 정의 · 예시 · 반례 · 모호한 경계</a:t>
            </a: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가지로 문서화합니다.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4324198" y="3810305"/>
            <a:ext cx="2343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라벨 세트 (MVL)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4324198" y="4391863"/>
            <a:ext cx="2342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4324198" y="4095598"/>
            <a:ext cx="5239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6434633" y="4095598"/>
            <a:ext cx="2706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324198" y="4749394"/>
            <a:ext cx="2342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4324198" y="4454042"/>
            <a:ext cx="10003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INJECTOR_CLOG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6317590" y="4454042"/>
            <a:ext cx="40599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인젝터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324198" y="5107838"/>
            <a:ext cx="2342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4324198" y="4812487"/>
            <a:ext cx="50566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BLOWBY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434633" y="4812487"/>
            <a:ext cx="2706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밸브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324198" y="5466283"/>
            <a:ext cx="2342693" cy="9144"/>
          </a:xfrm>
          <a:prstGeom prst="rect">
            <a:avLst/>
          </a:prstGeom>
          <a:solidFill>
            <a:srgbClr val="D6D0C2"/>
          </a:solidFill>
          <a:ln w="12700">
            <a:solidFill>
              <a:srgbClr val="D6D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4324198" y="5170018"/>
            <a:ext cx="6958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UNCERTAIN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6434633" y="5170018"/>
            <a:ext cx="2706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4324198" y="5528462"/>
            <a:ext cx="4197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OTHER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6434633" y="5528462"/>
            <a:ext cx="2706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4324198" y="5953658"/>
            <a:ext cx="23436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UNCERTAIN과 OTHER 두 칸을 반드시 두세요. 분류가 애매한 케이스를 강제로 끼워 넣으면 데이터셋 전체가 오염됩니다.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895198" y="6505042"/>
            <a:ext cx="75895" cy="75895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 txBox="1"/>
          <p:nvPr/>
        </p:nvSpPr>
        <p:spPr>
          <a:xfrm>
            <a:off x="1067105" y="6381598"/>
            <a:ext cx="291236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2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스키마 설계의 세 단계</a:t>
            </a:r>
            <a:endParaRPr lang="en-US" sz="1700" dirty="0"/>
          </a:p>
        </p:txBody>
      </p:sp>
      <p:sp>
        <p:nvSpPr>
          <p:cNvPr id="44" name="Text 36"/>
          <p:cNvSpPr txBox="1"/>
          <p:nvPr/>
        </p:nvSpPr>
        <p:spPr>
          <a:xfrm>
            <a:off x="1085393" y="8801100"/>
            <a:ext cx="5429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C99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1085393" y="9010498"/>
            <a:ext cx="5429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MVL → 파일럿 → IAA 검증 순서로 스키마를 굳혀 가세요.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순서를 지키면 6개월 뒤에도 같은 스키마로 데이터를 쌓을 수 있습니다. 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543154" y="10253167"/>
            <a:ext cx="53245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7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⁷⁾ IAA(Inter-Annotator Agreement): 두 명 이상의 라벨러가 같은 라벨을 붙인 비율. Cohen's kappa 등으로 측정.</a:t>
            </a:r>
            <a:endParaRPr lang="en-US" sz="800" dirty="0"/>
          </a:p>
        </p:txBody>
      </p:sp>
      <p:sp>
        <p:nvSpPr>
          <p:cNvPr id="47" name="Text 39"/>
          <p:cNvSpPr txBox="1"/>
          <p:nvPr/>
        </p:nvSpPr>
        <p:spPr>
          <a:xfrm>
            <a:off x="6834226" y="10239451"/>
            <a:ext cx="224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082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 rot="10800000">
            <a:off x="99670" y="3172054"/>
            <a:ext cx="143561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1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디지털화 · 라벨링</a:t>
            </a:r>
            <a:endParaRPr lang="en-US" sz="800" dirty="0"/>
          </a:p>
        </p:txBody>
      </p:sp>
      <p:sp>
        <p:nvSpPr>
          <p:cNvPr id="49" name="Text 41"/>
          <p:cNvSpPr txBox="1"/>
          <p:nvPr/>
        </p:nvSpPr>
        <p:spPr>
          <a:xfrm>
            <a:off x="995782" y="961949"/>
            <a:ext cx="3557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90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0" name="Text 42"/>
          <p:cNvSpPr txBox="1"/>
          <p:nvPr/>
        </p:nvSpPr>
        <p:spPr>
          <a:xfrm>
            <a:off x="1028700" y="3942893"/>
            <a:ext cx="2857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3-1 · LABEL SCHEMA CARD</a:t>
            </a:r>
            <a:endParaRPr lang="en-US" sz="800" dirty="0"/>
          </a:p>
        </p:txBody>
      </p:sp>
      <p:sp>
        <p:nvSpPr>
          <p:cNvPr id="51" name="Text 43"/>
          <p:cNvSpPr txBox="1"/>
          <p:nvPr/>
        </p:nvSpPr>
        <p:spPr>
          <a:xfrm>
            <a:off x="1613002" y="4352544"/>
            <a:ext cx="19394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· INJECTOR_CLOG</a:t>
            </a:r>
            <a:endParaRPr lang="en-US" sz="800" dirty="0"/>
          </a:p>
        </p:txBody>
      </p:sp>
      <p:sp>
        <p:nvSpPr>
          <p:cNvPr id="52" name="Text 44"/>
          <p:cNvSpPr txBox="1"/>
          <p:nvPr/>
        </p:nvSpPr>
        <p:spPr>
          <a:xfrm>
            <a:off x="1218895" y="4667098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인젝터 막힘으로 분사 불균일</a:t>
            </a:r>
            <a:endParaRPr lang="en-US" sz="800" dirty="0"/>
          </a:p>
        </p:txBody>
      </p:sp>
      <p:sp>
        <p:nvSpPr>
          <p:cNvPr id="53" name="Text 45"/>
          <p:cNvSpPr txBox="1"/>
          <p:nvPr/>
        </p:nvSpPr>
        <p:spPr>
          <a:xfrm>
            <a:off x="1218895" y="4845406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냉시동 시 엔진음 무거움</a:t>
            </a:r>
            <a:endParaRPr lang="en-US" sz="800" dirty="0"/>
          </a:p>
        </p:txBody>
      </p:sp>
      <p:sp>
        <p:nvSpPr>
          <p:cNvPr id="54" name="Text 46"/>
          <p:cNvSpPr txBox="1"/>
          <p:nvPr/>
        </p:nvSpPr>
        <p:spPr>
          <a:xfrm>
            <a:off x="1218895" y="5023714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밸브 간극 변화 (BLOWBY로)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1218895" y="5202022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r>
              <a:rPr lang="en-US" sz="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둘 다 의심 시 OBD 결과 우선</a:t>
            </a:r>
            <a:endParaRPr lang="en-US" sz="800" dirty="0"/>
          </a:p>
        </p:txBody>
      </p:sp>
      <p:sp>
        <p:nvSpPr>
          <p:cNvPr id="56" name="Text 48"/>
          <p:cNvSpPr txBox="1"/>
          <p:nvPr/>
        </p:nvSpPr>
        <p:spPr>
          <a:xfrm>
            <a:off x="1028700" y="7048195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01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1028700" y="7229246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MVL 만들기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1028700" y="7484364"/>
            <a:ext cx="1619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3~5개 라벨로 시작.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UNCERTAIN 필수.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2971800" y="7048195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02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2971800" y="7229246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100건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2971800" y="7484364"/>
            <a:ext cx="1619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332">
                    <a:alpha val="6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같은 100건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2332">
                    <a:alpha val="6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라벨링.</a:t>
            </a:r>
            <a:endParaRPr lang="en-US" sz="800" dirty="0"/>
          </a:p>
        </p:txBody>
      </p:sp>
      <p:sp>
        <p:nvSpPr>
          <p:cNvPr id="62" name="Text 54"/>
          <p:cNvSpPr txBox="1"/>
          <p:nvPr/>
        </p:nvSpPr>
        <p:spPr>
          <a:xfrm>
            <a:off x="4914900" y="7048195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6" dirty="0">
                <a:solidFill>
                  <a:srgbClr val="E8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03</a:t>
            </a:r>
            <a:endParaRPr lang="en-US" sz="800" dirty="0"/>
          </a:p>
        </p:txBody>
      </p:sp>
      <p:sp>
        <p:nvSpPr>
          <p:cNvPr id="63" name="Text 55"/>
          <p:cNvSpPr txBox="1"/>
          <p:nvPr/>
        </p:nvSpPr>
        <p:spPr>
          <a:xfrm>
            <a:off x="4914900" y="7229246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확정</a:t>
            </a:r>
            <a:endParaRPr lang="en-US" sz="1100" dirty="0"/>
          </a:p>
        </p:txBody>
      </p:sp>
      <p:sp>
        <p:nvSpPr>
          <p:cNvPr id="64" name="Text 56"/>
          <p:cNvSpPr txBox="1"/>
          <p:nvPr/>
        </p:nvSpPr>
        <p:spPr>
          <a:xfrm>
            <a:off x="4914900" y="7484364"/>
            <a:ext cx="1619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IAA &gt; 0.7 달성 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라벨링 시작.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3002" cy="10696651"/>
          </a:xfrm>
          <a:prstGeom prst="rect">
            <a:avLst/>
          </a:prstGeom>
          <a:solidFill>
            <a:srgbClr val="0F3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143000" cy="9509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0" y="0"/>
            <a:ext cx="95098" cy="1143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895198" y="3619195"/>
            <a:ext cx="5771693" cy="914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895198" y="4953305"/>
            <a:ext cx="5771693" cy="9144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895198" y="6286500"/>
            <a:ext cx="5771693" cy="914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895198" y="7619695"/>
            <a:ext cx="5771693" cy="9144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895198" y="8001000"/>
            <a:ext cx="5771693" cy="1238098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2"/>
          <p:cNvSpPr/>
          <p:nvPr/>
        </p:nvSpPr>
        <p:spPr>
          <a:xfrm>
            <a:off x="895198" y="9429293"/>
            <a:ext cx="476402" cy="476402"/>
          </a:xfrm>
          <a:prstGeom prst="rect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3"/>
          <p:cNvSpPr/>
          <p:nvPr/>
        </p:nvSpPr>
        <p:spPr>
          <a:xfrm>
            <a:off x="1466698" y="9429293"/>
            <a:ext cx="476402" cy="476402"/>
          </a:xfrm>
          <a:prstGeom prst="rect">
            <a:avLst/>
          </a:prstGeom>
          <a:solidFill>
            <a:srgbClr val="E852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4"/>
          <p:cNvSpPr/>
          <p:nvPr/>
        </p:nvSpPr>
        <p:spPr>
          <a:xfrm>
            <a:off x="2038198" y="9429293"/>
            <a:ext cx="476402" cy="4764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5"/>
          <p:cNvSpPr/>
          <p:nvPr/>
        </p:nvSpPr>
        <p:spPr>
          <a:xfrm>
            <a:off x="2609698" y="9429293"/>
            <a:ext cx="495605" cy="495605"/>
          </a:xfrm>
          <a:prstGeom prst="rect">
            <a:avLst/>
          </a:prstGeom>
          <a:solidFill>
            <a:srgbClr val="F4B400">
              <a:alpha val="40000"/>
            </a:srgbClr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6"/>
          <p:cNvSpPr txBox="1"/>
          <p:nvPr/>
        </p:nvSpPr>
        <p:spPr>
          <a:xfrm>
            <a:off x="543154" y="543154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WRAP-UP · 정리</a:t>
            </a:r>
            <a:endParaRPr lang="en-US" sz="800" dirty="0"/>
          </a:p>
        </p:txBody>
      </p:sp>
      <p:sp>
        <p:nvSpPr>
          <p:cNvPr id="16" name="Text 7"/>
          <p:cNvSpPr txBox="1"/>
          <p:nvPr/>
        </p:nvSpPr>
        <p:spPr>
          <a:xfrm>
            <a:off x="4697273" y="543154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5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DATA × DIGITALIZATION · 2026</a:t>
            </a:r>
            <a:endParaRPr lang="en-US" sz="800" dirty="0"/>
          </a:p>
        </p:txBody>
      </p:sp>
      <p:sp>
        <p:nvSpPr>
          <p:cNvPr id="17" name="Text 8"/>
          <p:cNvSpPr txBox="1"/>
          <p:nvPr/>
        </p:nvSpPr>
        <p:spPr>
          <a:xfrm>
            <a:off x="895198" y="1333195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20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18" name="Text 9"/>
          <p:cNvSpPr txBox="1"/>
          <p:nvPr/>
        </p:nvSpPr>
        <p:spPr>
          <a:xfrm>
            <a:off x="895198" y="1638605"/>
            <a:ext cx="5772607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kern="0" spc="-10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베테랑의 손끝을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kern="0" spc="-108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1,000행으로.</a:t>
            </a:r>
            <a:endParaRPr lang="en-US" sz="3500" dirty="0"/>
          </a:p>
        </p:txBody>
      </p:sp>
      <p:sp>
        <p:nvSpPr>
          <p:cNvPr id="19" name="Text 10"/>
          <p:cNvSpPr txBox="1"/>
          <p:nvPr/>
        </p:nvSpPr>
        <p:spPr>
          <a:xfrm>
            <a:off x="895198" y="381030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800" dirty="0"/>
          </a:p>
        </p:txBody>
      </p:sp>
      <p:sp>
        <p:nvSpPr>
          <p:cNvPr id="20" name="Text 11"/>
          <p:cNvSpPr txBox="1"/>
          <p:nvPr/>
        </p:nvSpPr>
        <p:spPr>
          <a:xfrm>
            <a:off x="895198" y="4019702"/>
            <a:ext cx="1619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DIKW와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외부화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2704795" y="3810305"/>
            <a:ext cx="3963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디지털화의 본질은 지식·지혜를 손상 없이 데이터로 끌어내리는 일입니다. SECI 모형의 외부화(E) 단계가 본 교재의 출발점이며, 형식지/암묵지를 인벤토리에 펼쳐 놓는 것이 첫 행동입니다.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895198" y="5143500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800" dirty="0"/>
          </a:p>
        </p:txBody>
      </p:sp>
      <p:sp>
        <p:nvSpPr>
          <p:cNvPr id="23" name="Text 14"/>
          <p:cNvSpPr txBox="1"/>
          <p:nvPr/>
        </p:nvSpPr>
        <p:spPr>
          <a:xfrm>
            <a:off x="895198" y="5352898"/>
            <a:ext cx="1619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4채널을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겹친다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2704795" y="5143500"/>
            <a:ext cx="3963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관찰·인터뷰·영상·센서를 겹쳐야 손실이 줄어듭니다. 음성 메모와 사진부터 시작해 점차 영상·센서로 확장하세요. 5 Whys로 베테랑의 판정 근거를 라벨로 옮길 수 있는 형태로 정리합니다.</a:t>
            </a:r>
            <a:endParaRPr lang="en-US" sz="900" dirty="0"/>
          </a:p>
        </p:txBody>
      </p:sp>
      <p:sp>
        <p:nvSpPr>
          <p:cNvPr id="25" name="Text 16"/>
          <p:cNvSpPr txBox="1"/>
          <p:nvPr/>
        </p:nvSpPr>
        <p:spPr>
          <a:xfrm>
            <a:off x="895198" y="647669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800" dirty="0"/>
          </a:p>
        </p:txBody>
      </p:sp>
      <p:sp>
        <p:nvSpPr>
          <p:cNvPr id="26" name="Text 17"/>
          <p:cNvSpPr txBox="1"/>
          <p:nvPr/>
        </p:nvSpPr>
        <p:spPr>
          <a:xfrm>
            <a:off x="895198" y="6686093"/>
            <a:ext cx="1619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2704795" y="6476695"/>
            <a:ext cx="3963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MVL → 파일럿 100건 → IAA 검증 순서로 스키마를 굳히세요. UNCERTAIN을 반드시 남겨 모호한 케이스가 데이터셋을 오염시키지 않게 합니다. 비식별화는 옮기기 전에 끝냅니다.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3619195" y="9524390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3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전남대학교 · 한국디지털융합진흥원</a:t>
            </a:r>
            <a:endParaRPr lang="en-US" sz="800" dirty="0"/>
          </a:p>
        </p:txBody>
      </p:sp>
      <p:sp>
        <p:nvSpPr>
          <p:cNvPr id="29" name="Text 20"/>
          <p:cNvSpPr txBox="1"/>
          <p:nvPr/>
        </p:nvSpPr>
        <p:spPr>
          <a:xfrm>
            <a:off x="3619195" y="9705442"/>
            <a:ext cx="3048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>
                    <a:alpha val="5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CHONNAM NATIONAL UNIVERSITY · KDCPA · 2026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5715000" y="10239451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4B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120 —</a:t>
            </a:r>
            <a:endParaRPr lang="en-US" sz="800" dirty="0"/>
          </a:p>
        </p:txBody>
      </p:sp>
      <p:sp>
        <p:nvSpPr>
          <p:cNvPr id="31" name="Text 22"/>
          <p:cNvSpPr txBox="1"/>
          <p:nvPr/>
        </p:nvSpPr>
        <p:spPr>
          <a:xfrm>
            <a:off x="1143000" y="8171993"/>
            <a:ext cx="5334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HERE</a:t>
            </a: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1143000" y="8400593"/>
            <a:ext cx="5334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9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책은 시작점입니다.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9" dirty="0">
                <a:solidFill>
                  <a:srgbClr val="0F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내일 베테랑 한 분과 30분 인터뷰부터 시작하세요. 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VOL.02 · 전체 학습 목표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6일 과정 · 전체 48H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VOL.02 학습 목표 (전체 6일)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"도구 학습" → "데이터 자산화" — VOL.01과의 차별점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76200" cy="990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S112"/>
          <p:cNvSpPr/>
          <p:nvPr/>
        </p:nvSpPr>
        <p:spPr>
          <a:xfrm>
            <a:off x="1651000" y="22606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651000" y="2260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2095500" y="22225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암묵지·형식지 식별 + 자산화 전략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95500" y="25654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건설기계 산업의 암묵지·형식지를 식별하고 디지털 자산화 전략을 수립할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496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76200" cy="990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251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S119"/>
          <p:cNvSpPr/>
          <p:nvPr/>
        </p:nvSpPr>
        <p:spPr>
          <a:xfrm>
            <a:off x="1651000" y="33782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651000" y="3378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95500" y="3340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현장 데이터 효율적 수집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95500" y="36830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스마트폰·카메라·음성 등을 활용해 현장 데이터를 효율적으로 수집할 수 있다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2672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267200"/>
            <a:ext cx="76200" cy="990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762000" y="43688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8B9A3F"/>
                </a:solidFill>
              </a:rPr>
              <a:t>03</a:t>
            </a:r>
          </a:p>
        </p:txBody>
      </p:sp>
      <p:sp>
        <p:nvSpPr>
          <p:cNvPr id="126" name="S126"/>
          <p:cNvSpPr/>
          <p:nvPr/>
        </p:nvSpPr>
        <p:spPr>
          <a:xfrm>
            <a:off x="1651000" y="449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651000" y="449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OCR·STT 디지털화 기술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95500" y="48006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비정형 데이터를 정형 데이터로 변환할 수 있다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53848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384800"/>
            <a:ext cx="76200" cy="990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486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0F3A2E"/>
                </a:solidFill>
              </a:rPr>
              <a:t>04</a:t>
            </a:r>
          </a:p>
        </p:txBody>
      </p:sp>
      <p:sp>
        <p:nvSpPr>
          <p:cNvPr id="133" name="S133"/>
          <p:cNvSpPr/>
          <p:nvPr/>
        </p:nvSpPr>
        <p:spPr>
          <a:xfrm>
            <a:off x="1651000" y="56134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51000" y="5613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95500" y="5575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품질 관리·운영·확산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095500" y="59182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데이터 품질을 관리하고 사내 데이터 자산으로 운영·확산할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6604000"/>
            <a:ext cx="6477000" cy="254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6604000"/>
            <a:ext cx="76200" cy="254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679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6일 최종 산출물 — 손에 들고 퇴근하는 것</a:t>
            </a:r>
          </a:p>
        </p:txBody>
      </p:sp>
      <p:sp>
        <p:nvSpPr>
          <p:cNvPr id="140" name="S140"/>
          <p:cNvSpPr/>
          <p:nvPr/>
        </p:nvSpPr>
        <p:spPr>
          <a:xfrm>
            <a:off x="927100" y="717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717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717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데이터 자산 디지털화 프로토타입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460500" y="742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베테랑 노하우 1건을 5단계 워크플로우로 직접 자산화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7810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810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460500" y="781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거버넌스 가이드라인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460500" y="8064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메타데이터 표준 + 분류 체계 + 접근 권한 정책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44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44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60500" y="844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KPI · ROI 측정 프레임워크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460500" y="869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자산화 성과를 숫자로 — 90일 로드맵 + 측정 지표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9334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9461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VOL.01 vs VOL.02 — 차별점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VOL.01 = </a:t>
            </a:r>
            <a:r>
              <a:rPr lang="en-US" sz="1050" b="1" dirty="0">
                <a:solidFill>
                  <a:srgbClr val="FFFFFF"/>
                </a:solidFill>
              </a:rPr>
              <a:t>AI 도구 학습</a:t>
            </a:r>
            <a:r>
              <a:rPr lang="en-US" sz="1050" dirty="0">
                <a:solidFill>
                  <a:srgbClr val="DDDDDD"/>
                </a:solidFill>
              </a:rPr>
              <a:t>  →  VOL.02 = </a:t>
            </a:r>
            <a:r>
              <a:rPr lang="en-US" sz="1050" b="1" dirty="0">
                <a:solidFill>
                  <a:srgbClr val="F4B400"/>
                </a:solidFill>
              </a:rPr>
              <a:t>데이터 자산화 (암묵지를 자산으로)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6일 과정 학습 목표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016 —</a:t>
            </a:r>
          </a:p>
        </p:txBody>
      </p:sp>
      <p:sp>
        <p:nvSpPr>
          <p:cNvPr id="159" name="S15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05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VOL.02 · 6일 학습 로드맵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6일 · 48H · 그림 1-10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VOL.02 6일 학습 로드맵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데이터 자산화 6일 여정 — DAY 1 (오늘) → DAY 6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016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546100" y="20574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546100" y="23495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540000"/>
            <a:ext cx="10160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5400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오늘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14500" y="20574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PART 01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2857500" y="20320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자산화 개론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14500" y="2349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암묵지·형식지·5형태·DIKW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6604000" y="21971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E8632C"/>
                </a:solidFill>
              </a:rPr>
              <a:t>●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794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546100" y="2794000"/>
            <a:ext cx="10160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546100" y="28829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546100" y="31750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714500" y="28829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3D7BC8"/>
                </a:solidFill>
              </a:rPr>
              <a:t>PART 02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57500" y="28575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스마트폰 기반 현장 수집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14500" y="31750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카메라·마이크·앱·5원칙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3619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6100" y="3619500"/>
            <a:ext cx="1016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546100" y="37084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46100" y="40005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714500" y="37084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PART 03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857500" y="36830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OCR · STT 디지털화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714500" y="4000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이미지→텍스트·음성→텍스트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4445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4445000"/>
            <a:ext cx="10160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546100" y="45339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4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546100" y="48260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14500" y="45339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8B9A3F"/>
                </a:solidFill>
              </a:rPr>
              <a:t>PART 04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857500" y="45085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구조화·표준화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14500" y="48260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메타데이터·분류·라벨링</a:t>
            </a:r>
          </a:p>
        </p:txBody>
      </p:sp>
      <p:sp>
        <p:nvSpPr>
          <p:cNvPr id="140" name="S140"/>
          <p:cNvSpPr/>
          <p:nvPr/>
        </p:nvSpPr>
        <p:spPr>
          <a:xfrm>
            <a:off x="546100" y="5270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46100" y="5270500"/>
            <a:ext cx="10160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46100" y="53594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46100" y="56515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714500" y="53594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7E3FBF"/>
                </a:solidFill>
              </a:rPr>
              <a:t>PART 05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857500" y="53340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품질 관리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714500" y="5651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검증·정제·일관성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6096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6096000"/>
            <a:ext cx="1016000" cy="762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46100" y="61849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 6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546100" y="64770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8H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714500" y="61849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C73E1D"/>
                </a:solidFill>
              </a:rPr>
              <a:t>PART 06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857500" y="61595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E8632C"/>
                </a:solidFill>
              </a:rPr>
              <a:t>★ KPI 자산화 + 자사 적용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714500" y="64770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전사 운영·90일 로드맵·ROI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6604000" y="63246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6985000"/>
            <a:ext cx="6477000" cy="1714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6985000"/>
            <a:ext cx="76200" cy="171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6일 후 여러분은 </a:t>
            </a:r>
            <a:r>
              <a:rPr lang="en-US" sz="1500" b="1" dirty="0">
                <a:solidFill>
                  <a:srgbClr val="F4B400"/>
                </a:solidFill>
              </a:rPr>
              <a:t>회사의 무형 자산을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27100" y="78994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 자산으로 전환할 수 있는 데이터 자산화 전문가가 됩니다.</a:t>
            </a:r>
          </a:p>
        </p:txBody>
      </p:sp>
      <p:sp>
        <p:nvSpPr>
          <p:cNvPr id="160" name="S160"/>
          <p:cNvSpPr/>
          <p:nvPr/>
        </p:nvSpPr>
        <p:spPr>
          <a:xfrm>
            <a:off x="927100" y="8382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8382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막연한 관심  →  자기 직무 데이터 자산화 프로젝트 운영자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8890000"/>
            <a:ext cx="64770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762000" y="9042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6일 후의 모습 (3가지 변화)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62000" y="93472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막연한 관심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2540000" y="93472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→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2857500" y="9347200"/>
            <a:ext cx="406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자기 직무 자산화 프로젝트 운영자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95504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노하우 손실 위험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2540000" y="95504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→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2857500" y="9550400"/>
            <a:ext cx="406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체계적 자산화 시스템 구축 능력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762000" y="97536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도구만 알던 사용자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2540000" y="9753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→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2857500" y="9753600"/>
            <a:ext cx="406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8B9A3F"/>
                </a:solidFill>
              </a:rPr>
              <a:t>데이터 + AI 결합한 DX 실무자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6일 학습 로드맵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017 —</a:t>
            </a:r>
          </a:p>
        </p:txBody>
      </p:sp>
      <p:sp>
        <p:nvSpPr>
          <p:cNvPr id="176" name="S17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DAY 1 · 학습 목표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PART 01 학습 목표 (오늘 1일차)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1 — 데이터 자산화 개론 · 8H (이론 4H + 실습 4H)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76200" cy="990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S112"/>
          <p:cNvSpPr/>
          <p:nvPr/>
        </p:nvSpPr>
        <p:spPr>
          <a:xfrm>
            <a:off x="1651000" y="22606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651000" y="2260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2095500" y="22225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암묵지·형식지 식별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95500" y="25654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건설기계 산업의 사례를 들어 암묵지와 형식지를 구분할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496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76200" cy="990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251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S119"/>
          <p:cNvSpPr/>
          <p:nvPr/>
        </p:nvSpPr>
        <p:spPr>
          <a:xfrm>
            <a:off x="1651000" y="33782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651000" y="3378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95500" y="3340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데이터 자산 분류·평가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95500" y="36830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자기 직무·부서의 데이터 자산을 5형태·DIKW로 분류·평가할 수 있다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2672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267200"/>
            <a:ext cx="76200" cy="990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762000" y="43688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8B9A3F"/>
                </a:solidFill>
              </a:rPr>
              <a:t>03</a:t>
            </a:r>
          </a:p>
        </p:txBody>
      </p:sp>
      <p:sp>
        <p:nvSpPr>
          <p:cNvPr id="126" name="S126"/>
          <p:cNvSpPr/>
          <p:nvPr/>
        </p:nvSpPr>
        <p:spPr>
          <a:xfrm>
            <a:off x="1651000" y="449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651000" y="449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글로벌·국내 사례 시사점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95500" y="48006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Caterpillar · 두산-NVIDIA · 현대건설 사례 → 자사 시사점 도출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53848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384800"/>
            <a:ext cx="76200" cy="990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486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0F3A2E"/>
                </a:solidFill>
              </a:rPr>
              <a:t>04</a:t>
            </a:r>
          </a:p>
        </p:txBody>
      </p:sp>
      <p:sp>
        <p:nvSpPr>
          <p:cNvPr id="133" name="S133"/>
          <p:cNvSpPr/>
          <p:nvPr/>
        </p:nvSpPr>
        <p:spPr>
          <a:xfrm>
            <a:off x="1651000" y="56134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51000" y="5613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95500" y="5575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5단계 워크플로우 매핑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095500" y="59182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5단계 워크플로우를 자기 직무에 매핑할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6604000"/>
            <a:ext cx="6477000" cy="196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6604000"/>
            <a:ext cx="76200" cy="196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679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오늘의 핵심 산출물 — DAY 1 종료 시 손에 든 것</a:t>
            </a:r>
          </a:p>
        </p:txBody>
      </p:sp>
      <p:sp>
        <p:nvSpPr>
          <p:cNvPr id="140" name="S140"/>
          <p:cNvSpPr/>
          <p:nvPr/>
        </p:nvSpPr>
        <p:spPr>
          <a:xfrm>
            <a:off x="927100" y="7302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7302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73152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자사 데이터 자산 인벤토리 초안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080000" y="7315200"/>
            <a:ext cx="184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50" dirty="0">
                <a:solidFill>
                  <a:srgbClr val="FFEEDD"/>
                </a:solidFill>
              </a:rPr>
              <a:t>5형태 분류 + DIKW 평가 + 손실 위험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77089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708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460500" y="77216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디지털화 우선순위 매트릭스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5080000" y="7721600"/>
            <a:ext cx="184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50" dirty="0">
                <a:solidFill>
                  <a:srgbClr val="FFEEDD"/>
                </a:solidFill>
              </a:rPr>
              <a:t>4분면 진단 + C 영역 1~3개 선정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1153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115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60500" y="81280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6일 학습 개인 로드맵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5080000" y="8128000"/>
            <a:ext cx="184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50" dirty="0">
                <a:solidFill>
                  <a:srgbClr val="FFEEDD"/>
                </a:solidFill>
              </a:rPr>
              <a:t>자기 직무에 매핑한 5단계 워크플로우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763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8915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DAY 1 시간 배분 (8H)</a:t>
            </a:r>
          </a:p>
        </p:txBody>
      </p:sp>
      <p:sp>
        <p:nvSpPr>
          <p:cNvPr id="154" name="S154"/>
          <p:cNvSpPr/>
          <p:nvPr/>
        </p:nvSpPr>
        <p:spPr>
          <a:xfrm>
            <a:off x="762000" y="9207500"/>
            <a:ext cx="3048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762000" y="9207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이론 (Ch.1~4) · 4H</a:t>
            </a:r>
          </a:p>
        </p:txBody>
      </p:sp>
      <p:sp>
        <p:nvSpPr>
          <p:cNvPr id="156" name="S156"/>
          <p:cNvSpPr/>
          <p:nvPr/>
        </p:nvSpPr>
        <p:spPr>
          <a:xfrm>
            <a:off x="3810000" y="9207500"/>
            <a:ext cx="3048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3810000" y="9207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실습 (1-1·1-2·1-3) · 4H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이론 + 실습 50:50 — 직접 인벤토리 작성하며 익힌다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018 —</a:t>
            </a:r>
          </a:p>
        </p:txBody>
      </p:sp>
      <p:sp>
        <p:nvSpPr>
          <p:cNvPr id="162" name="S16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64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DAY 1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PART 01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"왜 → 무엇 → 사례 → 어떻게" — 4 챕터의 흐름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3213100" cy="50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36600" y="215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112" name="S112"/>
          <p:cNvSpPr/>
          <p:nvPr/>
        </p:nvSpPr>
        <p:spPr>
          <a:xfrm>
            <a:off x="3086100" y="2159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086100" y="2159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E8632C"/>
                </a:solidFill>
              </a:rPr>
              <a:t>WHY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2667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705100" y="2730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🧠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36600" y="3746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암묵지와 형식지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36600" y="4089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왜 디지털화가 필요한가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2032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2032000"/>
            <a:ext cx="3213100" cy="50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00500" y="215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0F3A2E"/>
                </a:solidFill>
              </a:rPr>
              <a:t>Chapter 2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159000"/>
            <a:ext cx="508000" cy="25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350000" y="2159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4B400"/>
                </a:solidFill>
              </a:rPr>
              <a:t>WHAT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00500" y="2667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5969000" y="2730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000500" y="3746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건설기계 데이터 자산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00500" y="4089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무엇이 자산인가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826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826000"/>
            <a:ext cx="3213100" cy="508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36600" y="4953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3</a:t>
            </a:r>
          </a:p>
        </p:txBody>
      </p:sp>
      <p:sp>
        <p:nvSpPr>
          <p:cNvPr id="130" name="S130"/>
          <p:cNvSpPr/>
          <p:nvPr/>
        </p:nvSpPr>
        <p:spPr>
          <a:xfrm>
            <a:off x="3086100" y="4953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086100" y="4953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8B9A3F"/>
                </a:solidFill>
              </a:rPr>
              <a:t>CASE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36600" y="5461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705100" y="5524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🌍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36600" y="6540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디지털 전환과 데이터 가치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36600" y="6883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글로벌·국내 사례</a:t>
            </a:r>
          </a:p>
        </p:txBody>
      </p:sp>
      <p:sp>
        <p:nvSpPr>
          <p:cNvPr id="136" name="S136"/>
          <p:cNvSpPr/>
          <p:nvPr/>
        </p:nvSpPr>
        <p:spPr>
          <a:xfrm>
            <a:off x="3810000" y="4826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10000" y="4826000"/>
            <a:ext cx="3213100" cy="508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000500" y="4953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4</a:t>
            </a:r>
          </a:p>
        </p:txBody>
      </p:sp>
      <p:sp>
        <p:nvSpPr>
          <p:cNvPr id="139" name="S139"/>
          <p:cNvSpPr/>
          <p:nvPr/>
        </p:nvSpPr>
        <p:spPr>
          <a:xfrm>
            <a:off x="6350000" y="4953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50000" y="4953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0F3A2E"/>
                </a:solidFill>
              </a:rPr>
              <a:t>HOW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00500" y="5461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5969000" y="5524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⚙️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000500" y="6540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5단계 워크플로우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00500" y="6883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어떻게 할 것인가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76200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76200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927100" y="774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학습 흐름 — 1일차 도입의 논리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927100" y="8026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WHY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200" b="1" dirty="0">
                <a:solidFill>
                  <a:srgbClr val="F4B400"/>
                </a:solidFill>
              </a:rPr>
              <a:t>WHAT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200" b="1" dirty="0">
                <a:solidFill>
                  <a:srgbClr val="8B9A3F"/>
                </a:solidFill>
              </a:rPr>
              <a:t>CASE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200" b="1" dirty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8445500"/>
            <a:ext cx="64770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762000" y="861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PART 01 시작 전 — 준비 체크리스트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762000" y="8953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✓  자기 직무 · 부서 · 담당 영역 인지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762000" y="9232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✓  베테랑 동료 1명 떠올리기 (PART 02 인터뷰 대상)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762000" y="9512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✓  자기 직무에서 "머릿속에 있는 노하우" 1~2가지 메모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019 —</a:t>
            </a:r>
          </a:p>
        </p:txBody>
      </p:sp>
      <p:sp>
        <p:nvSpPr>
          <p:cNvPr id="157" name="S15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17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01 · DAY 1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WHY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암묵지와 형식지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Tacit &amp; Explicit Knowledge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"무엇이 자산인지 인식"하는 것이 디지털 자산화의 출발점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암묵지(Tacit Knowledge)란 무엇인가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형식지(Explicit Knowledge)란 무엇인가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SECI 모델 — 지식 변환의 4단계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건설기계 산업의 암묵지 사례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9144000"/>
            <a:ext cx="57658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889000" y="9144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143000" y="9296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43000" y="95504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회사 자산의 70%는 수면 아래에 있다 (암묵지)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020 —</a:t>
            </a:r>
          </a:p>
        </p:txBody>
      </p:sp>
    </p:spTree>
    <p:extLst>
      <p:ext uri="{BB962C8B-B14F-4D97-AF65-F5344CB8AC3E}">
        <p14:creationId xmlns:p14="http://schemas.microsoft.com/office/powerpoint/2010/main" val="3423835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1.1 암묵지란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암묵지(Tacit Knowledge)란?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개인의 경험·직관·노하우 — 언어로 표현하기 어려운 지식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397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5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정의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476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06500" y="24765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개인의 경험·직관·노하우에 기반한 언어로 표현하기 어려운 지식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927100" y="27559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06500" y="27559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신체에 체화되어 있어 본인도 의식하지 못하는 경우가 많음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927100" y="30353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206500" y="30353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학습·전수에 시간이 오래 걸림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19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62000" y="361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건설기계 산업의 예시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4127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4127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762000" y="4229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30년 베테랑 정비사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762000" y="44831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(직무)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57500" y="4318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"</a:t>
            </a:r>
            <a:r>
              <a:rPr lang="en-US" sz="1300" b="1" dirty="0">
                <a:solidFill>
                  <a:srgbClr val="E8632C"/>
                </a:solidFill>
              </a:rPr>
              <a:t>엔진 소리만 들어도</a:t>
            </a:r>
            <a:r>
              <a:rPr lang="en-US" sz="1500" b="1" dirty="0">
                <a:solidFill>
                  <a:srgbClr val="E8632C"/>
                </a:solidFill>
              </a:rPr>
              <a:t>"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5080000" y="4318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5461000" y="4318000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고장 진단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8260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8260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62000" y="49276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영업 베테랑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762000" y="51816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(직무)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857500" y="5016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"</a:t>
            </a:r>
            <a:r>
              <a:rPr lang="en-US" sz="1300" b="1" dirty="0">
                <a:solidFill>
                  <a:srgbClr val="F4B400"/>
                </a:solidFill>
              </a:rPr>
              <a:t>고객 한마디로</a:t>
            </a:r>
            <a:r>
              <a:rPr lang="en-US" sz="1500" b="1" dirty="0">
                <a:solidFill>
                  <a:srgbClr val="F4B400"/>
                </a:solidFill>
              </a:rPr>
              <a:t>"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080000" y="50165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5461000" y="5016500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구매 의향 파악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552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55245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626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현장 작업자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762000" y="58801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(직무)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857500" y="5715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8B9A3F"/>
                </a:solidFill>
              </a:rPr>
              <a:t>"</a:t>
            </a:r>
            <a:r>
              <a:rPr lang="en-US" sz="1300" b="1" dirty="0">
                <a:solidFill>
                  <a:srgbClr val="8B9A3F"/>
                </a:solidFill>
              </a:rPr>
              <a:t>감으로</a:t>
            </a:r>
            <a:r>
              <a:rPr lang="en-US" sz="1500" b="1" dirty="0">
                <a:solidFill>
                  <a:srgbClr val="8B9A3F"/>
                </a:solidFill>
              </a:rPr>
              <a:t>"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080000" y="5715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461000" y="5715000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안전 위험 알아냄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62230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62230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63246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베테랑 운전자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762000" y="65786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(직무)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857500" y="6413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F3A2E"/>
                </a:solidFill>
              </a:rPr>
              <a:t>"</a:t>
            </a:r>
            <a:r>
              <a:rPr lang="en-US" sz="1300" b="1" dirty="0">
                <a:solidFill>
                  <a:srgbClr val="0F3A2E"/>
                </a:solidFill>
              </a:rPr>
              <a:t>흙 색깔로</a:t>
            </a:r>
            <a:r>
              <a:rPr lang="en-US" sz="1500" b="1" dirty="0">
                <a:solidFill>
                  <a:srgbClr val="0F3A2E"/>
                </a:solidFill>
              </a:rPr>
              <a:t>"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5080000" y="64135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5461000" y="6413500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토양 상태 판단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69850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46100" y="6985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암묵지의 가치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7493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회사 경쟁력의 </a:t>
            </a:r>
            <a:r>
              <a:rPr lang="en-US" sz="1400" b="1" dirty="0">
                <a:solidFill>
                  <a:srgbClr val="F4B400"/>
                </a:solidFill>
              </a:rPr>
              <a:t>70%는 암묵지에서</a:t>
            </a:r>
            <a:r>
              <a:rPr lang="en-US" sz="1400" b="1" dirty="0">
                <a:solidFill>
                  <a:srgbClr val="FFFFFF"/>
                </a:solidFill>
              </a:rPr>
              <a:t> 나온다 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7810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단, 암묵지의 90%는 체계적 자산화가 안 되어 있다 (학계 추정)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8191500"/>
            <a:ext cx="6477000" cy="1778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838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632C"/>
                </a:solidFill>
              </a:rPr>
              <a:t>⚠️ 위기 — 암묵지를 자산화하지 않으면</a:t>
            </a:r>
          </a:p>
        </p:txBody>
      </p:sp>
      <p:sp>
        <p:nvSpPr>
          <p:cNvPr id="155" name="S155"/>
          <p:cNvSpPr/>
          <p:nvPr/>
        </p:nvSpPr>
        <p:spPr>
          <a:xfrm>
            <a:off x="762000" y="87630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8763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1206500" y="87757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베테랑 은퇴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2921000" y="87757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노하우 영구 손실 — 다음 세대가 처음부터 다시 학습</a:t>
            </a:r>
          </a:p>
        </p:txBody>
      </p:sp>
      <p:sp>
        <p:nvSpPr>
          <p:cNvPr id="159" name="S159"/>
          <p:cNvSpPr/>
          <p:nvPr/>
        </p:nvSpPr>
        <p:spPr>
          <a:xfrm>
            <a:off x="762000" y="91694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762000" y="9169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06500" y="9182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인력 이동·퇴사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2921000" y="91821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회사 자산이 개인 머리와 함께 사라짐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7620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→ 빨리 자산화할수록 회사 가치 증대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021 —</a:t>
            </a:r>
          </a:p>
        </p:txBody>
      </p:sp>
      <p:sp>
        <p:nvSpPr>
          <p:cNvPr id="167" name="S16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8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1.2 형식지란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형식지(Explicit Knowledge)란?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문서·매뉴얼·데이터 — 언어·기호로 명시화 가능한 지식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397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5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정의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476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06500" y="24765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문서·매뉴얼·데이터로 언어·기호로 명시화 가능한 지식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927100" y="27559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06500" y="27559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공유·전수가 비교적 쉬움 — 복사·전송·배포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927100" y="30353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206500" y="30353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표준화·자동화의 기반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19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62000" y="361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건설기계 산업의 예시 — 5가지 형식지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4127500"/>
            <a:ext cx="12954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4127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546100" y="4127500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📕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609600" y="45974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매뉴얼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609600" y="4889500"/>
            <a:ext cx="11684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사용자·정비 매뉴얼
(PDF · 책자)</a:t>
            </a:r>
          </a:p>
        </p:txBody>
      </p:sp>
      <p:sp>
        <p:nvSpPr>
          <p:cNvPr id="125" name="S125"/>
          <p:cNvSpPr/>
          <p:nvPr/>
        </p:nvSpPr>
        <p:spPr>
          <a:xfrm>
            <a:off x="1841500" y="4127500"/>
            <a:ext cx="12954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1841500" y="4127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841500" y="4127500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📐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905000" y="45974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카탈로그·도면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905000" y="4889500"/>
            <a:ext cx="11684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부품 카탈로그
분해도·일러스트</a:t>
            </a:r>
          </a:p>
        </p:txBody>
      </p:sp>
      <p:sp>
        <p:nvSpPr>
          <p:cNvPr id="130" name="S130"/>
          <p:cNvSpPr/>
          <p:nvPr/>
        </p:nvSpPr>
        <p:spPr>
          <a:xfrm>
            <a:off x="3136900" y="4127500"/>
            <a:ext cx="12954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136900" y="4127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136900" y="4127500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200400" y="45974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양식·계약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4889500"/>
            <a:ext cx="11684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견적서·계약서
표준 양식</a:t>
            </a:r>
          </a:p>
        </p:txBody>
      </p:sp>
      <p:sp>
        <p:nvSpPr>
          <p:cNvPr id="135" name="S135"/>
          <p:cNvSpPr/>
          <p:nvPr/>
        </p:nvSpPr>
        <p:spPr>
          <a:xfrm>
            <a:off x="4432300" y="4127500"/>
            <a:ext cx="12954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4432300" y="4127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432300" y="4127500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495800" y="45974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이력·KPI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4495800" y="4889500"/>
            <a:ext cx="11684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정비 이력 DB
KPI 보고서</a:t>
            </a:r>
          </a:p>
        </p:txBody>
      </p:sp>
      <p:sp>
        <p:nvSpPr>
          <p:cNvPr id="140" name="S140"/>
          <p:cNvSpPr/>
          <p:nvPr/>
        </p:nvSpPr>
        <p:spPr>
          <a:xfrm>
            <a:off x="5727700" y="4127500"/>
            <a:ext cx="12954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727700" y="4127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727700" y="4127500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🛡️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791200" y="45974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가이드·법규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5791200" y="4889500"/>
            <a:ext cx="11684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안전 가이드
법규 문서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5905500"/>
            <a:ext cx="6477000" cy="1016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5905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927100" y="607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형식지의 가치 — 그러나 한계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927100" y="6350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회사 자산의 가시적 부분 — 누구나 인식·관리하는 자산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6629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단, </a:t>
            </a:r>
            <a:r>
              <a:rPr lang="en-US" sz="1100" b="1" dirty="0">
                <a:solidFill>
                  <a:srgbClr val="F4B400"/>
                </a:solidFill>
              </a:rPr>
              <a:t>형식지만으로는 진짜 경쟁력 확보 어렵다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7112000"/>
            <a:ext cx="64770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762000" y="7264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0F3A2E"/>
                </a:solidFill>
              </a:rPr>
              <a:t>암묵지 vs 형식지 비율 (일반적 산업)</a:t>
            </a:r>
          </a:p>
        </p:txBody>
      </p:sp>
      <p:sp>
        <p:nvSpPr>
          <p:cNvPr id="152" name="S152"/>
          <p:cNvSpPr/>
          <p:nvPr/>
        </p:nvSpPr>
        <p:spPr>
          <a:xfrm>
            <a:off x="762000" y="7683500"/>
            <a:ext cx="6096000" cy="635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762000" y="7683500"/>
            <a:ext cx="18288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7683500"/>
            <a:ext cx="1828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55" name="S155"/>
          <p:cNvSpPr/>
          <p:nvPr/>
        </p:nvSpPr>
        <p:spPr>
          <a:xfrm>
            <a:off x="2590800" y="7683500"/>
            <a:ext cx="4267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90800" y="7683500"/>
            <a:ext cx="42672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8382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형식지 (가시 자산)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2590800" y="83820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암묵지 (잠재 자산)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762000" y="8636000"/>
            <a:ext cx="1828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매뉴얼 · DB · 시스템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2590800" y="8636000"/>
            <a:ext cx="42672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베테랑 머릿속 · 신체 체화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762000" y="8890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잠재 자산 70%를 디지털화하는 것이 본 과정의 핵심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95377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→ </a:t>
            </a:r>
            <a:r>
              <a:rPr lang="en-US" sz="1300" b="1" dirty="0">
                <a:solidFill>
                  <a:srgbClr val="FFFFFF"/>
                </a:solidFill>
              </a:rPr>
              <a:t>잠재 자산 70%를 디지털화 = 본 과정의 핵심 미션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022 —</a:t>
            </a:r>
          </a:p>
        </p:txBody>
      </p:sp>
      <p:sp>
        <p:nvSpPr>
          <p:cNvPr id="168" name="S16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66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18E0-16E8-C59E-48B0-61ABDB19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B30F270F-640D-9A5C-E650-6A0F642AF34D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B25C574E-E6FC-F291-393B-06C20B40C2A7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D88BF534-061D-3DAA-03A0-F157BDB8369F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1.2 형식지란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BFCE0789-4AE8-BE35-151F-6A7B88C4C00C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AA60495B-A559-6613-3A82-F03394E0321D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Ch.1.2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00653F39-6250-7E58-2912-6716B8AEABB3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>
            <a:extLst>
              <a:ext uri="{FF2B5EF4-FFF2-40B4-BE49-F238E27FC236}">
                <a16:creationId xmlns:a16="http://schemas.microsoft.com/office/drawing/2014/main" id="{30A513F2-7FCA-28F0-260C-ED5A9168676D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>
            <a:extLst>
              <a:ext uri="{FF2B5EF4-FFF2-40B4-BE49-F238E27FC236}">
                <a16:creationId xmlns:a16="http://schemas.microsoft.com/office/drawing/2014/main" id="{8058DF22-3E18-8B2A-990F-A06C08844ECC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7" name="T167">
            <a:extLst>
              <a:ext uri="{FF2B5EF4-FFF2-40B4-BE49-F238E27FC236}">
                <a16:creationId xmlns:a16="http://schemas.microsoft.com/office/drawing/2014/main" id="{E46FA43E-CBD7-63C4-404A-015BB251AF78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022 —</a:t>
            </a:r>
          </a:p>
        </p:txBody>
      </p:sp>
      <p:sp>
        <p:nvSpPr>
          <p:cNvPr id="168" name="S168">
            <a:extLst>
              <a:ext uri="{FF2B5EF4-FFF2-40B4-BE49-F238E27FC236}">
                <a16:creationId xmlns:a16="http://schemas.microsoft.com/office/drawing/2014/main" id="{AA6BADE5-8E56-F26B-B41E-9B4CB319053A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>
            <a:extLst>
              <a:ext uri="{FF2B5EF4-FFF2-40B4-BE49-F238E27FC236}">
                <a16:creationId xmlns:a16="http://schemas.microsoft.com/office/drawing/2014/main" id="{B0BA2D49-1389-1C87-2EF5-CF0883692E82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>
            <a:extLst>
              <a:ext uri="{FF2B5EF4-FFF2-40B4-BE49-F238E27FC236}">
                <a16:creationId xmlns:a16="http://schemas.microsoft.com/office/drawing/2014/main" id="{3A5822B0-641B-A89D-9E96-69238DEFE92F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>
            <a:extLst>
              <a:ext uri="{FF2B5EF4-FFF2-40B4-BE49-F238E27FC236}">
                <a16:creationId xmlns:a16="http://schemas.microsoft.com/office/drawing/2014/main" id="{0D6DD53F-0E99-DEE7-F1FE-A0450879BC77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86ECF4-8EBB-4F4B-6438-275CE6A9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45" y="904874"/>
            <a:ext cx="6966076" cy="397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07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1.3 비교 · 그림 1-1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Ch.1.3 · 그림 1-1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암묵지 vs 형식지 — 결정적 차이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회사 자산의 70%는 수면 아래에 있다 (암묵지)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482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2159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영역</a:t>
            </a:r>
          </a:p>
        </p:txBody>
      </p:sp>
      <p:sp>
        <p:nvSpPr>
          <p:cNvPr id="111" name="S111"/>
          <p:cNvSpPr/>
          <p:nvPr/>
        </p:nvSpPr>
        <p:spPr>
          <a:xfrm>
            <a:off x="2705100" y="1968500"/>
            <a:ext cx="21590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2705100" y="1968500"/>
            <a:ext cx="2159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암묵지 (Tacit)</a:t>
            </a:r>
          </a:p>
        </p:txBody>
      </p:sp>
      <p:sp>
        <p:nvSpPr>
          <p:cNvPr id="113" name="S113"/>
          <p:cNvSpPr/>
          <p:nvPr/>
        </p:nvSpPr>
        <p:spPr>
          <a:xfrm>
            <a:off x="4864100" y="1968500"/>
            <a:ext cx="2159000" cy="482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4864100" y="1968500"/>
            <a:ext cx="2159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형식지 (Explicit)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4511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546100" y="2451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표현 형태</a:t>
            </a:r>
          </a:p>
        </p:txBody>
      </p:sp>
      <p:sp>
        <p:nvSpPr>
          <p:cNvPr id="117" name="S117"/>
          <p:cNvSpPr/>
          <p:nvPr/>
        </p:nvSpPr>
        <p:spPr>
          <a:xfrm>
            <a:off x="2705100" y="24511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2705100" y="2451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경험·직관·감각</a:t>
            </a:r>
          </a:p>
        </p:txBody>
      </p:sp>
      <p:sp>
        <p:nvSpPr>
          <p:cNvPr id="119" name="S119"/>
          <p:cNvSpPr/>
          <p:nvPr/>
        </p:nvSpPr>
        <p:spPr>
          <a:xfrm>
            <a:off x="4864100" y="24511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864100" y="2451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문서·데이터·도식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29845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546100" y="2984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저장 위치</a:t>
            </a:r>
          </a:p>
        </p:txBody>
      </p:sp>
      <p:sp>
        <p:nvSpPr>
          <p:cNvPr id="123" name="S123"/>
          <p:cNvSpPr/>
          <p:nvPr/>
        </p:nvSpPr>
        <p:spPr>
          <a:xfrm>
            <a:off x="2705100" y="29845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2705100" y="2984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개인의 머릿속·신체</a:t>
            </a:r>
          </a:p>
        </p:txBody>
      </p:sp>
      <p:sp>
        <p:nvSpPr>
          <p:cNvPr id="125" name="S125"/>
          <p:cNvSpPr/>
          <p:nvPr/>
        </p:nvSpPr>
        <p:spPr>
          <a:xfrm>
            <a:off x="4864100" y="29845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4864100" y="2984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매뉴얼·DB·시스템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35179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546100" y="35179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공유 방식</a:t>
            </a:r>
          </a:p>
        </p:txBody>
      </p:sp>
      <p:sp>
        <p:nvSpPr>
          <p:cNvPr id="129" name="S129"/>
          <p:cNvSpPr/>
          <p:nvPr/>
        </p:nvSpPr>
        <p:spPr>
          <a:xfrm>
            <a:off x="2705100" y="35179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2705100" y="35179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사사·도제식·관찰</a:t>
            </a:r>
          </a:p>
        </p:txBody>
      </p:sp>
      <p:sp>
        <p:nvSpPr>
          <p:cNvPr id="131" name="S131"/>
          <p:cNvSpPr/>
          <p:nvPr/>
        </p:nvSpPr>
        <p:spPr>
          <a:xfrm>
            <a:off x="4864100" y="35179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864100" y="35179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복사·전송·배포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40513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546100" y="40513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습득 시간</a:t>
            </a:r>
          </a:p>
        </p:txBody>
      </p:sp>
      <p:sp>
        <p:nvSpPr>
          <p:cNvPr id="135" name="S135"/>
          <p:cNvSpPr/>
          <p:nvPr/>
        </p:nvSpPr>
        <p:spPr>
          <a:xfrm>
            <a:off x="2705100" y="40513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2705100" y="40513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수년 ~ 수십년</a:t>
            </a:r>
          </a:p>
        </p:txBody>
      </p:sp>
      <p:sp>
        <p:nvSpPr>
          <p:cNvPr id="137" name="S137"/>
          <p:cNvSpPr/>
          <p:nvPr/>
        </p:nvSpPr>
        <p:spPr>
          <a:xfrm>
            <a:off x="4864100" y="40513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864100" y="40513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수 시간 ~ 수 일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5847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546100" y="45847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표준화</a:t>
            </a:r>
          </a:p>
        </p:txBody>
      </p:sp>
      <p:sp>
        <p:nvSpPr>
          <p:cNvPr id="141" name="S141"/>
          <p:cNvSpPr/>
          <p:nvPr/>
        </p:nvSpPr>
        <p:spPr>
          <a:xfrm>
            <a:off x="2705100" y="45847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2705100" y="45847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어려움</a:t>
            </a:r>
          </a:p>
        </p:txBody>
      </p:sp>
      <p:sp>
        <p:nvSpPr>
          <p:cNvPr id="143" name="S143"/>
          <p:cNvSpPr/>
          <p:nvPr/>
        </p:nvSpPr>
        <p:spPr>
          <a:xfrm>
            <a:off x="4864100" y="4584700"/>
            <a:ext cx="2159000" cy="533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4864100" y="45847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가능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5118100"/>
            <a:ext cx="2159000" cy="533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546100" y="5118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전산화</a:t>
            </a:r>
          </a:p>
        </p:txBody>
      </p:sp>
      <p:sp>
        <p:nvSpPr>
          <p:cNvPr id="147" name="S147"/>
          <p:cNvSpPr/>
          <p:nvPr/>
        </p:nvSpPr>
        <p:spPr>
          <a:xfrm>
            <a:off x="2705100" y="51181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2705100" y="5118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매우 어려움</a:t>
            </a:r>
          </a:p>
        </p:txBody>
      </p:sp>
      <p:sp>
        <p:nvSpPr>
          <p:cNvPr id="149" name="S149"/>
          <p:cNvSpPr/>
          <p:nvPr/>
        </p:nvSpPr>
        <p:spPr>
          <a:xfrm>
            <a:off x="4864100" y="5118100"/>
            <a:ext cx="2159000" cy="533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4864100" y="51181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쉬움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5651500"/>
            <a:ext cx="2159000" cy="53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46100" y="5651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회사 자산화</a:t>
            </a:r>
          </a:p>
        </p:txBody>
      </p:sp>
      <p:sp>
        <p:nvSpPr>
          <p:cNvPr id="153" name="S153"/>
          <p:cNvSpPr/>
          <p:nvPr/>
        </p:nvSpPr>
        <p:spPr>
          <a:xfrm>
            <a:off x="2705100" y="5651500"/>
            <a:ext cx="2159000" cy="533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2705100" y="5651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영구 손실 위험</a:t>
            </a:r>
          </a:p>
        </p:txBody>
      </p:sp>
      <p:sp>
        <p:nvSpPr>
          <p:cNvPr id="155" name="S155"/>
          <p:cNvSpPr/>
          <p:nvPr/>
        </p:nvSpPr>
        <p:spPr>
          <a:xfrm>
            <a:off x="4864100" y="5651500"/>
            <a:ext cx="2159000" cy="533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4864100" y="5651500"/>
            <a:ext cx="215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3D7BC8"/>
                </a:solidFill>
              </a:rPr>
              <a:t>영구 보존 가능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6350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635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6540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결론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6858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암묵지를 형식지로 변환</a:t>
            </a:r>
            <a:r>
              <a:rPr lang="en-US" sz="1300" dirty="0">
                <a:solidFill>
                  <a:srgbClr val="FFFFFF"/>
                </a:solidFill>
              </a:rPr>
              <a:t>(=자산화)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7264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하는 것이 회사의 핵심 과제 — 그것이 바로 본 과정의 목표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7747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762000" y="789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변환 다이어그램 — 암묵지 → 형식지</a:t>
            </a:r>
          </a:p>
        </p:txBody>
      </p:sp>
      <p:sp>
        <p:nvSpPr>
          <p:cNvPr id="164" name="S164"/>
          <p:cNvSpPr/>
          <p:nvPr/>
        </p:nvSpPr>
        <p:spPr>
          <a:xfrm>
            <a:off x="762000" y="8255000"/>
            <a:ext cx="17780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762000" y="8255000"/>
            <a:ext cx="1778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암묵지</a:t>
            </a:r>
          </a:p>
        </p:txBody>
      </p:sp>
      <p:sp>
        <p:nvSpPr>
          <p:cNvPr id="166" name="S166"/>
          <p:cNvSpPr/>
          <p:nvPr/>
        </p:nvSpPr>
        <p:spPr>
          <a:xfrm>
            <a:off x="2641600" y="8382000"/>
            <a:ext cx="2273300" cy="228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2641600" y="8382000"/>
            <a:ext cx="22733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AI 도구로 자산화</a:t>
            </a:r>
          </a:p>
        </p:txBody>
      </p:sp>
      <p:sp>
        <p:nvSpPr>
          <p:cNvPr id="168" name="S168"/>
          <p:cNvSpPr/>
          <p:nvPr/>
        </p:nvSpPr>
        <p:spPr>
          <a:xfrm>
            <a:off x="5016500" y="8255000"/>
            <a:ext cx="1778000" cy="482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5016500" y="8255000"/>
            <a:ext cx="1778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형식지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9080500"/>
            <a:ext cx="6477000" cy="88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546100" y="9080500"/>
            <a:ext cx="76200" cy="889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927100" y="9245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⚠️ 암묵지의 결정적 위험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베테랑 은퇴·인력 이동 시 </a:t>
            </a:r>
            <a:r>
              <a:rPr lang="en-US" sz="1200" b="1" dirty="0">
                <a:solidFill>
                  <a:srgbClr val="E8632C"/>
                </a:solidFill>
              </a:rPr>
              <a:t>영구 손실 위험</a:t>
            </a:r>
            <a:r>
              <a:rPr lang="en-US" sz="1200" dirty="0">
                <a:solidFill>
                  <a:srgbClr val="FFFFFF"/>
                </a:solidFill>
              </a:rPr>
              <a:t>  →  </a:t>
            </a:r>
            <a:r>
              <a:rPr lang="en-US" sz="1200" b="1" dirty="0">
                <a:solidFill>
                  <a:srgbClr val="F4B400"/>
                </a:solidFill>
              </a:rPr>
              <a:t>빨리 자산화할수록 회사 가치 증대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023 —</a:t>
            </a:r>
          </a:p>
        </p:txBody>
      </p:sp>
      <p:sp>
        <p:nvSpPr>
          <p:cNvPr id="177" name="S17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26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1.4 SECI · 그림 1-2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Ch.1.4 · 그림 1-2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SECI 모델 — 지식 변환의 4단계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노나카 이쿠지로 (1991) — 암묵지와 형식지의 끊임없는 변환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1877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3D7B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3187700" cy="533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36600" y="2095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공동화</a:t>
            </a:r>
          </a:p>
        </p:txBody>
      </p:sp>
      <p:sp>
        <p:nvSpPr>
          <p:cNvPr id="112" name="S112"/>
          <p:cNvSpPr/>
          <p:nvPr/>
        </p:nvSpPr>
        <p:spPr>
          <a:xfrm>
            <a:off x="3098800" y="2095500"/>
            <a:ext cx="444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098800" y="2095500"/>
            <a:ext cx="444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D7BC8"/>
                </a:solidFill>
              </a:rPr>
              <a:t>S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2603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00" dirty="0">
                <a:solidFill>
                  <a:srgbClr val="3D7BC8"/>
                </a:solidFill>
              </a:rPr>
              <a:t>Socialization</a:t>
            </a:r>
          </a:p>
        </p:txBody>
      </p:sp>
      <p:sp>
        <p:nvSpPr>
          <p:cNvPr id="115" name="S115"/>
          <p:cNvSpPr/>
          <p:nvPr/>
        </p:nvSpPr>
        <p:spPr>
          <a:xfrm>
            <a:off x="736600" y="2959100"/>
            <a:ext cx="2095500" cy="3048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736600" y="2959100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암묵지 → 암묵지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36600" y="339090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베테랑·신입 함께 일하기 · 도제식 전수</a:t>
            </a:r>
          </a:p>
        </p:txBody>
      </p:sp>
      <p:sp>
        <p:nvSpPr>
          <p:cNvPr id="118" name="S118"/>
          <p:cNvSpPr/>
          <p:nvPr/>
        </p:nvSpPr>
        <p:spPr>
          <a:xfrm>
            <a:off x="3835400" y="1968500"/>
            <a:ext cx="3187700" cy="20955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35400" y="1968500"/>
            <a:ext cx="31877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25900" y="2095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★ 표출화</a:t>
            </a:r>
          </a:p>
        </p:txBody>
      </p:sp>
      <p:sp>
        <p:nvSpPr>
          <p:cNvPr id="121" name="S121"/>
          <p:cNvSpPr/>
          <p:nvPr/>
        </p:nvSpPr>
        <p:spPr>
          <a:xfrm>
            <a:off x="6388100" y="2095500"/>
            <a:ext cx="444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388100" y="2095500"/>
            <a:ext cx="444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E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25900" y="2603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00" dirty="0">
                <a:solidFill>
                  <a:srgbClr val="E8632C"/>
                </a:solidFill>
              </a:rPr>
              <a:t>Externalization</a:t>
            </a:r>
          </a:p>
        </p:txBody>
      </p:sp>
      <p:sp>
        <p:nvSpPr>
          <p:cNvPr id="124" name="S124"/>
          <p:cNvSpPr/>
          <p:nvPr/>
        </p:nvSpPr>
        <p:spPr>
          <a:xfrm>
            <a:off x="4025900" y="2959100"/>
            <a:ext cx="2095500" cy="304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025900" y="2959100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암묵지 → 형식지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25900" y="339090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베테랑 인터뷰 · 문서화 · AI 도구 활용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127500"/>
            <a:ext cx="31877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127500"/>
            <a:ext cx="3187700" cy="53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36600" y="4254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내면화</a:t>
            </a:r>
          </a:p>
        </p:txBody>
      </p:sp>
      <p:sp>
        <p:nvSpPr>
          <p:cNvPr id="130" name="S130"/>
          <p:cNvSpPr/>
          <p:nvPr/>
        </p:nvSpPr>
        <p:spPr>
          <a:xfrm>
            <a:off x="3098800" y="4254500"/>
            <a:ext cx="444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098800" y="4254500"/>
            <a:ext cx="444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I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36600" y="4762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00" dirty="0">
                <a:solidFill>
                  <a:srgbClr val="0F3A2E"/>
                </a:solidFill>
              </a:rPr>
              <a:t>Internalization</a:t>
            </a:r>
          </a:p>
        </p:txBody>
      </p:sp>
      <p:sp>
        <p:nvSpPr>
          <p:cNvPr id="133" name="S133"/>
          <p:cNvSpPr/>
          <p:nvPr/>
        </p:nvSpPr>
        <p:spPr>
          <a:xfrm>
            <a:off x="736600" y="5118100"/>
            <a:ext cx="2095500" cy="3048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36600" y="5118100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형식지 → 암묵지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36600" y="554990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매뉴얼 학습 → 노하우化 · 체화·반복</a:t>
            </a:r>
          </a:p>
        </p:txBody>
      </p:sp>
      <p:sp>
        <p:nvSpPr>
          <p:cNvPr id="136" name="S136"/>
          <p:cNvSpPr/>
          <p:nvPr/>
        </p:nvSpPr>
        <p:spPr>
          <a:xfrm>
            <a:off x="3835400" y="4127500"/>
            <a:ext cx="31877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35400" y="4127500"/>
            <a:ext cx="31877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025900" y="4254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연결화</a:t>
            </a:r>
          </a:p>
        </p:txBody>
      </p:sp>
      <p:sp>
        <p:nvSpPr>
          <p:cNvPr id="139" name="S139"/>
          <p:cNvSpPr/>
          <p:nvPr/>
        </p:nvSpPr>
        <p:spPr>
          <a:xfrm>
            <a:off x="6388100" y="4254500"/>
            <a:ext cx="4445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88100" y="4254500"/>
            <a:ext cx="444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C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25900" y="4762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100" dirty="0">
                <a:solidFill>
                  <a:srgbClr val="8B9A3F"/>
                </a:solidFill>
              </a:rPr>
              <a:t>Combination</a:t>
            </a:r>
          </a:p>
        </p:txBody>
      </p:sp>
      <p:sp>
        <p:nvSpPr>
          <p:cNvPr id="142" name="S142"/>
          <p:cNvSpPr/>
          <p:nvPr/>
        </p:nvSpPr>
        <p:spPr>
          <a:xfrm>
            <a:off x="4025900" y="5118100"/>
            <a:ext cx="2095500" cy="3048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4025900" y="5118100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형식지 → 형식지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25900" y="554990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매뉴얼 + 데이터 결합 · 통계·분석</a:t>
            </a:r>
          </a:p>
        </p:txBody>
      </p:sp>
      <p:sp>
        <p:nvSpPr>
          <p:cNvPr id="145" name="S145"/>
          <p:cNvSpPr/>
          <p:nvPr/>
        </p:nvSpPr>
        <p:spPr>
          <a:xfrm>
            <a:off x="3365500" y="3619500"/>
            <a:ext cx="8255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3365500" y="3619500"/>
            <a:ext cx="8255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spc="200" dirty="0">
                <a:solidFill>
                  <a:srgbClr val="F4B400"/>
                </a:solidFill>
              </a:rPr>
              <a:t>SECI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762000" y="6413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"지식은 암묵지 ↔ 형식지 사이를 끊임없이 변환하며 조직의 자산이 된다" — 노나카 이쿠지로 (1991)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6731000"/>
            <a:ext cx="6477000" cy="196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46100" y="6731000"/>
            <a:ext cx="76200" cy="196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927100" y="6921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본 과정의 초점 — Externalization (표출화)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72644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② Externalization</a:t>
            </a:r>
            <a:r>
              <a:rPr lang="en-US" sz="1500" b="1" dirty="0">
                <a:solidFill>
                  <a:srgbClr val="FFFFFF"/>
                </a:solidFill>
              </a:rPr>
              <a:t> — 암묵지 → 형식지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7683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AI로 베테랑 노하우를 디지털 자산으로 — 가장 큰 효과 발휘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8102600"/>
            <a:ext cx="14351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14351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음성 → 텍스트</a:t>
            </a:r>
          </a:p>
        </p:txBody>
      </p:sp>
      <p:sp>
        <p:nvSpPr>
          <p:cNvPr id="156" name="S156"/>
          <p:cNvSpPr/>
          <p:nvPr/>
        </p:nvSpPr>
        <p:spPr>
          <a:xfrm>
            <a:off x="2400300" y="8102600"/>
            <a:ext cx="14351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400300" y="8102600"/>
            <a:ext cx="14351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영상 → 매뉴얼</a:t>
            </a:r>
          </a:p>
        </p:txBody>
      </p:sp>
      <p:sp>
        <p:nvSpPr>
          <p:cNvPr id="158" name="S158"/>
          <p:cNvSpPr/>
          <p:nvPr/>
        </p:nvSpPr>
        <p:spPr>
          <a:xfrm>
            <a:off x="3873500" y="8102600"/>
            <a:ext cx="14351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3D7B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873500" y="8102600"/>
            <a:ext cx="14351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이미지 → 데이터</a:t>
            </a:r>
          </a:p>
        </p:txBody>
      </p:sp>
      <p:sp>
        <p:nvSpPr>
          <p:cNvPr id="160" name="S160"/>
          <p:cNvSpPr/>
          <p:nvPr/>
        </p:nvSpPr>
        <p:spPr>
          <a:xfrm>
            <a:off x="5346700" y="8102600"/>
            <a:ext cx="1435100" cy="406400"/>
          </a:xfrm>
          <a:prstGeom prst="rect">
            <a:avLst/>
          </a:prstGeom>
          <a:solidFill>
            <a:srgbClr val="FFFFFF"/>
          </a:solidFill>
          <a:ln w="6350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346700" y="8102600"/>
            <a:ext cx="14351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인터뷰 → 노하우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8890000"/>
            <a:ext cx="64770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762000" y="9042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4단계 변환의 의미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62000" y="933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조직 지식은 4가지 변환을 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933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조직 지식은 4가지 변환을 </a:t>
            </a:r>
            <a:r>
              <a:rPr lang="en-US" sz="1050" b="1" dirty="0">
                <a:solidFill>
                  <a:srgbClr val="E8632C"/>
                </a:solidFill>
              </a:rPr>
              <a:t>순환 반복</a:t>
            </a:r>
            <a:r>
              <a:rPr lang="en-US" sz="1050" dirty="0">
                <a:solidFill>
                  <a:srgbClr val="2C2C2C"/>
                </a:solidFill>
              </a:rPr>
              <a:t>하며 축적된다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9588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 과정은 ②번 (표출화) 단계에 집중 — AI 도구가 가장 큰 영향을 미치는 단계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024 —</a:t>
            </a:r>
          </a:p>
        </p:txBody>
      </p:sp>
      <p:sp>
        <p:nvSpPr>
          <p:cNvPr id="170" name="S17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1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직무별 암묵지 사례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건설기계 산업의 암묵지 사례 (직무별)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6개 직무 × 암묵지 예시 — 모든 직무에 디지털화 기회 존재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2159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47700" y="2032000"/>
            <a:ext cx="317500" cy="31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47700" y="20320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028700" y="20320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정비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73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"엔진 소리로 고장 부위 추정"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73100" y="3175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"유압 호스의 미세한 떨림으로 누유 임박 감지"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73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•</a:t>
            </a:r>
          </a:p>
        </p:txBody>
      </p:sp>
      <p:sp>
        <p:nvSpPr>
          <p:cNvPr id="119" name="S119"/>
          <p:cNvSpPr/>
          <p:nvPr/>
        </p:nvSpPr>
        <p:spPr>
          <a:xfrm>
            <a:off x="2705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705100" y="1968500"/>
            <a:ext cx="21590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806700" y="2032000"/>
            <a:ext cx="317500" cy="3175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806700" y="20320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3187700" y="20320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영업·견적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32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"고객 첫 미팅 분위기로 성사 가능성 판단"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832100" y="3175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"지역·계절별 가격 협상 마지노선 직감"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2832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•</a:t>
            </a:r>
          </a:p>
        </p:txBody>
      </p:sp>
      <p:sp>
        <p:nvSpPr>
          <p:cNvPr id="129" name="S129"/>
          <p:cNvSpPr/>
          <p:nvPr/>
        </p:nvSpPr>
        <p:spPr>
          <a:xfrm>
            <a:off x="4864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4864100" y="1968500"/>
            <a:ext cx="2159000" cy="444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4965700" y="2032000"/>
            <a:ext cx="317500" cy="31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965700" y="20320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5346700" y="20320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해외영업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991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"현지 딜러의 신뢰도 직감 평가"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4991100" y="3175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"국가별 협상 문화 적응"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4991100" y="25400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•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0640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064000"/>
            <a:ext cx="2159000" cy="444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47700" y="4127500"/>
            <a:ext cx="317500" cy="31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47700" y="41275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D7BC8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028700" y="41275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마케팅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673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"트렌드 변화 감지 (정량 데이터 전)"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673100" y="5270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"브랜드 톤 유지 직관"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673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D7BC8"/>
                </a:solidFill>
              </a:rPr>
              <a:t>•</a:t>
            </a:r>
          </a:p>
        </p:txBody>
      </p:sp>
      <p:sp>
        <p:nvSpPr>
          <p:cNvPr id="149" name="S149"/>
          <p:cNvSpPr/>
          <p:nvPr/>
        </p:nvSpPr>
        <p:spPr>
          <a:xfrm>
            <a:off x="2705100" y="40640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2705100" y="4064000"/>
            <a:ext cx="21590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2806700" y="4127500"/>
            <a:ext cx="317500" cy="31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2806700" y="41275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187700" y="41275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기술문서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2832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"신입이 헷갈릴 부분 예측"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2832100" y="5270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"다국가 매뉴얼 톤 차이 인식"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832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•</a:t>
            </a:r>
          </a:p>
        </p:txBody>
      </p:sp>
      <p:sp>
        <p:nvSpPr>
          <p:cNvPr id="159" name="S159"/>
          <p:cNvSpPr/>
          <p:nvPr/>
        </p:nvSpPr>
        <p:spPr>
          <a:xfrm>
            <a:off x="4864100" y="40640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4864100" y="4064000"/>
            <a:ext cx="2159000" cy="4445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4965700" y="4127500"/>
            <a:ext cx="317500" cy="31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4965700" y="41275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C73E1D"/>
                </a:solidFill>
              </a:rPr>
              <a:t>6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5346700" y="4127500"/>
            <a:ext cx="16256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DX·IT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4991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"부서간 갈등 패턴 인식"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991100" y="5270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"사내 변화 수용도 직감"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4991100" y="46355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•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62865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6286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647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공통 패턴 — 모든 사례의 특징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6794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●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1206500" y="67945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숫자·언어로 표현 어려움 — "느낌"·"직감"·"감각"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69977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●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1206500" y="69977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수년~수십년 경험에서 축적 — 신입은 즉시 습득 불가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2009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1206500" y="72009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베테랑 머릿속에만 존재 — 은퇴 시 영구 손실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683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683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7874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191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모든 직무에 암묵지 존재 </a:t>
            </a:r>
            <a:r>
              <a:rPr lang="en-US" sz="1500" b="1" dirty="0">
                <a:solidFill>
                  <a:srgbClr val="F4B400"/>
                </a:solidFill>
              </a:rPr>
              <a:t>→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534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자산화 영역도 모든 직무에 존재 — 누구나 시작할 수 있다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6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💭 자기 성찰 — 1분만 멈춰서 생각해 보세요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488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"내 직무에서, 신입에게 설명하기 어려운 "감각·노하우" 1가지는?"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7028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이것이 바로 자기 직무의 암묵지 — PART 02에서 직접 자산화 시작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025 —</a:t>
            </a: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77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Chapter 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암묵지와 형식지 — WHY 디지털화가 필요한가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회사 자산의 70%는 암묵지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개인 경험·노하우 — 머릿속에 있는 잠재 자산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30:70의 비율 — 가시 자산보다 잠재 자산이 2배 이상 많다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SECI 모델 — 표출화가 본 과정 핵심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② Externalization — 암묵지 → 형식지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도구가 가장 큰 효과를 발휘하는 단계 — 베테랑 노하우의 디지털 자산화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모든 직무에 암묵지 = 모든 직무에 디지털화 기회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정비·영업·해외영업·마케팅·기술문서·DX 모두 해당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누구나 자기 직무에서 자산화 시작 가능 — "우리 부서는 해당 없다"는 없다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"지식은 머릿속에 있을 때 </a:t>
            </a:r>
            <a:r>
              <a:rPr lang="en-US" sz="1500" b="1" dirty="0">
                <a:solidFill>
                  <a:srgbClr val="E8632C"/>
                </a:solidFill>
              </a:rPr>
              <a:t>위험하다</a:t>
            </a:r>
            <a:r>
              <a:rPr lang="en-US" sz="15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자산화될 때 비로소 회사의 것이 된다."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개인의 노하우 → 회사의 자산 — 본 과정의 미션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</a:t>
            </a:r>
            <a:r>
              <a:rPr lang="en-US" sz="1500" b="1" dirty="0">
                <a:solidFill>
                  <a:srgbClr val="FFFFFF"/>
                </a:solidFill>
              </a:rPr>
              <a:t>WHAT? 무엇이 데이터 자산인가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026 —</a:t>
            </a: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01 · DAY 1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WHAT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건설기계 산업의 데이터 자산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Construction Equipment Data Assets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"무엇이 데이터 자산인가?" — 형태별·가치별 분류와 직무 매핑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자산의 분류 (형태별·가치별)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직무별 데이터 자산 (6개 직무)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자사 데이터 자산 인벤토리 작성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636000"/>
            <a:ext cx="5765800" cy="127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889000" y="8636000"/>
            <a:ext cx="76200" cy="127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목표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90678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본 챕터를 마치면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143000" y="93980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자기 직무의 </a:t>
            </a:r>
            <a:r>
              <a:rPr lang="en-US" sz="1500" b="1" dirty="0">
                <a:solidFill>
                  <a:srgbClr val="F4B400"/>
                </a:solidFill>
              </a:rPr>
              <a:t>데이터 자산 인벤토리</a:t>
            </a:r>
            <a:r>
              <a:rPr lang="en-US" sz="1500" b="1" dirty="0">
                <a:solidFill>
                  <a:srgbClr val="FFFFFF"/>
                </a:solidFill>
              </a:rPr>
              <a:t>를 작성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027 —</a:t>
            </a:r>
          </a:p>
        </p:txBody>
      </p:sp>
    </p:spTree>
    <p:extLst>
      <p:ext uri="{BB962C8B-B14F-4D97-AF65-F5344CB8AC3E}">
        <p14:creationId xmlns:p14="http://schemas.microsoft.com/office/powerpoint/2010/main" val="426535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2.1 형태별 분류 · 그림 1-3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Ch.2.1 · 그림 1-3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자산의 형태별 분류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건설기계 산업 데이터 자산 매트릭스 — 5가지 형태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44600" cy="355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44600" cy="698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47700" y="20701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47700" y="2070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D7BC8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90600" y="2070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텍스트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003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200" dirty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8575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예시 —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09600" y="31115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매뉴얼·계약서
보고서·이메일</a:t>
            </a:r>
          </a:p>
        </p:txBody>
      </p:sp>
      <p:sp>
        <p:nvSpPr>
          <p:cNvPr id="117" name="S117"/>
          <p:cNvSpPr/>
          <p:nvPr/>
        </p:nvSpPr>
        <p:spPr>
          <a:xfrm>
            <a:off x="736600" y="3937000"/>
            <a:ext cx="863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609600" y="40640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특성 —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609600" y="43180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매우 흔함
디지털화 쉬움</a:t>
            </a:r>
          </a:p>
        </p:txBody>
      </p:sp>
      <p:sp>
        <p:nvSpPr>
          <p:cNvPr id="120" name="S120"/>
          <p:cNvSpPr/>
          <p:nvPr/>
        </p:nvSpPr>
        <p:spPr>
          <a:xfrm>
            <a:off x="1854200" y="1968500"/>
            <a:ext cx="1244600" cy="3556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854200" y="1968500"/>
            <a:ext cx="12446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1955800" y="20701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955800" y="2070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298700" y="2070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표·정형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17700" y="24003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200" dirty="0">
                <a:solidFill>
                  <a:srgbClr val="FFFFFF"/>
                </a:solidFill>
              </a:rPr>
              <a:t>Structured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917700" y="28575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예시 —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917700" y="31115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견적서·정비이력
재고 DB</a:t>
            </a:r>
          </a:p>
        </p:txBody>
      </p:sp>
      <p:sp>
        <p:nvSpPr>
          <p:cNvPr id="128" name="S128"/>
          <p:cNvSpPr/>
          <p:nvPr/>
        </p:nvSpPr>
        <p:spPr>
          <a:xfrm>
            <a:off x="2044700" y="3937000"/>
            <a:ext cx="863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1917700" y="40640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특성 —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917700" y="43180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★ 분석 가치
가장 높음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819400" y="2159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32" name="S132"/>
          <p:cNvSpPr/>
          <p:nvPr/>
        </p:nvSpPr>
        <p:spPr>
          <a:xfrm>
            <a:off x="3162300" y="1968500"/>
            <a:ext cx="1244600" cy="355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3162300" y="1968500"/>
            <a:ext cx="12446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3263900" y="20701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3263900" y="2070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3606800" y="2070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이미지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3225800" y="24003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200" dirty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3225800" y="28575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예시 —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3225800" y="31115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도면·점검표 사진
결함 사진</a:t>
            </a:r>
          </a:p>
        </p:txBody>
      </p:sp>
      <p:sp>
        <p:nvSpPr>
          <p:cNvPr id="140" name="S140"/>
          <p:cNvSpPr/>
          <p:nvPr/>
        </p:nvSpPr>
        <p:spPr>
          <a:xfrm>
            <a:off x="3352800" y="3937000"/>
            <a:ext cx="863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3225800" y="40640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특성 —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3225800" y="43180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OCR로
텍스트화 가능</a:t>
            </a:r>
          </a:p>
        </p:txBody>
      </p:sp>
      <p:sp>
        <p:nvSpPr>
          <p:cNvPr id="143" name="S143"/>
          <p:cNvSpPr/>
          <p:nvPr/>
        </p:nvSpPr>
        <p:spPr>
          <a:xfrm>
            <a:off x="4470400" y="1968500"/>
            <a:ext cx="1244600" cy="3556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4470400" y="1968500"/>
            <a:ext cx="1244600" cy="6985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4572000" y="20701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4572000" y="2070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C73E1D"/>
                </a:solidFill>
              </a:rPr>
              <a:t>4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4914900" y="2070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음성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4533900" y="24003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200" dirty="0">
                <a:solidFill>
                  <a:srgbClr val="FFFFFF"/>
                </a:solidFill>
              </a:rPr>
              <a:t>Audio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4533900" y="28575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예시 —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4533900" y="31115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베테랑 인터뷰
미팅 녹음</a:t>
            </a:r>
          </a:p>
        </p:txBody>
      </p:sp>
      <p:sp>
        <p:nvSpPr>
          <p:cNvPr id="151" name="S151"/>
          <p:cNvSpPr/>
          <p:nvPr/>
        </p:nvSpPr>
        <p:spPr>
          <a:xfrm>
            <a:off x="4660900" y="3937000"/>
            <a:ext cx="863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4533900" y="40640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특성 —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4533900" y="43180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★ 활용도
가장 낮은 자산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435600" y="2159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55" name="S155"/>
          <p:cNvSpPr/>
          <p:nvPr/>
        </p:nvSpPr>
        <p:spPr>
          <a:xfrm>
            <a:off x="5778500" y="1968500"/>
            <a:ext cx="1244600" cy="355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778500" y="1968500"/>
            <a:ext cx="1244600" cy="698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5880100" y="20701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5880100" y="2070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5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6223000" y="2070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영상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24003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200" dirty="0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842000" y="28575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예시 —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5842000" y="31115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정비 시연·안전 교육
현장 작업</a:t>
            </a:r>
          </a:p>
        </p:txBody>
      </p:sp>
      <p:sp>
        <p:nvSpPr>
          <p:cNvPr id="163" name="S163"/>
          <p:cNvSpPr/>
          <p:nvPr/>
        </p:nvSpPr>
        <p:spPr>
          <a:xfrm>
            <a:off x="5969000" y="3937000"/>
            <a:ext cx="863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5842000" y="4064000"/>
            <a:ext cx="111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— 특성 —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5842000" y="4318000"/>
            <a:ext cx="11176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시각+음성
다중 정보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57785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546100" y="5778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596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6261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텍스트만이 데이터가 아니다 </a:t>
            </a:r>
            <a:r>
              <a:rPr lang="en-US" sz="1400" b="1" dirty="0">
                <a:solidFill>
                  <a:srgbClr val="F4B400"/>
                </a:solidFill>
              </a:rPr>
              <a:t>—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27100" y="6604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이미지·음성·영상도 </a:t>
            </a:r>
            <a:r>
              <a:rPr lang="en-US" sz="1300" b="1" dirty="0">
                <a:solidFill>
                  <a:srgbClr val="F4B400"/>
                </a:solidFill>
              </a:rPr>
              <a:t>모두 자산화 가능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7302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본 과정의 두 핵심 자산 — 가장 큰 ROI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762000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4B400"/>
                </a:solidFill>
              </a:rPr>
              <a:t>② 표·정형</a:t>
            </a:r>
            <a:r>
              <a:rPr lang="en-US" sz="1100" dirty="0">
                <a:solidFill>
                  <a:srgbClr val="FFFFFF"/>
                </a:solidFill>
              </a:rPr>
              <a:t> — 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7937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분석 가치 가장 높음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3975100" y="7620000"/>
            <a:ext cx="3048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4B400"/>
                </a:solidFill>
              </a:rPr>
              <a:t>④ 음성</a:t>
            </a:r>
            <a:r>
              <a:rPr lang="en-US" sz="1100" dirty="0">
                <a:solidFill>
                  <a:srgbClr val="FFFFFF"/>
                </a:solidFill>
              </a:rPr>
              <a:t> — 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3975100" y="79375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잠재 가치 큼 (디지털화 시급)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8445500"/>
            <a:ext cx="64770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762000" y="861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📊 그림 1-3 — 건설기계 산업 데이터 자산 매트릭스 (5형태)</a:t>
            </a:r>
          </a:p>
        </p:txBody>
      </p:sp>
      <p:sp>
        <p:nvSpPr>
          <p:cNvPr id="180" name="S180"/>
          <p:cNvSpPr/>
          <p:nvPr/>
        </p:nvSpPr>
        <p:spPr>
          <a:xfrm>
            <a:off x="762000" y="8953500"/>
            <a:ext cx="1219200" cy="444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762000" y="8953500"/>
            <a:ext cx="12192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텍스트</a:t>
            </a:r>
          </a:p>
        </p:txBody>
      </p:sp>
      <p:sp>
        <p:nvSpPr>
          <p:cNvPr id="182" name="S182"/>
          <p:cNvSpPr/>
          <p:nvPr/>
        </p:nvSpPr>
        <p:spPr>
          <a:xfrm>
            <a:off x="1981200" y="8953500"/>
            <a:ext cx="1219200" cy="444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1981200" y="8953500"/>
            <a:ext cx="12192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표·정형 ★</a:t>
            </a:r>
          </a:p>
        </p:txBody>
      </p:sp>
      <p:sp>
        <p:nvSpPr>
          <p:cNvPr id="184" name="S184"/>
          <p:cNvSpPr/>
          <p:nvPr/>
        </p:nvSpPr>
        <p:spPr>
          <a:xfrm>
            <a:off x="3200400" y="8953500"/>
            <a:ext cx="12192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3200400" y="8953500"/>
            <a:ext cx="12192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이미지</a:t>
            </a:r>
          </a:p>
        </p:txBody>
      </p:sp>
      <p:sp>
        <p:nvSpPr>
          <p:cNvPr id="186" name="S186"/>
          <p:cNvSpPr/>
          <p:nvPr/>
        </p:nvSpPr>
        <p:spPr>
          <a:xfrm>
            <a:off x="4419600" y="8953500"/>
            <a:ext cx="1219200" cy="4445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T187"/>
          <p:cNvSpPr txBox="1"/>
          <p:nvPr/>
        </p:nvSpPr>
        <p:spPr>
          <a:xfrm>
            <a:off x="4419600" y="8953500"/>
            <a:ext cx="12192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음성 ★</a:t>
            </a:r>
          </a:p>
        </p:txBody>
      </p:sp>
      <p:sp>
        <p:nvSpPr>
          <p:cNvPr id="188" name="S188"/>
          <p:cNvSpPr/>
          <p:nvPr/>
        </p:nvSpPr>
        <p:spPr>
          <a:xfrm>
            <a:off x="5638800" y="8953500"/>
            <a:ext cx="1219200" cy="444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5638800" y="8953500"/>
            <a:ext cx="12192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영상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762000" y="9525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5가지 형태가 골고루 — 각 형태마다 디지털화 기술이 다름 (PART 03에서 학습)</a:t>
            </a:r>
          </a:p>
        </p:txBody>
      </p:sp>
      <p:sp>
        <p:nvSpPr>
          <p:cNvPr id="191" name="S19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028 —</a:t>
            </a:r>
          </a:p>
        </p:txBody>
      </p:sp>
      <p:sp>
        <p:nvSpPr>
          <p:cNvPr id="194" name="S19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S19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S19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S19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15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2.1 DIKW · 그림 1-4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Ch.2.1 · 그림 1-4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DIKW 데이터 가치 피라미드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Data → Information → Knowledge → Wisdom — 4단계 가치 위계</a:t>
            </a:r>
          </a:p>
        </p:txBody>
      </p:sp>
      <p:sp>
        <p:nvSpPr>
          <p:cNvPr id="109" name="S109"/>
          <p:cNvSpPr/>
          <p:nvPr/>
        </p:nvSpPr>
        <p:spPr>
          <a:xfrm>
            <a:off x="1041400" y="4114800"/>
            <a:ext cx="3556000" cy="4826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1041400" y="41783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1041400" y="43942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12" name="S112"/>
          <p:cNvSpPr/>
          <p:nvPr/>
        </p:nvSpPr>
        <p:spPr>
          <a:xfrm>
            <a:off x="1358900" y="3606800"/>
            <a:ext cx="2921000" cy="482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358900" y="36703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정보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358900" y="38862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FFFFFF"/>
                </a:solidFill>
              </a:rPr>
              <a:t>Information</a:t>
            </a:r>
          </a:p>
        </p:txBody>
      </p:sp>
      <p:sp>
        <p:nvSpPr>
          <p:cNvPr id="115" name="S115"/>
          <p:cNvSpPr/>
          <p:nvPr/>
        </p:nvSpPr>
        <p:spPr>
          <a:xfrm>
            <a:off x="1708150" y="3098800"/>
            <a:ext cx="2222500" cy="482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708150" y="31623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지식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08150" y="33782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FFFFFF"/>
                </a:solidFill>
              </a:rPr>
              <a:t>Knowledge</a:t>
            </a:r>
          </a:p>
        </p:txBody>
      </p:sp>
      <p:sp>
        <p:nvSpPr>
          <p:cNvPr id="118" name="S118"/>
          <p:cNvSpPr/>
          <p:nvPr/>
        </p:nvSpPr>
        <p:spPr>
          <a:xfrm>
            <a:off x="2057400" y="2590800"/>
            <a:ext cx="15240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2057400" y="26543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지혜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2057400" y="28702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FFFFFF"/>
                </a:solidFill>
              </a:rPr>
              <a:t>Wisdom</a:t>
            </a:r>
          </a:p>
        </p:txBody>
      </p:sp>
      <p:sp>
        <p:nvSpPr>
          <p:cNvPr id="121" name="S121"/>
          <p:cNvSpPr/>
          <p:nvPr/>
        </p:nvSpPr>
        <p:spPr>
          <a:xfrm>
            <a:off x="4787900" y="2590800"/>
            <a:ext cx="22352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4876800" y="2628900"/>
            <a:ext cx="2077156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E8632C"/>
                </a:solidFill>
              </a:rPr>
              <a:t>지혜 (Wisdom)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876800" y="2819400"/>
            <a:ext cx="20771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"굴곡 부위 사전 점검 + 예방 정비 표준화"</a:t>
            </a:r>
          </a:p>
        </p:txBody>
      </p:sp>
      <p:sp>
        <p:nvSpPr>
          <p:cNvPr id="124" name="S124"/>
          <p:cNvSpPr/>
          <p:nvPr/>
        </p:nvSpPr>
        <p:spPr>
          <a:xfrm>
            <a:off x="4787900" y="3098800"/>
            <a:ext cx="22352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876800" y="3136900"/>
            <a:ext cx="2077156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0F3A2E"/>
                </a:solidFill>
              </a:rPr>
              <a:t>지식 (Knowledge)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76800" y="3327400"/>
            <a:ext cx="20771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"굴곡 부위에서 응력 집중으로 고장 빈발"</a:t>
            </a:r>
          </a:p>
        </p:txBody>
      </p:sp>
      <p:sp>
        <p:nvSpPr>
          <p:cNvPr id="127" name="S127"/>
          <p:cNvSpPr/>
          <p:nvPr/>
        </p:nvSpPr>
        <p:spPr>
          <a:xfrm>
            <a:off x="4787900" y="3606800"/>
            <a:ext cx="22352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3D7B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4876800" y="3644900"/>
            <a:ext cx="2077156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3D7BC8"/>
                </a:solidFill>
              </a:rPr>
              <a:t>정보 (Information)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876800" y="3835400"/>
            <a:ext cx="20771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"유압 펌프가 전체 고장의 23%"</a:t>
            </a:r>
          </a:p>
        </p:txBody>
      </p:sp>
      <p:sp>
        <p:nvSpPr>
          <p:cNvPr id="130" name="S130"/>
          <p:cNvSpPr/>
          <p:nvPr/>
        </p:nvSpPr>
        <p:spPr>
          <a:xfrm>
            <a:off x="4787900" y="4114800"/>
            <a:ext cx="22352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6B6B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4876800" y="4152900"/>
            <a:ext cx="2077156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6B6B6B"/>
                </a:solidFill>
              </a:rPr>
              <a:t>데이터 (Data)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4876800" y="4343400"/>
            <a:ext cx="20771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"P-456이 142건 고장"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660400" y="25273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dirty="0">
                <a:solidFill>
                  <a:srgbClr val="E8632C"/>
                </a:solidFill>
              </a:rPr>
              <a:t>높음</a:t>
            </a:r>
          </a:p>
        </p:txBody>
      </p:sp>
      <p:sp>
        <p:nvSpPr>
          <p:cNvPr id="134" name="S134"/>
          <p:cNvSpPr/>
          <p:nvPr/>
        </p:nvSpPr>
        <p:spPr>
          <a:xfrm>
            <a:off x="825500" y="2755900"/>
            <a:ext cx="12700" cy="1778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87400" y="2717800"/>
            <a:ext cx="101600" cy="101600"/>
          </a:xfrm>
          <a:prstGeom prst="up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660400" y="45847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낮음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508000" y="3606800"/>
            <a:ext cx="177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6B6B6B"/>
                </a:solidFill>
              </a:rPr>
              <a:t>가치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5016500"/>
            <a:ext cx="6477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46100" y="5016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762000" y="5016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AI의 역할 — 각 단계 변환에 AI가 기여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762000" y="55245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⚙️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143000" y="5524500"/>
            <a:ext cx="209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3D7BC8"/>
                </a:solidFill>
              </a:rPr>
              <a:t>Data → Information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3238500" y="5524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3556000" y="5524500"/>
            <a:ext cx="336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ETL · 자동 정제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58801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143000" y="5880100"/>
            <a:ext cx="209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0F3A2E"/>
                </a:solidFill>
              </a:rPr>
              <a:t>Information → Knowledge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3238500" y="5880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3556000" y="5880100"/>
            <a:ext cx="336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패턴 분석 · 클러스터링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762000" y="62357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🧠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143000" y="6235700"/>
            <a:ext cx="209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E8632C"/>
                </a:solidFill>
              </a:rPr>
              <a:t>Knowledge → Wisdom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3238500" y="62357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3556000" y="6235700"/>
            <a:ext cx="336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인간의 판단 + AI 보조 (★)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6858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546100" y="6858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7048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7340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단순 데이터 수집이 아닌 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27100" y="7340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단순 데이터 수집이 아닌 </a:t>
            </a:r>
            <a:r>
              <a:rPr lang="en-US" sz="1500" b="1" dirty="0">
                <a:solidFill>
                  <a:srgbClr val="F4B400"/>
                </a:solidFill>
              </a:rPr>
              <a:t>지혜로 발전시키는 것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7721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이 자산화의 목표 — 단계별로 가치가 증대된다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8191500"/>
            <a:ext cx="6477000" cy="1778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8191500"/>
            <a:ext cx="76200" cy="177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838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실제 사례 — 4단계 진화 (유압 펌프 P-456)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8699500"/>
            <a:ext cx="228600" cy="22860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86995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231900" y="87122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50" dirty="0">
                <a:solidFill>
                  <a:srgbClr val="BBBBBB"/>
                </a:solidFill>
              </a:rPr>
              <a:t>Data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2476500" y="8712200"/>
            <a:ext cx="450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P-456 고장 142건 (원시 데이터)</a:t>
            </a:r>
          </a:p>
        </p:txBody>
      </p:sp>
      <p:sp>
        <p:nvSpPr>
          <p:cNvPr id="166" name="S166"/>
          <p:cNvSpPr/>
          <p:nvPr/>
        </p:nvSpPr>
        <p:spPr>
          <a:xfrm>
            <a:off x="927100" y="8978900"/>
            <a:ext cx="228600" cy="2286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927100" y="8978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231900" y="89916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50" dirty="0">
                <a:solidFill>
                  <a:srgbClr val="3D7BC8"/>
                </a:solidFill>
              </a:rPr>
              <a:t>Information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2476500" y="8991600"/>
            <a:ext cx="450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유압 펌프가 전체 고장의 23% (의미 부여)</a:t>
            </a:r>
          </a:p>
        </p:txBody>
      </p:sp>
      <p:sp>
        <p:nvSpPr>
          <p:cNvPr id="170" name="S170"/>
          <p:cNvSpPr/>
          <p:nvPr/>
        </p:nvSpPr>
        <p:spPr>
          <a:xfrm>
            <a:off x="927100" y="9258300"/>
            <a:ext cx="228600" cy="2286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92583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1231900" y="92710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50" dirty="0">
                <a:solidFill>
                  <a:srgbClr val="F4B400"/>
                </a:solidFill>
              </a:rPr>
              <a:t>Knowledge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2476500" y="9271000"/>
            <a:ext cx="450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굴곡 부위 응력 집중으로 빈발 (패턴 발견)</a:t>
            </a:r>
          </a:p>
        </p:txBody>
      </p:sp>
      <p:sp>
        <p:nvSpPr>
          <p:cNvPr id="174" name="S174"/>
          <p:cNvSpPr/>
          <p:nvPr/>
        </p:nvSpPr>
        <p:spPr>
          <a:xfrm>
            <a:off x="927100" y="9537700"/>
            <a:ext cx="228600" cy="2286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9537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1231900" y="95504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50" dirty="0">
                <a:solidFill>
                  <a:srgbClr val="E8632C"/>
                </a:solidFill>
              </a:rPr>
              <a:t>Wisdom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2476500" y="9550400"/>
            <a:ext cx="450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굴곡 부위 사전 점검 + 예방 정비 표준화 (실행)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029 —</a:t>
            </a:r>
          </a:p>
        </p:txBody>
      </p:sp>
      <p:sp>
        <p:nvSpPr>
          <p:cNvPr id="181" name="S18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S18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54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opLine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04" name="HeaderL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800" b="1" dirty="0">
                <a:solidFill>
                  <a:srgbClr val="6B6B6B"/>
                </a:solidFill>
                <a:latin typeface="Malgun Gothic"/>
                <a:ea typeface="Malgun Gothic"/>
              </a:rPr>
              <a:t>PART 01 · CHAPTER 2 — 데이터 자산</a:t>
            </a:r>
          </a:p>
        </p:txBody>
      </p:sp>
      <p:sp>
        <p:nvSpPr>
          <p:cNvPr id="105" name="HeaderR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buNone/>
            </a:pPr>
            <a:r>
              <a:rPr lang="ko-KR" sz="800" b="1" dirty="0">
                <a:solidFill>
                  <a:srgbClr val="6B6B6B"/>
                </a:solidFill>
                <a:latin typeface="Malgun Gothic"/>
                <a:ea typeface="Malgun Gothic"/>
              </a:rPr>
              <a:t>FIELD DATA × DIGITALIZATION</a:t>
            </a:r>
          </a:p>
        </p:txBody>
      </p:sp>
      <p:sp>
        <p:nvSpPr>
          <p:cNvPr id="106" name="Title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2000" b="1" dirty="0">
                <a:solidFill>
                  <a:srgbClr val="2C2C2C"/>
                </a:solidFill>
                <a:latin typeface="Malgun Gothic"/>
                <a:ea typeface="Malgun Gothic"/>
              </a:rPr>
              <a:t>직무 1·2 — 정비·A/S 데이터 자산</a:t>
            </a:r>
          </a:p>
        </p:txBody>
      </p:sp>
      <p:sp>
        <p:nvSpPr>
          <p:cNvPr id="107" name="Sub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6B6B6B"/>
                </a:solidFill>
                <a:latin typeface="Malgun Gothic"/>
                <a:ea typeface="Malgun Gothic"/>
              </a:rPr>
              <a:t>— 기술문서·매뉴얼 / A/S·서비스 엔지니어 데이터 자산 분류 —</a:t>
            </a:r>
          </a:p>
        </p:txBody>
      </p:sp>
      <p:sp>
        <p:nvSpPr>
          <p:cNvPr id="108" name="Card1Bg"/>
          <p:cNvSpPr/>
          <p:nvPr/>
        </p:nvSpPr>
        <p:spPr>
          <a:xfrm>
            <a:off x="546100" y="1968500"/>
            <a:ext cx="64770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09" name="Card1Hdr"/>
          <p:cNvSpPr/>
          <p:nvPr/>
        </p:nvSpPr>
        <p:spPr>
          <a:xfrm>
            <a:off x="546100" y="1968500"/>
            <a:ext cx="6477000" cy="4445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10" name="Card1HdrTxt"/>
          <p:cNvSpPr txBox="1"/>
          <p:nvPr/>
        </p:nvSpPr>
        <p:spPr>
          <a:xfrm>
            <a:off x="762000" y="2070100"/>
            <a:ext cx="609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1. 기술문서·매뉴얼</a:t>
            </a:r>
          </a:p>
        </p:txBody>
      </p:sp>
      <p:sp>
        <p:nvSpPr>
          <p:cNvPr id="111" name="C1L0"/>
          <p:cNvSpPr/>
          <p:nvPr/>
        </p:nvSpPr>
        <p:spPr>
          <a:xfrm>
            <a:off x="762000" y="25146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텍스트</a:t>
            </a:r>
          </a:p>
        </p:txBody>
      </p:sp>
      <p:sp>
        <p:nvSpPr>
          <p:cNvPr id="112" name="C1E0"/>
          <p:cNvSpPr txBox="1"/>
          <p:nvPr/>
        </p:nvSpPr>
        <p:spPr>
          <a:xfrm>
            <a:off x="2095500" y="2578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사용자·정비 매뉴얼, 부품 명세서</a:t>
            </a:r>
          </a:p>
        </p:txBody>
      </p:sp>
      <p:sp>
        <p:nvSpPr>
          <p:cNvPr id="113" name="C1L1"/>
          <p:cNvSpPr/>
          <p:nvPr/>
        </p:nvSpPr>
        <p:spPr>
          <a:xfrm>
            <a:off x="762000" y="29972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표·정형</a:t>
            </a:r>
          </a:p>
        </p:txBody>
      </p:sp>
      <p:sp>
        <p:nvSpPr>
          <p:cNvPr id="114" name="C1E1"/>
          <p:cNvSpPr txBox="1"/>
          <p:nvPr/>
        </p:nvSpPr>
        <p:spPr>
          <a:xfrm>
            <a:off x="2095500" y="3060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부품 카탈로그 · 가격표 · 호환표</a:t>
            </a:r>
          </a:p>
        </p:txBody>
      </p:sp>
      <p:sp>
        <p:nvSpPr>
          <p:cNvPr id="115" name="C1L2"/>
          <p:cNvSpPr/>
          <p:nvPr/>
        </p:nvSpPr>
        <p:spPr>
          <a:xfrm>
            <a:off x="762000" y="34798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이미지</a:t>
            </a:r>
          </a:p>
        </p:txBody>
      </p:sp>
      <p:sp>
        <p:nvSpPr>
          <p:cNvPr id="116" name="C1E2"/>
          <p:cNvSpPr txBox="1"/>
          <p:nvPr/>
        </p:nvSpPr>
        <p:spPr>
          <a:xfrm>
            <a:off x="2095500" y="3543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도면 · 분해도 · 일러스트</a:t>
            </a:r>
          </a:p>
        </p:txBody>
      </p:sp>
      <p:sp>
        <p:nvSpPr>
          <p:cNvPr id="117" name="C1L3"/>
          <p:cNvSpPr/>
          <p:nvPr/>
        </p:nvSpPr>
        <p:spPr>
          <a:xfrm>
            <a:off x="762000" y="39624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음성</a:t>
            </a:r>
          </a:p>
        </p:txBody>
      </p:sp>
      <p:sp>
        <p:nvSpPr>
          <p:cNvPr id="118" name="C1E3"/>
          <p:cNvSpPr txBox="1"/>
          <p:nvPr/>
        </p:nvSpPr>
        <p:spPr>
          <a:xfrm>
            <a:off x="2095500" y="40259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매뉴얼 음성화 (TTS)</a:t>
            </a:r>
          </a:p>
        </p:txBody>
      </p:sp>
      <p:sp>
        <p:nvSpPr>
          <p:cNvPr id="119" name="Card2Bg"/>
          <p:cNvSpPr/>
          <p:nvPr/>
        </p:nvSpPr>
        <p:spPr>
          <a:xfrm>
            <a:off x="546100" y="5080000"/>
            <a:ext cx="6477000" cy="342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20" name="Card2Hdr"/>
          <p:cNvSpPr/>
          <p:nvPr/>
        </p:nvSpPr>
        <p:spPr>
          <a:xfrm>
            <a:off x="546100" y="5080000"/>
            <a:ext cx="6477000" cy="4445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21" name="Card2HdrTxt"/>
          <p:cNvSpPr txBox="1"/>
          <p:nvPr/>
        </p:nvSpPr>
        <p:spPr>
          <a:xfrm>
            <a:off x="762000" y="5181600"/>
            <a:ext cx="609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2. A/S·서비스 엔지니어</a:t>
            </a:r>
          </a:p>
        </p:txBody>
      </p:sp>
      <p:sp>
        <p:nvSpPr>
          <p:cNvPr id="122" name="C2L0"/>
          <p:cNvSpPr/>
          <p:nvPr/>
        </p:nvSpPr>
        <p:spPr>
          <a:xfrm>
            <a:off x="762000" y="56261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텍스트</a:t>
            </a:r>
          </a:p>
        </p:txBody>
      </p:sp>
      <p:sp>
        <p:nvSpPr>
          <p:cNvPr id="123" name="C2E0"/>
          <p:cNvSpPr txBox="1"/>
          <p:nvPr/>
        </p:nvSpPr>
        <p:spPr>
          <a:xfrm>
            <a:off x="2095500" y="568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정비 보고서 · 트러블슈팅 메모</a:t>
            </a:r>
          </a:p>
        </p:txBody>
      </p:sp>
      <p:sp>
        <p:nvSpPr>
          <p:cNvPr id="124" name="C2L1"/>
          <p:cNvSpPr/>
          <p:nvPr/>
        </p:nvSpPr>
        <p:spPr>
          <a:xfrm>
            <a:off x="762000" y="61087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표·정형</a:t>
            </a:r>
          </a:p>
        </p:txBody>
      </p:sp>
      <p:sp>
        <p:nvSpPr>
          <p:cNvPr id="125" name="C2E1"/>
          <p:cNvSpPr txBox="1"/>
          <p:nvPr/>
        </p:nvSpPr>
        <p:spPr>
          <a:xfrm>
            <a:off x="2095500" y="61722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정비 이력 DB · 부품 교체 기록</a:t>
            </a:r>
          </a:p>
        </p:txBody>
      </p:sp>
      <p:sp>
        <p:nvSpPr>
          <p:cNvPr id="126" name="C2L2"/>
          <p:cNvSpPr/>
          <p:nvPr/>
        </p:nvSpPr>
        <p:spPr>
          <a:xfrm>
            <a:off x="762000" y="65913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이미지</a:t>
            </a:r>
          </a:p>
        </p:txBody>
      </p:sp>
      <p:sp>
        <p:nvSpPr>
          <p:cNvPr id="127" name="C2E2"/>
          <p:cNvSpPr txBox="1"/>
          <p:nvPr/>
        </p:nvSpPr>
        <p:spPr>
          <a:xfrm>
            <a:off x="2095500" y="66548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결함 사진 · 점검표</a:t>
            </a:r>
          </a:p>
        </p:txBody>
      </p:sp>
      <p:sp>
        <p:nvSpPr>
          <p:cNvPr id="128" name="C2L3"/>
          <p:cNvSpPr/>
          <p:nvPr/>
        </p:nvSpPr>
        <p:spPr>
          <a:xfrm>
            <a:off x="762000" y="70739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  <a:latin typeface="Malgun Gothic"/>
                <a:ea typeface="Malgun Gothic"/>
              </a:rPr>
              <a:t>음성</a:t>
            </a:r>
          </a:p>
        </p:txBody>
      </p:sp>
      <p:sp>
        <p:nvSpPr>
          <p:cNvPr id="129" name="C2E3"/>
          <p:cNvSpPr txBox="1"/>
          <p:nvPr/>
        </p:nvSpPr>
        <p:spPr>
          <a:xfrm>
            <a:off x="2095500" y="71374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b="1" dirty="0">
                <a:solidFill>
                  <a:srgbClr val="2C2C2C"/>
                </a:solidFill>
                <a:latin typeface="Malgun Gothic"/>
                <a:ea typeface="Malgun Gothic"/>
              </a:rPr>
              <a:t>★ 베테랑 인터뷰 · 현장 보고</a:t>
            </a:r>
          </a:p>
        </p:txBody>
      </p:sp>
      <p:sp>
        <p:nvSpPr>
          <p:cNvPr id="130" name="C2L4"/>
          <p:cNvSpPr/>
          <p:nvPr/>
        </p:nvSpPr>
        <p:spPr>
          <a:xfrm>
            <a:off x="762000" y="75565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  <a:latin typeface="Malgun Gothic"/>
                <a:ea typeface="Malgun Gothic"/>
              </a:rPr>
              <a:t>영상</a:t>
            </a:r>
          </a:p>
        </p:txBody>
      </p:sp>
      <p:sp>
        <p:nvSpPr>
          <p:cNvPr id="131" name="C2E4"/>
          <p:cNvSpPr txBox="1"/>
          <p:nvPr/>
        </p:nvSpPr>
        <p:spPr>
          <a:xfrm>
            <a:off x="2095500" y="7620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dirty="0">
                <a:solidFill>
                  <a:srgbClr val="2C2C2C"/>
                </a:solidFill>
                <a:latin typeface="Malgun Gothic"/>
                <a:ea typeface="Malgun Gothic"/>
              </a:rPr>
              <a:t>정비 시연 영상 · 안전 교육</a:t>
            </a:r>
          </a:p>
        </p:txBody>
      </p:sp>
      <p:sp>
        <p:nvSpPr>
          <p:cNvPr id="132" name="PrBox"/>
          <p:cNvSpPr/>
          <p:nvPr/>
        </p:nvSpPr>
        <p:spPr>
          <a:xfrm>
            <a:off x="546100" y="8763000"/>
            <a:ext cx="6477000" cy="11430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33" name="PrLabel"/>
          <p:cNvSpPr txBox="1"/>
          <p:nvPr/>
        </p:nvSpPr>
        <p:spPr>
          <a:xfrm>
            <a:off x="762000" y="88900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100" b="1" dirty="0">
                <a:solidFill>
                  <a:srgbClr val="F4C430"/>
                </a:solidFill>
                <a:latin typeface="Malgun Gothic"/>
                <a:ea typeface="Malgun Gothic"/>
              </a:rPr>
              <a:t>디지털화 우선순위</a:t>
            </a:r>
          </a:p>
        </p:txBody>
      </p:sp>
      <p:sp>
        <p:nvSpPr>
          <p:cNvPr id="134" name="PrI0"/>
          <p:cNvSpPr txBox="1"/>
          <p:nvPr/>
        </p:nvSpPr>
        <p:spPr>
          <a:xfrm>
            <a:off x="762000" y="91694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000" b="1" dirty="0">
                <a:solidFill>
                  <a:srgbClr val="F4C430"/>
                </a:solidFill>
                <a:latin typeface="Malgun Gothic"/>
                <a:ea typeface="Malgun Gothic"/>
              </a:rPr>
              <a:t>★  베테랑 인터뷰 — 영구 손실 위험 (최우선)</a:t>
            </a:r>
          </a:p>
        </p:txBody>
      </p:sp>
      <p:sp>
        <p:nvSpPr>
          <p:cNvPr id="135" name="PrI1"/>
          <p:cNvSpPr txBox="1"/>
          <p:nvPr/>
        </p:nvSpPr>
        <p:spPr>
          <a:xfrm>
            <a:off x="762000" y="93853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000" b="1" dirty="0">
                <a:solidFill>
                  <a:srgbClr val="F4C430"/>
                </a:solidFill>
                <a:latin typeface="Malgun Gothic"/>
                <a:ea typeface="Malgun Gothic"/>
              </a:rPr>
              <a:t>★  정비 이력 — 분석 가치 높음</a:t>
            </a:r>
          </a:p>
        </p:txBody>
      </p:sp>
      <p:sp>
        <p:nvSpPr>
          <p:cNvPr id="136" name="PrI2"/>
          <p:cNvSpPr txBox="1"/>
          <p:nvPr/>
        </p:nvSpPr>
        <p:spPr>
          <a:xfrm>
            <a:off x="762000" y="96012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sz="1000" dirty="0">
                <a:solidFill>
                  <a:srgbClr val="FFFFFF"/>
                </a:solidFill>
                <a:latin typeface="Malgun Gothic"/>
                <a:ea typeface="Malgun Gothic"/>
              </a:rPr>
              <a:t>☆  결함 사진 패턴 — Vision 진단 학습용</a:t>
            </a:r>
          </a:p>
        </p:txBody>
      </p:sp>
      <p:sp>
        <p:nvSpPr>
          <p:cNvPr id="137" name="FootLine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38" name="Sq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39" name="Sq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40" name="Sq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41" name="Sq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rtlCol="0" anchor="ctr"/>
          <a:lstStyle/>
          <a:p>
            <a:endParaRPr lang="ko-KR"/>
          </a:p>
        </p:txBody>
      </p:sp>
      <p:sp>
        <p:nvSpPr>
          <p:cNvPr id="142" name="PageNum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buNone/>
            </a:pPr>
            <a:r>
              <a:rPr lang="en-US" altLang="ko-KR" sz="900">
                <a:solidFill>
                  <a:srgbClr val="6B6B6B"/>
                </a:solidFill>
                <a:latin typeface="Malgun Gothic"/>
                <a:ea typeface="Malgun Gothic"/>
              </a:rPr>
              <a:t>— 030 —</a:t>
            </a:r>
            <a:endParaRPr lang="ko-KR" sz="900" dirty="0">
              <a:solidFill>
                <a:srgbClr val="6B6B6B"/>
              </a:solidFill>
              <a:latin typeface="Malgun Gothic"/>
              <a:ea typeface="Malgun Gothic"/>
            </a:endParaRPr>
          </a:p>
        </p:txBody>
      </p:sp>
      <p:sp>
        <p:nvSpPr>
          <p:cNvPr id="143" name="FootCtr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ko-KR" sz="800" dirty="0">
                <a:solidFill>
                  <a:srgbClr val="6B6B6B"/>
                </a:solidFill>
                <a:latin typeface="Malgun Gothic"/>
                <a:ea typeface="Malgun Gothic"/>
              </a:rPr>
              <a:t>VOL.02 · PART 01 · DAY 1</a:t>
            </a:r>
          </a:p>
        </p:txBody>
      </p:sp>
      <p:sp>
        <p:nvSpPr>
          <p:cNvPr id="200" name="SidebarStrip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idebarChip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SidebarVertText"/>
          <p:cNvSpPr txBox="1"/>
          <p:nvPr/>
        </p:nvSpPr>
        <p:spPr>
          <a:xfrm rot="16200000">
            <a:off x="101600" y="3175000"/>
            <a:ext cx="139700" cy="2044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직무 1·2</a:t>
            </a:r>
          </a:p>
        </p:txBody>
      </p:sp>
    </p:spTree>
    <p:extLst>
      <p:ext uri="{BB962C8B-B14F-4D97-AF65-F5344CB8AC3E}">
        <p14:creationId xmlns:p14="http://schemas.microsoft.com/office/powerpoint/2010/main" val="586054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opLine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HeaderL"/>
          <p:cNvSpPr txBox="1"/>
          <p:nvPr/>
        </p:nvSpPr>
        <p:spPr>
          <a:xfrm>
            <a:off x="546100" y="355600"/>
            <a:ext cx="381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800" b="1" dirty="0">
                <a:solidFill>
                  <a:srgbClr val="6B6B6B"/>
                </a:solidFill>
              </a:rPr>
              <a:t>PART 01 · 데이터 자산화 개론</a:t>
            </a:r>
          </a:p>
        </p:txBody>
      </p:sp>
      <p:sp>
        <p:nvSpPr>
          <p:cNvPr id="104" name="HeaderR"/>
          <p:cNvSpPr txBox="1"/>
          <p:nvPr/>
        </p:nvSpPr>
        <p:spPr>
          <a:xfrm>
            <a:off x="3556000" y="355600"/>
            <a:ext cx="34671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800" b="1" dirty="0">
                <a:solidFill>
                  <a:srgbClr val="6B6B6B"/>
                </a:solidFill>
              </a:rPr>
              <a:t>FIELD DATA × DIGITALIZATION</a:t>
            </a:r>
          </a:p>
        </p:txBody>
      </p:sp>
      <p:sp>
        <p:nvSpPr>
          <p:cNvPr id="105" name="Title"/>
          <p:cNvSpPr txBox="1"/>
          <p:nvPr/>
        </p:nvSpPr>
        <p:spPr>
          <a:xfrm>
            <a:off x="889000" y="8890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2000" b="1" dirty="0">
                <a:solidFill>
                  <a:srgbClr val="2C2C2C"/>
                </a:solidFill>
              </a:rPr>
              <a:t>직무 3·4 — 영업·해외영업 데이터 자산</a:t>
            </a:r>
          </a:p>
        </p:txBody>
      </p:sp>
      <p:sp>
        <p:nvSpPr>
          <p:cNvPr id="106" name="Subtitle"/>
          <p:cNvSpPr txBox="1"/>
          <p:nvPr/>
        </p:nvSpPr>
        <p:spPr>
          <a:xfrm>
            <a:off x="889000" y="1333500"/>
            <a:ext cx="577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6B6B6B"/>
                </a:solidFill>
              </a:rPr>
              <a:t>고객 응대 노하우와 ITB 검토 패턴 — 베테랑 영업 자산화</a:t>
            </a:r>
          </a:p>
        </p:txBody>
      </p:sp>
      <p:sp>
        <p:nvSpPr>
          <p:cNvPr id="107" name="Card1"/>
          <p:cNvSpPr/>
          <p:nvPr/>
        </p:nvSpPr>
        <p:spPr>
          <a:xfrm>
            <a:off x="546100" y="1778000"/>
            <a:ext cx="6477000" cy="304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8" name="Header108"/>
          <p:cNvSpPr/>
          <p:nvPr/>
        </p:nvSpPr>
        <p:spPr>
          <a:xfrm>
            <a:off x="546100" y="1778000"/>
            <a:ext cx="6477000" cy="4064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ko-KR" sz="1300" b="1" dirty="0">
                <a:solidFill>
                  <a:srgbClr val="FFFFFF"/>
                </a:solidFill>
              </a:rPr>
              <a:t>3. 영업·견적</a:t>
            </a:r>
          </a:p>
        </p:txBody>
      </p:sp>
      <p:sp>
        <p:nvSpPr>
          <p:cNvPr id="109" name="Label109"/>
          <p:cNvSpPr/>
          <p:nvPr/>
        </p:nvSpPr>
        <p:spPr>
          <a:xfrm>
            <a:off x="762000" y="23114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</a:rPr>
              <a:t>텍스트</a:t>
            </a:r>
          </a:p>
        </p:txBody>
      </p:sp>
      <p:sp>
        <p:nvSpPr>
          <p:cNvPr id="110" name="C1Row0"/>
          <p:cNvSpPr txBox="1"/>
          <p:nvPr/>
        </p:nvSpPr>
        <p:spPr>
          <a:xfrm>
            <a:off x="2095500" y="23622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고객 응대 이메일 · 제안서</a:t>
            </a:r>
          </a:p>
        </p:txBody>
      </p:sp>
      <p:sp>
        <p:nvSpPr>
          <p:cNvPr id="111" name="Label111"/>
          <p:cNvSpPr/>
          <p:nvPr/>
        </p:nvSpPr>
        <p:spPr>
          <a:xfrm>
            <a:off x="762000" y="28702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</a:rPr>
              <a:t>표</a:t>
            </a:r>
          </a:p>
        </p:txBody>
      </p:sp>
      <p:sp>
        <p:nvSpPr>
          <p:cNvPr id="112" name="C1Row1"/>
          <p:cNvSpPr txBox="1"/>
          <p:nvPr/>
        </p:nvSpPr>
        <p:spPr>
          <a:xfrm>
            <a:off x="2095500" y="2921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견적서 · 고객 DB · 매출 데이터</a:t>
            </a:r>
          </a:p>
        </p:txBody>
      </p:sp>
      <p:sp>
        <p:nvSpPr>
          <p:cNvPr id="113" name="Label113"/>
          <p:cNvSpPr/>
          <p:nvPr/>
        </p:nvSpPr>
        <p:spPr>
          <a:xfrm>
            <a:off x="762000" y="34290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</a:rPr>
              <a:t>이미지</a:t>
            </a:r>
          </a:p>
        </p:txBody>
      </p:sp>
      <p:sp>
        <p:nvSpPr>
          <p:cNvPr id="114" name="C1Row2"/>
          <p:cNvSpPr txBox="1"/>
          <p:nvPr/>
        </p:nvSpPr>
        <p:spPr>
          <a:xfrm>
            <a:off x="2095500" y="34798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고객 미팅 화이트보드 · 명함</a:t>
            </a:r>
          </a:p>
        </p:txBody>
      </p:sp>
      <p:sp>
        <p:nvSpPr>
          <p:cNvPr id="115" name="Label115"/>
          <p:cNvSpPr/>
          <p:nvPr/>
        </p:nvSpPr>
        <p:spPr>
          <a:xfrm>
            <a:off x="762000" y="39878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FFFFFF"/>
                </a:solidFill>
              </a:rPr>
              <a:t>음성</a:t>
            </a:r>
          </a:p>
        </p:txBody>
      </p:sp>
      <p:sp>
        <p:nvSpPr>
          <p:cNvPr id="116" name="C1Row3"/>
          <p:cNvSpPr txBox="1"/>
          <p:nvPr/>
        </p:nvSpPr>
        <p:spPr>
          <a:xfrm>
            <a:off x="2095500" y="4038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★ 미팅 녹음 · 전화 상담</a:t>
            </a:r>
          </a:p>
        </p:txBody>
      </p:sp>
      <p:sp>
        <p:nvSpPr>
          <p:cNvPr id="117" name="Card2"/>
          <p:cNvSpPr/>
          <p:nvPr/>
        </p:nvSpPr>
        <p:spPr>
          <a:xfrm>
            <a:off x="546100" y="5029200"/>
            <a:ext cx="6477000" cy="355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8" name="Header118"/>
          <p:cNvSpPr/>
          <p:nvPr/>
        </p:nvSpPr>
        <p:spPr>
          <a:xfrm>
            <a:off x="546100" y="5029200"/>
            <a:ext cx="6477000" cy="4064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ko-KR" sz="1300" b="1" dirty="0">
                <a:solidFill>
                  <a:srgbClr val="FFFFFF"/>
                </a:solidFill>
              </a:rPr>
              <a:t>4. 해외영업 · 수출</a:t>
            </a:r>
          </a:p>
        </p:txBody>
      </p:sp>
      <p:sp>
        <p:nvSpPr>
          <p:cNvPr id="119" name="Label119"/>
          <p:cNvSpPr/>
          <p:nvPr/>
        </p:nvSpPr>
        <p:spPr>
          <a:xfrm>
            <a:off x="762000" y="55626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2C2C2C"/>
                </a:solidFill>
              </a:rPr>
              <a:t>텍스트</a:t>
            </a:r>
          </a:p>
        </p:txBody>
      </p:sp>
      <p:sp>
        <p:nvSpPr>
          <p:cNvPr id="120" name="C2Row0"/>
          <p:cNvSpPr txBox="1"/>
          <p:nvPr/>
        </p:nvSpPr>
        <p:spPr>
          <a:xfrm>
            <a:off x="2095500" y="56134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ITB · 계약서 · 다국어 문서</a:t>
            </a:r>
          </a:p>
        </p:txBody>
      </p:sp>
      <p:sp>
        <p:nvSpPr>
          <p:cNvPr id="121" name="Label121"/>
          <p:cNvSpPr/>
          <p:nvPr/>
        </p:nvSpPr>
        <p:spPr>
          <a:xfrm>
            <a:off x="762000" y="61214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2C2C2C"/>
                </a:solidFill>
              </a:rPr>
              <a:t>표</a:t>
            </a:r>
          </a:p>
        </p:txBody>
      </p:sp>
      <p:sp>
        <p:nvSpPr>
          <p:cNvPr id="122" name="C2Row1"/>
          <p:cNvSpPr txBox="1"/>
          <p:nvPr/>
        </p:nvSpPr>
        <p:spPr>
          <a:xfrm>
            <a:off x="2095500" y="61722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국가별 시장 데이터 · 환율 · 관세</a:t>
            </a:r>
          </a:p>
        </p:txBody>
      </p:sp>
      <p:sp>
        <p:nvSpPr>
          <p:cNvPr id="123" name="Label123"/>
          <p:cNvSpPr/>
          <p:nvPr/>
        </p:nvSpPr>
        <p:spPr>
          <a:xfrm>
            <a:off x="762000" y="66802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2C2C2C"/>
                </a:solidFill>
              </a:rPr>
              <a:t>이미지</a:t>
            </a:r>
          </a:p>
        </p:txBody>
      </p:sp>
      <p:sp>
        <p:nvSpPr>
          <p:cNvPr id="124" name="C2Row2"/>
          <p:cNvSpPr txBox="1"/>
          <p:nvPr/>
        </p:nvSpPr>
        <p:spPr>
          <a:xfrm>
            <a:off x="2095500" y="6731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다국어 카탈로그 · 계약 도장</a:t>
            </a:r>
          </a:p>
        </p:txBody>
      </p:sp>
      <p:sp>
        <p:nvSpPr>
          <p:cNvPr id="125" name="Label125"/>
          <p:cNvSpPr/>
          <p:nvPr/>
        </p:nvSpPr>
        <p:spPr>
          <a:xfrm>
            <a:off x="762000" y="72390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2C2C2C"/>
                </a:solidFill>
              </a:rPr>
              <a:t>음성</a:t>
            </a:r>
          </a:p>
        </p:txBody>
      </p:sp>
      <p:sp>
        <p:nvSpPr>
          <p:cNvPr id="126" name="C2Row3"/>
          <p:cNvSpPr txBox="1"/>
          <p:nvPr/>
        </p:nvSpPr>
        <p:spPr>
          <a:xfrm>
            <a:off x="2095500" y="72898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★ 다국어 회의 · 통역 녹음</a:t>
            </a:r>
          </a:p>
        </p:txBody>
      </p:sp>
      <p:sp>
        <p:nvSpPr>
          <p:cNvPr id="127" name="Label127"/>
          <p:cNvSpPr/>
          <p:nvPr/>
        </p:nvSpPr>
        <p:spPr>
          <a:xfrm>
            <a:off x="762000" y="7797800"/>
            <a:ext cx="1143000" cy="355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 dirty="0">
                <a:solidFill>
                  <a:srgbClr val="2C2C2C"/>
                </a:solidFill>
              </a:rPr>
              <a:t>영상</a:t>
            </a:r>
          </a:p>
        </p:txBody>
      </p:sp>
      <p:sp>
        <p:nvSpPr>
          <p:cNvPr id="128" name="C2Row4"/>
          <p:cNvSpPr txBox="1"/>
          <p:nvPr/>
        </p:nvSpPr>
        <p:spPr>
          <a:xfrm>
            <a:off x="2095500" y="7848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dirty="0">
                <a:solidFill>
                  <a:srgbClr val="2C2C2C"/>
                </a:solidFill>
              </a:rPr>
              <a:t>화상 회의 · 시연 영상</a:t>
            </a:r>
          </a:p>
        </p:txBody>
      </p:sp>
      <p:sp>
        <p:nvSpPr>
          <p:cNvPr id="129" name="PriorityBox"/>
          <p:cNvSpPr/>
          <p:nvPr/>
        </p:nvSpPr>
        <p:spPr>
          <a:xfrm>
            <a:off x="546100" y="8763000"/>
            <a:ext cx="6477000" cy="11430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0" name="PriorityHeader"/>
          <p:cNvSpPr txBox="1"/>
          <p:nvPr/>
        </p:nvSpPr>
        <p:spPr>
          <a:xfrm>
            <a:off x="762000" y="8890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dirty="0">
                <a:solidFill>
                  <a:srgbClr val="F4C430"/>
                </a:solidFill>
              </a:rPr>
              <a:t>디지털화 우선순위</a:t>
            </a:r>
          </a:p>
        </p:txBody>
      </p:sp>
      <p:sp>
        <p:nvSpPr>
          <p:cNvPr id="131" name="PItem0"/>
          <p:cNvSpPr txBox="1"/>
          <p:nvPr/>
        </p:nvSpPr>
        <p:spPr>
          <a:xfrm>
            <a:off x="762000" y="91694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000" dirty="0">
                <a:solidFill>
                  <a:srgbClr val="FFFFFF"/>
                </a:solidFill>
              </a:rPr>
              <a:t>★ 고객 응대 노하우 (영업 베테랑 노트 · 전화 상담)</a:t>
            </a:r>
          </a:p>
        </p:txBody>
      </p:sp>
      <p:sp>
        <p:nvSpPr>
          <p:cNvPr id="132" name="PItem1"/>
          <p:cNvSpPr txBox="1"/>
          <p:nvPr/>
        </p:nvSpPr>
        <p:spPr>
          <a:xfrm>
            <a:off x="762000" y="93980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000" dirty="0">
                <a:solidFill>
                  <a:srgbClr val="FFFFFF"/>
                </a:solidFill>
              </a:rPr>
              <a:t>★ ITB 검토 패턴 (위험 조항 식별 학습용)</a:t>
            </a:r>
          </a:p>
        </p:txBody>
      </p:sp>
      <p:sp>
        <p:nvSpPr>
          <p:cNvPr id="133" name="PItem2"/>
          <p:cNvSpPr txBox="1"/>
          <p:nvPr/>
        </p:nvSpPr>
        <p:spPr>
          <a:xfrm>
            <a:off x="762000" y="96266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000" dirty="0">
                <a:solidFill>
                  <a:srgbClr val="FFFFFF"/>
                </a:solidFill>
              </a:rPr>
              <a:t>☆ 다국가 협상 사례 (지역별 차이 학습용)</a:t>
            </a:r>
          </a:p>
        </p:txBody>
      </p:sp>
      <p:sp>
        <p:nvSpPr>
          <p:cNvPr id="134" name="FooterLine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5" name="Sq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6" name="Sq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7" name="Sq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8" name="Sq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9" name="FooterCenter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40" name="PageNum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</a:rPr>
              <a:t>— 031 —</a:t>
            </a:r>
            <a:endParaRPr lang="ko-KR" sz="900" dirty="0">
              <a:solidFill>
                <a:srgbClr val="6B6B6B"/>
              </a:solidFill>
            </a:endParaRPr>
          </a:p>
        </p:txBody>
      </p:sp>
      <p:sp>
        <p:nvSpPr>
          <p:cNvPr id="200" name="SidebarStrip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idebarChip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SidebarVertText"/>
          <p:cNvSpPr txBox="1"/>
          <p:nvPr/>
        </p:nvSpPr>
        <p:spPr>
          <a:xfrm rot="16200000">
            <a:off x="101600" y="3175000"/>
            <a:ext cx="139700" cy="2044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직무 3·4</a:t>
            </a:r>
          </a:p>
        </p:txBody>
      </p:sp>
    </p:spTree>
    <p:extLst>
      <p:ext uri="{BB962C8B-B14F-4D97-AF65-F5344CB8AC3E}">
        <p14:creationId xmlns:p14="http://schemas.microsoft.com/office/powerpoint/2010/main" val="269465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eaderL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HeaderR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TopLine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itle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직무 5·6 — 마케팅·DX 데이터 자산</a:t>
            </a:r>
          </a:p>
        </p:txBody>
      </p:sp>
      <p:sp>
        <p:nvSpPr>
          <p:cNvPr id="108" name="Sub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마케팅·PM과 DX·IT 혁신팀의 자산 — 캠페인 인사이트와 전사 KPI</a:t>
            </a:r>
          </a:p>
        </p:txBody>
      </p:sp>
      <p:sp>
        <p:nvSpPr>
          <p:cNvPr id="109" name="Card1Bg"/>
          <p:cNvSpPr/>
          <p:nvPr/>
        </p:nvSpPr>
        <p:spPr>
          <a:xfrm>
            <a:off x="546100" y="1968500"/>
            <a:ext cx="64770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1Hdr"/>
          <p:cNvSpPr/>
          <p:nvPr/>
        </p:nvSpPr>
        <p:spPr>
          <a:xfrm>
            <a:off x="546100" y="1968500"/>
            <a:ext cx="6477000" cy="444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1HdrTxt"/>
          <p:cNvSpPr txBox="1"/>
          <p:nvPr/>
        </p:nvSpPr>
        <p:spPr>
          <a:xfrm>
            <a:off x="762000" y="2070100"/>
            <a:ext cx="6096000" cy="279400"/>
          </a:xfrm>
          <a:prstGeom prst="rect">
            <a:avLst/>
          </a:prstGeom>
          <a:noFill/>
        </p:spPr>
        <p:txBody>
          <a:bodyPr wrap="square" lIns="0" tIns="2540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5. 마케팅 · PM</a:t>
            </a:r>
          </a:p>
        </p:txBody>
      </p:sp>
      <p:sp>
        <p:nvSpPr>
          <p:cNvPr id="112" name="Shape112"/>
          <p:cNvSpPr/>
          <p:nvPr/>
        </p:nvSpPr>
        <p:spPr>
          <a:xfrm>
            <a:off x="762000" y="2514600"/>
            <a:ext cx="1143000" cy="355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113"/>
          <p:cNvSpPr txBox="1"/>
          <p:nvPr/>
        </p:nvSpPr>
        <p:spPr>
          <a:xfrm>
            <a:off x="762000" y="2514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텍스트</a:t>
            </a:r>
          </a:p>
        </p:txBody>
      </p:sp>
      <p:sp>
        <p:nvSpPr>
          <p:cNvPr id="114" name="Text114"/>
          <p:cNvSpPr txBox="1"/>
          <p:nvPr/>
        </p:nvSpPr>
        <p:spPr>
          <a:xfrm>
            <a:off x="2095500" y="2578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마케팅 카피 · SNS 콘텐츠 · 보도자료</a:t>
            </a:r>
          </a:p>
        </p:txBody>
      </p:sp>
      <p:sp>
        <p:nvSpPr>
          <p:cNvPr id="115" name="Shape115"/>
          <p:cNvSpPr/>
          <p:nvPr/>
        </p:nvSpPr>
        <p:spPr>
          <a:xfrm>
            <a:off x="762000" y="29845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116"/>
          <p:cNvSpPr txBox="1"/>
          <p:nvPr/>
        </p:nvSpPr>
        <p:spPr>
          <a:xfrm>
            <a:off x="762000" y="29845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표</a:t>
            </a:r>
          </a:p>
        </p:txBody>
      </p:sp>
      <p:sp>
        <p:nvSpPr>
          <p:cNvPr id="117" name="Text117"/>
          <p:cNvSpPr txBox="1"/>
          <p:nvPr/>
        </p:nvSpPr>
        <p:spPr>
          <a:xfrm>
            <a:off x="2095500" y="3048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★ 캠페인 데이터 · 고객 반응</a:t>
            </a:r>
          </a:p>
        </p:txBody>
      </p:sp>
      <p:sp>
        <p:nvSpPr>
          <p:cNvPr id="118" name="Shape118"/>
          <p:cNvSpPr/>
          <p:nvPr/>
        </p:nvSpPr>
        <p:spPr>
          <a:xfrm>
            <a:off x="762000" y="3454400"/>
            <a:ext cx="1143000" cy="355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119"/>
          <p:cNvSpPr txBox="1"/>
          <p:nvPr/>
        </p:nvSpPr>
        <p:spPr>
          <a:xfrm>
            <a:off x="762000" y="34544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이미지</a:t>
            </a:r>
          </a:p>
        </p:txBody>
      </p:sp>
      <p:sp>
        <p:nvSpPr>
          <p:cNvPr id="120" name="Text120"/>
          <p:cNvSpPr txBox="1"/>
          <p:nvPr/>
        </p:nvSpPr>
        <p:spPr>
          <a:xfrm>
            <a:off x="2095500" y="35179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비주얼 · CI · 제품 사진</a:t>
            </a:r>
          </a:p>
        </p:txBody>
      </p:sp>
      <p:sp>
        <p:nvSpPr>
          <p:cNvPr id="121" name="Shape121"/>
          <p:cNvSpPr/>
          <p:nvPr/>
        </p:nvSpPr>
        <p:spPr>
          <a:xfrm>
            <a:off x="762000" y="3924300"/>
            <a:ext cx="1143000" cy="355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122"/>
          <p:cNvSpPr txBox="1"/>
          <p:nvPr/>
        </p:nvSpPr>
        <p:spPr>
          <a:xfrm>
            <a:off x="762000" y="39243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음성</a:t>
            </a:r>
          </a:p>
        </p:txBody>
      </p:sp>
      <p:sp>
        <p:nvSpPr>
          <p:cNvPr id="123" name="Text123"/>
          <p:cNvSpPr txBox="1"/>
          <p:nvPr/>
        </p:nvSpPr>
        <p:spPr>
          <a:xfrm>
            <a:off x="2095500" y="39878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고객 인터뷰 · 포커스 그룹</a:t>
            </a:r>
          </a:p>
        </p:txBody>
      </p:sp>
      <p:sp>
        <p:nvSpPr>
          <p:cNvPr id="124" name="Shape124"/>
          <p:cNvSpPr/>
          <p:nvPr/>
        </p:nvSpPr>
        <p:spPr>
          <a:xfrm>
            <a:off x="762000" y="4394200"/>
            <a:ext cx="1143000" cy="355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125"/>
          <p:cNvSpPr txBox="1"/>
          <p:nvPr/>
        </p:nvSpPr>
        <p:spPr>
          <a:xfrm>
            <a:off x="762000" y="43942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영상</a:t>
            </a:r>
          </a:p>
        </p:txBody>
      </p:sp>
      <p:sp>
        <p:nvSpPr>
          <p:cNvPr id="126" name="Text126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홍보 · 시연 영상</a:t>
            </a:r>
          </a:p>
        </p:txBody>
      </p:sp>
      <p:sp>
        <p:nvSpPr>
          <p:cNvPr id="127" name="Card2Bg"/>
          <p:cNvSpPr/>
          <p:nvPr/>
        </p:nvSpPr>
        <p:spPr>
          <a:xfrm>
            <a:off x="546100" y="5080000"/>
            <a:ext cx="6477000" cy="342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Card2Hdr"/>
          <p:cNvSpPr/>
          <p:nvPr/>
        </p:nvSpPr>
        <p:spPr>
          <a:xfrm>
            <a:off x="546100" y="5080000"/>
            <a:ext cx="6477000" cy="444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Card2HdrTxt"/>
          <p:cNvSpPr txBox="1"/>
          <p:nvPr/>
        </p:nvSpPr>
        <p:spPr>
          <a:xfrm>
            <a:off x="762000" y="5181600"/>
            <a:ext cx="6096000" cy="279400"/>
          </a:xfrm>
          <a:prstGeom prst="rect">
            <a:avLst/>
          </a:prstGeom>
          <a:noFill/>
        </p:spPr>
        <p:txBody>
          <a:bodyPr wrap="square" lIns="0" tIns="2540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6. DX · IT 혁신팀</a:t>
            </a:r>
          </a:p>
        </p:txBody>
      </p:sp>
      <p:sp>
        <p:nvSpPr>
          <p:cNvPr id="130" name="Shape130"/>
          <p:cNvSpPr/>
          <p:nvPr/>
        </p:nvSpPr>
        <p:spPr>
          <a:xfrm>
            <a:off x="762000" y="5626100"/>
            <a:ext cx="1143000" cy="355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131"/>
          <p:cNvSpPr txBox="1"/>
          <p:nvPr/>
        </p:nvSpPr>
        <p:spPr>
          <a:xfrm>
            <a:off x="762000" y="56261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텍스트</a:t>
            </a:r>
          </a:p>
        </p:txBody>
      </p:sp>
      <p:sp>
        <p:nvSpPr>
          <p:cNvPr id="132" name="Text132"/>
          <p:cNvSpPr txBox="1"/>
          <p:nvPr/>
        </p:nvSpPr>
        <p:spPr>
          <a:xfrm>
            <a:off x="2095500" y="568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부서별 매뉴얼 · 정책 문서</a:t>
            </a:r>
          </a:p>
        </p:txBody>
      </p:sp>
      <p:sp>
        <p:nvSpPr>
          <p:cNvPr id="133" name="Shape133"/>
          <p:cNvSpPr/>
          <p:nvPr/>
        </p:nvSpPr>
        <p:spPr>
          <a:xfrm>
            <a:off x="762000" y="6108700"/>
            <a:ext cx="1143000" cy="355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134"/>
          <p:cNvSpPr txBox="1"/>
          <p:nvPr/>
        </p:nvSpPr>
        <p:spPr>
          <a:xfrm>
            <a:off x="762000" y="61087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표</a:t>
            </a:r>
          </a:p>
        </p:txBody>
      </p:sp>
      <p:sp>
        <p:nvSpPr>
          <p:cNvPr id="135" name="Text135"/>
          <p:cNvSpPr txBox="1"/>
          <p:nvPr/>
        </p:nvSpPr>
        <p:spPr>
          <a:xfrm>
            <a:off x="2095500" y="61722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★ 전사 KPI · OKR · 예산</a:t>
            </a:r>
          </a:p>
        </p:txBody>
      </p:sp>
      <p:sp>
        <p:nvSpPr>
          <p:cNvPr id="136" name="Shape136"/>
          <p:cNvSpPr/>
          <p:nvPr/>
        </p:nvSpPr>
        <p:spPr>
          <a:xfrm>
            <a:off x="762000" y="6591300"/>
            <a:ext cx="1143000" cy="355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137"/>
          <p:cNvSpPr txBox="1"/>
          <p:nvPr/>
        </p:nvSpPr>
        <p:spPr>
          <a:xfrm>
            <a:off x="762000" y="65913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이미지</a:t>
            </a:r>
          </a:p>
        </p:txBody>
      </p:sp>
      <p:sp>
        <p:nvSpPr>
          <p:cNvPr id="138" name="Text138"/>
          <p:cNvSpPr txBox="1"/>
          <p:nvPr/>
        </p:nvSpPr>
        <p:spPr>
          <a:xfrm>
            <a:off x="2095500" y="66548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시스템 아키텍처 · 플로우</a:t>
            </a:r>
          </a:p>
        </p:txBody>
      </p:sp>
      <p:sp>
        <p:nvSpPr>
          <p:cNvPr id="139" name="Shape139"/>
          <p:cNvSpPr/>
          <p:nvPr/>
        </p:nvSpPr>
        <p:spPr>
          <a:xfrm>
            <a:off x="762000" y="7073900"/>
            <a:ext cx="1143000" cy="355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140"/>
          <p:cNvSpPr txBox="1"/>
          <p:nvPr/>
        </p:nvSpPr>
        <p:spPr>
          <a:xfrm>
            <a:off x="762000" y="70739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음성</a:t>
            </a:r>
          </a:p>
        </p:txBody>
      </p:sp>
      <p:sp>
        <p:nvSpPr>
          <p:cNvPr id="141" name="Text141"/>
          <p:cNvSpPr txBox="1"/>
          <p:nvPr/>
        </p:nvSpPr>
        <p:spPr>
          <a:xfrm>
            <a:off x="2095500" y="71374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임원 회의 · 전략 세션</a:t>
            </a:r>
          </a:p>
        </p:txBody>
      </p:sp>
      <p:sp>
        <p:nvSpPr>
          <p:cNvPr id="142" name="Shape142"/>
          <p:cNvSpPr/>
          <p:nvPr/>
        </p:nvSpPr>
        <p:spPr>
          <a:xfrm>
            <a:off x="762000" y="7556500"/>
            <a:ext cx="1143000" cy="355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143"/>
          <p:cNvSpPr txBox="1"/>
          <p:nvPr/>
        </p:nvSpPr>
        <p:spPr>
          <a:xfrm>
            <a:off x="762000" y="75565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영상</a:t>
            </a:r>
          </a:p>
        </p:txBody>
      </p:sp>
      <p:sp>
        <p:nvSpPr>
          <p:cNvPr id="144" name="Text144"/>
          <p:cNvSpPr txBox="1"/>
          <p:nvPr/>
        </p:nvSpPr>
        <p:spPr>
          <a:xfrm>
            <a:off x="2095500" y="7620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사내 교육 · 전사 발표</a:t>
            </a:r>
          </a:p>
        </p:txBody>
      </p:sp>
      <p:sp>
        <p:nvSpPr>
          <p:cNvPr id="145" name="PrBox"/>
          <p:cNvSpPr/>
          <p:nvPr/>
        </p:nvSpPr>
        <p:spPr>
          <a:xfrm>
            <a:off x="546100" y="8763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PrLabel"/>
          <p:cNvSpPr txBox="1"/>
          <p:nvPr/>
        </p:nvSpPr>
        <p:spPr>
          <a:xfrm>
            <a:off x="762000" y="88900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디지털화 우선순위</a:t>
            </a:r>
          </a:p>
        </p:txBody>
      </p:sp>
      <p:sp>
        <p:nvSpPr>
          <p:cNvPr id="147" name="Text147"/>
          <p:cNvSpPr txBox="1"/>
          <p:nvPr/>
        </p:nvSpPr>
        <p:spPr>
          <a:xfrm>
            <a:off x="762000" y="91694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★ </a:t>
            </a:r>
            <a:r>
              <a:rPr lang="en-US" sz="1200" b="1" dirty="0">
                <a:solidFill>
                  <a:srgbClr val="F4B400"/>
                </a:solidFill>
              </a:rPr>
              <a:t>캠페인 인사이트</a:t>
            </a:r>
            <a:r>
              <a:rPr lang="en-US" sz="1100" dirty="0">
                <a:solidFill>
                  <a:srgbClr val="FFFFFF"/>
                </a:solidFill>
              </a:rPr>
              <a:t>  —  다음 캠페인 학습용</a:t>
            </a:r>
          </a:p>
        </p:txBody>
      </p:sp>
      <p:sp>
        <p:nvSpPr>
          <p:cNvPr id="148" name="Text148"/>
          <p:cNvSpPr txBox="1"/>
          <p:nvPr/>
        </p:nvSpPr>
        <p:spPr>
          <a:xfrm>
            <a:off x="762000" y="93853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★ </a:t>
            </a:r>
            <a:r>
              <a:rPr lang="en-US" sz="1200" b="1" dirty="0">
                <a:solidFill>
                  <a:srgbClr val="F4B400"/>
                </a:solidFill>
              </a:rPr>
              <a:t>전사 KPI 데이터</a:t>
            </a:r>
            <a:r>
              <a:rPr lang="en-US" sz="1100" dirty="0">
                <a:solidFill>
                  <a:srgbClr val="FFFFFF"/>
                </a:solidFill>
              </a:rPr>
              <a:t>  —  의사결정 기반</a:t>
            </a:r>
          </a:p>
        </p:txBody>
      </p:sp>
      <p:sp>
        <p:nvSpPr>
          <p:cNvPr id="149" name="Text149"/>
          <p:cNvSpPr txBox="1"/>
          <p:nvPr/>
        </p:nvSpPr>
        <p:spPr>
          <a:xfrm>
            <a:off x="762000" y="96012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☆ </a:t>
            </a:r>
            <a:r>
              <a:rPr lang="en-US" sz="1200" b="1" dirty="0">
                <a:solidFill>
                  <a:srgbClr val="FFFFFF"/>
                </a:solidFill>
              </a:rPr>
              <a:t>부서간 협업 패턴</a:t>
            </a:r>
            <a:r>
              <a:rPr lang="en-US" sz="1100" dirty="0">
                <a:solidFill>
                  <a:srgbClr val="FFFFFF"/>
                </a:solidFill>
              </a:rPr>
              <a:t>  —  조직 효율화용</a:t>
            </a:r>
          </a:p>
        </p:txBody>
      </p:sp>
      <p:sp>
        <p:nvSpPr>
          <p:cNvPr id="150" name="FootLine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FootCtr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2" name="PageNum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3" name="Sq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q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q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q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SidebarStrip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idebarChip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SidebarVertText"/>
          <p:cNvSpPr txBox="1"/>
          <p:nvPr/>
        </p:nvSpPr>
        <p:spPr>
          <a:xfrm rot="16200000">
            <a:off x="101600" y="3175000"/>
            <a:ext cx="139700" cy="2044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직무 5·6</a:t>
            </a:r>
          </a:p>
        </p:txBody>
      </p:sp>
    </p:spTree>
    <p:extLst>
      <p:ext uri="{BB962C8B-B14F-4D97-AF65-F5344CB8AC3E}">
        <p14:creationId xmlns:p14="http://schemas.microsoft.com/office/powerpoint/2010/main" val="2591478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ex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hape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PracticeChip"/>
          <p:cNvSpPr/>
          <p:nvPr/>
        </p:nvSpPr>
        <p:spPr>
          <a:xfrm>
            <a:off x="889000" y="927100"/>
            <a:ext cx="7620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108"/>
          <p:cNvSpPr txBox="1"/>
          <p:nvPr/>
        </p:nvSpPr>
        <p:spPr>
          <a:xfrm>
            <a:off x="889000" y="9271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실습 1-1</a:t>
            </a:r>
          </a:p>
        </p:txBody>
      </p:sp>
      <p:sp>
        <p:nvSpPr>
          <p:cNvPr id="109" name="Text109"/>
          <p:cNvSpPr txBox="1"/>
          <p:nvPr/>
        </p:nvSpPr>
        <p:spPr>
          <a:xfrm>
            <a:off x="1752600" y="952500"/>
            <a:ext cx="5270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2C2C2C"/>
                </a:solidFill>
              </a:rPr>
              <a:t>자사 데이터 자산 인벤토리 작성</a:t>
            </a:r>
          </a:p>
        </p:txBody>
      </p:sp>
      <p:sp>
        <p:nvSpPr>
          <p:cNvPr id="110" name="Text110"/>
          <p:cNvSpPr txBox="1"/>
          <p:nvPr/>
        </p:nvSpPr>
        <p:spPr>
          <a:xfrm>
            <a:off x="889000" y="1308100"/>
            <a:ext cx="61341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자기 직무 기준 — 데이터 자산을 식별하고 우선순위를 표시한다</a:t>
            </a:r>
          </a:p>
        </p:txBody>
      </p:sp>
      <p:sp>
        <p:nvSpPr>
          <p:cNvPr id="111" name="Shape111"/>
          <p:cNvSpPr/>
          <p:nvPr/>
        </p:nvSpPr>
        <p:spPr>
          <a:xfrm>
            <a:off x="546100" y="1778000"/>
            <a:ext cx="31877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112"/>
          <p:cNvSpPr/>
          <p:nvPr/>
        </p:nvSpPr>
        <p:spPr>
          <a:xfrm>
            <a:off x="546100" y="1778000"/>
            <a:ext cx="50800" cy="1397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113"/>
          <p:cNvSpPr txBox="1"/>
          <p:nvPr/>
        </p:nvSpPr>
        <p:spPr>
          <a:xfrm>
            <a:off x="749300" y="1905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E8632C"/>
                </a:solidFill>
              </a:rPr>
              <a:t>Step 1</a:t>
            </a:r>
          </a:p>
        </p:txBody>
      </p:sp>
      <p:sp>
        <p:nvSpPr>
          <p:cNvPr id="114" name="Text114"/>
          <p:cNvSpPr txBox="1"/>
          <p:nvPr/>
        </p:nvSpPr>
        <p:spPr>
          <a:xfrm>
            <a:off x="749300" y="2133600"/>
            <a:ext cx="2781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형태별 인벤토리</a:t>
            </a:r>
          </a:p>
        </p:txBody>
      </p:sp>
      <p:sp>
        <p:nvSpPr>
          <p:cNvPr id="115" name="Text115"/>
          <p:cNvSpPr txBox="1"/>
          <p:nvPr/>
        </p:nvSpPr>
        <p:spPr>
          <a:xfrm>
            <a:off x="749300" y="24892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텍스트 · 표 · 이미지 · 음성 · 영상</a:t>
            </a:r>
          </a:p>
        </p:txBody>
      </p:sp>
      <p:sp>
        <p:nvSpPr>
          <p:cNvPr id="116" name="Text116"/>
          <p:cNvSpPr txBox="1"/>
          <p:nvPr/>
        </p:nvSpPr>
        <p:spPr>
          <a:xfrm>
            <a:off x="749300" y="26797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5형태로 분류해 빠짐없이 식별</a:t>
            </a:r>
          </a:p>
        </p:txBody>
      </p:sp>
      <p:sp>
        <p:nvSpPr>
          <p:cNvPr id="117" name="Shape117"/>
          <p:cNvSpPr/>
          <p:nvPr/>
        </p:nvSpPr>
        <p:spPr>
          <a:xfrm>
            <a:off x="3835400" y="1778000"/>
            <a:ext cx="31877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118"/>
          <p:cNvSpPr/>
          <p:nvPr/>
        </p:nvSpPr>
        <p:spPr>
          <a:xfrm>
            <a:off x="3835400" y="1778000"/>
            <a:ext cx="50800" cy="1397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119"/>
          <p:cNvSpPr txBox="1"/>
          <p:nvPr/>
        </p:nvSpPr>
        <p:spPr>
          <a:xfrm>
            <a:off x="4038600" y="1905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F4B400"/>
                </a:solidFill>
              </a:rPr>
              <a:t>Step 2</a:t>
            </a:r>
          </a:p>
        </p:txBody>
      </p:sp>
      <p:sp>
        <p:nvSpPr>
          <p:cNvPr id="120" name="Text120"/>
          <p:cNvSpPr txBox="1"/>
          <p:nvPr/>
        </p:nvSpPr>
        <p:spPr>
          <a:xfrm>
            <a:off x="4038600" y="2133600"/>
            <a:ext cx="2781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가치 평가</a:t>
            </a:r>
          </a:p>
        </p:txBody>
      </p:sp>
      <p:sp>
        <p:nvSpPr>
          <p:cNvPr id="121" name="Text121"/>
          <p:cNvSpPr txBox="1"/>
          <p:nvPr/>
        </p:nvSpPr>
        <p:spPr>
          <a:xfrm>
            <a:off x="4038600" y="24892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DIKW 위계 (Data~Wisdom)</a:t>
            </a:r>
          </a:p>
        </p:txBody>
      </p:sp>
      <p:sp>
        <p:nvSpPr>
          <p:cNvPr id="122" name="Text122"/>
          <p:cNvSpPr txBox="1"/>
          <p:nvPr/>
        </p:nvSpPr>
        <p:spPr>
          <a:xfrm>
            <a:off x="4038600" y="26797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의존도 = 손실 위험도 평가</a:t>
            </a:r>
          </a:p>
        </p:txBody>
      </p:sp>
      <p:sp>
        <p:nvSpPr>
          <p:cNvPr id="123" name="Shape123"/>
          <p:cNvSpPr/>
          <p:nvPr/>
        </p:nvSpPr>
        <p:spPr>
          <a:xfrm>
            <a:off x="546100" y="3276600"/>
            <a:ext cx="31877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124"/>
          <p:cNvSpPr/>
          <p:nvPr/>
        </p:nvSpPr>
        <p:spPr>
          <a:xfrm>
            <a:off x="546100" y="3276600"/>
            <a:ext cx="50800" cy="1397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125"/>
          <p:cNvSpPr txBox="1"/>
          <p:nvPr/>
        </p:nvSpPr>
        <p:spPr>
          <a:xfrm>
            <a:off x="749300" y="3403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8B9A3F"/>
                </a:solidFill>
              </a:rPr>
              <a:t>Step 3</a:t>
            </a:r>
          </a:p>
        </p:txBody>
      </p:sp>
      <p:sp>
        <p:nvSpPr>
          <p:cNvPr id="126" name="Text126"/>
          <p:cNvSpPr txBox="1"/>
          <p:nvPr/>
        </p:nvSpPr>
        <p:spPr>
          <a:xfrm>
            <a:off x="749300" y="3632200"/>
            <a:ext cx="2781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디지털화 현황 점검</a:t>
            </a:r>
          </a:p>
        </p:txBody>
      </p:sp>
      <p:sp>
        <p:nvSpPr>
          <p:cNvPr id="127" name="Text127"/>
          <p:cNvSpPr txBox="1"/>
          <p:nvPr/>
        </p:nvSpPr>
        <p:spPr>
          <a:xfrm>
            <a:off x="749300" y="39878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이미 디지털화 / 진행 중 / 미디지털화</a:t>
            </a:r>
          </a:p>
        </p:txBody>
      </p:sp>
      <p:sp>
        <p:nvSpPr>
          <p:cNvPr id="128" name="Text128"/>
          <p:cNvSpPr txBox="1"/>
          <p:nvPr/>
        </p:nvSpPr>
        <p:spPr>
          <a:xfrm>
            <a:off x="749300" y="41783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(종이·머릿속) 3구간으로 표시</a:t>
            </a:r>
          </a:p>
        </p:txBody>
      </p:sp>
      <p:sp>
        <p:nvSpPr>
          <p:cNvPr id="129" name="Shape129"/>
          <p:cNvSpPr/>
          <p:nvPr/>
        </p:nvSpPr>
        <p:spPr>
          <a:xfrm>
            <a:off x="3835400" y="3276600"/>
            <a:ext cx="31877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130"/>
          <p:cNvSpPr/>
          <p:nvPr/>
        </p:nvSpPr>
        <p:spPr>
          <a:xfrm>
            <a:off x="3835400" y="3276600"/>
            <a:ext cx="50800" cy="1397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131"/>
          <p:cNvSpPr txBox="1"/>
          <p:nvPr/>
        </p:nvSpPr>
        <p:spPr>
          <a:xfrm>
            <a:off x="4038600" y="3403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0F3A2E"/>
                </a:solidFill>
              </a:rPr>
              <a:t>Step 4</a:t>
            </a:r>
          </a:p>
        </p:txBody>
      </p:sp>
      <p:sp>
        <p:nvSpPr>
          <p:cNvPr id="132" name="Text132"/>
          <p:cNvSpPr txBox="1"/>
          <p:nvPr/>
        </p:nvSpPr>
        <p:spPr>
          <a:xfrm>
            <a:off x="4038600" y="3632200"/>
            <a:ext cx="2781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우선순위 표시</a:t>
            </a:r>
          </a:p>
        </p:txBody>
      </p:sp>
      <p:sp>
        <p:nvSpPr>
          <p:cNvPr id="133" name="Text133"/>
          <p:cNvSpPr txBox="1"/>
          <p:nvPr/>
        </p:nvSpPr>
        <p:spPr>
          <a:xfrm>
            <a:off x="4038600" y="39878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1순위: 손실 위험 高 + 가치 高</a:t>
            </a:r>
          </a:p>
        </p:txBody>
      </p:sp>
      <p:sp>
        <p:nvSpPr>
          <p:cNvPr id="134" name="Text134"/>
          <p:cNvSpPr txBox="1"/>
          <p:nvPr/>
        </p:nvSpPr>
        <p:spPr>
          <a:xfrm>
            <a:off x="4038600" y="41783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2순위: 손실 위험 高 + 가치 中</a:t>
            </a:r>
          </a:p>
        </p:txBody>
      </p:sp>
      <p:sp>
        <p:nvSpPr>
          <p:cNvPr id="135" name="Text135"/>
          <p:cNvSpPr txBox="1"/>
          <p:nvPr/>
        </p:nvSpPr>
        <p:spPr>
          <a:xfrm>
            <a:off x="4038600" y="4368800"/>
            <a:ext cx="2781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3순위: 손실 위험 低 + 가치 高</a:t>
            </a:r>
          </a:p>
        </p:txBody>
      </p:sp>
      <p:sp>
        <p:nvSpPr>
          <p:cNvPr id="136" name="Text136"/>
          <p:cNvSpPr txBox="1"/>
          <p:nvPr/>
        </p:nvSpPr>
        <p:spPr>
          <a:xfrm>
            <a:off x="546100" y="4927600"/>
            <a:ext cx="647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 </a:t>
            </a:r>
            <a:r>
              <a:rPr lang="en-US" sz="1300" b="1" dirty="0">
                <a:solidFill>
                  <a:srgbClr val="2C2C2C"/>
                </a:solidFill>
              </a:rPr>
              <a:t>워크시트 양식</a:t>
            </a:r>
            <a:r>
              <a:rPr lang="en-US" sz="1000" dirty="0">
                <a:solidFill>
                  <a:srgbClr val="6B6B6B"/>
                </a:solidFill>
              </a:rPr>
              <a:t>  —  자기 직무 기준으로 작성하여 PART 02 입실 전까지 제출</a:t>
            </a:r>
          </a:p>
        </p:txBody>
      </p:sp>
      <p:sp>
        <p:nvSpPr>
          <p:cNvPr id="137" name="Shape137"/>
          <p:cNvSpPr/>
          <p:nvPr/>
        </p:nvSpPr>
        <p:spPr>
          <a:xfrm>
            <a:off x="546100" y="5270500"/>
            <a:ext cx="6477000" cy="3302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138"/>
          <p:cNvSpPr txBox="1"/>
          <p:nvPr/>
        </p:nvSpPr>
        <p:spPr>
          <a:xfrm>
            <a:off x="546100" y="5334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자산명</a:t>
            </a:r>
          </a:p>
        </p:txBody>
      </p:sp>
      <p:sp>
        <p:nvSpPr>
          <p:cNvPr id="139" name="Text139"/>
          <p:cNvSpPr txBox="1"/>
          <p:nvPr/>
        </p:nvSpPr>
        <p:spPr>
          <a:xfrm>
            <a:off x="2070100" y="5334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형태</a:t>
            </a:r>
          </a:p>
        </p:txBody>
      </p:sp>
      <p:sp>
        <p:nvSpPr>
          <p:cNvPr id="140" name="Text140"/>
          <p:cNvSpPr txBox="1"/>
          <p:nvPr/>
        </p:nvSpPr>
        <p:spPr>
          <a:xfrm>
            <a:off x="2895600" y="5334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DIKW</a:t>
            </a:r>
          </a:p>
        </p:txBody>
      </p:sp>
      <p:sp>
        <p:nvSpPr>
          <p:cNvPr id="141" name="Text141"/>
          <p:cNvSpPr txBox="1"/>
          <p:nvPr/>
        </p:nvSpPr>
        <p:spPr>
          <a:xfrm>
            <a:off x="3721100" y="53340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손실 위험</a:t>
            </a:r>
          </a:p>
        </p:txBody>
      </p:sp>
      <p:sp>
        <p:nvSpPr>
          <p:cNvPr id="142" name="Text142"/>
          <p:cNvSpPr txBox="1"/>
          <p:nvPr/>
        </p:nvSpPr>
        <p:spPr>
          <a:xfrm>
            <a:off x="4737100" y="5334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디지털화</a:t>
            </a:r>
          </a:p>
        </p:txBody>
      </p:sp>
      <p:sp>
        <p:nvSpPr>
          <p:cNvPr id="143" name="Text143"/>
          <p:cNvSpPr txBox="1"/>
          <p:nvPr/>
        </p:nvSpPr>
        <p:spPr>
          <a:xfrm>
            <a:off x="5880100" y="5334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50" dirty="0">
                <a:solidFill>
                  <a:srgbClr val="FFFFFF"/>
                </a:solidFill>
              </a:rPr>
              <a:t>우선순위</a:t>
            </a:r>
          </a:p>
        </p:txBody>
      </p:sp>
      <p:sp>
        <p:nvSpPr>
          <p:cNvPr id="144" name="Shape144"/>
          <p:cNvSpPr/>
          <p:nvPr/>
        </p:nvSpPr>
        <p:spPr>
          <a:xfrm>
            <a:off x="546100" y="5600700"/>
            <a:ext cx="6477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145"/>
          <p:cNvSpPr txBox="1"/>
          <p:nvPr/>
        </p:nvSpPr>
        <p:spPr>
          <a:xfrm>
            <a:off x="647700" y="5638800"/>
            <a:ext cx="142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베테랑 정비사 인터뷰</a:t>
            </a:r>
          </a:p>
        </p:txBody>
      </p:sp>
      <p:sp>
        <p:nvSpPr>
          <p:cNvPr id="146" name="Text146"/>
          <p:cNvSpPr txBox="1"/>
          <p:nvPr/>
        </p:nvSpPr>
        <p:spPr>
          <a:xfrm>
            <a:off x="2070100" y="56388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음성</a:t>
            </a:r>
          </a:p>
        </p:txBody>
      </p:sp>
      <p:sp>
        <p:nvSpPr>
          <p:cNvPr id="147" name="Text147"/>
          <p:cNvSpPr txBox="1"/>
          <p:nvPr/>
        </p:nvSpPr>
        <p:spPr>
          <a:xfrm>
            <a:off x="2895600" y="56388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Wisdom</a:t>
            </a:r>
          </a:p>
        </p:txBody>
      </p:sp>
      <p:sp>
        <p:nvSpPr>
          <p:cNvPr id="148" name="Text148"/>
          <p:cNvSpPr txBox="1"/>
          <p:nvPr/>
        </p:nvSpPr>
        <p:spPr>
          <a:xfrm>
            <a:off x="3721100" y="5638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영구</a:t>
            </a:r>
          </a:p>
        </p:txBody>
      </p:sp>
      <p:sp>
        <p:nvSpPr>
          <p:cNvPr id="149" name="Text149"/>
          <p:cNvSpPr txBox="1"/>
          <p:nvPr/>
        </p:nvSpPr>
        <p:spPr>
          <a:xfrm>
            <a:off x="4737100" y="56388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0%</a:t>
            </a:r>
          </a:p>
        </p:txBody>
      </p:sp>
      <p:sp>
        <p:nvSpPr>
          <p:cNvPr id="150" name="Text150"/>
          <p:cNvSpPr txBox="1"/>
          <p:nvPr/>
        </p:nvSpPr>
        <p:spPr>
          <a:xfrm>
            <a:off x="5880100" y="56388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1순위</a:t>
            </a:r>
          </a:p>
        </p:txBody>
      </p:sp>
      <p:sp>
        <p:nvSpPr>
          <p:cNvPr id="151" name="Shape151"/>
          <p:cNvSpPr/>
          <p:nvPr/>
        </p:nvSpPr>
        <p:spPr>
          <a:xfrm>
            <a:off x="546100" y="5880100"/>
            <a:ext cx="6477000" cy="279400"/>
          </a:xfrm>
          <a:prstGeom prst="rect">
            <a:avLst/>
          </a:prstGeom>
          <a:solidFill>
            <a:srgbClr val="F5F5F5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152"/>
          <p:cNvSpPr txBox="1"/>
          <p:nvPr/>
        </p:nvSpPr>
        <p:spPr>
          <a:xfrm>
            <a:off x="647700" y="5918200"/>
            <a:ext cx="142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정비 이력 DB</a:t>
            </a:r>
          </a:p>
        </p:txBody>
      </p:sp>
      <p:sp>
        <p:nvSpPr>
          <p:cNvPr id="153" name="Text153"/>
          <p:cNvSpPr txBox="1"/>
          <p:nvPr/>
        </p:nvSpPr>
        <p:spPr>
          <a:xfrm>
            <a:off x="2070100" y="59182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표</a:t>
            </a:r>
          </a:p>
        </p:txBody>
      </p:sp>
      <p:sp>
        <p:nvSpPr>
          <p:cNvPr id="154" name="Text154"/>
          <p:cNvSpPr txBox="1"/>
          <p:nvPr/>
        </p:nvSpPr>
        <p:spPr>
          <a:xfrm>
            <a:off x="2895600" y="59182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Knowledge</a:t>
            </a:r>
          </a:p>
        </p:txBody>
      </p:sp>
      <p:sp>
        <p:nvSpPr>
          <p:cNvPr id="155" name="Text155"/>
          <p:cNvSpPr txBox="1"/>
          <p:nvPr/>
        </p:nvSpPr>
        <p:spPr>
          <a:xfrm>
            <a:off x="3721100" y="5918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낮음</a:t>
            </a:r>
          </a:p>
        </p:txBody>
      </p:sp>
      <p:sp>
        <p:nvSpPr>
          <p:cNvPr id="156" name="Text156"/>
          <p:cNvSpPr txBox="1"/>
          <p:nvPr/>
        </p:nvSpPr>
        <p:spPr>
          <a:xfrm>
            <a:off x="4737100" y="5918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80%</a:t>
            </a:r>
          </a:p>
        </p:txBody>
      </p:sp>
      <p:sp>
        <p:nvSpPr>
          <p:cNvPr id="157" name="Text157"/>
          <p:cNvSpPr txBox="1"/>
          <p:nvPr/>
        </p:nvSpPr>
        <p:spPr>
          <a:xfrm>
            <a:off x="5880100" y="5918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1순위</a:t>
            </a:r>
          </a:p>
        </p:txBody>
      </p:sp>
      <p:sp>
        <p:nvSpPr>
          <p:cNvPr id="158" name="Shape158"/>
          <p:cNvSpPr/>
          <p:nvPr/>
        </p:nvSpPr>
        <p:spPr>
          <a:xfrm>
            <a:off x="546100" y="6159500"/>
            <a:ext cx="6477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159"/>
          <p:cNvSpPr txBox="1"/>
          <p:nvPr/>
        </p:nvSpPr>
        <p:spPr>
          <a:xfrm>
            <a:off x="647700" y="6197600"/>
            <a:ext cx="142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결함 사진 (현장)</a:t>
            </a:r>
          </a:p>
        </p:txBody>
      </p:sp>
      <p:sp>
        <p:nvSpPr>
          <p:cNvPr id="160" name="Text160"/>
          <p:cNvSpPr txBox="1"/>
          <p:nvPr/>
        </p:nvSpPr>
        <p:spPr>
          <a:xfrm>
            <a:off x="2070100" y="61976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이미지</a:t>
            </a:r>
          </a:p>
        </p:txBody>
      </p:sp>
      <p:sp>
        <p:nvSpPr>
          <p:cNvPr id="161" name="Text161"/>
          <p:cNvSpPr txBox="1"/>
          <p:nvPr/>
        </p:nvSpPr>
        <p:spPr>
          <a:xfrm>
            <a:off x="2895600" y="6197600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Information</a:t>
            </a:r>
          </a:p>
        </p:txBody>
      </p:sp>
      <p:sp>
        <p:nvSpPr>
          <p:cNvPr id="162" name="Text162"/>
          <p:cNvSpPr txBox="1"/>
          <p:nvPr/>
        </p:nvSpPr>
        <p:spPr>
          <a:xfrm>
            <a:off x="3721100" y="6197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중간</a:t>
            </a:r>
          </a:p>
        </p:txBody>
      </p:sp>
      <p:sp>
        <p:nvSpPr>
          <p:cNvPr id="163" name="Text163"/>
          <p:cNvSpPr txBox="1"/>
          <p:nvPr/>
        </p:nvSpPr>
        <p:spPr>
          <a:xfrm>
            <a:off x="4737100" y="61976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20%</a:t>
            </a:r>
          </a:p>
        </p:txBody>
      </p:sp>
      <p:sp>
        <p:nvSpPr>
          <p:cNvPr id="164" name="Text164"/>
          <p:cNvSpPr txBox="1"/>
          <p:nvPr/>
        </p:nvSpPr>
        <p:spPr>
          <a:xfrm>
            <a:off x="5880100" y="61976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8B9A3F"/>
                </a:solidFill>
              </a:rPr>
              <a:t>2순위</a:t>
            </a:r>
          </a:p>
        </p:txBody>
      </p:sp>
      <p:sp>
        <p:nvSpPr>
          <p:cNvPr id="165" name="Shape165"/>
          <p:cNvSpPr/>
          <p:nvPr/>
        </p:nvSpPr>
        <p:spPr>
          <a:xfrm>
            <a:off x="546100" y="6438900"/>
            <a:ext cx="6477000" cy="279400"/>
          </a:xfrm>
          <a:prstGeom prst="rect">
            <a:avLst/>
          </a:prstGeom>
          <a:solidFill>
            <a:srgbClr val="F5F5F5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166"/>
          <p:cNvSpPr/>
          <p:nvPr/>
        </p:nvSpPr>
        <p:spPr>
          <a:xfrm>
            <a:off x="546100" y="6718300"/>
            <a:ext cx="6477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ipBox"/>
          <p:cNvSpPr/>
          <p:nvPr/>
        </p:nvSpPr>
        <p:spPr>
          <a:xfrm>
            <a:off x="546100" y="7150100"/>
            <a:ext cx="6477000" cy="6858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168"/>
          <p:cNvSpPr txBox="1"/>
          <p:nvPr/>
        </p:nvSpPr>
        <p:spPr>
          <a:xfrm>
            <a:off x="698500" y="7251700"/>
            <a:ext cx="61722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spc="80" dirty="0">
                <a:solidFill>
                  <a:srgbClr val="E8632C"/>
                </a:solidFill>
              </a:rPr>
              <a:t>작성 가이드</a:t>
            </a:r>
          </a:p>
        </p:txBody>
      </p:sp>
      <p:sp>
        <p:nvSpPr>
          <p:cNvPr id="169" name="Text169"/>
          <p:cNvSpPr txBox="1"/>
          <p:nvPr/>
        </p:nvSpPr>
        <p:spPr>
          <a:xfrm>
            <a:off x="698500" y="7505700"/>
            <a:ext cx="6172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손실 위험이 높은 </a:t>
            </a:r>
            <a:r>
              <a:rPr lang="en-US" sz="1000" b="1" dirty="0">
                <a:solidFill>
                  <a:srgbClr val="E8632C"/>
                </a:solidFill>
              </a:rPr>
              <a:t>베테랑 노하우(★)</a:t>
            </a:r>
            <a:r>
              <a:rPr lang="en-US" sz="1000" dirty="0">
                <a:solidFill>
                  <a:srgbClr val="2C2C2C"/>
                </a:solidFill>
              </a:rPr>
              <a:t>부터 인벤토리에 올려라 — 베테랑 은퇴/이직 시 영구 손실되는 자산이 </a:t>
            </a:r>
            <a:r>
              <a:rPr lang="en-US" sz="1000" b="1" dirty="0">
                <a:solidFill>
                  <a:srgbClr val="E8632C"/>
                </a:solidFill>
              </a:rPr>
              <a:t>1순위</a:t>
            </a:r>
            <a:r>
              <a:rPr lang="en-US" sz="1000" dirty="0">
                <a:solidFill>
                  <a:srgbClr val="2C2C2C"/>
                </a:solidFill>
              </a:rPr>
              <a:t> 자산이다.</a:t>
            </a:r>
          </a:p>
        </p:txBody>
      </p:sp>
      <p:sp>
        <p:nvSpPr>
          <p:cNvPr id="170" name="DeliverableBox"/>
          <p:cNvSpPr/>
          <p:nvPr/>
        </p:nvSpPr>
        <p:spPr>
          <a:xfrm>
            <a:off x="546100" y="8763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171"/>
          <p:cNvSpPr txBox="1"/>
          <p:nvPr/>
        </p:nvSpPr>
        <p:spPr>
          <a:xfrm>
            <a:off x="762000" y="88900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실습 1-1 산출물</a:t>
            </a:r>
          </a:p>
        </p:txBody>
      </p:sp>
      <p:sp>
        <p:nvSpPr>
          <p:cNvPr id="172" name="Text172"/>
          <p:cNvSpPr txBox="1"/>
          <p:nvPr/>
        </p:nvSpPr>
        <p:spPr>
          <a:xfrm>
            <a:off x="762000" y="91821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✓ </a:t>
            </a:r>
            <a:r>
              <a:rPr lang="en-US" sz="1100" dirty="0">
                <a:solidFill>
                  <a:srgbClr val="FFFFFF"/>
                </a:solidFill>
              </a:rPr>
              <a:t>자기 직무 기준 데이터 자산 인벤토리 (최소 10개 항목)</a:t>
            </a:r>
          </a:p>
        </p:txBody>
      </p:sp>
      <p:sp>
        <p:nvSpPr>
          <p:cNvPr id="173" name="Text173"/>
          <p:cNvSpPr txBox="1"/>
          <p:nvPr/>
        </p:nvSpPr>
        <p:spPr>
          <a:xfrm>
            <a:off x="762000" y="94107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✓ </a:t>
            </a:r>
            <a:r>
              <a:rPr lang="en-US" sz="1100" dirty="0">
                <a:solidFill>
                  <a:srgbClr val="FFFFFF"/>
                </a:solidFill>
              </a:rPr>
              <a:t>각 자산의 DIKW 위계 + 손실 위험 + 디지털화 현황 평가</a:t>
            </a:r>
          </a:p>
        </p:txBody>
      </p:sp>
      <p:sp>
        <p:nvSpPr>
          <p:cNvPr id="174" name="Text174"/>
          <p:cNvSpPr txBox="1"/>
          <p:nvPr/>
        </p:nvSpPr>
        <p:spPr>
          <a:xfrm>
            <a:off x="762000" y="9639300"/>
            <a:ext cx="609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✓ </a:t>
            </a:r>
            <a:r>
              <a:rPr lang="en-US" sz="1100" dirty="0">
                <a:solidFill>
                  <a:srgbClr val="FFFFFF"/>
                </a:solidFill>
              </a:rPr>
              <a:t>우선순위(1~3순위) 표시 — DAY 2 수집 실습 시 활용</a:t>
            </a:r>
          </a:p>
        </p:txBody>
      </p:sp>
      <p:sp>
        <p:nvSpPr>
          <p:cNvPr id="175" name="Shape17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17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7" name="Text17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8" name="Shape17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17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18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18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SidebarStrip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idebarChip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SidebarVertText"/>
          <p:cNvSpPr txBox="1"/>
          <p:nvPr/>
        </p:nvSpPr>
        <p:spPr>
          <a:xfrm rot="16200000">
            <a:off x="101600" y="3175000"/>
            <a:ext cx="139700" cy="2044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실습 1-1</a:t>
            </a:r>
          </a:p>
        </p:txBody>
      </p:sp>
    </p:spTree>
    <p:extLst>
      <p:ext uri="{BB962C8B-B14F-4D97-AF65-F5344CB8AC3E}">
        <p14:creationId xmlns:p14="http://schemas.microsoft.com/office/powerpoint/2010/main" val="1074468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idebarStrip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idebarChip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idebarVertText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Chapter 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2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건설기계 산업의 데이터 자산 — 무엇이 자산인가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2733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데이터는 5가지 형태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603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텍스트 · 표 · 이미지 · 음성 · 영상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9083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텍스트만이 데이터가 아니다 — 모든 형태가 자산화 가능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8608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데이터의 가치 위계 — DIKW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910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Data → Information → Knowledge → Wisdom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958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단순 수집이 아닌 지혜로 발전시키는 것이 자산화의 목표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4483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인벤토리 작성이 자산화의 출발점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78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모든 직무에 데이터 자산이 존재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833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자기 직무의 데이터 자산을 식별하지 못하면 디지털화도 불가능</a:t>
            </a:r>
          </a:p>
        </p:txBody>
      </p:sp>
      <p:sp>
        <p:nvSpPr>
          <p:cNvPr id="127" name="MsgBox"/>
          <p:cNvSpPr/>
          <p:nvPr/>
        </p:nvSpPr>
        <p:spPr>
          <a:xfrm>
            <a:off x="546100" y="6858000"/>
            <a:ext cx="6477000" cy="228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MsgAccent"/>
          <p:cNvSpPr/>
          <p:nvPr/>
        </p:nvSpPr>
        <p:spPr>
          <a:xfrm>
            <a:off x="546100" y="6858000"/>
            <a:ext cx="76200" cy="228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자기 직무의 데이터 자산을 식별하지 못하면 </a:t>
            </a:r>
            <a:r>
              <a:rPr lang="en-US" sz="1500" b="1" dirty="0">
                <a:solidFill>
                  <a:srgbClr val="F4B400"/>
                </a:solidFill>
              </a:rPr>
              <a:t>디지털화도 불가능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인벤토리 작성이 자산화의 첫 걸음이다.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1117600" y="8585200"/>
            <a:ext cx="5511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"무엇이 우리의 데이터 자산인지 — 그 답을 갖는 것이 시작이다."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37" name="S13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58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PART 01 · DAY 1 · CHAPTER 3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디지털 전환과 데이터 가치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270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Digital Transformation &amp; Data Value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"왜 지금 데이터 자산화인가?" — 글로벌과 국내의 답변을 살펴본다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디지털 전환과 데이터 가치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글로벌 사례 — Caterpillar Cat Connect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국내 사례 — 두산-NVIDIA PAI · 현대건설 AI 비서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자사 시사점 도출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93345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1460500" y="93345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2032000" y="93345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2603500" y="93345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7" name="T105"/>
          <p:cNvSpPr txBox="1"/>
          <p:nvPr/>
        </p:nvSpPr>
        <p:spPr>
          <a:xfrm>
            <a:off x="546100" y="5461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200" dirty="0">
                <a:solidFill>
                  <a:srgbClr val="BBBBBB"/>
                </a:solidFill>
              </a:rPr>
              <a:t>PART 01 · DAY 1</a:t>
            </a:r>
          </a:p>
        </p:txBody>
      </p:sp>
      <p:sp>
        <p:nvSpPr>
          <p:cNvPr id="8" name="T106"/>
          <p:cNvSpPr txBox="1"/>
          <p:nvPr/>
        </p:nvSpPr>
        <p:spPr>
          <a:xfrm>
            <a:off x="952500" y="20955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9" name="T107"/>
          <p:cNvSpPr txBox="1"/>
          <p:nvPr/>
        </p:nvSpPr>
        <p:spPr>
          <a:xfrm>
            <a:off x="889000" y="2349500"/>
            <a:ext cx="3175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디지털 전환과 데이터 가치</a:t>
            </a:r>
          </a:p>
        </p:txBody>
      </p:sp>
      <p:sp>
        <p:nvSpPr>
          <p:cNvPr id="12" name="T110"/>
          <p:cNvSpPr txBox="1"/>
          <p:nvPr/>
        </p:nvSpPr>
        <p:spPr>
          <a:xfrm>
            <a:off x="889000" y="5270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Digital Transformation &amp; Data Value</a:t>
            </a:r>
          </a:p>
        </p:txBody>
      </p:sp>
      <p:sp>
        <p:nvSpPr>
          <p:cNvPr id="13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"왜 지금 데이터 자산화인가?" — 글로벌과 국내의 답변</a:t>
            </a:r>
          </a:p>
        </p:txBody>
      </p:sp>
      <p:sp>
        <p:nvSpPr>
          <p:cNvPr id="14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7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디지털 전환과 데이터 가치</a:t>
            </a:r>
          </a:p>
        </p:txBody>
      </p:sp>
      <p:sp>
        <p:nvSpPr>
          <p:cNvPr id="18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20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글로벌 사례 — Caterpillar Cat Connect</a:t>
            </a:r>
          </a:p>
        </p:txBody>
      </p:sp>
      <p:sp>
        <p:nvSpPr>
          <p:cNvPr id="21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23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국내 사례 — 두산-NVIDIA · 현대건설 AI 비서</a:t>
            </a:r>
          </a:p>
        </p:txBody>
      </p:sp>
      <p:sp>
        <p:nvSpPr>
          <p:cNvPr id="24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26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자사 시사점 도출</a:t>
            </a:r>
          </a:p>
        </p:txBody>
      </p:sp>
      <p:sp>
        <p:nvSpPr>
          <p:cNvPr id="27" name="S125"/>
          <p:cNvSpPr/>
          <p:nvPr/>
        </p:nvSpPr>
        <p:spPr>
          <a:xfrm>
            <a:off x="889000" y="93345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S126"/>
          <p:cNvSpPr/>
          <p:nvPr/>
        </p:nvSpPr>
        <p:spPr>
          <a:xfrm>
            <a:off x="1460500" y="93345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127"/>
          <p:cNvSpPr/>
          <p:nvPr/>
        </p:nvSpPr>
        <p:spPr>
          <a:xfrm>
            <a:off x="2032000" y="93345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128"/>
          <p:cNvSpPr/>
          <p:nvPr/>
        </p:nvSpPr>
        <p:spPr>
          <a:xfrm>
            <a:off x="2603500" y="93345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129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021 —</a:t>
            </a:r>
          </a:p>
        </p:txBody>
      </p:sp>
    </p:spTree>
    <p:extLst>
      <p:ext uri="{BB962C8B-B14F-4D97-AF65-F5344CB8AC3E}">
        <p14:creationId xmlns:p14="http://schemas.microsoft.com/office/powerpoint/2010/main" val="801692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DX 시대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디지털 전환(DX) 시대 — "데이터는 새로운 석유"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→ 디지털 전환 → 트랜스포메이션의 3단계 발전</a:t>
            </a:r>
          </a:p>
        </p:txBody>
      </p:sp>
      <p:sp>
        <p:nvSpPr>
          <p:cNvPr id="109" name="S109"/>
          <p:cNvSpPr/>
          <p:nvPr/>
        </p:nvSpPr>
        <p:spPr>
          <a:xfrm>
            <a:off x="5969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96900" y="2032000"/>
            <a:ext cx="2082800" cy="508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596900" y="2032000"/>
            <a:ext cx="20828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493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493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8B9A3F"/>
                </a:solidFill>
              </a:rPr>
              <a:t>Digitization</a:t>
            </a:r>
          </a:p>
        </p:txBody>
      </p:sp>
      <p:sp>
        <p:nvSpPr>
          <p:cNvPr id="114" name="S114"/>
          <p:cNvSpPr/>
          <p:nvPr/>
        </p:nvSpPr>
        <p:spPr>
          <a:xfrm>
            <a:off x="749300" y="3365500"/>
            <a:ext cx="381000" cy="25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749300" y="34925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종이·아날로그를 디지털 형태로</a:t>
            </a:r>
          </a:p>
        </p:txBody>
      </p:sp>
      <p:sp>
        <p:nvSpPr>
          <p:cNvPr id="116" name="S116"/>
          <p:cNvSpPr/>
          <p:nvPr/>
        </p:nvSpPr>
        <p:spPr>
          <a:xfrm>
            <a:off x="749300" y="4254500"/>
            <a:ext cx="1778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25500" y="43180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8B9A3F"/>
                </a:solidFill>
              </a:rPr>
              <a:t>예시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825500" y="45085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종이 매뉴얼 → PDF 매뉴얼</a:t>
            </a:r>
          </a:p>
        </p:txBody>
      </p:sp>
      <p:sp>
        <p:nvSpPr>
          <p:cNvPr id="119" name="S119"/>
          <p:cNvSpPr/>
          <p:nvPr/>
        </p:nvSpPr>
        <p:spPr>
          <a:xfrm>
            <a:off x="27305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730500" y="2032000"/>
            <a:ext cx="2082800" cy="50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2730500" y="2032000"/>
            <a:ext cx="20828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8829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디지털 전환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8829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F4B400"/>
                </a:solidFill>
              </a:rPr>
              <a:t>Digitalization</a:t>
            </a:r>
          </a:p>
        </p:txBody>
      </p:sp>
      <p:sp>
        <p:nvSpPr>
          <p:cNvPr id="124" name="S124"/>
          <p:cNvSpPr/>
          <p:nvPr/>
        </p:nvSpPr>
        <p:spPr>
          <a:xfrm>
            <a:off x="2882900" y="3365500"/>
            <a:ext cx="381000" cy="25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2882900" y="34925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데이터로 업무 프로세스 변화</a:t>
            </a:r>
          </a:p>
        </p:txBody>
      </p:sp>
      <p:sp>
        <p:nvSpPr>
          <p:cNvPr id="126" name="S126"/>
          <p:cNvSpPr/>
          <p:nvPr/>
        </p:nvSpPr>
        <p:spPr>
          <a:xfrm>
            <a:off x="2882900" y="4254500"/>
            <a:ext cx="1778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2959100" y="43180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F4B400"/>
                </a:solidFill>
              </a:rPr>
              <a:t>예시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959100" y="45085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PDF → 검색 가능 매뉴얼 + AI 어시스턴트</a:t>
            </a:r>
          </a:p>
        </p:txBody>
      </p:sp>
      <p:sp>
        <p:nvSpPr>
          <p:cNvPr id="129" name="S129"/>
          <p:cNvSpPr/>
          <p:nvPr/>
        </p:nvSpPr>
        <p:spPr>
          <a:xfrm>
            <a:off x="48768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4876800" y="2032000"/>
            <a:ext cx="2082800" cy="50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4876800" y="2032000"/>
            <a:ext cx="20828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0292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트랜스포메이션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50292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E8632C"/>
                </a:solidFill>
              </a:rPr>
              <a:t>Transformation</a:t>
            </a:r>
          </a:p>
        </p:txBody>
      </p:sp>
      <p:sp>
        <p:nvSpPr>
          <p:cNvPr id="134" name="S134"/>
          <p:cNvSpPr/>
          <p:nvPr/>
        </p:nvSpPr>
        <p:spPr>
          <a:xfrm>
            <a:off x="5029200" y="3365500"/>
            <a:ext cx="381000" cy="25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5029200" y="34925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데이터 기반 사업 모델·조직 혁신</a:t>
            </a:r>
          </a:p>
        </p:txBody>
      </p:sp>
      <p:sp>
        <p:nvSpPr>
          <p:cNvPr id="136" name="S136"/>
          <p:cNvSpPr/>
          <p:nvPr/>
        </p:nvSpPr>
        <p:spPr>
          <a:xfrm>
            <a:off x="5029200" y="4254500"/>
            <a:ext cx="1778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5105400" y="43180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E8632C"/>
                </a:solidFill>
              </a:rPr>
              <a:t>예시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5105400" y="45085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매뉴얼 어시스턴트 → 정비 서비스 사업화</a:t>
            </a:r>
          </a:p>
        </p:txBody>
      </p:sp>
      <p:sp>
        <p:nvSpPr>
          <p:cNvPr id="139" name="S139"/>
          <p:cNvSpPr/>
          <p:nvPr/>
        </p:nvSpPr>
        <p:spPr>
          <a:xfrm>
            <a:off x="2603500" y="3403600"/>
            <a:ext cx="165100" cy="177800"/>
          </a:xfrm>
          <a:prstGeom prst="rightArrow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749800" y="3403600"/>
            <a:ext cx="165100" cy="177800"/>
          </a:xfrm>
          <a:prstGeom prst="rightArrow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46100" y="52705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5461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현재 건설기계 산업 위치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762000" y="58166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글로벌 선도사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3556000" y="58166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2 ~ 3 단계 진입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60960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국내 대기업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3556000" y="60960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1 ~ 2 단계 진입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762000" y="63754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중견·중소기업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3556000" y="63754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0 ~ 1 단계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6985000"/>
            <a:ext cx="64770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69850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0F3A2E"/>
                </a:solidFill>
              </a:rPr>
              <a:t>기회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7493000"/>
            <a:ext cx="5892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F3A2E"/>
                </a:solidFill>
              </a:rPr>
              <a:t>빠른 디지털 자산화 = </a:t>
            </a:r>
            <a:r>
              <a:rPr lang="en-US" sz="1500" b="1" dirty="0">
                <a:solidFill>
                  <a:srgbClr val="E8632C"/>
                </a:solidFill>
              </a:rPr>
              <a:t>2~3년 안에 글로벌 경쟁력 확보 가능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27100" y="784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0F3A2E"/>
                </a:solidFill>
              </a:rPr>
              <a:t>건설기계 산업의 데이터 자산화는 지금이 골든 타임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889000" y="8636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dirty="0">
                <a:solidFill>
                  <a:srgbClr val="6B6B6B"/>
                </a:solidFill>
              </a:rPr>
              <a:t>"데이터는 새로운 석유" — Clive Humby (2006)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889000" y="90170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단, 정제(refining) 과정 없이는 가치를 만들지 못한다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9" name="S15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DX 시대</a:t>
            </a:r>
          </a:p>
        </p:txBody>
      </p:sp>
      <p:sp>
        <p:nvSpPr>
          <p:cNvPr id="6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7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8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디지털 전환(DX) 시대 — 데이터는 새로운 석유</a:t>
            </a:r>
          </a:p>
        </p:txBody>
      </p:sp>
      <p:sp>
        <p:nvSpPr>
          <p:cNvPr id="10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→ 디지털 전환 → 트랜스포메이션의 3단계 발전</a:t>
            </a:r>
          </a:p>
        </p:txBody>
      </p:sp>
      <p:sp>
        <p:nvSpPr>
          <p:cNvPr id="11" name="S109"/>
          <p:cNvSpPr/>
          <p:nvPr/>
        </p:nvSpPr>
        <p:spPr>
          <a:xfrm>
            <a:off x="5969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110"/>
          <p:cNvSpPr/>
          <p:nvPr/>
        </p:nvSpPr>
        <p:spPr>
          <a:xfrm>
            <a:off x="596900" y="2032000"/>
            <a:ext cx="20828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111"/>
          <p:cNvSpPr txBox="1"/>
          <p:nvPr/>
        </p:nvSpPr>
        <p:spPr>
          <a:xfrm>
            <a:off x="596900" y="2032000"/>
            <a:ext cx="20828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4" name="T112"/>
          <p:cNvSpPr txBox="1"/>
          <p:nvPr/>
        </p:nvSpPr>
        <p:spPr>
          <a:xfrm>
            <a:off x="7493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15" name="T113"/>
          <p:cNvSpPr txBox="1"/>
          <p:nvPr/>
        </p:nvSpPr>
        <p:spPr>
          <a:xfrm>
            <a:off x="7493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8B9A3F"/>
                </a:solidFill>
              </a:rPr>
              <a:t>Digitization</a:t>
            </a:r>
          </a:p>
        </p:txBody>
      </p:sp>
      <p:sp>
        <p:nvSpPr>
          <p:cNvPr id="16" name="S114"/>
          <p:cNvSpPr/>
          <p:nvPr/>
        </p:nvSpPr>
        <p:spPr>
          <a:xfrm>
            <a:off x="749300" y="3390900"/>
            <a:ext cx="381000" cy="25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115"/>
          <p:cNvSpPr txBox="1"/>
          <p:nvPr/>
        </p:nvSpPr>
        <p:spPr>
          <a:xfrm>
            <a:off x="749300" y="35179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종이·아날로그를 디지털 형태로</a:t>
            </a:r>
          </a:p>
        </p:txBody>
      </p:sp>
      <p:sp>
        <p:nvSpPr>
          <p:cNvPr id="18" name="S116"/>
          <p:cNvSpPr/>
          <p:nvPr/>
        </p:nvSpPr>
        <p:spPr>
          <a:xfrm>
            <a:off x="749300" y="4216400"/>
            <a:ext cx="1778000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117"/>
          <p:cNvSpPr txBox="1"/>
          <p:nvPr/>
        </p:nvSpPr>
        <p:spPr>
          <a:xfrm>
            <a:off x="825500" y="42926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8B9A3F"/>
                </a:solidFill>
              </a:rPr>
              <a:t>예시</a:t>
            </a:r>
          </a:p>
        </p:txBody>
      </p:sp>
      <p:sp>
        <p:nvSpPr>
          <p:cNvPr id="20" name="T118"/>
          <p:cNvSpPr txBox="1"/>
          <p:nvPr/>
        </p:nvSpPr>
        <p:spPr>
          <a:xfrm>
            <a:off x="825500" y="44958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종이 매뉴얼 → PDF</a:t>
            </a:r>
          </a:p>
        </p:txBody>
      </p:sp>
      <p:sp>
        <p:nvSpPr>
          <p:cNvPr id="21" name="S119"/>
          <p:cNvSpPr/>
          <p:nvPr/>
        </p:nvSpPr>
        <p:spPr>
          <a:xfrm>
            <a:off x="27305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120"/>
          <p:cNvSpPr/>
          <p:nvPr/>
        </p:nvSpPr>
        <p:spPr>
          <a:xfrm>
            <a:off x="2730500" y="2032000"/>
            <a:ext cx="2082800" cy="533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121"/>
          <p:cNvSpPr txBox="1"/>
          <p:nvPr/>
        </p:nvSpPr>
        <p:spPr>
          <a:xfrm>
            <a:off x="2730500" y="2032000"/>
            <a:ext cx="20828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24" name="T122"/>
          <p:cNvSpPr txBox="1"/>
          <p:nvPr/>
        </p:nvSpPr>
        <p:spPr>
          <a:xfrm>
            <a:off x="28829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디지털 전환</a:t>
            </a:r>
          </a:p>
        </p:txBody>
      </p:sp>
      <p:sp>
        <p:nvSpPr>
          <p:cNvPr id="25" name="T123"/>
          <p:cNvSpPr txBox="1"/>
          <p:nvPr/>
        </p:nvSpPr>
        <p:spPr>
          <a:xfrm>
            <a:off x="28829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F4B400"/>
                </a:solidFill>
              </a:rPr>
              <a:t>Digitalization</a:t>
            </a:r>
          </a:p>
        </p:txBody>
      </p:sp>
      <p:sp>
        <p:nvSpPr>
          <p:cNvPr id="26" name="S124"/>
          <p:cNvSpPr/>
          <p:nvPr/>
        </p:nvSpPr>
        <p:spPr>
          <a:xfrm>
            <a:off x="2882900" y="3390900"/>
            <a:ext cx="381000" cy="25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125"/>
          <p:cNvSpPr txBox="1"/>
          <p:nvPr/>
        </p:nvSpPr>
        <p:spPr>
          <a:xfrm>
            <a:off x="2882900" y="35179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데이터로 업무 프로세스 변화</a:t>
            </a:r>
          </a:p>
        </p:txBody>
      </p:sp>
      <p:sp>
        <p:nvSpPr>
          <p:cNvPr id="28" name="S126"/>
          <p:cNvSpPr/>
          <p:nvPr/>
        </p:nvSpPr>
        <p:spPr>
          <a:xfrm>
            <a:off x="2882900" y="4216400"/>
            <a:ext cx="1778000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T127"/>
          <p:cNvSpPr txBox="1"/>
          <p:nvPr/>
        </p:nvSpPr>
        <p:spPr>
          <a:xfrm>
            <a:off x="2959100" y="42926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F4B400"/>
                </a:solidFill>
              </a:rPr>
              <a:t>예시</a:t>
            </a:r>
          </a:p>
        </p:txBody>
      </p:sp>
      <p:sp>
        <p:nvSpPr>
          <p:cNvPr id="30" name="T128"/>
          <p:cNvSpPr txBox="1"/>
          <p:nvPr/>
        </p:nvSpPr>
        <p:spPr>
          <a:xfrm>
            <a:off x="2959100" y="44958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PDF → 검색·AI 어시스턴트</a:t>
            </a:r>
          </a:p>
        </p:txBody>
      </p:sp>
      <p:sp>
        <p:nvSpPr>
          <p:cNvPr id="31" name="S129"/>
          <p:cNvSpPr/>
          <p:nvPr/>
        </p:nvSpPr>
        <p:spPr>
          <a:xfrm>
            <a:off x="4876800" y="2032000"/>
            <a:ext cx="20828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130"/>
          <p:cNvSpPr/>
          <p:nvPr/>
        </p:nvSpPr>
        <p:spPr>
          <a:xfrm>
            <a:off x="4876800" y="2032000"/>
            <a:ext cx="20828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131"/>
          <p:cNvSpPr txBox="1"/>
          <p:nvPr/>
        </p:nvSpPr>
        <p:spPr>
          <a:xfrm>
            <a:off x="4876800" y="2032000"/>
            <a:ext cx="20828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34" name="T132"/>
          <p:cNvSpPr txBox="1"/>
          <p:nvPr/>
        </p:nvSpPr>
        <p:spPr>
          <a:xfrm>
            <a:off x="5029200" y="273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트랜스포메이션</a:t>
            </a:r>
          </a:p>
        </p:txBody>
      </p:sp>
      <p:sp>
        <p:nvSpPr>
          <p:cNvPr id="35" name="T133"/>
          <p:cNvSpPr txBox="1"/>
          <p:nvPr/>
        </p:nvSpPr>
        <p:spPr>
          <a:xfrm>
            <a:off x="5029200" y="30607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spc="100" dirty="0">
                <a:solidFill>
                  <a:srgbClr val="E8632C"/>
                </a:solidFill>
              </a:rPr>
              <a:t>Transformation</a:t>
            </a:r>
          </a:p>
        </p:txBody>
      </p:sp>
      <p:sp>
        <p:nvSpPr>
          <p:cNvPr id="36" name="S134"/>
          <p:cNvSpPr/>
          <p:nvPr/>
        </p:nvSpPr>
        <p:spPr>
          <a:xfrm>
            <a:off x="5029200" y="3390900"/>
            <a:ext cx="381000" cy="25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135"/>
          <p:cNvSpPr txBox="1"/>
          <p:nvPr/>
        </p:nvSpPr>
        <p:spPr>
          <a:xfrm>
            <a:off x="5029200" y="3517900"/>
            <a:ext cx="177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데이터 기반 사업·조직 혁신</a:t>
            </a:r>
          </a:p>
        </p:txBody>
      </p:sp>
      <p:sp>
        <p:nvSpPr>
          <p:cNvPr id="38" name="S136"/>
          <p:cNvSpPr/>
          <p:nvPr/>
        </p:nvSpPr>
        <p:spPr>
          <a:xfrm>
            <a:off x="5029200" y="4216400"/>
            <a:ext cx="1778000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T137"/>
          <p:cNvSpPr txBox="1"/>
          <p:nvPr/>
        </p:nvSpPr>
        <p:spPr>
          <a:xfrm>
            <a:off x="5105400" y="42926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spc="200" dirty="0">
                <a:solidFill>
                  <a:srgbClr val="E8632C"/>
                </a:solidFill>
              </a:rPr>
              <a:t>예시</a:t>
            </a:r>
          </a:p>
        </p:txBody>
      </p:sp>
      <p:sp>
        <p:nvSpPr>
          <p:cNvPr id="40" name="T138"/>
          <p:cNvSpPr txBox="1"/>
          <p:nvPr/>
        </p:nvSpPr>
        <p:spPr>
          <a:xfrm>
            <a:off x="5105400" y="4495800"/>
            <a:ext cx="1625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AI 어시스턴트 → 정비 사업화</a:t>
            </a:r>
          </a:p>
        </p:txBody>
      </p:sp>
      <p:sp>
        <p:nvSpPr>
          <p:cNvPr id="41" name="S139"/>
          <p:cNvSpPr/>
          <p:nvPr/>
        </p:nvSpPr>
        <p:spPr>
          <a:xfrm>
            <a:off x="2616200" y="3403600"/>
            <a:ext cx="139700" cy="177800"/>
          </a:xfrm>
          <a:prstGeom prst="rightArrow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140"/>
          <p:cNvSpPr/>
          <p:nvPr/>
        </p:nvSpPr>
        <p:spPr>
          <a:xfrm>
            <a:off x="4749800" y="3403600"/>
            <a:ext cx="139700" cy="177800"/>
          </a:xfrm>
          <a:prstGeom prst="rightArrow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S141"/>
          <p:cNvSpPr/>
          <p:nvPr/>
        </p:nvSpPr>
        <p:spPr>
          <a:xfrm>
            <a:off x="546100" y="52705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142"/>
          <p:cNvSpPr txBox="1"/>
          <p:nvPr/>
        </p:nvSpPr>
        <p:spPr>
          <a:xfrm>
            <a:off x="762000" y="5461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현재 건설기계 산업 위치</a:t>
            </a:r>
          </a:p>
        </p:txBody>
      </p:sp>
      <p:sp>
        <p:nvSpPr>
          <p:cNvPr id="45" name="T143"/>
          <p:cNvSpPr txBox="1"/>
          <p:nvPr/>
        </p:nvSpPr>
        <p:spPr>
          <a:xfrm>
            <a:off x="762000" y="58166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글로벌 선도사</a:t>
            </a:r>
          </a:p>
        </p:txBody>
      </p:sp>
      <p:sp>
        <p:nvSpPr>
          <p:cNvPr id="46" name="T144"/>
          <p:cNvSpPr txBox="1"/>
          <p:nvPr/>
        </p:nvSpPr>
        <p:spPr>
          <a:xfrm>
            <a:off x="3556000" y="58166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2 ~ 3 단계 진입</a:t>
            </a:r>
          </a:p>
        </p:txBody>
      </p:sp>
      <p:sp>
        <p:nvSpPr>
          <p:cNvPr id="47" name="T145"/>
          <p:cNvSpPr txBox="1"/>
          <p:nvPr/>
        </p:nvSpPr>
        <p:spPr>
          <a:xfrm>
            <a:off x="762000" y="60960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국내 대기업</a:t>
            </a:r>
          </a:p>
        </p:txBody>
      </p:sp>
      <p:sp>
        <p:nvSpPr>
          <p:cNvPr id="48" name="T146"/>
          <p:cNvSpPr txBox="1"/>
          <p:nvPr/>
        </p:nvSpPr>
        <p:spPr>
          <a:xfrm>
            <a:off x="3556000" y="60960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1 ~ 2 단계 진입</a:t>
            </a:r>
          </a:p>
        </p:txBody>
      </p:sp>
      <p:sp>
        <p:nvSpPr>
          <p:cNvPr id="49" name="T147"/>
          <p:cNvSpPr txBox="1"/>
          <p:nvPr/>
        </p:nvSpPr>
        <p:spPr>
          <a:xfrm>
            <a:off x="762000" y="63754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중견·중소기업</a:t>
            </a:r>
          </a:p>
        </p:txBody>
      </p:sp>
      <p:sp>
        <p:nvSpPr>
          <p:cNvPr id="50" name="T148"/>
          <p:cNvSpPr txBox="1"/>
          <p:nvPr/>
        </p:nvSpPr>
        <p:spPr>
          <a:xfrm>
            <a:off x="3556000" y="63754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0 ~ 1 단계</a:t>
            </a:r>
          </a:p>
        </p:txBody>
      </p:sp>
      <p:sp>
        <p:nvSpPr>
          <p:cNvPr id="51" name="S149"/>
          <p:cNvSpPr/>
          <p:nvPr/>
        </p:nvSpPr>
        <p:spPr>
          <a:xfrm>
            <a:off x="546100" y="6985000"/>
            <a:ext cx="64770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S150"/>
          <p:cNvSpPr/>
          <p:nvPr/>
        </p:nvSpPr>
        <p:spPr>
          <a:xfrm>
            <a:off x="546100" y="69850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151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0F3A2E"/>
                </a:solidFill>
              </a:rPr>
              <a:t>기회</a:t>
            </a:r>
          </a:p>
        </p:txBody>
      </p:sp>
      <p:sp>
        <p:nvSpPr>
          <p:cNvPr id="54" name="T152"/>
          <p:cNvSpPr txBox="1"/>
          <p:nvPr/>
        </p:nvSpPr>
        <p:spPr>
          <a:xfrm>
            <a:off x="927100" y="7493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F3A2E"/>
                </a:solidFill>
              </a:rPr>
              <a:t>빠른 디지털 자산화 = </a:t>
            </a:r>
            <a:r>
              <a:rPr lang="en-US" sz="1500" b="1" dirty="0">
                <a:solidFill>
                  <a:srgbClr val="E8632C"/>
                </a:solidFill>
              </a:rPr>
              <a:t>2~3년 안에 글로벌 경쟁력 확보 가능</a:t>
            </a:r>
          </a:p>
        </p:txBody>
      </p:sp>
      <p:sp>
        <p:nvSpPr>
          <p:cNvPr id="55" name="T153"/>
          <p:cNvSpPr txBox="1"/>
          <p:nvPr/>
        </p:nvSpPr>
        <p:spPr>
          <a:xfrm>
            <a:off x="927100" y="784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0F3A2E"/>
                </a:solidFill>
              </a:rPr>
              <a:t>건설기계 산업의 데이터 자산화는 지금이 골든 타임</a:t>
            </a:r>
          </a:p>
        </p:txBody>
      </p:sp>
      <p:sp>
        <p:nvSpPr>
          <p:cNvPr id="56" name="T154"/>
          <p:cNvSpPr txBox="1"/>
          <p:nvPr/>
        </p:nvSpPr>
        <p:spPr>
          <a:xfrm>
            <a:off x="889000" y="8636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dirty="0">
                <a:solidFill>
                  <a:srgbClr val="6B6B6B"/>
                </a:solidFill>
              </a:rPr>
              <a:t>"데이터는 새로운 석유" — Clive Humby (2006)</a:t>
            </a:r>
          </a:p>
        </p:txBody>
      </p:sp>
      <p:sp>
        <p:nvSpPr>
          <p:cNvPr id="57" name="T155"/>
          <p:cNvSpPr txBox="1"/>
          <p:nvPr/>
        </p:nvSpPr>
        <p:spPr>
          <a:xfrm>
            <a:off x="889000" y="90170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단, 정제(refining) 과정 없이는 가치를 만들지 못한다</a:t>
            </a:r>
          </a:p>
        </p:txBody>
      </p:sp>
      <p:sp>
        <p:nvSpPr>
          <p:cNvPr id="58" name="S15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15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60" name="T15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022 —</a:t>
            </a:r>
          </a:p>
        </p:txBody>
      </p:sp>
      <p:sp>
        <p:nvSpPr>
          <p:cNvPr id="61" name="S15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S16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S16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S16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85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Caterpillar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글로벌 사례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글로벌 사례 — Caterpillar Cat Connect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약 150만 대 연결 장비가 만드는 데이터 가치 — 글로벌 기준 추정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889000" y="20955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rgbClr val="F4B400"/>
                </a:solidFill>
              </a:rPr>
              <a:t>≈ 1.5M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3556000" y="22225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연결된 장비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3556000" y="25146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글로벌 기준 (2026 추정)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3556000" y="27686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DDDDDD"/>
                </a:solidFill>
              </a:rPr>
              <a:t>위치·작동시간·연료·유압·부품 마모·온도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238500"/>
            <a:ext cx="6477000" cy="222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3238500"/>
            <a:ext cx="6477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238500"/>
            <a:ext cx="609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Cat Connect Platform — 데이터 → 가치 창출</a:t>
            </a:r>
          </a:p>
        </p:txBody>
      </p:sp>
      <p:sp>
        <p:nvSpPr>
          <p:cNvPr id="118" name="S118"/>
          <p:cNvSpPr/>
          <p:nvPr/>
        </p:nvSpPr>
        <p:spPr>
          <a:xfrm>
            <a:off x="762000" y="38100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62000" y="3810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168400" y="38481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예방 정비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762000" y="41910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8B9A3F"/>
                </a:solidFill>
              </a:rPr>
              <a:t>Preventive Maintenance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762000" y="4445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부품 마모 패턴 분석 → 사전 교체</a:t>
            </a:r>
          </a:p>
        </p:txBody>
      </p:sp>
      <p:sp>
        <p:nvSpPr>
          <p:cNvPr id="123" name="S123"/>
          <p:cNvSpPr/>
          <p:nvPr/>
        </p:nvSpPr>
        <p:spPr>
          <a:xfrm>
            <a:off x="762000" y="5016500"/>
            <a:ext cx="2032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50165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다운타임 최소화</a:t>
            </a:r>
          </a:p>
        </p:txBody>
      </p:sp>
      <p:sp>
        <p:nvSpPr>
          <p:cNvPr id="125" name="S125"/>
          <p:cNvSpPr/>
          <p:nvPr/>
        </p:nvSpPr>
        <p:spPr>
          <a:xfrm>
            <a:off x="2946400" y="38100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2946400" y="3810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3352800" y="38481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운영 효율 최적화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946400" y="41910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F4B400"/>
                </a:solidFill>
              </a:rPr>
              <a:t>Operational Efficiency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946400" y="4445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작업 패턴 분석 → 연료 절감 가이드</a:t>
            </a:r>
          </a:p>
        </p:txBody>
      </p:sp>
      <p:sp>
        <p:nvSpPr>
          <p:cNvPr id="130" name="S130"/>
          <p:cNvSpPr/>
          <p:nvPr/>
        </p:nvSpPr>
        <p:spPr>
          <a:xfrm>
            <a:off x="2946400" y="5016500"/>
            <a:ext cx="2032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2946400" y="50165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운전자 교육 자동화</a:t>
            </a:r>
          </a:p>
        </p:txBody>
      </p:sp>
      <p:sp>
        <p:nvSpPr>
          <p:cNvPr id="132" name="S132"/>
          <p:cNvSpPr/>
          <p:nvPr/>
        </p:nvSpPr>
        <p:spPr>
          <a:xfrm>
            <a:off x="5130800" y="38100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5130800" y="3810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5537200" y="38481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신제품 개발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130800" y="41910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E8632C"/>
                </a:solidFill>
              </a:rPr>
              <a:t>Product R&amp;D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5130800" y="4445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실제 사용 데이터 → R&amp;D 반영</a:t>
            </a:r>
          </a:p>
        </p:txBody>
      </p:sp>
      <p:sp>
        <p:nvSpPr>
          <p:cNvPr id="137" name="S137"/>
          <p:cNvSpPr/>
          <p:nvPr/>
        </p:nvSpPr>
        <p:spPr>
          <a:xfrm>
            <a:off x="5130800" y="5016500"/>
            <a:ext cx="2032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130800" y="50165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시장별 맞춤 모델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778500"/>
            <a:ext cx="64770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778500"/>
            <a:ext cx="762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6032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0F3A2E"/>
                </a:solidFill>
              </a:rPr>
              <a:t>핵심 시사점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927100" y="6350000"/>
            <a:ext cx="5892800" cy="44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0F3A2E"/>
                </a:solidFill>
              </a:rPr>
              <a:t>장비 1대당 </a:t>
            </a:r>
            <a:r>
              <a:rPr lang="en-US" sz="1700" b="1" dirty="0">
                <a:solidFill>
                  <a:srgbClr val="E8632C"/>
                </a:solidFill>
              </a:rPr>
              <a:t>데이터의 가치 = 장비 가치의 30%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927100" y="6858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0F3A2E"/>
                </a:solidFill>
              </a:rPr>
              <a:t>(Caterpillar 발표 추정)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927100" y="7112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산업 데이터는 그 자체로 글로벌 경쟁력의 원천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7683500"/>
            <a:ext cx="6477000" cy="215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7683500"/>
            <a:ext cx="6477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762000" y="7683500"/>
            <a:ext cx="609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[그림 1-5] Caterpillar Cat Connect 데이터 자산화 흐름</a:t>
            </a:r>
          </a:p>
        </p:txBody>
      </p:sp>
      <p:sp>
        <p:nvSpPr>
          <p:cNvPr id="148" name="S148"/>
          <p:cNvSpPr/>
          <p:nvPr/>
        </p:nvSpPr>
        <p:spPr>
          <a:xfrm>
            <a:off x="762000" y="8382000"/>
            <a:ext cx="1651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85090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연결된 장비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762000" y="87884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4B400"/>
                </a:solidFill>
              </a:rPr>
              <a:t>≈ 150만 대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762000" y="9169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DDDDDD"/>
                </a:solidFill>
              </a:rPr>
              <a:t>위치·연료·마모·온도</a:t>
            </a:r>
          </a:p>
        </p:txBody>
      </p:sp>
      <p:sp>
        <p:nvSpPr>
          <p:cNvPr id="152" name="S152"/>
          <p:cNvSpPr/>
          <p:nvPr/>
        </p:nvSpPr>
        <p:spPr>
          <a:xfrm>
            <a:off x="2476500" y="88646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2768600" y="8382000"/>
            <a:ext cx="2032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2768600" y="8509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Cat Connect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2768600" y="87884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768600" y="91186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실시간 모니터링 · 패턴 분석 · AI 학습</a:t>
            </a:r>
          </a:p>
        </p:txBody>
      </p:sp>
      <p:sp>
        <p:nvSpPr>
          <p:cNvPr id="157" name="S157"/>
          <p:cNvSpPr/>
          <p:nvPr/>
        </p:nvSpPr>
        <p:spPr>
          <a:xfrm>
            <a:off x="4864100" y="88646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156200" y="8382000"/>
            <a:ext cx="1651000" cy="1143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156200" y="85090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100" dirty="0">
                <a:solidFill>
                  <a:srgbClr val="FFFFFF"/>
                </a:solidFill>
              </a:rPr>
              <a:t>가치 창출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156200" y="8788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① 예방 정비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156200" y="89916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② 운영 효율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5156200" y="91948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③ 신제품 개발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6" name="S16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30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두산-NVIDIA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국내 사례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국내 사례 — 두산-NVIDIA PAI 협력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두산 30년 산업 데이터 + NVIDIA AI = 두산 맞춤형 Foundation Model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21590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2025년 5월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762000" y="24130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두산 PAI Lab (Physical AI Lab) 신설</a:t>
            </a:r>
          </a:p>
        </p:txBody>
      </p:sp>
      <p:sp>
        <p:nvSpPr>
          <p:cNvPr id="112" name="S112"/>
          <p:cNvSpPr/>
          <p:nvPr/>
        </p:nvSpPr>
        <p:spPr>
          <a:xfrm>
            <a:off x="3746500" y="2159000"/>
            <a:ext cx="12700" cy="381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937000" y="2159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2025년 10월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3937000" y="24130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NVIDIA와 전략적 협력 체결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984500"/>
            <a:ext cx="3048000" cy="1778000"/>
          </a:xfrm>
          <a:prstGeom prst="rect">
            <a:avLst/>
          </a:prstGeom>
          <a:solidFill>
            <a:srgbClr val="1B3A6F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984500"/>
            <a:ext cx="3048000" cy="406400"/>
          </a:xfrm>
          <a:prstGeom prst="rect">
            <a:avLst/>
          </a:prstGeom>
          <a:solidFill>
            <a:srgbClr val="1B3A6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2984500"/>
            <a:ext cx="28575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두산 (Doosan)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762000" y="3556000"/>
            <a:ext cx="28321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30년 산업 데이터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762000" y="38735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정비·운영 이력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762000" y="40894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고객 응대 데이터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762000" y="43053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베테랑 노하우 (인터뷰·매뉴얼)</a:t>
            </a:r>
          </a:p>
        </p:txBody>
      </p:sp>
      <p:sp>
        <p:nvSpPr>
          <p:cNvPr id="122" name="S122"/>
          <p:cNvSpPr/>
          <p:nvPr/>
        </p:nvSpPr>
        <p:spPr>
          <a:xfrm>
            <a:off x="3975100" y="2984500"/>
            <a:ext cx="3048000" cy="1778000"/>
          </a:xfrm>
          <a:prstGeom prst="rect">
            <a:avLst/>
          </a:prstGeom>
          <a:solidFill>
            <a:srgbClr val="4F8C2E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3975100" y="2984500"/>
            <a:ext cx="3048000" cy="406400"/>
          </a:xfrm>
          <a:prstGeom prst="rect">
            <a:avLst/>
          </a:prstGeom>
          <a:solidFill>
            <a:srgbClr val="4F8C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4191000" y="2984500"/>
            <a:ext cx="28575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NVIDIA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191000" y="3556000"/>
            <a:ext cx="28321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AI 인프라 · 기술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191000" y="38735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Foundation Model 기술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191000" y="40894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GPU 인프라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191000" y="4305300"/>
            <a:ext cx="2832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Industrial AI 솔루션</a:t>
            </a:r>
          </a:p>
        </p:txBody>
      </p:sp>
      <p:sp>
        <p:nvSpPr>
          <p:cNvPr id="129" name="S129"/>
          <p:cNvSpPr/>
          <p:nvPr/>
        </p:nvSpPr>
        <p:spPr>
          <a:xfrm>
            <a:off x="3594100" y="3810000"/>
            <a:ext cx="381000" cy="2286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1651000" y="5016500"/>
            <a:ext cx="42545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1778000" y="5143500"/>
            <a:ext cx="4000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★ 두산 맞춤형 FM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778000" y="5486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(Foundation Model)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778000" y="57785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Physical AI Lab (PAI)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6413500"/>
            <a:ext cx="19812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6413500"/>
            <a:ext cx="1981200" cy="406400"/>
          </a:xfrm>
          <a:prstGeom prst="rect">
            <a:avLst/>
          </a:prstGeom>
          <a:solidFill>
            <a:srgbClr val="2A5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546100" y="64135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잡사이트 컴패니언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673100" y="6959600"/>
            <a:ext cx="172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A5DB0"/>
                </a:solidFill>
              </a:rPr>
              <a:t>음성 명령 50+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673100" y="7264400"/>
            <a:ext cx="17272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온디바이스 LLM
(2026 CES 공개)</a:t>
            </a:r>
          </a:p>
        </p:txBody>
      </p:sp>
      <p:sp>
        <p:nvSpPr>
          <p:cNvPr id="139" name="S139"/>
          <p:cNvSpPr/>
          <p:nvPr/>
        </p:nvSpPr>
        <p:spPr>
          <a:xfrm>
            <a:off x="2794000" y="6413500"/>
            <a:ext cx="19812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2794000" y="6413500"/>
            <a:ext cx="19812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2794000" y="64135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사내 AI 어시스턴트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2921000" y="6959600"/>
            <a:ext cx="172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부서별 어시스턴트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2921000" y="7264400"/>
            <a:ext cx="17272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노하우
자산화 결과</a:t>
            </a:r>
          </a:p>
        </p:txBody>
      </p:sp>
      <p:sp>
        <p:nvSpPr>
          <p:cNvPr id="144" name="S144"/>
          <p:cNvSpPr/>
          <p:nvPr/>
        </p:nvSpPr>
        <p:spPr>
          <a:xfrm>
            <a:off x="5041900" y="6413500"/>
            <a:ext cx="19812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041900" y="6413500"/>
            <a:ext cx="19812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5041900" y="6413500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글로벌 차별화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5168900" y="6959600"/>
            <a:ext cx="172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두산 데이터 = 두산 강점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5168900" y="7264400"/>
            <a:ext cx="17272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경쟁사 모방 불가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8318500"/>
            <a:ext cx="6477000" cy="152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8318500"/>
            <a:ext cx="76200" cy="152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850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시사점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8826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산업 데이터는 </a:t>
            </a:r>
            <a:r>
              <a:rPr lang="en-US" sz="1600" b="1" dirty="0">
                <a:solidFill>
                  <a:srgbClr val="F4B400"/>
                </a:solidFill>
              </a:rPr>
              <a:t>그 자체로 글로벌 경쟁력의 원천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27100" y="9271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30년 누적 데이터 + AI 인프라 = 경쟁사가 모방할 수 없는 자산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27100" y="9550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4B400"/>
                </a:solidFill>
              </a:rPr>
              <a:t>"우리만의 데이터를 어떻게 자산화할 것인가" — 본 과정의 본질적 질문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8" name="S15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72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현대건설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국내 사례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추가 사례 — 현대건설 사내 AI 비서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2025년 도입 — ChatGPT·Claude·DeepL 통합 + 사내 데이터 학습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도입 후 2개월 성과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374900"/>
            <a:ext cx="16256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374900"/>
            <a:ext cx="635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736600" y="2540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E8632C"/>
                </a:solidFill>
              </a:rPr>
              <a:t>3,000명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3048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활용 직원 수</a:t>
            </a:r>
          </a:p>
        </p:txBody>
      </p:sp>
      <p:sp>
        <p:nvSpPr>
          <p:cNvPr id="115" name="S115"/>
          <p:cNvSpPr/>
          <p:nvPr/>
        </p:nvSpPr>
        <p:spPr>
          <a:xfrm>
            <a:off x="2171700" y="2374900"/>
            <a:ext cx="16256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2171700" y="2374900"/>
            <a:ext cx="635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2362200" y="2540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F4B400"/>
                </a:solidFill>
              </a:rPr>
              <a:t>12만 건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2362200" y="3048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누적 사용 건수</a:t>
            </a:r>
          </a:p>
        </p:txBody>
      </p:sp>
      <p:sp>
        <p:nvSpPr>
          <p:cNvPr id="119" name="S119"/>
          <p:cNvSpPr/>
          <p:nvPr/>
        </p:nvSpPr>
        <p:spPr>
          <a:xfrm>
            <a:off x="3797300" y="2374900"/>
            <a:ext cx="16256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3797300" y="2374900"/>
            <a:ext cx="63500" cy="1143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3987800" y="2540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8B9A3F"/>
                </a:solidFill>
              </a:rPr>
              <a:t>≈ 5초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3987800" y="3048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평균 응답 시간</a:t>
            </a:r>
          </a:p>
        </p:txBody>
      </p:sp>
      <p:sp>
        <p:nvSpPr>
          <p:cNvPr id="123" name="S123"/>
          <p:cNvSpPr/>
          <p:nvPr/>
        </p:nvSpPr>
        <p:spPr>
          <a:xfrm>
            <a:off x="5422900" y="2374900"/>
            <a:ext cx="16256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22900" y="2374900"/>
            <a:ext cx="635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5613400" y="2540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0F3A2E"/>
                </a:solidFill>
              </a:rPr>
              <a:t>85%+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5613400" y="3048000"/>
            <a:ext cx="1371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직원 만족도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3746500"/>
            <a:ext cx="6477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746500"/>
            <a:ext cx="609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활용 4개 영역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4254500"/>
            <a:ext cx="32258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546100" y="4254500"/>
            <a:ext cx="4826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546100" y="4254500"/>
            <a:ext cx="4826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181100" y="4445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기술 문서 검색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181100" y="48133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30년치 시공 매뉴얼 즉시 검색</a:t>
            </a:r>
          </a:p>
        </p:txBody>
      </p:sp>
      <p:sp>
        <p:nvSpPr>
          <p:cNvPr id="134" name="S134"/>
          <p:cNvSpPr/>
          <p:nvPr/>
        </p:nvSpPr>
        <p:spPr>
          <a:xfrm>
            <a:off x="3797300" y="4254500"/>
            <a:ext cx="32258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3797300" y="4254500"/>
            <a:ext cx="4826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797300" y="4254500"/>
            <a:ext cx="4826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4432300" y="4445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견적·계약 보조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432300" y="48133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표준 조건·과거 사례 즉시 참조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397500"/>
            <a:ext cx="32258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397500"/>
            <a:ext cx="4826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546100" y="5397500"/>
            <a:ext cx="4826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181100" y="5588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다국어 응대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181100" y="59563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글로벌 프로젝트 다국어 자동 번역</a:t>
            </a:r>
          </a:p>
        </p:txBody>
      </p:sp>
      <p:sp>
        <p:nvSpPr>
          <p:cNvPr id="144" name="S144"/>
          <p:cNvSpPr/>
          <p:nvPr/>
        </p:nvSpPr>
        <p:spPr>
          <a:xfrm>
            <a:off x="3797300" y="5397500"/>
            <a:ext cx="32258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3797300" y="5397500"/>
            <a:ext cx="4826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3797300" y="5397500"/>
            <a:ext cx="4826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4432300" y="5588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신입 교육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4432300" y="59563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사내 노하우 즉시 학습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6604000"/>
            <a:ext cx="6477000" cy="171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6604000"/>
            <a:ext cx="6477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762000" y="6604000"/>
            <a:ext cx="609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성공 요인</a:t>
            </a:r>
          </a:p>
        </p:txBody>
      </p:sp>
      <p:sp>
        <p:nvSpPr>
          <p:cNvPr id="152" name="S152"/>
          <p:cNvSpPr/>
          <p:nvPr/>
        </p:nvSpPr>
        <p:spPr>
          <a:xfrm>
            <a:off x="762000" y="7175500"/>
            <a:ext cx="635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71755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통합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524000" y="7213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ChatGPT·Claude·DeepL 등 다중 LLM을 한 인터페이스로 통합</a:t>
            </a:r>
          </a:p>
        </p:txBody>
      </p:sp>
      <p:sp>
        <p:nvSpPr>
          <p:cNvPr id="155" name="S155"/>
          <p:cNvSpPr/>
          <p:nvPr/>
        </p:nvSpPr>
        <p:spPr>
          <a:xfrm>
            <a:off x="762000" y="7531100"/>
            <a:ext cx="635000" cy="279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75311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학습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1524000" y="756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사내 매뉴얼·정책·기술 자료를 LLM에 학습시켜 신뢰성 확보</a:t>
            </a:r>
          </a:p>
        </p:txBody>
      </p:sp>
      <p:sp>
        <p:nvSpPr>
          <p:cNvPr id="158" name="S158"/>
          <p:cNvSpPr/>
          <p:nvPr/>
        </p:nvSpPr>
        <p:spPr>
          <a:xfrm>
            <a:off x="762000" y="7886700"/>
            <a:ext cx="635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762000" y="78867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접근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15240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누구나 자연어로 질문 — 별도 학습 시간 없이 즉시 활용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8636000"/>
            <a:ext cx="64770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86360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882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0F3A2E"/>
                </a:solidFill>
              </a:rPr>
              <a:t>핵심 시사점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27100" y="9144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F3A2E"/>
                </a:solidFill>
              </a:rPr>
              <a:t>사내 데이터를 통합하면 </a:t>
            </a:r>
            <a:r>
              <a:rPr lang="en-US" sz="1600" b="1" dirty="0">
                <a:solidFill>
                  <a:srgbClr val="E8632C"/>
                </a:solidFill>
              </a:rPr>
              <a:t>즉시 경쟁력으로 전환 가능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949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0F3A2E"/>
                </a:solidFill>
              </a:rPr>
              <a:t>AI는 도구일 뿐 — 핵심은 사내 데이터의 통합과 학습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039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9" name="S16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73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실습 1-2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1-2] 자사 데이터 자산 진단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가치 × 디지털화 수준의 4분면 매트릭스 — 자기 부서 데이터를 매핑</a:t>
            </a:r>
          </a:p>
        </p:txBody>
      </p:sp>
      <p:sp>
        <p:nvSpPr>
          <p:cNvPr id="109" name="T109"/>
          <p:cNvSpPr txBox="1"/>
          <p:nvPr/>
        </p:nvSpPr>
        <p:spPr>
          <a:xfrm rot="16200000">
            <a:off x="381000" y="43180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spc="200" dirty="0">
                <a:solidFill>
                  <a:srgbClr val="6B6B6B"/>
                </a:solidFill>
              </a:rPr>
              <a:t>디지털화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546100" y="2095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高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546100" y="66040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低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69215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6B6B6B"/>
                </a:solidFill>
              </a:rPr>
              <a:t>가치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889000" y="6705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低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5905500" y="6705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高</a:t>
            </a:r>
          </a:p>
        </p:txBody>
      </p:sp>
      <p:sp>
        <p:nvSpPr>
          <p:cNvPr id="115" name="S115"/>
          <p:cNvSpPr/>
          <p:nvPr/>
        </p:nvSpPr>
        <p:spPr>
          <a:xfrm>
            <a:off x="952500" y="2286000"/>
            <a:ext cx="27940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1079500" y="24130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1079500" y="2413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511300" y="2451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8B9A3F"/>
                </a:solidFill>
              </a:rPr>
              <a:t>즉시 활용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181100" y="28575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정비 이력 DB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181100" y="30861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견적 데이터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181100" y="33147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시장 통계</a:t>
            </a:r>
          </a:p>
        </p:txBody>
      </p:sp>
      <p:sp>
        <p:nvSpPr>
          <p:cNvPr id="122" name="S122"/>
          <p:cNvSpPr/>
          <p:nvPr/>
        </p:nvSpPr>
        <p:spPr>
          <a:xfrm>
            <a:off x="1079500" y="4000500"/>
            <a:ext cx="2540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079500" y="40005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바로 AI 도구 활용</a:t>
            </a:r>
          </a:p>
        </p:txBody>
      </p:sp>
      <p:sp>
        <p:nvSpPr>
          <p:cNvPr id="124" name="S124"/>
          <p:cNvSpPr/>
          <p:nvPr/>
        </p:nvSpPr>
        <p:spPr>
          <a:xfrm>
            <a:off x="3810000" y="2286000"/>
            <a:ext cx="27940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5B7F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3937000" y="2413000"/>
            <a:ext cx="304800" cy="304800"/>
          </a:xfrm>
          <a:prstGeom prst="ellipse">
            <a:avLst/>
          </a:prstGeom>
          <a:solidFill>
            <a:srgbClr val="5B7F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3937000" y="2413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368800" y="2451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B7FA0"/>
                </a:solidFill>
              </a:rPr>
              <a:t>점진 활용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038600" y="28575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매뉴얼 PDF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038600" y="30861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표준 양식</a:t>
            </a:r>
          </a:p>
        </p:txBody>
      </p:sp>
      <p:sp>
        <p:nvSpPr>
          <p:cNvPr id="130" name="S130"/>
          <p:cNvSpPr/>
          <p:nvPr/>
        </p:nvSpPr>
        <p:spPr>
          <a:xfrm>
            <a:off x="3937000" y="4000500"/>
            <a:ext cx="2540000" cy="279400"/>
          </a:xfrm>
          <a:prstGeom prst="rect">
            <a:avLst/>
          </a:prstGeom>
          <a:solidFill>
            <a:srgbClr val="5B7F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937000" y="40005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검색·자동화 단계 도입</a:t>
            </a:r>
          </a:p>
        </p:txBody>
      </p:sp>
      <p:sp>
        <p:nvSpPr>
          <p:cNvPr id="132" name="S132"/>
          <p:cNvSpPr/>
          <p:nvPr/>
        </p:nvSpPr>
        <p:spPr>
          <a:xfrm>
            <a:off x="952500" y="4508500"/>
            <a:ext cx="2794000" cy="20955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1079500" y="46355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079500" y="4635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511300" y="46736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★ 최우선 자산화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181100" y="50800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베테랑 노하우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181100" y="53086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고객 응대 패턴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181100" y="55372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결함 사진·도면</a:t>
            </a:r>
          </a:p>
        </p:txBody>
      </p:sp>
      <p:sp>
        <p:nvSpPr>
          <p:cNvPr id="139" name="S139"/>
          <p:cNvSpPr/>
          <p:nvPr/>
        </p:nvSpPr>
        <p:spPr>
          <a:xfrm>
            <a:off x="1079500" y="6223000"/>
            <a:ext cx="2540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079500" y="6223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본 과정 PART 02~05 핵심</a:t>
            </a:r>
          </a:p>
        </p:txBody>
      </p:sp>
      <p:sp>
        <p:nvSpPr>
          <p:cNvPr id="141" name="S141"/>
          <p:cNvSpPr/>
          <p:nvPr/>
        </p:nvSpPr>
        <p:spPr>
          <a:xfrm>
            <a:off x="3810000" y="4508500"/>
            <a:ext cx="2794000" cy="2095500"/>
          </a:xfrm>
          <a:prstGeom prst="rect">
            <a:avLst/>
          </a:prstGeom>
          <a:solidFill>
            <a:srgbClr val="FAFAFA"/>
          </a:solidFill>
          <a:ln w="9525">
            <a:solidFill>
              <a:srgbClr val="6B6B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3937000" y="4635500"/>
            <a:ext cx="304800" cy="304800"/>
          </a:xfrm>
          <a:prstGeom prst="ellipse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3937000" y="4635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368800" y="46736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6B6B6B"/>
                </a:solidFill>
              </a:rPr>
              <a:t>중장기 검토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038600" y="50800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일회성 보고서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4038600" y="53086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• 외부 자료</a:t>
            </a:r>
          </a:p>
        </p:txBody>
      </p:sp>
      <p:sp>
        <p:nvSpPr>
          <p:cNvPr id="147" name="S147"/>
          <p:cNvSpPr/>
          <p:nvPr/>
        </p:nvSpPr>
        <p:spPr>
          <a:xfrm>
            <a:off x="3937000" y="6223000"/>
            <a:ext cx="2540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937000" y="6223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장기 계획 반영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7366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73660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755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진단 결과 — 본 과정의 초점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7899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C 영역</a:t>
            </a:r>
            <a:r>
              <a:rPr lang="en-US" sz="1300" dirty="0">
                <a:solidFill>
                  <a:srgbClr val="FFFFFF"/>
                </a:solidFill>
              </a:rPr>
              <a:t> (가치 高 · 디지털화 低) 이 본 과정의 </a:t>
            </a:r>
            <a:r>
              <a:rPr lang="en-US" sz="1500" b="1" dirty="0">
                <a:solidFill>
                  <a:srgbClr val="F4B400"/>
                </a:solidFill>
              </a:rPr>
              <a:t>최우선 자산화 대상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27100" y="8255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베테랑 노하우 · 고객 응대 패턴 · 결함 사진 — 손실 위험 + 디지털화 시급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8699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762000" y="882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E8632C"/>
                </a:solidFill>
              </a:rPr>
              <a:t>워크숍 산출물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762000" y="9105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☐ 자기 부서 데이터 자산 4분면 매핑 워크시트 (개별 작성)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359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☐ C 영역 자산 1~3개 선정 + 손실 위험 점수 (1~5)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762000" y="9613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☐ 부서별 발표 (5분) — 베테랑 의존도 + 자산화 시급도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2" name="S16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20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Chapter 3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3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 전환과 데이터 가치 — 글로벌과 국내의 답변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2733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DX 3단계 발전 모델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603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디지털화 → 디지털 전환 → 트랜스포메이션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9083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단순 디지털화에 머물지 않고 사업 모델 혁신까지 — 데이터 기반 조직 변화가 목표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8608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글로벌·국내 사례 = 데이터는 새로운 경쟁력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910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Caterpillar · 두산-NVIDIA · 현대건설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958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장비 데이터 가치 = 장비 가치의 30% (Caterpillar) · 산업 데이터는 글로벌 경쟁력의 원천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4483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자사 진단 매트릭스의 결론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78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C 영역(가치 高 · 디지털화 低)이 최우선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833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베테랑 노하우 · 고객 응대 패턴 · 결함 사진·도면 — 본 과정 PART 02~05의 핵심 영역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28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28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 자산화는 </a:t>
            </a:r>
            <a:r>
              <a:rPr lang="en-US" sz="1500" b="1" dirty="0">
                <a:solidFill>
                  <a:srgbClr val="F4B400"/>
                </a:solidFill>
              </a:rPr>
              <a:t>기술 문제가 아닌 경영 전략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"기다릴수록 손실이 커지는" 경쟁 영역 — 빠른 자산화 = 글로벌 경쟁력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1117600" y="8585200"/>
            <a:ext cx="5511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"산업 데이터는 그 자체로 글로벌 경쟁력의 원천이다."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37" name="S13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21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PART 01 · DAY 1 · CHAPTER 4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디지털화 5단계 워크플로우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270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5-Step Digitization Workflow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"어떻게 할 것인가?" — 자기 직무에 매핑하는 6일 학습 로드맵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디지털화 5단계 워크플로우 개관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단계별 상세 (Step 1 ~ Step 5)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자기 직무 워크플로우 매핑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93345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1460500" y="93345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2032000" y="93345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2603500" y="93345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042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2679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5단계 워크플로우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CHAPTER 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디지털화 5단계 워크플로우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표준 프로세스 + 6일 학습 매핑 — 식별·수집·디지털화·구조화·활용</a:t>
            </a:r>
          </a:p>
        </p:txBody>
      </p:sp>
      <p:sp>
        <p:nvSpPr>
          <p:cNvPr id="109" name="S109"/>
          <p:cNvSpPr/>
          <p:nvPr/>
        </p:nvSpPr>
        <p:spPr>
          <a:xfrm>
            <a:off x="812800" y="2044700"/>
            <a:ext cx="7620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812800" y="20447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12800" y="23241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E8632C"/>
                </a:solidFill>
              </a:rPr>
              <a:t>(오늘)</a:t>
            </a:r>
          </a:p>
        </p:txBody>
      </p:sp>
      <p:sp>
        <p:nvSpPr>
          <p:cNvPr id="112" name="S112"/>
          <p:cNvSpPr/>
          <p:nvPr/>
        </p:nvSpPr>
        <p:spPr>
          <a:xfrm>
            <a:off x="914400" y="2679700"/>
            <a:ext cx="558800" cy="558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914400" y="26797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558800" y="33401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0F3A2E"/>
                </a:solidFill>
              </a:rPr>
              <a:t>식별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58800" y="3606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6B6B6B"/>
                </a:solidFill>
              </a:rPr>
              <a:t>Identification</a:t>
            </a:r>
          </a:p>
        </p:txBody>
      </p:sp>
      <p:sp>
        <p:nvSpPr>
          <p:cNvPr id="116" name="S116"/>
          <p:cNvSpPr/>
          <p:nvPr/>
        </p:nvSpPr>
        <p:spPr>
          <a:xfrm>
            <a:off x="609600" y="3860800"/>
            <a:ext cx="1168400" cy="1016000"/>
          </a:xfrm>
          <a:prstGeom prst="rect">
            <a:avLst/>
          </a:prstGeom>
          <a:solidFill>
            <a:srgbClr val="0F3A2E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35000" y="4140200"/>
            <a:ext cx="11176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데이터 자산
인벤토리 작성</a:t>
            </a:r>
          </a:p>
        </p:txBody>
      </p:sp>
      <p:sp>
        <p:nvSpPr>
          <p:cNvPr id="118" name="S118"/>
          <p:cNvSpPr/>
          <p:nvPr/>
        </p:nvSpPr>
        <p:spPr>
          <a:xfrm>
            <a:off x="1828800" y="4330700"/>
            <a:ext cx="101600" cy="127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2133600" y="2044700"/>
            <a:ext cx="762000" cy="25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2133600" y="20447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6B6B6B"/>
                </a:solidFill>
              </a:rPr>
              <a:t>DAY 2</a:t>
            </a:r>
          </a:p>
        </p:txBody>
      </p:sp>
      <p:sp>
        <p:nvSpPr>
          <p:cNvPr id="121" name="S121"/>
          <p:cNvSpPr/>
          <p:nvPr/>
        </p:nvSpPr>
        <p:spPr>
          <a:xfrm>
            <a:off x="2235200" y="2679700"/>
            <a:ext cx="558800" cy="5588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235200" y="26797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879600" y="33401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3D7BC8"/>
                </a:solidFill>
              </a:rPr>
              <a:t>수집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879600" y="3606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6B6B6B"/>
                </a:solidFill>
              </a:rPr>
              <a:t>Collection</a:t>
            </a:r>
          </a:p>
        </p:txBody>
      </p:sp>
      <p:sp>
        <p:nvSpPr>
          <p:cNvPr id="125" name="S125"/>
          <p:cNvSpPr/>
          <p:nvPr/>
        </p:nvSpPr>
        <p:spPr>
          <a:xfrm>
            <a:off x="1930400" y="3860800"/>
            <a:ext cx="1168400" cy="1016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1955800" y="4140200"/>
            <a:ext cx="11176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스마트폰·카메라
녹음·앱·센서</a:t>
            </a:r>
          </a:p>
        </p:txBody>
      </p:sp>
      <p:sp>
        <p:nvSpPr>
          <p:cNvPr id="127" name="S127"/>
          <p:cNvSpPr/>
          <p:nvPr/>
        </p:nvSpPr>
        <p:spPr>
          <a:xfrm>
            <a:off x="3149600" y="4330700"/>
            <a:ext cx="101600" cy="127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3454400" y="2044700"/>
            <a:ext cx="762000" cy="25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3454400" y="20447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6B6B6B"/>
                </a:solidFill>
              </a:rPr>
              <a:t>DAY 3</a:t>
            </a:r>
          </a:p>
        </p:txBody>
      </p:sp>
      <p:sp>
        <p:nvSpPr>
          <p:cNvPr id="130" name="S130"/>
          <p:cNvSpPr/>
          <p:nvPr/>
        </p:nvSpPr>
        <p:spPr>
          <a:xfrm>
            <a:off x="3556000" y="2679700"/>
            <a:ext cx="558800" cy="558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556000" y="26797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3200400" y="33401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E8632C"/>
                </a:solidFill>
              </a:rPr>
              <a:t>디지털화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200400" y="3606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6B6B6B"/>
                </a:solidFill>
              </a:rPr>
              <a:t>Digitization</a:t>
            </a:r>
          </a:p>
        </p:txBody>
      </p:sp>
      <p:sp>
        <p:nvSpPr>
          <p:cNvPr id="134" name="S134"/>
          <p:cNvSpPr/>
          <p:nvPr/>
        </p:nvSpPr>
        <p:spPr>
          <a:xfrm>
            <a:off x="3251200" y="3860800"/>
            <a:ext cx="11684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3276600" y="4140200"/>
            <a:ext cx="11176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OCR·STT·
영상 분석</a:t>
            </a:r>
          </a:p>
        </p:txBody>
      </p:sp>
      <p:sp>
        <p:nvSpPr>
          <p:cNvPr id="136" name="S136"/>
          <p:cNvSpPr/>
          <p:nvPr/>
        </p:nvSpPr>
        <p:spPr>
          <a:xfrm>
            <a:off x="4470400" y="4330700"/>
            <a:ext cx="101600" cy="127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4775200" y="2044700"/>
            <a:ext cx="762000" cy="25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775200" y="20447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6B6B6B"/>
                </a:solidFill>
              </a:rPr>
              <a:t>DAY 4</a:t>
            </a:r>
          </a:p>
        </p:txBody>
      </p:sp>
      <p:sp>
        <p:nvSpPr>
          <p:cNvPr id="139" name="S139"/>
          <p:cNvSpPr/>
          <p:nvPr/>
        </p:nvSpPr>
        <p:spPr>
          <a:xfrm>
            <a:off x="4876800" y="2679700"/>
            <a:ext cx="558800" cy="558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4876800" y="26797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521200" y="33401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8B9A3F"/>
                </a:solidFill>
              </a:rPr>
              <a:t>구조화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521200" y="3606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6B6B6B"/>
                </a:solidFill>
              </a:rPr>
              <a:t>Structuring</a:t>
            </a:r>
          </a:p>
        </p:txBody>
      </p:sp>
      <p:sp>
        <p:nvSpPr>
          <p:cNvPr id="143" name="S143"/>
          <p:cNvSpPr/>
          <p:nvPr/>
        </p:nvSpPr>
        <p:spPr>
          <a:xfrm>
            <a:off x="4572000" y="3860800"/>
            <a:ext cx="11684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4597400" y="4140200"/>
            <a:ext cx="11176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비정형→정형
메타데이터·분류</a:t>
            </a:r>
          </a:p>
        </p:txBody>
      </p:sp>
      <p:sp>
        <p:nvSpPr>
          <p:cNvPr id="145" name="S145"/>
          <p:cNvSpPr/>
          <p:nvPr/>
        </p:nvSpPr>
        <p:spPr>
          <a:xfrm>
            <a:off x="5791200" y="4330700"/>
            <a:ext cx="101600" cy="127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6096000" y="2044700"/>
            <a:ext cx="762000" cy="254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6096000" y="20447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6B6B6B"/>
                </a:solidFill>
              </a:rPr>
              <a:t>DAY 5~6</a:t>
            </a:r>
          </a:p>
        </p:txBody>
      </p:sp>
      <p:sp>
        <p:nvSpPr>
          <p:cNvPr id="148" name="S148"/>
          <p:cNvSpPr/>
          <p:nvPr/>
        </p:nvSpPr>
        <p:spPr>
          <a:xfrm>
            <a:off x="6197600" y="2679700"/>
            <a:ext cx="558800" cy="5588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6197600" y="2679700"/>
            <a:ext cx="558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5842000" y="33401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7E3FBF"/>
                </a:solidFill>
              </a:rPr>
              <a:t>활용·운영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5842000" y="36068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6B6B6B"/>
                </a:solidFill>
              </a:rPr>
              <a:t>Utilization</a:t>
            </a:r>
          </a:p>
        </p:txBody>
      </p:sp>
      <p:sp>
        <p:nvSpPr>
          <p:cNvPr id="152" name="S152"/>
          <p:cNvSpPr/>
          <p:nvPr/>
        </p:nvSpPr>
        <p:spPr>
          <a:xfrm>
            <a:off x="5892800" y="3860800"/>
            <a:ext cx="1168400" cy="1016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5918200" y="4140200"/>
            <a:ext cx="11176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 학습·자동화
품질·운영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5270500"/>
            <a:ext cx="6477000" cy="17780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762000" y="5461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spc="100" dirty="0">
                <a:solidFill>
                  <a:srgbClr val="E8632C"/>
                </a:solidFill>
              </a:rPr>
              <a:t>★ 오늘의 산출물 (Step 1 — 식별)</a:t>
            </a:r>
          </a:p>
        </p:txBody>
      </p:sp>
      <p:sp>
        <p:nvSpPr>
          <p:cNvPr id="156" name="S156"/>
          <p:cNvSpPr/>
          <p:nvPr/>
        </p:nvSpPr>
        <p:spPr>
          <a:xfrm>
            <a:off x="762000" y="5842000"/>
            <a:ext cx="19685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762000" y="58420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✓ 자사 데이터 자산 인벤토리</a:t>
            </a:r>
          </a:p>
        </p:txBody>
      </p:sp>
      <p:sp>
        <p:nvSpPr>
          <p:cNvPr id="158" name="S158"/>
          <p:cNvSpPr/>
          <p:nvPr/>
        </p:nvSpPr>
        <p:spPr>
          <a:xfrm>
            <a:off x="2921000" y="5842000"/>
            <a:ext cx="19685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921000" y="58420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✓ 4분면 진단 매트릭스</a:t>
            </a:r>
          </a:p>
        </p:txBody>
      </p:sp>
      <p:sp>
        <p:nvSpPr>
          <p:cNvPr id="160" name="S160"/>
          <p:cNvSpPr/>
          <p:nvPr/>
        </p:nvSpPr>
        <p:spPr>
          <a:xfrm>
            <a:off x="5080000" y="5842000"/>
            <a:ext cx="19685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80000" y="58420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✓ 자기 직무 워크플로우 매핑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762000" y="6477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2C2C2C"/>
                </a:solidFill>
              </a:rPr>
              <a:t>* 식별이 부실하면 이후 모든 단계가 흔들림 — 시간 충분히 들여 명확히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3660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55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6일 학습 매핑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8740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E8632C"/>
                </a:solidFill>
              </a:rPr>
              <a:t>DAY 1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651000" y="78740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 — 식별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3429000" y="78740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오늘 — 데이터 자산 인벤토리 + 우선순위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772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DAY 2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651000" y="80772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 — 수집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3429000" y="80772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스마트폰·카메라·녹음으로 현장 데이터 수집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762000" y="82804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DAY 3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1651000" y="8280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 — 디지털화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3429000" y="8280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OCR·STT로 비정형 데이터를 텍스트로 변환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762000" y="8483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DAY 4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1651000" y="84836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 — 구조화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3429000" y="84836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메타데이터·분류 체계 적용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762000" y="86868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DAY 5~6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1651000" y="86868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 — 활용·운영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3429000" y="86868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AI 학습·품질 관리·KPI 측정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762000" y="9461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다음 단계 </a:t>
            </a:r>
            <a:r>
              <a:rPr lang="en-US" sz="1100" b="1" dirty="0">
                <a:solidFill>
                  <a:srgbClr val="2C2C2C"/>
                </a:solidFill>
              </a:rPr>
              <a:t>DAY 2 — Step 2. 수집 (Collection)</a:t>
            </a:r>
            <a:r>
              <a:rPr lang="en-US" sz="1100" dirty="0">
                <a:solidFill>
                  <a:srgbClr val="6B6B6B"/>
                </a:solidFill>
              </a:rPr>
              <a:t>  ·  스마트폰을 챙겨오세요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6일 학습 = 자기 직무 데이터 자산화 프로젝트의 6단계 진척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6" name="S18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45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1 식별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159000" y="952500"/>
            <a:ext cx="450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식별 — 무엇을 자산화할 것인가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Identification — 자기 부서의 데이터 자산을 명확히 인식하는 단계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698500" y="2120900"/>
            <a:ext cx="635000" cy="635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698500" y="21209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524000" y="215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무엇이 우리의 데이터 자산인가?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651000" y="24765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현재 보유 자료 (텍스트·표·이미지·음성·영상)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651000" y="26797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잠재 자산 (베테랑 머릿속 · 일상 업무 중)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3302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698500" y="3454400"/>
            <a:ext cx="635000" cy="635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98500" y="34544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Q2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524000" y="34925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어떤 우선순위로 자산화할 것인가?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651000" y="38100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손실 위험 (베테랑 은퇴 · 인력 이동)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651000" y="40132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가치 (활용도 · 경쟁력 기여)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651000" y="42164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디지털화 비용 · 노력</a:t>
            </a:r>
          </a:p>
        </p:txBody>
      </p:sp>
      <p:sp>
        <p:nvSpPr>
          <p:cNvPr id="124" name="S124"/>
          <p:cNvSpPr/>
          <p:nvPr/>
        </p:nvSpPr>
        <p:spPr>
          <a:xfrm>
            <a:off x="546100" y="4572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698500" y="4724400"/>
            <a:ext cx="635000" cy="635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698500" y="47244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524000" y="47625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누가 책임자인가?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651000" y="50800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부서별 데이터 책임자 지정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651000" y="5283200"/>
            <a:ext cx="5143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부서간 데이터 공유 권한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6032500"/>
            <a:ext cx="6477000" cy="177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6032500"/>
            <a:ext cx="76200" cy="177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927100" y="6223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산출물 — 반드시 완성하고 가야 함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927100" y="6540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1308100" y="65405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자사 데이터 자산 인벤토리 초안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911600" y="65405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5형태(텍스트·표·이미지·음성·영상)별 분류 + 가치 평가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927100" y="6896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308100" y="6896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디지털화 우선순위 매트릭스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3911600" y="6896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4분면 진단 + C 영역(가치 高 · 디지털化 低) 1~3개 선정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927100" y="72517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308100" y="72517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부서별 책임자 잠정안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3911600" y="72517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데이터 자산별 담당자 + 부서간 공유 권한 협의안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80645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8255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⚠️ 핵심 팁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7620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식별 단계가 부실하면 </a:t>
            </a:r>
            <a:r>
              <a:rPr lang="en-US" sz="1400" b="1" dirty="0">
                <a:solidFill>
                  <a:srgbClr val="F4B400"/>
                </a:solidFill>
              </a:rPr>
              <a:t>이후 모든 단계가 흔들린다.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89408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시간을 충분히 들여 명확히 할 것 — 빠른 진행보다 정확한 진단이 우선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93980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762000" y="9550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워크숍 시간 </a:t>
            </a:r>
            <a:r>
              <a:rPr lang="en-US" sz="1100" dirty="0">
                <a:solidFill>
                  <a:srgbClr val="2C2C2C"/>
                </a:solidFill>
              </a:rPr>
              <a:t>40분 (개별 작성 25분 + 부서별 공유 15분)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762000" y="9804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개별 워크시트 작성 후 동일 부서끼리 모여 통합 — 부서별 발표 자료 준비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2" name="S15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55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2 수집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2 예고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159000" y="952500"/>
            <a:ext cx="450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수집 — 어떻게 효율적으로 모을 것인가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Collection — DAY 2 예고 · 스마트폰을 가장 강력한 도구로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76200" cy="1079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74700" y="2120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747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82700" y="2120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스마트폰 (가장 강력)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282700" y="2387600"/>
            <a:ext cx="2349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E8632C"/>
                </a:solidFill>
              </a:rPr>
              <a:t>카메라 · 마이크 · 앱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282700" y="26416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사진·영상·음성 메모·양식 입력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1968500"/>
            <a:ext cx="76200" cy="1079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4038600" y="21209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40386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120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음성 녹음 장비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546600" y="2387600"/>
            <a:ext cx="2349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3D7BC8"/>
                </a:solidFill>
              </a:rPr>
              <a:t>베테랑 인터뷰 · 회의 녹음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546600" y="26416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장시간 인터뷰 · 고객 상담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175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175000"/>
            <a:ext cx="76200" cy="1079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74700" y="3327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74700" y="3327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82700" y="3327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데이터 수집 앱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282700" y="3594100"/>
            <a:ext cx="2349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사내 표준 양식화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82700" y="38481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메타데이터 자동 부여</a:t>
            </a:r>
          </a:p>
        </p:txBody>
      </p:sp>
      <p:sp>
        <p:nvSpPr>
          <p:cNvPr id="132" name="S132"/>
          <p:cNvSpPr/>
          <p:nvPr/>
        </p:nvSpPr>
        <p:spPr>
          <a:xfrm>
            <a:off x="3810000" y="3175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3810000" y="3175000"/>
            <a:ext cx="76200" cy="1079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4038600" y="33274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4038600" y="3327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4546600" y="3327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센서 · IoT (해당 시)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4546600" y="3594100"/>
            <a:ext cx="2349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장비 작동 데이터 자동 수집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546600" y="38481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실시간 모니터링 + 패턴 분석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381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381500"/>
            <a:ext cx="76200" cy="1079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74700" y="45339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74700" y="4533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82700" y="4533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기존 시스템 추출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82700" y="4800600"/>
            <a:ext cx="2349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0F3A2E"/>
                </a:solidFill>
              </a:rPr>
              <a:t>ERP · CRM · LMS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282700" y="50546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API · DB 직접 추출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5778500"/>
            <a:ext cx="6477000" cy="215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57785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596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효율적 수집의 5원칙</a:t>
            </a:r>
          </a:p>
        </p:txBody>
      </p:sp>
      <p:sp>
        <p:nvSpPr>
          <p:cNvPr id="149" name="S149"/>
          <p:cNvSpPr/>
          <p:nvPr/>
        </p:nvSpPr>
        <p:spPr>
          <a:xfrm>
            <a:off x="927100" y="63500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927100" y="6350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270000" y="63627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일상 업무 중 자연스럽게 수집 (별도 시간 X)</a:t>
            </a:r>
          </a:p>
        </p:txBody>
      </p:sp>
      <p:sp>
        <p:nvSpPr>
          <p:cNvPr id="152" name="S152"/>
          <p:cNvSpPr/>
          <p:nvPr/>
        </p:nvSpPr>
        <p:spPr>
          <a:xfrm>
            <a:off x="927100" y="66421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6642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270000" y="66548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양식화 · 표준화로 시간 단축</a:t>
            </a:r>
          </a:p>
        </p:txBody>
      </p:sp>
      <p:sp>
        <p:nvSpPr>
          <p:cNvPr id="155" name="S155"/>
          <p:cNvSpPr/>
          <p:nvPr/>
        </p:nvSpPr>
        <p:spPr>
          <a:xfrm>
            <a:off x="927100" y="69342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9271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1270000" y="69469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메타데이터 즉시 부여 (날짜 · 작성자 · 맥락)</a:t>
            </a:r>
          </a:p>
        </p:txBody>
      </p:sp>
      <p:sp>
        <p:nvSpPr>
          <p:cNvPr id="158" name="S158"/>
          <p:cNvSpPr/>
          <p:nvPr/>
        </p:nvSpPr>
        <p:spPr>
          <a:xfrm>
            <a:off x="927100" y="72263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72263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1270000" y="72390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보안 등급 즉시 표시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75184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7518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270000" y="75311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1주 단위 정기 점검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8191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546100" y="8191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838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2 — 학습 예고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87122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02. </a:t>
            </a:r>
            <a:r>
              <a:rPr lang="en-US" sz="1500" b="1" dirty="0">
                <a:solidFill>
                  <a:srgbClr val="FFFFFF"/>
                </a:solidFill>
              </a:rPr>
              <a:t>스마트폰 기반 현장 데이터 수집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27100" y="9080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★ BIG WIN — 자기 부서 1주일 데이터 수집 시스템 구축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9461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762000" y="9550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✅ </a:t>
            </a:r>
            <a:r>
              <a:rPr lang="en-US" sz="1100" b="1" dirty="0">
                <a:solidFill>
                  <a:srgbClr val="2C2C2C"/>
                </a:solidFill>
              </a:rPr>
              <a:t>오늘의 약속 </a:t>
            </a:r>
            <a:r>
              <a:rPr lang="en-US" sz="1100" dirty="0">
                <a:solidFill>
                  <a:srgbClr val="6B6B6B"/>
                </a:solidFill>
              </a:rPr>
              <a:t> — 내일 스마트폰을 챙겨오기 + 베테랑 1명 인터뷰 일정 잡기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762000" y="9766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디지털화는 수집부터 잘 해야 좋은 결과가 나온다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5" name="S17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69285B-A884-D807-2318-2D57EEC4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0" y="4356100"/>
            <a:ext cx="2349500" cy="13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61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3 디지털화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3 예고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159000" y="952500"/>
            <a:ext cx="450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디지털화 — 비정형을 텍스트로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Digitization — DAY 3 예고 · OCR · STT · 영상 분석으로 텍스트화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6477000" cy="584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635000" cy="584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1968500"/>
            <a:ext cx="635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308100" y="2070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OCR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08100" y="2311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이미지·도면·점검표 사진 → 텍스트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4991100" y="21971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ChatGPT Vision · Gemini Vision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603500"/>
            <a:ext cx="6477000" cy="584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603500"/>
            <a:ext cx="635000" cy="584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546100" y="2603500"/>
            <a:ext cx="635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08100" y="2705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8B9A3F"/>
                </a:solidFill>
              </a:rPr>
              <a:t>STT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08100" y="2946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음성·인터뷰·회의 녹음 → 텍스트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991100" y="28321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Whisper (글로벌 표준)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238500"/>
            <a:ext cx="6477000" cy="584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238500"/>
            <a:ext cx="635000" cy="5842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546100" y="3238500"/>
            <a:ext cx="635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308100" y="3340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영상 분석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08100" y="3581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영상 → 단계별 텍스트 매뉴얼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991100" y="34671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Gemini Veo (가장 우수)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3873500"/>
            <a:ext cx="6477000" cy="584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546100" y="3873500"/>
            <a:ext cx="635000" cy="584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546100" y="3873500"/>
            <a:ext cx="635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308100" y="3975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손글씨 인식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308100" y="4216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베테랑 노트 · 점검표 → 텍스트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991100" y="41021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Vision + 후처리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4508500"/>
            <a:ext cx="6477000" cy="584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546100" y="4508500"/>
            <a:ext cx="635000" cy="5842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546100" y="4508500"/>
            <a:ext cx="635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308100" y="4610100"/>
            <a:ext cx="165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7E3FBF"/>
                </a:solidFill>
              </a:rPr>
              <a:t>자동 분류·태깅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308100" y="4851400"/>
            <a:ext cx="355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AI 자동 분류 · 메타데이터 추출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4991100" y="47371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6B6B6B"/>
                </a:solidFill>
              </a:rPr>
              <a:t>LLM Function Calling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5397500"/>
            <a:ext cx="64770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5397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461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기술 활용 우선순위 (가치 높음 순)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778500"/>
            <a:ext cx="64770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673100" y="5778500"/>
            <a:ext cx="2032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705100" y="5778500"/>
            <a:ext cx="1778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디지털화 기술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4483100" y="5778500"/>
            <a:ext cx="2540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효과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6096000"/>
            <a:ext cx="6477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673100" y="6096000"/>
            <a:ext cx="177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876300" y="6096000"/>
            <a:ext cx="1828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음성 (인터뷰)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2705100" y="6096000"/>
            <a:ext cx="1778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STT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4483100" y="6096000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E8632C"/>
                </a:solidFill>
              </a:rPr>
              <a:t>활용도 가장 낮은 자산 자산화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6515100"/>
            <a:ext cx="6477000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673100" y="6515100"/>
            <a:ext cx="177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876300" y="6515100"/>
            <a:ext cx="1828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손글씨 노트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705100" y="6515100"/>
            <a:ext cx="1778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OCR + 검수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4483100" y="6515100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E8632C"/>
                </a:solidFill>
              </a:rPr>
              <a:t>베테랑 노하우 보존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6934200"/>
            <a:ext cx="6477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876300" y="6934200"/>
            <a:ext cx="1828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도면 · 차트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2705100" y="6934200"/>
            <a:ext cx="1778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OCR + 구조화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4483100" y="6934200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기존 자산 가치 향상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7353300"/>
            <a:ext cx="6477000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876300" y="7353300"/>
            <a:ext cx="18288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영상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705100" y="7353300"/>
            <a:ext cx="1778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영상 분석 + STT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483100" y="7353300"/>
            <a:ext cx="2476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시연 자산 매뉴얼화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8191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546100" y="8191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838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3 — 학습 예고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87122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03. </a:t>
            </a:r>
            <a:r>
              <a:rPr lang="en-US" sz="1500" b="1" dirty="0">
                <a:solidFill>
                  <a:srgbClr val="FFFFFF"/>
                </a:solidFill>
              </a:rPr>
              <a:t>OCR · STT 디지털화 기술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27100" y="9080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베테랑 인터뷰 음성을 검색 가능한 텍스트 데이터베이스로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9461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762000" y="9550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핵심 </a:t>
            </a:r>
            <a:r>
              <a:rPr lang="en-US" sz="1100" dirty="0">
                <a:solidFill>
                  <a:srgbClr val="2C2C2C"/>
                </a:solidFill>
              </a:rPr>
              <a:t> — 음성·손글씨가 가장 활용도 낮은 자산 = 디지털化 효과 가장 큼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762000" y="9766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무료 도구로도 95% 이상 정확도 달성 가능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7" name="S17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10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2C4B-25C0-24CF-9213-D4F28B6B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642AB6B8-4CF4-9BEE-8BD1-7986C87E5796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B460BF42-841E-85CC-CC21-664447AE03F9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1B48BB79-2958-2264-6283-53D96EE2BD54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3 디지털화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A40CDD88-33FD-FEF5-4FB8-1A532CCD2DF9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1B810351-9620-A1D8-4469-29040C35A5EE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3 예고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A27A9A4C-CCF3-D44F-AD4C-F819E8E1E0BB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>
            <a:extLst>
              <a:ext uri="{FF2B5EF4-FFF2-40B4-BE49-F238E27FC236}">
                <a16:creationId xmlns:a16="http://schemas.microsoft.com/office/drawing/2014/main" id="{049513BE-A369-7BD7-D56B-7CE83F78B3B2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>
            <a:extLst>
              <a:ext uri="{FF2B5EF4-FFF2-40B4-BE49-F238E27FC236}">
                <a16:creationId xmlns:a16="http://schemas.microsoft.com/office/drawing/2014/main" id="{053149F1-6B6A-EE88-C30B-6BC8D90AE1CE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6" name="T176">
            <a:extLst>
              <a:ext uri="{FF2B5EF4-FFF2-40B4-BE49-F238E27FC236}">
                <a16:creationId xmlns:a16="http://schemas.microsoft.com/office/drawing/2014/main" id="{C0AAC70D-5A1B-35C2-0CE7-C3650A3D5258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7" name="S177">
            <a:extLst>
              <a:ext uri="{FF2B5EF4-FFF2-40B4-BE49-F238E27FC236}">
                <a16:creationId xmlns:a16="http://schemas.microsoft.com/office/drawing/2014/main" id="{D419B4C8-F739-16F7-77FE-31DC8FE98B03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>
            <a:extLst>
              <a:ext uri="{FF2B5EF4-FFF2-40B4-BE49-F238E27FC236}">
                <a16:creationId xmlns:a16="http://schemas.microsoft.com/office/drawing/2014/main" id="{F444C0A4-FB0E-487D-51B7-B81826C9A748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>
            <a:extLst>
              <a:ext uri="{FF2B5EF4-FFF2-40B4-BE49-F238E27FC236}">
                <a16:creationId xmlns:a16="http://schemas.microsoft.com/office/drawing/2014/main" id="{3DA3093D-930E-F342-E5FD-672F483B6894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>
            <a:extLst>
              <a:ext uri="{FF2B5EF4-FFF2-40B4-BE49-F238E27FC236}">
                <a16:creationId xmlns:a16="http://schemas.microsoft.com/office/drawing/2014/main" id="{5145B323-E2D5-7714-A024-C94324E5F0D3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149A124-257B-5E2E-4B6D-BA6BCD377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7" y="1081122"/>
            <a:ext cx="6448320" cy="346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19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4 구조화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4 예고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159000" y="952500"/>
            <a:ext cx="450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구조화 — 정형 데이터로 변환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Structuring — DAY 4 예고 · 비정형 데이터에 의미 체계 부여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3048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30480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1968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BEFORE — 비정형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98500" y="24765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자유 텍스트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98500" y="27051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이미지·도면 사진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98500" y="29337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음성 녹음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698500" y="31623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동영상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698500" y="33909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• 손글씨 노트</a:t>
            </a:r>
          </a:p>
        </p:txBody>
      </p:sp>
      <p:sp>
        <p:nvSpPr>
          <p:cNvPr id="119" name="S119"/>
          <p:cNvSpPr/>
          <p:nvPr/>
        </p:nvSpPr>
        <p:spPr>
          <a:xfrm>
            <a:off x="3594100" y="2730500"/>
            <a:ext cx="381000" cy="177800"/>
          </a:xfrm>
          <a:prstGeom prst="rightArrow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3975100" y="1968500"/>
            <a:ext cx="3048000" cy="165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3975100" y="1968500"/>
            <a:ext cx="3048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3975100" y="1968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AFTER — 정형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127500" y="24765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✓ 표 · DB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127500" y="27051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✓ 구조화 텍스트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127500" y="29337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✓ 메타데이터 + 태그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127500" y="31623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✓ 분류 체계 적용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127500" y="33909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8B9A3F"/>
                </a:solidFill>
              </a:rPr>
              <a:t>✓ AI 학습 데이터</a:t>
            </a:r>
          </a:p>
        </p:txBody>
      </p:sp>
      <p:sp>
        <p:nvSpPr>
          <p:cNvPr id="128" name="S128"/>
          <p:cNvSpPr/>
          <p:nvPr/>
        </p:nvSpPr>
        <p:spPr>
          <a:xfrm>
            <a:off x="546100" y="3873500"/>
            <a:ext cx="64770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546100" y="3873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3937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구조화의 5요소</a:t>
            </a:r>
          </a:p>
        </p:txBody>
      </p:sp>
      <p:sp>
        <p:nvSpPr>
          <p:cNvPr id="131" name="S131"/>
          <p:cNvSpPr/>
          <p:nvPr/>
        </p:nvSpPr>
        <p:spPr>
          <a:xfrm>
            <a:off x="673100" y="43815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673100" y="4381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079500" y="4406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메타데이터 설계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2921000" y="44069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날짜 · 작성자 · 부서 · 태그 · 품질 · 정확도</a:t>
            </a:r>
          </a:p>
        </p:txBody>
      </p:sp>
      <p:sp>
        <p:nvSpPr>
          <p:cNvPr id="135" name="S135"/>
          <p:cNvSpPr/>
          <p:nvPr/>
        </p:nvSpPr>
        <p:spPr>
          <a:xfrm>
            <a:off x="673100" y="47625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673100" y="4762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079500" y="4787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분류 체계 (Taxonomy)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921000" y="47879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직무별 · 기능별 · 시간별 — 일관된 분류 적용</a:t>
            </a:r>
          </a:p>
        </p:txBody>
      </p:sp>
      <p:sp>
        <p:nvSpPr>
          <p:cNvPr id="139" name="S139"/>
          <p:cNvSpPr/>
          <p:nvPr/>
        </p:nvSpPr>
        <p:spPr>
          <a:xfrm>
            <a:off x="673100" y="51435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73100" y="5143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1079500" y="5168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표준화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2921000" y="51689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양식 · 용어 · 기호 통일 · 다국어 매핑</a:t>
            </a:r>
          </a:p>
        </p:txBody>
      </p:sp>
      <p:sp>
        <p:nvSpPr>
          <p:cNvPr id="143" name="S143"/>
          <p:cNvSpPr/>
          <p:nvPr/>
        </p:nvSpPr>
        <p:spPr>
          <a:xfrm>
            <a:off x="673100" y="55245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673100" y="5524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079500" y="5549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라벨링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921000" y="55499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학습용 라벨 · 인간 검수 데이터</a:t>
            </a:r>
          </a:p>
        </p:txBody>
      </p:sp>
      <p:sp>
        <p:nvSpPr>
          <p:cNvPr id="147" name="S147"/>
          <p:cNvSpPr/>
          <p:nvPr/>
        </p:nvSpPr>
        <p:spPr>
          <a:xfrm>
            <a:off x="673100" y="5905500"/>
            <a:ext cx="304800" cy="3048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673100" y="5905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079500" y="5930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품질 검증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921000" y="59309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정확도 · 일관성 · 빠진 데이터 점검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66675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6667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685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핵심 산출물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27100" y="71755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자사 데이터 표준 분류 체계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74295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메타데이터 표준 양식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4102100" y="7175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사내 데이터 디렉토리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4102100" y="7429500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라벨링 가이드라인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7937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7937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812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4 — 학습 예고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84582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04. </a:t>
            </a:r>
            <a:r>
              <a:rPr lang="en-US" sz="1500" b="1" dirty="0">
                <a:solidFill>
                  <a:srgbClr val="FFFFFF"/>
                </a:solidFill>
              </a:rPr>
              <a:t>데이터 구조화·표준화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882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디지털화된 데이터에 "의미"를 부여 — 검색·분석 가능한 자산으로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9207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933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8B9A3F"/>
                </a:solidFill>
              </a:rPr>
              <a:t>왜 구조화가 필요한가 </a:t>
            </a:r>
            <a:r>
              <a:rPr lang="en-US" sz="1100" dirty="0">
                <a:solidFill>
                  <a:srgbClr val="2C2C2C"/>
                </a:solidFill>
              </a:rPr>
              <a:t> — 디지털화만으로는 "검색·분석 가능한 자산"이 안 됨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9588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메타데이터·분류 체계가 있어야 AI가 학습할 수 있는 데이터로 변환 가능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9791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구조화 = 데이터를 "인간 + AI" 둘 다 활용 가능한 자산으로 만드는 단계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0" name="S17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90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Step 5 활용·운영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Step 5 예고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159000" y="952500"/>
            <a:ext cx="450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활용·운영 — 자산을 가치로 전환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Utilization — DAY 5~6 예고 · 자산화는 운영이 시작될 때 가치를 만든다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76200" cy="1079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74700" y="2120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747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82700" y="2120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AI 도구 학습 데이터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282700" y="24003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VOL.01에서 학습한 4도구의 Knowledge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282700" y="26035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Custom GPT · Gem · Project · Sparkpages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1968500"/>
            <a:ext cx="76200" cy="1079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4038600" y="21209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40386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120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검색 · 분석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546600" y="24003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사내 위키 · 검색 시스템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546600" y="26035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BI · KPI 대시보드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175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175000"/>
            <a:ext cx="76200" cy="1079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74700" y="3327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74700" y="3327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82700" y="3327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자동화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282700" y="36068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반복 업무 자동화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82700" y="38100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AI Agent 위임</a:t>
            </a:r>
          </a:p>
        </p:txBody>
      </p:sp>
      <p:sp>
        <p:nvSpPr>
          <p:cNvPr id="132" name="S132"/>
          <p:cNvSpPr/>
          <p:nvPr/>
        </p:nvSpPr>
        <p:spPr>
          <a:xfrm>
            <a:off x="3810000" y="3175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3810000" y="3175000"/>
            <a:ext cx="76200" cy="1079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4038600" y="33274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4038600" y="3327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4546600" y="3327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의사결정 지원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4546600" y="36068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데이터 기반 의사결정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546600" y="38100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• 시뮬레이션 · 예측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508500"/>
            <a:ext cx="64770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50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762000" y="4572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운영의 5요소 (DAY 5)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762000" y="5016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1.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143000" y="50165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품질 관리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2730500" y="5016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정확도 · 일관성 유지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5397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2.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143000" y="53975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정기 갱신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2730500" y="5397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자산은 계속 업데이트 필요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762000" y="5778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3.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143000" y="57785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접근 권한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730500" y="5778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보안 등급별 접근 통제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762000" y="6159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4.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143000" y="61595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거버넌스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2730500" y="6159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사내 데이터 정책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62000" y="65405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5.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143000" y="65405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KPI · ROI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730500" y="6540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자산화 성과 측정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7239000"/>
            <a:ext cx="64770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7239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7366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7645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자산화는 </a:t>
            </a:r>
            <a:r>
              <a:rPr lang="en-US" sz="1300" b="1" dirty="0">
                <a:solidFill>
                  <a:srgbClr val="F4B400"/>
                </a:solidFill>
              </a:rPr>
              <a:t>운영이 시작될 때 비로소 가치를 만든다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8128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8128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8318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5~6 — 학습 예고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27100" y="86487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05·06. </a:t>
            </a:r>
            <a:r>
              <a:rPr lang="en-US" sz="1500" b="1" dirty="0">
                <a:solidFill>
                  <a:srgbClr val="FFFFFF"/>
                </a:solidFill>
              </a:rPr>
              <a:t>품질 관리 + KPI 자산화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901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전사 운영 · 90일 로드맵 · ROI 측정 — DX 실무자로 완성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9398000"/>
            <a:ext cx="64770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762000" y="9525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6일 후 모습 </a:t>
            </a:r>
            <a:r>
              <a:rPr lang="en-US" sz="1100" dirty="0">
                <a:solidFill>
                  <a:srgbClr val="6B6B6B"/>
                </a:solidFill>
              </a:rPr>
              <a:t> → </a:t>
            </a:r>
            <a:r>
              <a:rPr lang="en-US" sz="1100" b="1" dirty="0">
                <a:solidFill>
                  <a:srgbClr val="2C2C2C"/>
                </a:solidFill>
              </a:rPr>
              <a:t>체계적 자산화 시스템 구축 능력 + 데이터 + AI 결합한 DX 실무자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9779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"베테랑의 머릿속 노하우를 회사의 자산으로" — 본 과정의 핵심 미션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2" name="S17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392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실습 1-3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실습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1-3] 자기 직무 디지털화 워크플로우 매핑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5단계 워크플로우를 자기 직무에 매핑 + 6일 학습 개인 로드맵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546100" y="1968500"/>
            <a:ext cx="762000" cy="698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
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460500" y="209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우선순위 자산 1~3개 선정 (Chapter 2 인벤토리 활용)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34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손실 위험 + 가치 高 = 1순위 — 베테랑 노하우 · 고객 응대 패턴 등</a:t>
            </a:r>
          </a:p>
        </p:txBody>
      </p:sp>
      <p:sp>
        <p:nvSpPr>
          <p:cNvPr id="114" name="S114"/>
          <p:cNvSpPr/>
          <p:nvPr/>
        </p:nvSpPr>
        <p:spPr>
          <a:xfrm>
            <a:off x="546100" y="2857500"/>
            <a:ext cx="6477000" cy="298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S115"/>
          <p:cNvSpPr/>
          <p:nvPr/>
        </p:nvSpPr>
        <p:spPr>
          <a:xfrm>
            <a:off x="546100" y="2857500"/>
            <a:ext cx="762000" cy="298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546100" y="2857500"/>
            <a:ext cx="762000" cy="298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STEP
2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460500" y="2984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5단계별 액션 정의 (워크시트)</a:t>
            </a:r>
          </a:p>
        </p:txBody>
      </p:sp>
      <p:sp>
        <p:nvSpPr>
          <p:cNvPr id="118" name="S118"/>
          <p:cNvSpPr/>
          <p:nvPr/>
        </p:nvSpPr>
        <p:spPr>
          <a:xfrm>
            <a:off x="1460500" y="3302000"/>
            <a:ext cx="54610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1524000" y="3302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단계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2349500" y="3302000"/>
            <a:ext cx="1143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액션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492500" y="3302000"/>
            <a:ext cx="1460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도구·방법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953000" y="330200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소요 시간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5969000" y="3302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담당</a:t>
            </a:r>
          </a:p>
        </p:txBody>
      </p:sp>
      <p:sp>
        <p:nvSpPr>
          <p:cNvPr id="124" name="S124"/>
          <p:cNvSpPr/>
          <p:nvPr/>
        </p:nvSpPr>
        <p:spPr>
          <a:xfrm>
            <a:off x="1460500" y="3619500"/>
            <a:ext cx="546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1460500" y="3619500"/>
            <a:ext cx="50800" cy="4191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1524000" y="3619500"/>
            <a:ext cx="825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F3A2E"/>
                </a:solidFill>
              </a:rPr>
              <a:t>1. 식별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2349500" y="36195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인벤토리 작성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3492500" y="3619500"/>
            <a:ext cx="1460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(오늘 완료)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953000" y="3619500"/>
            <a:ext cx="1016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—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5969000" y="3619500"/>
            <a:ext cx="952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본인</a:t>
            </a:r>
          </a:p>
        </p:txBody>
      </p:sp>
      <p:sp>
        <p:nvSpPr>
          <p:cNvPr id="131" name="S131"/>
          <p:cNvSpPr/>
          <p:nvPr/>
        </p:nvSpPr>
        <p:spPr>
          <a:xfrm>
            <a:off x="1460500" y="4038600"/>
            <a:ext cx="5461000" cy="41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1460500" y="4038600"/>
            <a:ext cx="50800" cy="4191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1524000" y="4038600"/>
            <a:ext cx="825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3D7BC8"/>
                </a:solidFill>
              </a:rPr>
              <a:t>2. 수집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2349500" y="40386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베테랑 인터뷰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492500" y="4038600"/>
            <a:ext cx="1460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스마트폰 · 녹음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4953000" y="4038600"/>
            <a:ext cx="1016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2일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5969000" y="4038600"/>
            <a:ext cx="952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본인+베테랑</a:t>
            </a:r>
          </a:p>
        </p:txBody>
      </p:sp>
      <p:sp>
        <p:nvSpPr>
          <p:cNvPr id="138" name="S138"/>
          <p:cNvSpPr/>
          <p:nvPr/>
        </p:nvSpPr>
        <p:spPr>
          <a:xfrm>
            <a:off x="1460500" y="4457700"/>
            <a:ext cx="546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1460500" y="4457700"/>
            <a:ext cx="50800" cy="4191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524000" y="4457700"/>
            <a:ext cx="825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3. 디지털화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2349500" y="44577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음성→텍스트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3492500" y="4457700"/>
            <a:ext cx="1460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OCR · STT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953000" y="4457700"/>
            <a:ext cx="1016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1일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5969000" y="4457700"/>
            <a:ext cx="952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본인</a:t>
            </a:r>
          </a:p>
        </p:txBody>
      </p:sp>
      <p:sp>
        <p:nvSpPr>
          <p:cNvPr id="145" name="S145"/>
          <p:cNvSpPr/>
          <p:nvPr/>
        </p:nvSpPr>
        <p:spPr>
          <a:xfrm>
            <a:off x="1460500" y="4876800"/>
            <a:ext cx="5461000" cy="419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1460500" y="4876800"/>
            <a:ext cx="50800" cy="4191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1524000" y="4876800"/>
            <a:ext cx="825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8B9A3F"/>
                </a:solidFill>
              </a:rPr>
              <a:t>4. 구조화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2349500" y="48768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분류·메타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3492500" y="4876800"/>
            <a:ext cx="1460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분류 체계 적용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4953000" y="4876800"/>
            <a:ext cx="1016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2일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5969000" y="4876800"/>
            <a:ext cx="952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본인+팀장</a:t>
            </a:r>
          </a:p>
        </p:txBody>
      </p:sp>
      <p:sp>
        <p:nvSpPr>
          <p:cNvPr id="152" name="S152"/>
          <p:cNvSpPr/>
          <p:nvPr/>
        </p:nvSpPr>
        <p:spPr>
          <a:xfrm>
            <a:off x="1460500" y="5295900"/>
            <a:ext cx="54610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1460500" y="5295900"/>
            <a:ext cx="50800" cy="4191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1524000" y="5295900"/>
            <a:ext cx="825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7E3FBF"/>
                </a:solidFill>
              </a:rPr>
              <a:t>5. 활용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2349500" y="5295900"/>
            <a:ext cx="1143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AI 어시스턴트 구축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3492500" y="5295900"/>
            <a:ext cx="1460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Custom GPT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4953000" y="5295900"/>
            <a:ext cx="1016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2일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969000" y="5295900"/>
            <a:ext cx="9525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본인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032500"/>
            <a:ext cx="6477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032500"/>
            <a:ext cx="762000" cy="165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46100" y="6032500"/>
            <a:ext cx="762000" cy="165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
3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460500" y="615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6일 학습 개인 로드맵 작성</a:t>
            </a:r>
          </a:p>
        </p:txBody>
      </p:sp>
      <p:sp>
        <p:nvSpPr>
          <p:cNvPr id="163" name="S163"/>
          <p:cNvSpPr/>
          <p:nvPr/>
        </p:nvSpPr>
        <p:spPr>
          <a:xfrm>
            <a:off x="1524000" y="6477000"/>
            <a:ext cx="698500" cy="254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1524000" y="6477000"/>
            <a:ext cx="698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2349500" y="64897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수집 실습 시 자기 자산 활용 → 베테랑 1명 실제 인터뷰</a:t>
            </a:r>
          </a:p>
        </p:txBody>
      </p:sp>
      <p:sp>
        <p:nvSpPr>
          <p:cNvPr id="166" name="S166"/>
          <p:cNvSpPr/>
          <p:nvPr/>
        </p:nvSpPr>
        <p:spPr>
          <a:xfrm>
            <a:off x="1524000" y="6832600"/>
            <a:ext cx="6985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1524000" y="6832600"/>
            <a:ext cx="698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2349500" y="68453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디지털화 실습 시 자기 자산 활용 → STT로 음성 텍스트화</a:t>
            </a:r>
          </a:p>
        </p:txBody>
      </p:sp>
      <p:sp>
        <p:nvSpPr>
          <p:cNvPr id="169" name="S169"/>
          <p:cNvSpPr/>
          <p:nvPr/>
        </p:nvSpPr>
        <p:spPr>
          <a:xfrm>
            <a:off x="1524000" y="7188200"/>
            <a:ext cx="698500" cy="254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1524000" y="7188200"/>
            <a:ext cx="698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 4~6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2349500" y="72009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자기 자산을 거점으로 전체 워크플로우 구축 → 자산화 결과 발표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78740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78740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927100" y="806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 — 6일 학습 = 자산화 프로젝트의 6단계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8382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6일 학습 = </a:t>
            </a:r>
            <a:r>
              <a:rPr lang="en-US" sz="1500" b="1" dirty="0">
                <a:solidFill>
                  <a:srgbClr val="F4B400"/>
                </a:solidFill>
              </a:rPr>
              <a:t>자기 직무 데이터 자산화 프로젝트의 6단계 진척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8826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단순 강의가 아닌 — 실제 자기 자산을 거점으로 한 살아있는 워크플로우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9461500"/>
            <a:ext cx="6477000" cy="5334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9550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📋 </a:t>
            </a:r>
            <a:r>
              <a:rPr lang="en-US" sz="1100" b="1" dirty="0">
                <a:solidFill>
                  <a:srgbClr val="E8632C"/>
                </a:solidFill>
              </a:rPr>
              <a:t>실습 산출물 </a:t>
            </a:r>
            <a:r>
              <a:rPr lang="en-US" sz="1100" dirty="0">
                <a:solidFill>
                  <a:srgbClr val="2C2C2C"/>
                </a:solidFill>
              </a:rPr>
              <a:t> — 자기 직무 5단계 워크플로우 매핑 워크시트 + 6일 개인 로드맵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762000" y="9779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부서별 발표(5분) — 베테랑 의존도 + 자산화 시급도 + 6일 학습 계획 공유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049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3" name="S18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S18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71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Chapter 4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데이터 자산화 개론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4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5단계 워크플로우 — 어떻게 할 것인가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spc="200" dirty="0">
                <a:solidFill>
                  <a:srgbClr val="F4B400"/>
                </a:solidFill>
              </a:rPr>
              <a:t>5단계 워크플로우 요약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5334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53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698500" y="2578100"/>
            <a:ext cx="330200" cy="330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698500" y="25781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143000" y="2540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식별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143000" y="27559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spc="50" dirty="0">
                <a:solidFill>
                  <a:srgbClr val="6B6B6B"/>
                </a:solidFill>
              </a:rPr>
              <a:t>Identification</a:t>
            </a:r>
          </a:p>
        </p:txBody>
      </p:sp>
      <p:sp>
        <p:nvSpPr>
          <p:cNvPr id="117" name="S117"/>
          <p:cNvSpPr/>
          <p:nvPr/>
        </p:nvSpPr>
        <p:spPr>
          <a:xfrm>
            <a:off x="2349500" y="2616200"/>
            <a:ext cx="6350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2349500" y="26162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3111500" y="26416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자사 데이터 자산 인벤토리 + 우선순위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6705600" y="2616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✓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0734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073400"/>
            <a:ext cx="76200" cy="533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698500" y="3175000"/>
            <a:ext cx="330200" cy="3302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698500" y="31750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31369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3D7BC8"/>
                </a:solidFill>
              </a:rPr>
              <a:t>수집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143000" y="33528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spc="50" dirty="0">
                <a:solidFill>
                  <a:srgbClr val="6B6B6B"/>
                </a:solidFill>
              </a:rPr>
              <a:t>Collection</a:t>
            </a:r>
          </a:p>
        </p:txBody>
      </p:sp>
      <p:sp>
        <p:nvSpPr>
          <p:cNvPr id="127" name="S127"/>
          <p:cNvSpPr/>
          <p:nvPr/>
        </p:nvSpPr>
        <p:spPr>
          <a:xfrm>
            <a:off x="2349500" y="3213100"/>
            <a:ext cx="635000" cy="254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2349500" y="3213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3111500" y="32385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스마트폰·카메라·녹음 — 일상 업무 중 자연스럽게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36703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36703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698500" y="3771900"/>
            <a:ext cx="330200" cy="330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698500" y="37719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1143000" y="3733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디지털화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143000" y="39497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spc="50" dirty="0">
                <a:solidFill>
                  <a:srgbClr val="6B6B6B"/>
                </a:solidFill>
              </a:rPr>
              <a:t>Digitization</a:t>
            </a:r>
          </a:p>
        </p:txBody>
      </p:sp>
      <p:sp>
        <p:nvSpPr>
          <p:cNvPr id="136" name="S136"/>
          <p:cNvSpPr/>
          <p:nvPr/>
        </p:nvSpPr>
        <p:spPr>
          <a:xfrm>
            <a:off x="2349500" y="3810000"/>
            <a:ext cx="6350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2349500" y="38100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3111500" y="38354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OCR·STT·영상 분석 — 비정형을 텍스트로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2672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267200"/>
            <a:ext cx="762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4368800"/>
            <a:ext cx="330200" cy="330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43688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143000" y="43307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8B9A3F"/>
                </a:solidFill>
              </a:rPr>
              <a:t>구조화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143000" y="45466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spc="50" dirty="0">
                <a:solidFill>
                  <a:srgbClr val="6B6B6B"/>
                </a:solidFill>
              </a:rPr>
              <a:t>Structuring</a:t>
            </a:r>
          </a:p>
        </p:txBody>
      </p:sp>
      <p:sp>
        <p:nvSpPr>
          <p:cNvPr id="145" name="S145"/>
          <p:cNvSpPr/>
          <p:nvPr/>
        </p:nvSpPr>
        <p:spPr>
          <a:xfrm>
            <a:off x="2349500" y="4406900"/>
            <a:ext cx="635000" cy="254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2349500" y="44069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4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3111500" y="44323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메타데이터·분류 체계 — 의미 부여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48641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46100" y="4864100"/>
            <a:ext cx="76200" cy="533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698500" y="4965700"/>
            <a:ext cx="330200" cy="3302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98500" y="49657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143000" y="49276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7E3FBF"/>
                </a:solidFill>
              </a:rPr>
              <a:t>활용·운영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143000" y="51435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spc="50" dirty="0">
                <a:solidFill>
                  <a:srgbClr val="6B6B6B"/>
                </a:solidFill>
              </a:rPr>
              <a:t>Utilization</a:t>
            </a:r>
          </a:p>
        </p:txBody>
      </p:sp>
      <p:sp>
        <p:nvSpPr>
          <p:cNvPr id="154" name="S154"/>
          <p:cNvSpPr/>
          <p:nvPr/>
        </p:nvSpPr>
        <p:spPr>
          <a:xfrm>
            <a:off x="2349500" y="5003800"/>
            <a:ext cx="635000" cy="254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349500" y="50038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5~6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3111500" y="50292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AI·검색·자동화 + 품질·KPI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651500"/>
            <a:ext cx="64770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651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584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산출물 — 3가지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61976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308100" y="6197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자사 데이터 자산 인벤토리 초안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3911600" y="6197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5형태 분류 + DIKW 가치 평가 + 손실 위험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927100" y="65278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308100" y="6527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디지털화 우선순위 매트릭스 (4분면)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3911600" y="65278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C 영역(가치 高·디지털化 低) 1~3개 선정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68580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308100" y="68580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자기 직무 워크플로우 매핑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911600" y="685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5단계별 액션 + 6일 학습 개인 로드맵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7429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7429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7620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7937500"/>
            <a:ext cx="5892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6일 후 여러분은 </a:t>
            </a:r>
            <a:r>
              <a:rPr lang="en-US" sz="1500" b="1" dirty="0">
                <a:solidFill>
                  <a:srgbClr val="F4B400"/>
                </a:solidFill>
              </a:rPr>
              <a:t>"데이터 자산화 1프로젝트"를 직접 운영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8382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해본 사람이 된다 — 강의 학습이 아닌 실전 자산화 경험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8788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단, 식별이 부실하면 이후 모든 단계가 흔들림 — 시간을 충분히 들여 명확히</a:t>
            </a:r>
          </a:p>
        </p:txBody>
      </p:sp>
      <p:sp>
        <p:nvSpPr>
          <p:cNvPr id="175" name="S175"/>
          <p:cNvSpPr/>
          <p:nvPr/>
        </p:nvSpPr>
        <p:spPr>
          <a:xfrm>
            <a:off x="546100" y="9207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762000" y="933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📅 </a:t>
            </a:r>
            <a:r>
              <a:rPr lang="en-US" sz="1100" b="1" dirty="0">
                <a:solidFill>
                  <a:srgbClr val="E8632C"/>
                </a:solidFill>
              </a:rPr>
              <a:t>내일 DAY 2부터 </a:t>
            </a:r>
            <a:r>
              <a:rPr lang="en-US" sz="1100" dirty="0">
                <a:solidFill>
                  <a:srgbClr val="2C2C2C"/>
                </a:solidFill>
              </a:rPr>
              <a:t> — 오늘 식별한 자산을 거점으로 본격 자산화 프로젝트 시작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762000" y="9588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스마트폰을 챙겨오세요 + 베테랑 1명 인터뷰 일정 확정 + 부서장 사전 공유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762000" y="9791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오늘의 산출물 3개 = 6일 학습의 거점 = 90일 자산화 프로젝트의 시작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2" name="S18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S18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16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자가진단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자가진단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PART 01 자가진단 체크리스트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6개 항목 모두 체크 시 PART 02 진입 준비 완료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698500" y="2070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698500" y="2349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Ch.1</a:t>
            </a:r>
          </a:p>
        </p:txBody>
      </p:sp>
      <p:sp>
        <p:nvSpPr>
          <p:cNvPr id="113" name="S113"/>
          <p:cNvSpPr/>
          <p:nvPr/>
        </p:nvSpPr>
        <p:spPr>
          <a:xfrm>
            <a:off x="1460500" y="2197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460500" y="2197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905000" y="2209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암묵지와 형식지를 구분하고 자기 직무의 사례를 들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2794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27940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698500" y="2895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02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698500" y="3175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Ch.1</a:t>
            </a:r>
          </a:p>
        </p:txBody>
      </p:sp>
      <p:sp>
        <p:nvSpPr>
          <p:cNvPr id="120" name="S120"/>
          <p:cNvSpPr/>
          <p:nvPr/>
        </p:nvSpPr>
        <p:spPr>
          <a:xfrm>
            <a:off x="1460500" y="3022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1460500" y="3022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905000" y="3035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SECI 모델의 표출화 단계가 본 과정의 핵심임을 이해한다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619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619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698500" y="3721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698500" y="4000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Ch.2</a:t>
            </a:r>
          </a:p>
        </p:txBody>
      </p:sp>
      <p:sp>
        <p:nvSpPr>
          <p:cNvPr id="127" name="S127"/>
          <p:cNvSpPr/>
          <p:nvPr/>
        </p:nvSpPr>
        <p:spPr>
          <a:xfrm>
            <a:off x="1460500" y="3848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460500" y="3848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905000" y="3860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자기 직무의 데이터 자산을 5형태로 분류할 수 있다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4445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44450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698500" y="4546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8B9A3F"/>
                </a:solidFill>
              </a:rPr>
              <a:t>04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698500" y="4826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Ch.3</a:t>
            </a:r>
          </a:p>
        </p:txBody>
      </p:sp>
      <p:sp>
        <p:nvSpPr>
          <p:cNvPr id="134" name="S134"/>
          <p:cNvSpPr/>
          <p:nvPr/>
        </p:nvSpPr>
        <p:spPr>
          <a:xfrm>
            <a:off x="1460500" y="4673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460500" y="4673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8B9A3F"/>
                </a:solidFill>
              </a:rPr>
              <a:t>☐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905000" y="4686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자사 데이터 자산 진단 매트릭스(4분면)를 작성하였다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270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2705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698500" y="5372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05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698500" y="5651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Ch.4</a:t>
            </a:r>
          </a:p>
        </p:txBody>
      </p:sp>
      <p:sp>
        <p:nvSpPr>
          <p:cNvPr id="141" name="S141"/>
          <p:cNvSpPr/>
          <p:nvPr/>
        </p:nvSpPr>
        <p:spPr>
          <a:xfrm>
            <a:off x="1460500" y="5499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1460500" y="5499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905000" y="5511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디지털화 5단계 워크플로우를 설명할 수 있다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6096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60960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698500" y="6197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06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698500" y="6477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Ch.4</a:t>
            </a:r>
          </a:p>
        </p:txBody>
      </p:sp>
      <p:sp>
        <p:nvSpPr>
          <p:cNvPr id="148" name="S148"/>
          <p:cNvSpPr/>
          <p:nvPr/>
        </p:nvSpPr>
        <p:spPr>
          <a:xfrm>
            <a:off x="1460500" y="6324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1460500" y="6324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905000" y="6337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자기 직무 디지털화 워크플로우를 매핑하였다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7048500"/>
            <a:ext cx="6477000" cy="152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7048500"/>
            <a:ext cx="76200" cy="152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723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체크 결과 해석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7556500"/>
            <a:ext cx="6985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75565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6/6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778000" y="75692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PART 02 진입 준비 완료 — 내일 DAY 2부터 본격 자산화</a:t>
            </a:r>
          </a:p>
        </p:txBody>
      </p:sp>
      <p:sp>
        <p:nvSpPr>
          <p:cNvPr id="157" name="S157"/>
          <p:cNvSpPr/>
          <p:nvPr/>
        </p:nvSpPr>
        <p:spPr>
          <a:xfrm>
            <a:off x="927100" y="7874000"/>
            <a:ext cx="698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927100" y="78740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4-5/6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1778000" y="78867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부족한 항목 복습 후 PART 02 진입 (오늘 자료 다시 확인)</a:t>
            </a:r>
          </a:p>
        </p:txBody>
      </p:sp>
      <p:sp>
        <p:nvSpPr>
          <p:cNvPr id="160" name="S160"/>
          <p:cNvSpPr/>
          <p:nvPr/>
        </p:nvSpPr>
        <p:spPr>
          <a:xfrm>
            <a:off x="927100" y="8191500"/>
            <a:ext cx="6985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81915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0-3/6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778000" y="82042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강사·동료에게 질문 — 오늘 학습 자료 다시 학습 권장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8699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546100" y="8699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8890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보너스 — 동료 학습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9207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같은 부서 동료와 체크리스트 결과 공유 — 서로 다른 시각이 자산화 깊이를 더한다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9550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"내가 놓친 것 = 동료가 본 것" — 부서별 통합 인벤토리가 핵심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1" name="S17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934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다음 PART 예고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DAY 1 → DAY 2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NEXT — DAY 2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스마트폰 기반 현장 데이터 수집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Field Data Collection with Smartphone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5단계 워크플로우의 Step 2 — 수집 (Collection) 깊이 학습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2865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889000" y="6477000"/>
            <a:ext cx="5765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PART 02 핵심 주제</a:t>
            </a:r>
          </a:p>
        </p:txBody>
      </p:sp>
      <p:sp>
        <p:nvSpPr>
          <p:cNvPr id="114" name="S114"/>
          <p:cNvSpPr/>
          <p:nvPr/>
        </p:nvSpPr>
        <p:spPr>
          <a:xfrm>
            <a:off x="889000" y="68580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889000" y="6858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320800" y="68834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스마트폰 활용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3429000" y="68834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카메라·마이크·앱 — 가장 강력한 수집 도구</a:t>
            </a:r>
          </a:p>
        </p:txBody>
      </p:sp>
      <p:sp>
        <p:nvSpPr>
          <p:cNvPr id="118" name="S118"/>
          <p:cNvSpPr/>
          <p:nvPr/>
        </p:nvSpPr>
        <p:spPr>
          <a:xfrm>
            <a:off x="889000" y="72644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889000" y="7264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20800" y="72898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수집 방법론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429000" y="72898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효율적 + 일상화 — 별도 시간 X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7670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7670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20800" y="76962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양식화·표준화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3429000" y="76962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메타데이터 자동 부여 — AI 학습 가능 형태로</a:t>
            </a:r>
          </a:p>
        </p:txBody>
      </p:sp>
      <p:sp>
        <p:nvSpPr>
          <p:cNvPr id="126" name="S126"/>
          <p:cNvSpPr/>
          <p:nvPr/>
        </p:nvSpPr>
        <p:spPr>
          <a:xfrm>
            <a:off x="889000" y="80772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889000" y="8077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320800" y="81026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베테랑 인터뷰 가이드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3429000" y="8102600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5 Whys · STAR — 효과적 인터뷰 기법</a:t>
            </a:r>
          </a:p>
        </p:txBody>
      </p:sp>
      <p:sp>
        <p:nvSpPr>
          <p:cNvPr id="130" name="S130"/>
          <p:cNvSpPr/>
          <p:nvPr/>
        </p:nvSpPr>
        <p:spPr>
          <a:xfrm>
            <a:off x="889000" y="86360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889000" y="86360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BIG WIN — DAY 2 산출물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143000" y="9042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자기 부서 1주일 데이터 수집 시스템 구축</a:t>
            </a:r>
          </a:p>
        </p:txBody>
      </p:sp>
      <p:sp>
        <p:nvSpPr>
          <p:cNvPr id="134" name="S134"/>
          <p:cNvSpPr/>
          <p:nvPr/>
        </p:nvSpPr>
        <p:spPr>
          <a:xfrm>
            <a:off x="889000" y="9461500"/>
            <a:ext cx="57658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079500" y="9550400"/>
            <a:ext cx="539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오늘 밤 미션 </a:t>
            </a:r>
            <a:r>
              <a:rPr lang="en-US" sz="1100" dirty="0">
                <a:solidFill>
                  <a:srgbClr val="0F3A2E"/>
                </a:solidFill>
              </a:rPr>
              <a:t> — 스마트폰 챙기기 + 베테랑 1명 인터뷰 일정 잡기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079500" y="9779000"/>
            <a:ext cx="539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0F3A2E"/>
                </a:solidFill>
              </a:rPr>
              <a:t>"디지털화는 수집부터 잘 해야 좋은 결과가 나온다"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052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048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01 · 데이터 자산 · 마무리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01 · DAY 1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PART 01 마무리 — 오늘의 여정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1 — 데이터 자산화 개론을 마치며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spc="200" dirty="0">
                <a:solidFill>
                  <a:srgbClr val="F4B400"/>
                </a:solidFill>
              </a:rPr>
              <a:t>오늘 배운 것 — 4가지 핵심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1079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74700" y="2628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74700" y="2628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82700" y="262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암묵지 · 형식지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282700" y="29083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지식의 두 얼굴 — SECI 모델 표출화가 본 과정 핵심</a:t>
            </a:r>
          </a:p>
        </p:txBody>
      </p:sp>
      <p:sp>
        <p:nvSpPr>
          <p:cNvPr id="117" name="S117"/>
          <p:cNvSpPr/>
          <p:nvPr/>
        </p:nvSpPr>
        <p:spPr>
          <a:xfrm>
            <a:off x="3810000" y="2476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3810000" y="2476500"/>
            <a:ext cx="76200" cy="1079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4038600" y="26289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38600" y="2628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4546600" y="262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5형태 데이터 자산 + DIKW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9083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텍스트·표·이미지·음성·영상 + Data→Wisdom 가치 위계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683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683000"/>
            <a:ext cx="76200" cy="1079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74700" y="3835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74700" y="3835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282700" y="3835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글로벌 · 국내 사례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282700" y="41148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Caterpillar Cat Connect · 두산-NVIDIA PAI · 현대건설</a:t>
            </a:r>
          </a:p>
        </p:txBody>
      </p:sp>
      <p:sp>
        <p:nvSpPr>
          <p:cNvPr id="129" name="S129"/>
          <p:cNvSpPr/>
          <p:nvPr/>
        </p:nvSpPr>
        <p:spPr>
          <a:xfrm>
            <a:off x="3810000" y="3683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810000" y="3683000"/>
            <a:ext cx="76200" cy="1079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4038600" y="38354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038600" y="3835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4546600" y="3835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디지털화 5단계 워크플로우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546600" y="41148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식별 → 수집 → 디지털化 → 구조化 → 활용·운영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5016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016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spc="200" dirty="0">
                <a:solidFill>
                  <a:srgbClr val="F4B400"/>
                </a:solidFill>
              </a:rPr>
              <a:t>오늘의 산출물 — 3가지</a:t>
            </a:r>
          </a:p>
        </p:txBody>
      </p:sp>
      <p:sp>
        <p:nvSpPr>
          <p:cNvPr id="137" name="S137"/>
          <p:cNvSpPr/>
          <p:nvPr/>
        </p:nvSpPr>
        <p:spPr>
          <a:xfrm>
            <a:off x="673100" y="5524500"/>
            <a:ext cx="6223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825500" y="5524500"/>
            <a:ext cx="6032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✅  자사 데이터 자산 인벤토리 초안 (5형태 분류 + DIKW 평가)</a:t>
            </a:r>
          </a:p>
        </p:txBody>
      </p:sp>
      <p:sp>
        <p:nvSpPr>
          <p:cNvPr id="139" name="S139"/>
          <p:cNvSpPr/>
          <p:nvPr/>
        </p:nvSpPr>
        <p:spPr>
          <a:xfrm>
            <a:off x="673100" y="5930900"/>
            <a:ext cx="6223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825500" y="5930900"/>
            <a:ext cx="6032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✅  4분면 진단 매트릭스 (C 영역 = 최우선 자산화 대상)</a:t>
            </a:r>
          </a:p>
        </p:txBody>
      </p:sp>
      <p:sp>
        <p:nvSpPr>
          <p:cNvPr id="141" name="S141"/>
          <p:cNvSpPr/>
          <p:nvPr/>
        </p:nvSpPr>
        <p:spPr>
          <a:xfrm>
            <a:off x="673100" y="6337300"/>
            <a:ext cx="6223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825500" y="6337300"/>
            <a:ext cx="6032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✅  자기 직무 워크플로우 매핑 (5단계 + 6일 개인 로드맵)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68580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546100" y="68580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048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7366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"지식은 머릿속에 있을 때 </a:t>
            </a:r>
            <a:r>
              <a:rPr lang="en-US" sz="1500" b="1" dirty="0">
                <a:solidFill>
                  <a:srgbClr val="E8632C"/>
                </a:solidFill>
              </a:rPr>
              <a:t>위험하다</a:t>
            </a:r>
            <a:r>
              <a:rPr lang="en-US" sz="150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927100" y="7747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자산화될 때 비로소 회사의 것이 된다."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927100" y="8191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— 본 과정의 미션 = 베테랑 노하우를 회사 자산으로 보존하는 자산화 리더 양성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8636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8636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8788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단계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9042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02 — </a:t>
            </a:r>
            <a:r>
              <a:rPr lang="en-US" sz="1500" b="1" dirty="0">
                <a:solidFill>
                  <a:srgbClr val="FFFFFF"/>
                </a:solidFill>
              </a:rPr>
              <a:t>효율적인 현장 데이터 수집의 세계로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95885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9690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632C"/>
                </a:solidFill>
              </a:rPr>
              <a:t>수고하셨습니다 — 내일 DAY 2에서 만나뵙겠습니다 🙌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01 · DAY 1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8" name="S15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03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4826000" y="635000"/>
            <a:ext cx="1016000" cy="1016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651500" y="952500"/>
            <a:ext cx="1143000" cy="1143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016500" y="1651000"/>
            <a:ext cx="698500" cy="698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DAY 1 마무리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DATA ASSET TRANSFORMATION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889000" y="25400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600" dirty="0">
                <a:solidFill>
                  <a:srgbClr val="E8632C"/>
                </a:solidFill>
              </a:rPr>
              <a:t>FINAL</a:t>
            </a:r>
          </a:p>
        </p:txBody>
      </p:sp>
      <p:sp>
        <p:nvSpPr>
          <p:cNvPr id="107" name="S107"/>
          <p:cNvSpPr/>
          <p:nvPr/>
        </p:nvSpPr>
        <p:spPr>
          <a:xfrm>
            <a:off x="889000" y="304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33020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데이터 자산화의 시작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889000" y="4127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spc="100" dirty="0">
                <a:solidFill>
                  <a:srgbClr val="BBBBBB"/>
                </a:solidFill>
              </a:rPr>
              <a:t>6일간의 여정 — Data Asset Transformation Journey</a:t>
            </a:r>
          </a:p>
        </p:txBody>
      </p:sp>
      <p:sp>
        <p:nvSpPr>
          <p:cNvPr id="110" name="S110"/>
          <p:cNvSpPr/>
          <p:nvPr/>
        </p:nvSpPr>
        <p:spPr>
          <a:xfrm>
            <a:off x="546100" y="4826000"/>
            <a:ext cx="6477000" cy="196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546100" y="4826000"/>
            <a:ext cx="76200" cy="196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927100" y="501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E8632C"/>
                </a:solidFill>
              </a:rPr>
              <a:t>★ 6일 후의 여러분 모습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E8632C"/>
                </a:solidFill>
              </a:rPr>
              <a:t>✅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308100" y="53975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데이터 전문가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3149600" y="54102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자기 직무 데이터 자산을 디지털화한 — 5단계 워크플로우 운영 가능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927100" y="5778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308100" y="57785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자산화 리더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3149600" y="57912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노하우를 회사 자산으로 보존하는 — 영구 손실 위험 방지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927100" y="6159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8B9A3F"/>
                </a:solidFill>
              </a:rPr>
              <a:t>✅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08100" y="61595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DX 실무자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149600" y="61722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AI 도구(VOL.01)와 데이터를 결합한 — 의사결정 지원·자동화 구축</a:t>
            </a:r>
          </a:p>
        </p:txBody>
      </p:sp>
      <p:sp>
        <p:nvSpPr>
          <p:cNvPr id="122" name="S122"/>
          <p:cNvSpPr/>
          <p:nvPr/>
        </p:nvSpPr>
        <p:spPr>
          <a:xfrm>
            <a:off x="546100" y="6985000"/>
            <a:ext cx="64770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546100" y="69850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자기 약속 — 1주일 안에 완성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927100" y="7556500"/>
            <a:ext cx="603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☐  자기 직무 데이터 자산 인벤토리 완성 (1주일 내)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927100" y="7874000"/>
            <a:ext cx="603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☐  베테랑 1명 인터뷰 일정 잡기 (PART 02 실습 대비)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927100" y="8191500"/>
            <a:ext cx="603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☐  부서장과 데이터 자산화 계획 사전 공유</a:t>
            </a:r>
          </a:p>
        </p:txBody>
      </p:sp>
      <p:sp>
        <p:nvSpPr>
          <p:cNvPr id="128" name="S128"/>
          <p:cNvSpPr/>
          <p:nvPr/>
        </p:nvSpPr>
        <p:spPr>
          <a:xfrm>
            <a:off x="546100" y="8826500"/>
            <a:ext cx="6477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8953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0F3A2E"/>
                </a:solidFill>
              </a:rPr>
              <a:t>"베테랑의 머릿속 노하우를 </a:t>
            </a:r>
            <a:r>
              <a:rPr lang="en-US" sz="1400" b="1" dirty="0">
                <a:solidFill>
                  <a:srgbClr val="E8632C"/>
                </a:solidFill>
              </a:rPr>
              <a:t>회사의 자산으로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9296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 — 본 과정의 핵심 미션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889000" y="9715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감사합니다 🙌  내일 DAY 2에서 만나뵙겠습니다.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33" name="S133"/>
          <p:cNvSpPr/>
          <p:nvPr/>
        </p:nvSpPr>
        <p:spPr>
          <a:xfrm>
            <a:off x="3048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3200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3352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3505200" y="10287000"/>
            <a:ext cx="101600" cy="1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75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DAY 2 · 8H (이론 2H + 실습 6H)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857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600" dirty="0">
                <a:solidFill>
                  <a:srgbClr val="E8632C"/>
                </a:solidFill>
              </a:rPr>
              <a:t>PART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3111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5461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57785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스마트폰 기반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64770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현장 데이터 수집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7366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Field Data Collection with Smartphone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7810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DDDDD"/>
                </a:solidFill>
              </a:rPr>
              <a:t>— 모두가 가진 가장 강력한 수집 도구 —</a:t>
            </a:r>
          </a:p>
        </p:txBody>
      </p:sp>
      <p:sp>
        <p:nvSpPr>
          <p:cNvPr id="113" name="S113"/>
          <p:cNvSpPr/>
          <p:nvPr/>
        </p:nvSpPr>
        <p:spPr>
          <a:xfrm>
            <a:off x="889000" y="8509000"/>
            <a:ext cx="57785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114"/>
          <p:cNvSpPr/>
          <p:nvPr/>
        </p:nvSpPr>
        <p:spPr>
          <a:xfrm>
            <a:off x="889000" y="8509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1143000" y="86741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그날의 BIG WIN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143000" y="8978900"/>
            <a:ext cx="5524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1주일 데이터 수집 시스템 직접 설계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143000" y="9309100"/>
            <a:ext cx="5524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이론 2H + 실습 6H = 자기 부서 수집 시스템 1개 완성</a:t>
            </a:r>
          </a:p>
        </p:txBody>
      </p:sp>
      <p:sp>
        <p:nvSpPr>
          <p:cNvPr id="118" name="S118"/>
          <p:cNvSpPr/>
          <p:nvPr/>
        </p:nvSpPr>
        <p:spPr>
          <a:xfrm>
            <a:off x="889000" y="99060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460500" y="99060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032000" y="99060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603500" y="99060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055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1961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스마트폰 수집 · 학습 목표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스마트폰 기반 수집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학습 목표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2 — 스마트폰을 마스터하면 90%의 데이터가 모인다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76200" cy="990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S112"/>
          <p:cNvSpPr/>
          <p:nvPr/>
        </p:nvSpPr>
        <p:spPr>
          <a:xfrm>
            <a:off x="1651000" y="22606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651000" y="2260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2095500" y="22225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스마트폰 활용 마스터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95500" y="25654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카메라·마이크·앱을 데이터 수집에 효율적으로 활용할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496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76200" cy="990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251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S119"/>
          <p:cNvSpPr/>
          <p:nvPr/>
        </p:nvSpPr>
        <p:spPr>
          <a:xfrm>
            <a:off x="1651000" y="33782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651000" y="3378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95500" y="3340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5원칙 적용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95500" y="36830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효율적 수집의 5원칙을 자기 직무에 적용할 수 있다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2672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267200"/>
            <a:ext cx="76200" cy="990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762000" y="43688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8B9A3F"/>
                </a:solidFill>
              </a:rPr>
              <a:t>03</a:t>
            </a:r>
          </a:p>
        </p:txBody>
      </p:sp>
      <p:sp>
        <p:nvSpPr>
          <p:cNvPr id="126" name="S126"/>
          <p:cNvSpPr/>
          <p:nvPr/>
        </p:nvSpPr>
        <p:spPr>
          <a:xfrm>
            <a:off x="1651000" y="449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651000" y="449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베테랑 인터뷰 진행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95500" y="48006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체계적으로 준비·진행·정리할 수 있다 (5 Whys 활용)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53848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384800"/>
            <a:ext cx="76200" cy="990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486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0F3A2E"/>
                </a:solidFill>
              </a:rPr>
              <a:t>04</a:t>
            </a:r>
          </a:p>
        </p:txBody>
      </p:sp>
      <p:sp>
        <p:nvSpPr>
          <p:cNvPr id="133" name="S133"/>
          <p:cNvSpPr/>
          <p:nvPr/>
        </p:nvSpPr>
        <p:spPr>
          <a:xfrm>
            <a:off x="1651000" y="56134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51000" y="5613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95500" y="5575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수집 시스템 설계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095500" y="59182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자기 부서 1주일 데이터 수집 시스템을 설계할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6604000"/>
            <a:ext cx="6477000" cy="254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6604000"/>
            <a:ext cx="76200" cy="254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679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핵심 산출물 — DAY 2 종료 시 손에 든 것</a:t>
            </a:r>
          </a:p>
        </p:txBody>
      </p:sp>
      <p:sp>
        <p:nvSpPr>
          <p:cNvPr id="140" name="S140"/>
          <p:cNvSpPr/>
          <p:nvPr/>
        </p:nvSpPr>
        <p:spPr>
          <a:xfrm>
            <a:off x="927100" y="717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717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717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자기 직무 데이터 수집 양식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460500" y="742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스마트폰 + 사내 표준 양식 결합 — 메타데이터 자동 부여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7810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810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460500" y="781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베테랑 인터뷰 질문지 (10~20문항)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460500" y="8064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 Whys 기반 — 암묵지를 표출화 가능한 형태로 끌어내는 질문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44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44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60500" y="844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1주일 데이터 수집 시스템 설계도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460500" y="869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Day-by-Day 수집 계획 + 책임자 지정 + 점검 체크포인트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BIG WIN </a:t>
            </a:r>
            <a:r>
              <a:rPr lang="en-US" sz="1100" dirty="0">
                <a:solidFill>
                  <a:srgbClr val="2C2C2C"/>
                </a:solidFill>
              </a:rPr>
              <a:t> — 8H 후 자기 부서 </a:t>
            </a:r>
            <a:r>
              <a:rPr lang="en-US" sz="1100" b="1" dirty="0">
                <a:solidFill>
                  <a:srgbClr val="E8632C"/>
                </a:solidFill>
              </a:rPr>
              <a:t>"내일부터 바로 시작 가능한 수집 시스템"</a:t>
            </a:r>
            <a:r>
              <a:rPr lang="en-US" sz="1100" dirty="0">
                <a:solidFill>
                  <a:srgbClr val="2C2C2C"/>
                </a:solidFill>
              </a:rPr>
              <a:t> 손에 들고 퇴근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이론 2H로 원칙을 익히고, 실습 6H로 자기 시스템을 직접 만든다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8" name="S15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6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스마트폰 수집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스마트폰 기반 수집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PART 02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4개 Chapter — 도구 → 방법론 → 인터뷰 → 시스템 설계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3213100" cy="50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36600" y="2159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112" name="S112"/>
          <p:cNvSpPr/>
          <p:nvPr/>
        </p:nvSpPr>
        <p:spPr>
          <a:xfrm>
            <a:off x="3086100" y="2159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086100" y="2159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2H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2667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705100" y="2730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📱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36600" y="3746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스마트폰 데이터 수집 도구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36600" y="4089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카메라 · 마이크 · 앱 활용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2032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2032000"/>
            <a:ext cx="3213100" cy="50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00500" y="2159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0F3A2E"/>
                </a:solidFill>
              </a:rPr>
              <a:t>Chapter 2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159000"/>
            <a:ext cx="508000" cy="25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350000" y="2159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4B400"/>
                </a:solidFill>
              </a:rPr>
              <a:t>1H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00500" y="2667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5969000" y="2730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000500" y="3746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수집 방법론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00500" y="4089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효율적 수집 5원칙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826000"/>
            <a:ext cx="3213100" cy="2540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826000"/>
            <a:ext cx="3213100" cy="508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36600" y="4953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3</a:t>
            </a:r>
          </a:p>
        </p:txBody>
      </p:sp>
      <p:sp>
        <p:nvSpPr>
          <p:cNvPr id="130" name="S130"/>
          <p:cNvSpPr/>
          <p:nvPr/>
        </p:nvSpPr>
        <p:spPr>
          <a:xfrm>
            <a:off x="3086100" y="4953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086100" y="4953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8B9A3F"/>
                </a:solidFill>
              </a:rPr>
              <a:t>2H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36600" y="5461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705100" y="5524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36600" y="6540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인터뷰 가이드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36600" y="6883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준비 → 진행 → 정리</a:t>
            </a:r>
          </a:p>
        </p:txBody>
      </p:sp>
      <p:sp>
        <p:nvSpPr>
          <p:cNvPr id="136" name="S136"/>
          <p:cNvSpPr/>
          <p:nvPr/>
        </p:nvSpPr>
        <p:spPr>
          <a:xfrm>
            <a:off x="3810000" y="4826000"/>
            <a:ext cx="3213100" cy="25400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10000" y="4826000"/>
            <a:ext cx="3213100" cy="50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000500" y="4953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4</a:t>
            </a:r>
          </a:p>
        </p:txBody>
      </p:sp>
      <p:sp>
        <p:nvSpPr>
          <p:cNvPr id="139" name="S139"/>
          <p:cNvSpPr/>
          <p:nvPr/>
        </p:nvSpPr>
        <p:spPr>
          <a:xfrm>
            <a:off x="6350000" y="4953000"/>
            <a:ext cx="508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50000" y="49530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3H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00500" y="5461000"/>
            <a:ext cx="101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6000" b="1" dirty="0">
                <a:solidFill>
                  <a:srgbClr val="E8632C"/>
                </a:solidFill>
              </a:rPr>
              <a:t>4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5969000" y="5524500"/>
            <a:ext cx="889000" cy="889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dirty="0">
                <a:solidFill>
                  <a:srgbClr val="2C2C2C"/>
                </a:solidFill>
              </a:rPr>
              <a:t>🏆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000500" y="6540500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00500" y="68834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E8632C"/>
                </a:solidFill>
              </a:rPr>
              <a:t>1주일 데이터 수집 시스템 설계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6604000" y="53975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8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6200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6200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74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학습 흐름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8026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도구 익히기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F4B400"/>
                </a:solidFill>
              </a:rPr>
              <a:t>방법론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8B9A3F"/>
                </a:solidFill>
              </a:rPr>
              <a:t>인터뷰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E8632C"/>
                </a:solidFill>
              </a:rPr>
              <a:t>★ 자기 시스템 직접 설계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8445500"/>
            <a:ext cx="64770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762000" y="861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DAY 2 시간 배분 (8H)</a:t>
            </a:r>
          </a:p>
        </p:txBody>
      </p:sp>
      <p:sp>
        <p:nvSpPr>
          <p:cNvPr id="152" name="S152"/>
          <p:cNvSpPr/>
          <p:nvPr/>
        </p:nvSpPr>
        <p:spPr>
          <a:xfrm>
            <a:off x="762000" y="8953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8953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Ch.1 · 2H</a:t>
            </a:r>
          </a:p>
        </p:txBody>
      </p:sp>
      <p:sp>
        <p:nvSpPr>
          <p:cNvPr id="154" name="S154"/>
          <p:cNvSpPr/>
          <p:nvPr/>
        </p:nvSpPr>
        <p:spPr>
          <a:xfrm>
            <a:off x="2286000" y="8953500"/>
            <a:ext cx="762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286000" y="8953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Ch.2 · 1H</a:t>
            </a:r>
          </a:p>
        </p:txBody>
      </p:sp>
      <p:sp>
        <p:nvSpPr>
          <p:cNvPr id="156" name="S156"/>
          <p:cNvSpPr/>
          <p:nvPr/>
        </p:nvSpPr>
        <p:spPr>
          <a:xfrm>
            <a:off x="3048000" y="8953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3048000" y="8953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Ch.3 · 2H</a:t>
            </a:r>
          </a:p>
        </p:txBody>
      </p:sp>
      <p:sp>
        <p:nvSpPr>
          <p:cNvPr id="158" name="S158"/>
          <p:cNvSpPr/>
          <p:nvPr/>
        </p:nvSpPr>
        <p:spPr>
          <a:xfrm>
            <a:off x="4572000" y="8953500"/>
            <a:ext cx="2286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4572000" y="895350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Ch.4 · 3H ★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762000" y="9398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이론 (Ch.1~3) 5H + 실습 (Ch.4 BIG WIN) 3H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실습 비중 = 75% — 직접 손으로 만들며 익힌다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495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02 · DAY 2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2H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스마트폰 데이터 수집 도구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Smartphone as Data Collection Tool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"비싼 장비가 아닌 — 이미 가진 것으로 시작한다"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스마트폰: 가장 강력한 수집 도구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카메라 활용 가이드 (사진·영상)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마이크·음성 메모 활용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수집 앱 비교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9144000"/>
            <a:ext cx="57658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889000" y="9144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143000" y="9296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핵심 인사이트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43000" y="95504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90%의 데이터는 스마트폰만으로 수집 가능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058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2094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스마트폰 수집 · 1.1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Chapter 1.1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스마트폰 — 모두가 가진 만능 수집 도구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비싼 장비를 사기 전에 — 이미 가진 것부터 마스터하라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2159000" cy="76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985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985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2006600" y="21590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📷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98500" y="27051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카메라 (사진)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98500" y="30099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도면·점검표·결함·명함 즉시 촬영</a:t>
            </a:r>
          </a:p>
        </p:txBody>
      </p:sp>
      <p:sp>
        <p:nvSpPr>
          <p:cNvPr id="116" name="S116"/>
          <p:cNvSpPr/>
          <p:nvPr/>
        </p:nvSpPr>
        <p:spPr>
          <a:xfrm>
            <a:off x="2705100" y="19685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2705100" y="1968500"/>
            <a:ext cx="215900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2857500" y="21590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28575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4165600" y="21590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🎬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857500" y="27051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카메라 (영상)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857500" y="30099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정비 시연·안전 교육·현장 작업</a:t>
            </a:r>
          </a:p>
        </p:txBody>
      </p:sp>
      <p:sp>
        <p:nvSpPr>
          <p:cNvPr id="123" name="S123"/>
          <p:cNvSpPr/>
          <p:nvPr/>
        </p:nvSpPr>
        <p:spPr>
          <a:xfrm>
            <a:off x="4864100" y="19685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4864100" y="1968500"/>
            <a:ext cx="2159000" cy="76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5016500" y="21590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0165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6324600" y="21590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5016500" y="27051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마이크 (음성 메모)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016500" y="30099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베테랑 인터뷰·미팅 녹음·현장 보고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36830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3683000"/>
            <a:ext cx="2159000" cy="762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698500" y="38735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698500" y="3873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2006600" y="38735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📱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698500" y="44196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화면 캡처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698500" y="47244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시스템 화면·웹사이트·차트</a:t>
            </a:r>
          </a:p>
        </p:txBody>
      </p:sp>
      <p:sp>
        <p:nvSpPr>
          <p:cNvPr id="137" name="S137"/>
          <p:cNvSpPr/>
          <p:nvPr/>
        </p:nvSpPr>
        <p:spPr>
          <a:xfrm>
            <a:off x="2705100" y="36830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2705100" y="3683000"/>
            <a:ext cx="2159000" cy="762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2857500" y="38735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2857500" y="3873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165600" y="38735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📍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2857500" y="44196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GPS · 시각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2857500" y="47244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자동 메타데이터 부여</a:t>
            </a:r>
          </a:p>
        </p:txBody>
      </p:sp>
      <p:sp>
        <p:nvSpPr>
          <p:cNvPr id="144" name="S144"/>
          <p:cNvSpPr/>
          <p:nvPr/>
        </p:nvSpPr>
        <p:spPr>
          <a:xfrm>
            <a:off x="4864100" y="3683000"/>
            <a:ext cx="2159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4864100" y="3683000"/>
            <a:ext cx="2159000" cy="762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016500" y="38735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5016500" y="3873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6324600" y="3873500"/>
            <a:ext cx="571500" cy="444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5016500" y="4419600"/>
            <a:ext cx="187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앱 입력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5016500" y="4724400"/>
            <a:ext cx="18796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양식화 데이터 즉시 입력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5524500"/>
            <a:ext cx="6477000" cy="152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5524500"/>
            <a:ext cx="76200" cy="152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5715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6032500"/>
            <a:ext cx="15240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6032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b="1" dirty="0">
                <a:solidFill>
                  <a:srgbClr val="0F3A2E"/>
                </a:solidFill>
              </a:rPr>
              <a:t>90%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667000" y="6032500"/>
            <a:ext cx="431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FFFFFF"/>
                </a:solidFill>
              </a:rPr>
              <a:t>의 데이터는 </a:t>
            </a:r>
            <a:r>
              <a:rPr lang="en-US" sz="1500" b="1" dirty="0">
                <a:solidFill>
                  <a:srgbClr val="F4B400"/>
                </a:solidFill>
              </a:rPr>
              <a:t>스마트폰만으로</a:t>
            </a:r>
            <a:r>
              <a:rPr lang="en-US" sz="1500" dirty="0">
                <a:solidFill>
                  <a:srgbClr val="FFFFFF"/>
                </a:solidFill>
              </a:rPr>
              <a:t> 수집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2667000" y="6477000"/>
            <a:ext cx="431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FFFFFF"/>
                </a:solidFill>
              </a:rPr>
              <a:t>가능 — 비싼 장비 구매 전에 손에 든 것부터 활용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7239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7239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7429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활용 5W1H — 누가·무엇을·언제·어디서·왜·어떻게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7772400"/>
            <a:ext cx="69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F4B400"/>
                </a:solidFill>
              </a:rPr>
              <a:t>WHO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651000" y="77724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전 직원 (베테랑·신입 모두)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3975100" y="7772400"/>
            <a:ext cx="69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F4B400"/>
                </a:solidFill>
              </a:rPr>
              <a:t>WHAT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651000" y="77724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5형태 데이터 (텍스트·표·이미지·음성·영상)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8051800"/>
            <a:ext cx="69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F4B400"/>
                </a:solidFill>
              </a:rPr>
              <a:t>WHEN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651000" y="80518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일상 업무 중 (별도 시간 X)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3975100" y="8051800"/>
            <a:ext cx="69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F4B400"/>
                </a:solidFill>
              </a:rPr>
              <a:t>WHERE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651000" y="80518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현장 = 데이터 보고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572500"/>
            <a:ext cx="64770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762000" y="8737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흔한 오해 vs 진실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762000" y="90424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✗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1143000" y="9042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"비싼 카메라 · 마이크가 있어야 한다"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762000" y="92710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1143000" y="92710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스마트폰 = 충분 — 5만 원짜리 마이크 어댑터로 음질 확보 가능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✗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1143000" y="9550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"전문 데이터 수집은 IT부서 일이다"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762000" y="97790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1143000" y="97790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각 부서 베테랑이 직접 — 현장 맥락은 IT가 모른다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059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2" name="S18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S18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22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스마트폰 수집 · 1.2 카메라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Chapter 1.2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카메라 활용 — 효과적 사진 촬영 가이드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OCR 정확도와 데이터 가치를 결정하는 5가지 핵심 포인트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247900"/>
            <a:ext cx="406400" cy="406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2479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1971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💡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841500" y="2095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조명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841500" y="24003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자연광 우선 · 역광 회피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841500" y="26543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어두운 곳: 플래시 + 보조 조명 / 그림자 없는 균일 조명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9591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9591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3238500"/>
            <a:ext cx="406400" cy="4064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3238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270000" y="31877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📐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841500" y="30861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각도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841500" y="33909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정면 · 수직 (왜곡 방지)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841500" y="36449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도면·점검표는 수직 · 결함은 다각도 3장 이상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9497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949700"/>
            <a:ext cx="76200" cy="952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4229100"/>
            <a:ext cx="406400" cy="4064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42291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70000" y="41783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841500" y="40767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8B9A3F"/>
                </a:solidFill>
              </a:rPr>
              <a:t>거리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841500" y="43815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전체 + 디테일 2종 촬영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841500" y="46355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부품번호·라벨은 클로즈업 · 식별 가능한 거리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49403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4940300"/>
            <a:ext cx="76200" cy="952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219700"/>
            <a:ext cx="406400" cy="4064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2197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1689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841500" y="50673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7E3FBF"/>
                </a:solidFill>
              </a:rPr>
              <a:t>배경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841500" y="53721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단순한 배경 (흰색·회색)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841500" y="56261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혼란 요소 제거 · 다른 자료·물건 정리 후 촬영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59309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5930900"/>
            <a:ext cx="762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762000" y="6210300"/>
            <a:ext cx="406400" cy="4064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62103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270000" y="61595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📍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841500" y="60579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0F3A2E"/>
                </a:solidFill>
              </a:rPr>
              <a:t>메타데이터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841500" y="63627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즉시 메모 (장비명·일자·맥락)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841500" y="66167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GPS 자동 부여 활용 · 사진만으로는 1주일 후 식별 불가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69850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6985000"/>
            <a:ext cx="76200" cy="1460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⚠️ 자주 하는 실수 — 안 좋은 사진의 결과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74930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✗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270000" y="74930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어두운 환경 · 역광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937000" y="74930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E8632C"/>
                </a:solidFill>
              </a:rPr>
              <a:t>→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4318000" y="74930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결함 인식 실패 · 디테일 손실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77724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✗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1270000" y="77724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비스듬한 각도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3937000" y="77724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E8632C"/>
                </a:solidFill>
              </a:rPr>
              <a:t>→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318000" y="77724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OCR 정확도 50% 이하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80518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✗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70000" y="80518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다른 물건 함께 촬영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3937000" y="80518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E8632C"/>
                </a:solidFill>
              </a:rPr>
              <a:t>→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4318000" y="8051800"/>
            <a:ext cx="273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AI 자동 식별 어려움 · 재촬영 필요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8636000"/>
            <a:ext cx="6477000" cy="137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546100" y="8636000"/>
            <a:ext cx="76200" cy="137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8788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📸 PRO TIP — 베테랑 손글씨 점검표 촬영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90932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1. 종이를 평평한 단색 바닥에 놓는다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27100" y="93472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2. 스마트폰을 종이와 정확히 평행 (10~20cm)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96012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3. 그림자 안 생기게 → OCR 정확도 95% 이상 달성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060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3" name="S17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956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실습 2-1 · 사진 촬영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실습 2-1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2-1] 효과적 사진 촬영 실습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3가지 시나리오 중 1개 선택 → 촬영 → 자기 평가 → 동료 평가 → 발표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2159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546100" y="19685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673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정비 점검표 사진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673100" y="29972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OCR 활용용</a:t>
            </a:r>
          </a:p>
        </p:txBody>
      </p:sp>
      <p:sp>
        <p:nvSpPr>
          <p:cNvPr id="114" name="S114"/>
          <p:cNvSpPr/>
          <p:nvPr/>
        </p:nvSpPr>
        <p:spPr>
          <a:xfrm>
            <a:off x="736600" y="3276600"/>
            <a:ext cx="1778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673100" y="336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요구사항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73100" y="35814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정면·균일 조명·명료한 글자</a:t>
            </a:r>
          </a:p>
        </p:txBody>
      </p:sp>
      <p:sp>
        <p:nvSpPr>
          <p:cNvPr id="117" name="S117"/>
          <p:cNvSpPr/>
          <p:nvPr/>
        </p:nvSpPr>
        <p:spPr>
          <a:xfrm>
            <a:off x="2705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2705100" y="1968500"/>
            <a:ext cx="21590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2705100" y="19685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b="1" dirty="0">
                <a:solidFill>
                  <a:srgbClr val="0F3A2E"/>
                </a:solidFill>
              </a:rPr>
              <a:t>B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2832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부품 결함 사진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832100" y="29972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마모·균열·부식 부위</a:t>
            </a:r>
          </a:p>
        </p:txBody>
      </p:sp>
      <p:sp>
        <p:nvSpPr>
          <p:cNvPr id="122" name="S122"/>
          <p:cNvSpPr/>
          <p:nvPr/>
        </p:nvSpPr>
        <p:spPr>
          <a:xfrm>
            <a:off x="2895600" y="3276600"/>
            <a:ext cx="1778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2832100" y="336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F4B400"/>
                </a:solidFill>
              </a:rPr>
              <a:t>요구사항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32100" y="35814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3장 이상·디테일 포함</a:t>
            </a:r>
          </a:p>
        </p:txBody>
      </p:sp>
      <p:sp>
        <p:nvSpPr>
          <p:cNvPr id="125" name="S125"/>
          <p:cNvSpPr/>
          <p:nvPr/>
        </p:nvSpPr>
        <p:spPr>
          <a:xfrm>
            <a:off x="4864100" y="1968500"/>
            <a:ext cx="2159000" cy="196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4864100" y="1968500"/>
            <a:ext cx="21590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4864100" y="19685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991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도면 사진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991100" y="29972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디지털화 활용</a:t>
            </a:r>
          </a:p>
        </p:txBody>
      </p:sp>
      <p:sp>
        <p:nvSpPr>
          <p:cNvPr id="130" name="S130"/>
          <p:cNvSpPr/>
          <p:nvPr/>
        </p:nvSpPr>
        <p:spPr>
          <a:xfrm>
            <a:off x="5054600" y="3276600"/>
            <a:ext cx="1778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4991100" y="336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8B9A3F"/>
                </a:solidFill>
              </a:rPr>
              <a:t>요구사항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4991100" y="35814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전체 + 라벨·치수 클로즈업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4191000"/>
            <a:ext cx="6477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35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진행 절차 (총 33분)</a:t>
            </a:r>
          </a:p>
        </p:txBody>
      </p:sp>
      <p:sp>
        <p:nvSpPr>
          <p:cNvPr id="135" name="S135"/>
          <p:cNvSpPr/>
          <p:nvPr/>
        </p:nvSpPr>
        <p:spPr>
          <a:xfrm>
            <a:off x="762000" y="4762500"/>
            <a:ext cx="11176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1181100" y="48514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1181100" y="4851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825500" y="51816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시나리오 선택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825500" y="53975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3분</a:t>
            </a:r>
          </a:p>
        </p:txBody>
      </p:sp>
      <p:sp>
        <p:nvSpPr>
          <p:cNvPr id="140" name="S140"/>
          <p:cNvSpPr/>
          <p:nvPr/>
        </p:nvSpPr>
        <p:spPr>
          <a:xfrm>
            <a:off x="1879600" y="5181600"/>
            <a:ext cx="127000" cy="1016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2006600" y="4762500"/>
            <a:ext cx="11176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2425700" y="48514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2425700" y="4851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2070100" y="51816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사진 촬영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070100" y="53975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10분</a:t>
            </a:r>
          </a:p>
        </p:txBody>
      </p:sp>
      <p:sp>
        <p:nvSpPr>
          <p:cNvPr id="146" name="S146"/>
          <p:cNvSpPr/>
          <p:nvPr/>
        </p:nvSpPr>
        <p:spPr>
          <a:xfrm>
            <a:off x="3124200" y="5181600"/>
            <a:ext cx="127000" cy="1016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3251200" y="4762500"/>
            <a:ext cx="1117600" cy="952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3670300" y="48514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3670300" y="4851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3314700" y="51816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자기 평가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3314700" y="53975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5분</a:t>
            </a:r>
          </a:p>
        </p:txBody>
      </p:sp>
      <p:sp>
        <p:nvSpPr>
          <p:cNvPr id="152" name="S152"/>
          <p:cNvSpPr/>
          <p:nvPr/>
        </p:nvSpPr>
        <p:spPr>
          <a:xfrm>
            <a:off x="4368800" y="5181600"/>
            <a:ext cx="127000" cy="1016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4495800" y="4762500"/>
            <a:ext cx="1117600" cy="952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4914900" y="48514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4914900" y="4851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D7BC8"/>
                </a:solidFill>
              </a:rPr>
              <a:t>4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4559300" y="51816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동료 교차 평가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4559300" y="53975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5분</a:t>
            </a:r>
          </a:p>
        </p:txBody>
      </p:sp>
      <p:sp>
        <p:nvSpPr>
          <p:cNvPr id="158" name="S158"/>
          <p:cNvSpPr/>
          <p:nvPr/>
        </p:nvSpPr>
        <p:spPr>
          <a:xfrm>
            <a:off x="5613400" y="5181600"/>
            <a:ext cx="127000" cy="1016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740400" y="4762500"/>
            <a:ext cx="11176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6159500" y="48514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6159500" y="4851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5803900" y="51816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베스트 샷 발표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5803900" y="53975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10분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6159500"/>
            <a:ext cx="6477000" cy="209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546100" y="6159500"/>
            <a:ext cx="76200" cy="209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632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자기 평가 체크리스트 (5항목)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66675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66675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231900" y="666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💡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612900" y="66802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조명 적절한가?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4660900" y="66802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그림자·역광 없음</a:t>
            </a:r>
          </a:p>
        </p:txBody>
      </p:sp>
      <p:sp>
        <p:nvSpPr>
          <p:cNvPr id="172" name="S172"/>
          <p:cNvSpPr/>
          <p:nvPr/>
        </p:nvSpPr>
        <p:spPr>
          <a:xfrm>
            <a:off x="927100" y="69596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6959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1231900" y="6959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📐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1612900" y="69723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각도 정확한가?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4660900" y="69723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수직 촬영</a:t>
            </a:r>
          </a:p>
        </p:txBody>
      </p:sp>
      <p:sp>
        <p:nvSpPr>
          <p:cNvPr id="177" name="S177"/>
          <p:cNvSpPr/>
          <p:nvPr/>
        </p:nvSpPr>
        <p:spPr>
          <a:xfrm>
            <a:off x="927100" y="72517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927100" y="7251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1231900" y="72517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1612900" y="72644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디테일 식별 가능한가?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4660900" y="72644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부품번호·라벨 식별</a:t>
            </a:r>
          </a:p>
        </p:txBody>
      </p:sp>
      <p:sp>
        <p:nvSpPr>
          <p:cNvPr id="182" name="S182"/>
          <p:cNvSpPr/>
          <p:nvPr/>
        </p:nvSpPr>
        <p:spPr>
          <a:xfrm>
            <a:off x="927100" y="75438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927100" y="7543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231900" y="75438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1612900" y="7556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배경 깔끔한가?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4660900" y="75565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혼란 요소 없음</a:t>
            </a:r>
          </a:p>
        </p:txBody>
      </p:sp>
      <p:sp>
        <p:nvSpPr>
          <p:cNvPr id="187" name="S187"/>
          <p:cNvSpPr/>
          <p:nvPr/>
        </p:nvSpPr>
        <p:spPr>
          <a:xfrm>
            <a:off x="927100" y="78359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927100" y="7835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1231900" y="78359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📍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1612900" y="78486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메타데이터 메모 완료?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4660900" y="78486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장비명·일자·맥락</a:t>
            </a:r>
          </a:p>
        </p:txBody>
      </p:sp>
      <p:sp>
        <p:nvSpPr>
          <p:cNvPr id="192" name="S192"/>
          <p:cNvSpPr/>
          <p:nvPr/>
        </p:nvSpPr>
        <p:spPr>
          <a:xfrm>
            <a:off x="546100" y="8445500"/>
            <a:ext cx="64770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546100" y="84455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927100" y="861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실습 산출물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927100" y="8890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📸 </a:t>
            </a:r>
            <a:r>
              <a:rPr lang="en-US" sz="1300" b="1" dirty="0">
                <a:solidFill>
                  <a:srgbClr val="FFFFFF"/>
                </a:solidFill>
              </a:rPr>
              <a:t>베스트 샷 1장</a:t>
            </a:r>
            <a:r>
              <a:rPr lang="en-US" sz="1100" dirty="0">
                <a:solidFill>
                  <a:srgbClr val="DDDDDD"/>
                </a:solidFill>
              </a:rPr>
              <a:t> + </a:t>
            </a:r>
            <a:r>
              <a:rPr lang="en-US" sz="1300" b="1" dirty="0">
                <a:solidFill>
                  <a:srgbClr val="FFFFFF"/>
                </a:solidFill>
              </a:rPr>
              <a:t>📋 자기 평가 체크리스트</a:t>
            </a:r>
            <a:r>
              <a:rPr lang="en-US" sz="1100" dirty="0">
                <a:solidFill>
                  <a:srgbClr val="DDDDDD"/>
                </a:solidFill>
              </a:rPr>
              <a:t> + </a:t>
            </a:r>
            <a:r>
              <a:rPr lang="en-US" sz="1300" b="1" dirty="0">
                <a:solidFill>
                  <a:srgbClr val="FFFFFF"/>
                </a:solidFill>
              </a:rPr>
              <a:t>💬 동료 피드백 1줄</a:t>
            </a:r>
          </a:p>
        </p:txBody>
      </p:sp>
      <p:sp>
        <p:nvSpPr>
          <p:cNvPr id="196" name="S196"/>
          <p:cNvSpPr/>
          <p:nvPr/>
        </p:nvSpPr>
        <p:spPr>
          <a:xfrm>
            <a:off x="546100" y="93980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7" name="T197"/>
          <p:cNvSpPr txBox="1"/>
          <p:nvPr/>
        </p:nvSpPr>
        <p:spPr>
          <a:xfrm>
            <a:off x="762000" y="9525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PRO TIP </a:t>
            </a:r>
            <a:r>
              <a:rPr lang="en-US" sz="1100" dirty="0">
                <a:solidFill>
                  <a:srgbClr val="2C2C2C"/>
                </a:solidFill>
              </a:rPr>
              <a:t> — 베스트 샷은 "OCR이 텍스트를 100% 읽어낼 만큼" 명료해야 한다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762000" y="9753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오늘 찍은 사진은 PART 03 OCR·STT 실습에서 그대로 사용</a:t>
            </a:r>
          </a:p>
        </p:txBody>
      </p:sp>
      <p:sp>
        <p:nvSpPr>
          <p:cNvPr id="199" name="S19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061 —</a:t>
            </a:r>
          </a:p>
        </p:txBody>
      </p:sp>
      <p:sp>
        <p:nvSpPr>
          <p:cNvPr id="202" name="S20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S20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S20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4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1.3 마이크 · 음성 메모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Ch.1.3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마이크 활용 — 음성 메모와 인터뷰 녹음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활용도 가장 낮은 자산 = 가장 큰 자산화 기회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460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74700" y="2120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747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3213100" y="2120900"/>
            <a:ext cx="444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📢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82700" y="2159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현장 음성 보고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74700" y="2603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정비 후 즉시 → STT로 보고서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74700" y="29210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활용: A/S 엔지니어 일일 보고</a:t>
            </a:r>
          </a:p>
        </p:txBody>
      </p:sp>
      <p:sp>
        <p:nvSpPr>
          <p:cNvPr id="117" name="S117"/>
          <p:cNvSpPr/>
          <p:nvPr/>
        </p:nvSpPr>
        <p:spPr>
          <a:xfrm>
            <a:off x="3810000" y="1968500"/>
            <a:ext cx="3213100" cy="14605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762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4038600" y="21209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386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6477000" y="2120900"/>
            <a:ext cx="444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159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베테랑 인터뷰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38600" y="2603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1~2시간 → 노하우 데이터셋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038600" y="29210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활용: 정비·영업·해외영업 베테랑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6604000" y="2540000"/>
            <a:ext cx="317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35560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6100" y="3556000"/>
            <a:ext cx="76200" cy="1460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774700" y="3708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74700" y="3708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3213100" y="3708400"/>
            <a:ext cx="444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👥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82700" y="3746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회의·미팅 녹음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74700" y="41910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전체 녹음 → 자동 회의록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774700" y="45085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활용: 모든 부서</a:t>
            </a:r>
          </a:p>
        </p:txBody>
      </p:sp>
      <p:sp>
        <p:nvSpPr>
          <p:cNvPr id="134" name="S134"/>
          <p:cNvSpPr/>
          <p:nvPr/>
        </p:nvSpPr>
        <p:spPr>
          <a:xfrm>
            <a:off x="3810000" y="35560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3810000" y="3556000"/>
            <a:ext cx="76200" cy="1460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4038600" y="37084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038600" y="3708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6477000" y="3708400"/>
            <a:ext cx="444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💭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4546600" y="37465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일상 메모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4038600" y="41910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D7BC8"/>
                </a:solidFill>
              </a:rPr>
              <a:t>현장 아이디어·통찰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38600" y="45085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활용: 누락 방지·즉시 기록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143500"/>
            <a:ext cx="6477000" cy="215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51435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927100" y="530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음성 녹음 5가지 팁 — 음질이 STT 정확도를 결정</a:t>
            </a:r>
          </a:p>
        </p:txBody>
      </p:sp>
      <p:sp>
        <p:nvSpPr>
          <p:cNvPr id="145" name="S145"/>
          <p:cNvSpPr/>
          <p:nvPr/>
        </p:nvSpPr>
        <p:spPr>
          <a:xfrm>
            <a:off x="927100" y="56896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5689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270000" y="57023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조용한 환경 — 가능한 한 노이즈 적은 곳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59817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5981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59944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거리 일정 — 마이크 30cm 이내</a:t>
            </a:r>
          </a:p>
        </p:txBody>
      </p:sp>
      <p:sp>
        <p:nvSpPr>
          <p:cNvPr id="151" name="S151"/>
          <p:cNvSpPr/>
          <p:nvPr/>
        </p:nvSpPr>
        <p:spPr>
          <a:xfrm>
            <a:off x="927100" y="62738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927100" y="6273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270000" y="62865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명확한 발음 — 평소보다 또렷하게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65659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6565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270000" y="65786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휴식 활용 — 1시간 인터뷰는 30분씩 분할</a:t>
            </a:r>
          </a:p>
        </p:txBody>
      </p:sp>
      <p:sp>
        <p:nvSpPr>
          <p:cNvPr id="157" name="S157"/>
          <p:cNvSpPr/>
          <p:nvPr/>
        </p:nvSpPr>
        <p:spPr>
          <a:xfrm>
            <a:off x="927100" y="68580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927100" y="6858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1270000" y="6870700"/>
            <a:ext cx="558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dirty="0">
                <a:solidFill>
                  <a:srgbClr val="FFFFFF"/>
                </a:solidFill>
              </a:rPr>
              <a:t>백업 녹음 — 중요한 인터뷰는 2개 기기로 동시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7493000"/>
            <a:ext cx="64770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762000" y="7658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권장 앱 — 운영체제별 + 실시간 STT</a:t>
            </a:r>
          </a:p>
        </p:txBody>
      </p:sp>
      <p:sp>
        <p:nvSpPr>
          <p:cNvPr id="162" name="S162"/>
          <p:cNvSpPr/>
          <p:nvPr/>
        </p:nvSpPr>
        <p:spPr>
          <a:xfrm>
            <a:off x="762000" y="8102600"/>
            <a:ext cx="1524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762000" y="81026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476500" y="81280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음성 메모 (기본 내장)</a:t>
            </a:r>
          </a:p>
        </p:txBody>
      </p:sp>
      <p:sp>
        <p:nvSpPr>
          <p:cNvPr id="165" name="S165"/>
          <p:cNvSpPr/>
          <p:nvPr/>
        </p:nvSpPr>
        <p:spPr>
          <a:xfrm>
            <a:off x="762000" y="8382000"/>
            <a:ext cx="1524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762000" y="83820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2476500" y="8407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Recorder (Google) — STT 자동</a:t>
            </a:r>
          </a:p>
        </p:txBody>
      </p:sp>
      <p:sp>
        <p:nvSpPr>
          <p:cNvPr id="168" name="S168"/>
          <p:cNvSpPr/>
          <p:nvPr/>
        </p:nvSpPr>
        <p:spPr>
          <a:xfrm>
            <a:off x="762000" y="8661400"/>
            <a:ext cx="1524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762000" y="86614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양쪽 (실시간 STT)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2476500" y="86868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Otter.ai · Notta — 실시간 텍스트화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6705600" y="86741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927100" y="9271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음성은 ★ DAY 3에서 STT로 텍스트화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오늘 녹음한 베테랑 인터뷰 = </a:t>
            </a:r>
            <a:r>
              <a:rPr lang="en-US" sz="1200" b="1" dirty="0">
                <a:solidFill>
                  <a:srgbClr val="F4B400"/>
                </a:solidFill>
              </a:rPr>
              <a:t>PART 03 STT 실습 데이터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062 —</a:t>
            </a: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983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1.4 데이터 수집 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Ch.1.4 · 그림 2-4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수집 앱 — 양식화 입력의 강자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4가지 앱 비교 — 무료부터 고급 구조화까지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460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74700" y="2120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747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82700" y="2159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Google Forms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74700" y="26035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강점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74700" y="28067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무료 · 간편 · 자동 집계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74700" y="30480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적합 활용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74700" y="32512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점검표 · 설문 · 정기 수집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1968500"/>
            <a:ext cx="76200" cy="1460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4038600" y="21209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4038600" y="2120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159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Microsoft Forms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38600" y="26035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3D7BC8"/>
                </a:solidFill>
              </a:rPr>
              <a:t>강점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038600" y="28067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Office 365 통합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038600" y="30480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3D7BC8"/>
                </a:solidFill>
              </a:rPr>
              <a:t>적합 활용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38600" y="32512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사내 표준 양식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35560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3556000"/>
            <a:ext cx="762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74700" y="37084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74700" y="3708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82700" y="37465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Notion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74700" y="41910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0F3A2E"/>
                </a:solidFill>
              </a:rPr>
              <a:t>강점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774700" y="43942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자유로운 구조화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74700" y="46355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0F3A2E"/>
                </a:solidFill>
              </a:rPr>
              <a:t>적합 활용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74700" y="48387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인벤토리 · DB 구축</a:t>
            </a:r>
          </a:p>
        </p:txBody>
      </p:sp>
      <p:sp>
        <p:nvSpPr>
          <p:cNvPr id="136" name="S136"/>
          <p:cNvSpPr/>
          <p:nvPr/>
        </p:nvSpPr>
        <p:spPr>
          <a:xfrm>
            <a:off x="3810000" y="3556000"/>
            <a:ext cx="32131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10000" y="3556000"/>
            <a:ext cx="76200" cy="1460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4038600" y="3708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4038600" y="3708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4546600" y="37465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Apple Notes / Google Keep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38600" y="41910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8B9A3F"/>
                </a:solidFill>
              </a:rPr>
              <a:t>강점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038600" y="43942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즉시 기록 · OCR 내장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038600" y="46355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8B9A3F"/>
                </a:solidFill>
              </a:rPr>
              <a:t>적합 활용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38600" y="48387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일상 메모 · 사진 정리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5143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762000" y="5143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활용 시나리오 — 도구별 베스트 프랙티스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5651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5651500"/>
            <a:ext cx="1524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46100" y="57531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Forms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546100" y="6007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EEDD"/>
                </a:solidFill>
              </a:rPr>
              <a:t>정비 점검표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2222500" y="5842000"/>
            <a:ext cx="4699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양식 1회 작성 → 매일 모바일 입력 → Excel 자동 집계 → AI 분석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63500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6350000"/>
            <a:ext cx="1524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546100" y="64516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Notion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46100" y="67056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EEDD"/>
                </a:solidFill>
              </a:rPr>
              <a:t>베테랑 노하우 DB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2222500" y="6540500"/>
            <a:ext cx="4699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카테고리·태그·관계 설정 — 인터뷰 결과 구조화 저장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7048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7048500"/>
            <a:ext cx="15240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71501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Keep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7404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FEEDD"/>
                </a:solidFill>
              </a:rPr>
              <a:t>현장 일상 메모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2222500" y="7239000"/>
            <a:ext cx="46990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사진 + 음성 + 텍스트 한 노트 — OCR로 사진 텍스트 검색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7810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7810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8001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8293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데이터 수집은 </a:t>
            </a:r>
            <a:r>
              <a:rPr lang="en-US" sz="1500" b="1" dirty="0">
                <a:solidFill>
                  <a:srgbClr val="F4B400"/>
                </a:solidFill>
              </a:rPr>
              <a:t>양식화의 싸움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86741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양식만 잘 만들면 평생 자산화 가능 — 한번 만들고 매일 활용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762000" y="9271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💡 무엇을 쓸지 망설여진다면 — 의사결정 가이드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762000" y="9525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정형 입력 </a:t>
            </a:r>
            <a:r>
              <a:rPr lang="en-US" sz="1000" dirty="0">
                <a:solidFill>
                  <a:srgbClr val="6B6B6B"/>
                </a:solidFill>
              </a:rPr>
              <a:t>→ Forms · </a:t>
            </a:r>
            <a:r>
              <a:rPr lang="en-US" sz="1000" dirty="0">
                <a:solidFill>
                  <a:srgbClr val="2C2C2C"/>
                </a:solidFill>
              </a:rPr>
              <a:t>구조화 DB </a:t>
            </a:r>
            <a:r>
              <a:rPr lang="en-US" sz="1000" dirty="0">
                <a:solidFill>
                  <a:srgbClr val="6B6B6B"/>
                </a:solidFill>
              </a:rPr>
              <a:t>→ Notion · </a:t>
            </a:r>
            <a:r>
              <a:rPr lang="en-US" sz="1000" dirty="0">
                <a:solidFill>
                  <a:srgbClr val="2C2C2C"/>
                </a:solidFill>
              </a:rPr>
              <a:t>일상 </a:t>
            </a:r>
            <a:r>
              <a:rPr lang="en-US" sz="1000" dirty="0">
                <a:solidFill>
                  <a:srgbClr val="6B6B6B"/>
                </a:solidFill>
              </a:rPr>
              <a:t>→ Keep / Notes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762000" y="9753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 표준 채택 후 → 사내 모든 데이터 한 곳에 모이도록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063 —</a:t>
            </a:r>
          </a:p>
        </p:txBody>
      </p:sp>
      <p:sp>
        <p:nvSpPr>
          <p:cNvPr id="174" name="S17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112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C42E-8698-F554-871A-DE720DA5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5566A163-8919-6F41-C884-DDB9285E1387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CEE7FFFF-9F6B-B005-60A4-F6BA70C9EABD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DFF2DC15-E7AA-7DAC-9A04-63BA3C531816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1.4 데이터 수집 앱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F1DF92EB-C05F-40E5-6B79-C2BD57001024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3B1E35B6-7FDD-AD7D-1740-5A72E449BEA0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Ch.1.4 · 그림 2-4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B1FA0A73-25E2-F96F-7BE3-C0B413777FB5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>
            <a:extLst>
              <a:ext uri="{FF2B5EF4-FFF2-40B4-BE49-F238E27FC236}">
                <a16:creationId xmlns:a16="http://schemas.microsoft.com/office/drawing/2014/main" id="{C68D65B1-D0D3-FE09-35D2-3C8F22B20448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>
            <a:extLst>
              <a:ext uri="{FF2B5EF4-FFF2-40B4-BE49-F238E27FC236}">
                <a16:creationId xmlns:a16="http://schemas.microsoft.com/office/drawing/2014/main" id="{96F80EF7-5045-877D-0E28-8D09E9AC9905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3" name="T173">
            <a:extLst>
              <a:ext uri="{FF2B5EF4-FFF2-40B4-BE49-F238E27FC236}">
                <a16:creationId xmlns:a16="http://schemas.microsoft.com/office/drawing/2014/main" id="{6354F5A0-D305-4221-8683-D3CF25544D08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063 —</a:t>
            </a:r>
          </a:p>
        </p:txBody>
      </p:sp>
      <p:sp>
        <p:nvSpPr>
          <p:cNvPr id="174" name="S174">
            <a:extLst>
              <a:ext uri="{FF2B5EF4-FFF2-40B4-BE49-F238E27FC236}">
                <a16:creationId xmlns:a16="http://schemas.microsoft.com/office/drawing/2014/main" id="{24DC559A-979F-A8F9-53DE-60E741548BF3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>
            <a:extLst>
              <a:ext uri="{FF2B5EF4-FFF2-40B4-BE49-F238E27FC236}">
                <a16:creationId xmlns:a16="http://schemas.microsoft.com/office/drawing/2014/main" id="{D4698692-D1A1-EF22-A558-4DAACB3671E3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>
            <a:extLst>
              <a:ext uri="{FF2B5EF4-FFF2-40B4-BE49-F238E27FC236}">
                <a16:creationId xmlns:a16="http://schemas.microsoft.com/office/drawing/2014/main" id="{18D141FB-3B91-7005-59C1-DF0B380C028A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>
            <a:extLst>
              <a:ext uri="{FF2B5EF4-FFF2-40B4-BE49-F238E27FC236}">
                <a16:creationId xmlns:a16="http://schemas.microsoft.com/office/drawing/2014/main" id="{09DC8FD5-839D-7522-6F94-57225F0EB220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6C06E9-6E7C-2FCE-26F6-B611D294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4" y="787400"/>
            <a:ext cx="6836921" cy="36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174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Chapter 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스마트폰 기반 수집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스마트폰 데이터 수집 도구 — 카메라 · 마이크 · 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스마트폰 = 만능 수집 도구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카메라 · 마이크 · 앱 · GPS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비싼 장비 X — 손에 든 것이 가장 강력 · 90%의 데이터 수집 가능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사진 · 음성 5원칙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조명 · 각도 · 거리 · 배경 · 메타데이터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이 5가지가 OCR · STT 정확도와 데이터 가치를 결정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수집 앱 활용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Forms (정형) + Notion (구조화) + Keep (일상)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양식만 잘 만들면 평생 자산화 — 한번 만들고 매일 활용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비싼 장비가 필요 없다.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이미 가진 </a:t>
            </a:r>
            <a:r>
              <a:rPr lang="en-US" sz="1500" b="1" dirty="0">
                <a:solidFill>
                  <a:srgbClr val="F4B400"/>
                </a:solidFill>
              </a:rPr>
              <a:t>스마트폰</a:t>
            </a:r>
            <a:r>
              <a:rPr lang="en-US" sz="1500" b="1" dirty="0">
                <a:solidFill>
                  <a:srgbClr val="FFFFFF"/>
                </a:solidFill>
              </a:rPr>
              <a:t>부터 마스터하라.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손에 든 것 = 회사의 첫 번째 데이터 수집 시스템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</a:t>
            </a:r>
            <a:r>
              <a:rPr lang="en-US" sz="1500" b="1" dirty="0">
                <a:solidFill>
                  <a:srgbClr val="FFFFFF"/>
                </a:solidFill>
              </a:rPr>
              <a:t>방법론 (효율적 수집 5원칙)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064 —</a:t>
            </a: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449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02 · DAY 2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METHODOLOGY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 수집 방법론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Collection Methodology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"별도 시간 X — 일상 업무 중 자연스럽게 수집되도록 설계"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효율적 수집의 5원칙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자기 직무 수집 양식 작성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부서별 수집 시나리오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636000"/>
            <a:ext cx="5765800" cy="127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889000" y="8636000"/>
            <a:ext cx="76200" cy="127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90932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수집은 </a:t>
            </a:r>
            <a:r>
              <a:rPr lang="en-US" sz="1500" b="1" dirty="0">
                <a:solidFill>
                  <a:srgbClr val="F4B400"/>
                </a:solidFill>
              </a:rPr>
              <a:t>습관과 시스템</a:t>
            </a:r>
            <a:r>
              <a:rPr lang="en-US" sz="1500" b="1" dirty="0">
                <a:solidFill>
                  <a:srgbClr val="FFFFFF"/>
                </a:solidFill>
              </a:rPr>
              <a:t>의 문제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143000" y="94996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의지력에 의존하지 말 것 — 자동화·임베디드 설계가 답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065 —</a:t>
            </a:r>
          </a:p>
        </p:txBody>
      </p:sp>
    </p:spTree>
    <p:extLst>
      <p:ext uri="{BB962C8B-B14F-4D97-AF65-F5344CB8AC3E}">
        <p14:creationId xmlns:p14="http://schemas.microsoft.com/office/powerpoint/2010/main" val="12958847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2.1 · 5원칙 · 그림 2-5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Ch.2.1 · 그림 2-5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효율적 수집의 5원칙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수집은 "습관과 시스템"의 문제 — 의지력에 의존하지 말 것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635000" cy="635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587500" y="20955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임베디드 수집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587500" y="23876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200" dirty="0">
                <a:solidFill>
                  <a:srgbClr val="E8632C"/>
                </a:solidFill>
              </a:rPr>
              <a:t>Embedded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587500" y="26035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일상 업무 중 자연 수집 (별도 시간 X)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4127500" y="21209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4127500" y="23495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정비 작업 중 자동 사진·음성 메모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0353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0353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3225800"/>
            <a:ext cx="635000" cy="635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32258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587500" y="31623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양식화·표준화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4544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200" dirty="0">
                <a:solidFill>
                  <a:srgbClr val="F4B400"/>
                </a:solidFill>
              </a:rPr>
              <a:t>Standardize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36703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매번 기억할 필요 X — 양식 채우기만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127500" y="31877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127500" y="34163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점검표 양식 사진 + Forms 입력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1021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102100"/>
            <a:ext cx="762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292600"/>
            <a:ext cx="635000" cy="635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2926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42291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메타데이터 즉시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587500" y="4521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200" dirty="0">
                <a:solidFill>
                  <a:srgbClr val="8B9A3F"/>
                </a:solidFill>
              </a:rPr>
              <a:t>Meta-tag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587500" y="47371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일자·작성자·맥락 자동 또는 수동 즉시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127500" y="42545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4127500" y="44831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GPS·시각 자동 + 한 줄 메모</a:t>
            </a:r>
          </a:p>
        </p:txBody>
      </p:sp>
      <p:sp>
        <p:nvSpPr>
          <p:cNvPr id="136" name="S136"/>
          <p:cNvSpPr/>
          <p:nvPr/>
        </p:nvSpPr>
        <p:spPr>
          <a:xfrm>
            <a:off x="546100" y="51689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546100" y="5168900"/>
            <a:ext cx="76200" cy="1016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762000" y="5359400"/>
            <a:ext cx="635000" cy="635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762000" y="53594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587500" y="52959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보안 등급 표시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1587500" y="55880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200" dirty="0">
                <a:solidFill>
                  <a:srgbClr val="3D7BC8"/>
                </a:solidFill>
              </a:rPr>
              <a:t>Classify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587500" y="58039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D7BC8"/>
                </a:solidFill>
              </a:rPr>
              <a:t>공개·내부·기밀·민감 4등급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127500" y="53213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127500" y="55499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양식에 "민감도" 필드 포함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2357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235700"/>
            <a:ext cx="762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426200"/>
            <a:ext cx="635000" cy="635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4262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587500" y="63627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정기 점검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587500" y="66548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200" dirty="0">
                <a:solidFill>
                  <a:srgbClr val="0F3A2E"/>
                </a:solidFill>
              </a:rPr>
              <a:t>Review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587500" y="68707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매주 정해진 시간 — 누락 보완·검수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4127500" y="63881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4127500" y="66167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금요일 오후 → 1주 데이터 검토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7366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546100" y="736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927100" y="755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27100" y="7848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수집은 </a:t>
            </a:r>
            <a:r>
              <a:rPr lang="en-US" sz="1500" b="1" dirty="0">
                <a:solidFill>
                  <a:srgbClr val="F4B400"/>
                </a:solidFill>
              </a:rPr>
              <a:t>습관과 시스템</a:t>
            </a:r>
            <a:r>
              <a:rPr lang="en-US" sz="1500" b="1" dirty="0">
                <a:solidFill>
                  <a:srgbClr val="FFFFFF"/>
                </a:solidFill>
              </a:rPr>
              <a:t>의 문제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의지력에 의존하지 말 것 — 5원칙은 시스템 설계의 체크리스트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8699500"/>
            <a:ext cx="6477000" cy="127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8699500"/>
            <a:ext cx="76200" cy="127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886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내일부터 적용 — 5원칙 체크리스트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9144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206500" y="9144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임베디드 가능한 업무 1가지 식별 — 어떤 업무에 자동 수집 끼워넣을 수 있나?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27100" y="93091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1206500" y="93091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양식 1개 만들기 — Forms·Notion 중 선택 후 5분 작업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94742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206500" y="94742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메타데이터 9요소 양식에 포함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27100" y="96393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206500" y="96393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보안 등급 필드 추가 — 4등급 드롭다운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27100" y="98044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1206500" y="9804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매주 금요일 17시 — 데이터 검수 30분 일정 등록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066 —</a:t>
            </a:r>
          </a:p>
        </p:txBody>
      </p:sp>
      <p:sp>
        <p:nvSpPr>
          <p:cNvPr id="175" name="S17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82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원칙 1 · 임베디드 수집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원칙 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원칙 1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540000" y="952500"/>
            <a:ext cx="412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일상 업무 중 자연 수집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Embedded Collection — 별도 시간 X · 본 업무의 "부산물"로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3187700" cy="1968500"/>
          </a:xfrm>
          <a:prstGeom prst="rect">
            <a:avLst/>
          </a:prstGeom>
          <a:solidFill>
            <a:srgbClr val="FAFAFA"/>
          </a:solidFill>
          <a:ln w="9525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3187700" cy="4064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1968500"/>
            <a:ext cx="31877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나쁜 예 — 별도 시간 부담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98500" y="2540000"/>
            <a:ext cx="2882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"이번 분기에 1주일 시간 잡아서 베테랑 인터뷰 진행"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98500" y="30480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C73E1D"/>
                </a:solidFill>
              </a:rPr>
              <a:t>결과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98500" y="32766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→ 우선순위 밀려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698500" y="35052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   영구 미실행 (Day 1 = Day Never)</a:t>
            </a:r>
          </a:p>
        </p:txBody>
      </p:sp>
      <p:sp>
        <p:nvSpPr>
          <p:cNvPr id="118" name="S118"/>
          <p:cNvSpPr/>
          <p:nvPr/>
        </p:nvSpPr>
        <p:spPr>
          <a:xfrm>
            <a:off x="3835400" y="1968500"/>
            <a:ext cx="31877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35400" y="1968500"/>
            <a:ext cx="31877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3835400" y="1968500"/>
            <a:ext cx="31877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좋은 예 — 일상 임베디드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987800" y="25146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정비 작업 시작·종료 시 사진 자동 (Forms)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3987800" y="27686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회의 시작 시 녹음 버튼 (1초)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3987800" y="30226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퇴근 전 5분 음성 메모 (오늘 노하우)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3987800" y="34036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b="1" spc="100" dirty="0">
                <a:solidFill>
                  <a:srgbClr val="E8632C"/>
                </a:solidFill>
              </a:rPr>
              <a:t>결과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3987800" y="3632200"/>
            <a:ext cx="2882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→ 매일 자동 누적 — 1년 후 자산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4127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762000" y="4127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6가지 임베디드 수집 시나리오</a:t>
            </a:r>
          </a:p>
        </p:txBody>
      </p:sp>
      <p:sp>
        <p:nvSpPr>
          <p:cNvPr id="128" name="S128"/>
          <p:cNvSpPr/>
          <p:nvPr/>
        </p:nvSpPr>
        <p:spPr>
          <a:xfrm>
            <a:off x="546100" y="4508500"/>
            <a:ext cx="2032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546100" y="4508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일상 업무</a:t>
            </a:r>
          </a:p>
        </p:txBody>
      </p:sp>
      <p:sp>
        <p:nvSpPr>
          <p:cNvPr id="130" name="S130"/>
          <p:cNvSpPr/>
          <p:nvPr/>
        </p:nvSpPr>
        <p:spPr>
          <a:xfrm>
            <a:off x="2578100" y="4508500"/>
            <a:ext cx="4445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2578100" y="4508500"/>
            <a:ext cx="444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임베디드 수집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4787900"/>
            <a:ext cx="2032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4787900"/>
            <a:ext cx="63500" cy="330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698500" y="47879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정비 작업</a:t>
            </a:r>
          </a:p>
        </p:txBody>
      </p:sp>
      <p:sp>
        <p:nvSpPr>
          <p:cNvPr id="135" name="S135"/>
          <p:cNvSpPr/>
          <p:nvPr/>
        </p:nvSpPr>
        <p:spPr>
          <a:xfrm>
            <a:off x="2578100" y="4787900"/>
            <a:ext cx="4445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2730500" y="47879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시작·종료 사진 · 증상 음성 메모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118100"/>
            <a:ext cx="2032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118100"/>
            <a:ext cx="63500" cy="330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698500" y="51181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고객 미팅</a:t>
            </a:r>
          </a:p>
        </p:txBody>
      </p:sp>
      <p:sp>
        <p:nvSpPr>
          <p:cNvPr id="140" name="S140"/>
          <p:cNvSpPr/>
          <p:nvPr/>
        </p:nvSpPr>
        <p:spPr>
          <a:xfrm>
            <a:off x="2578100" y="5118100"/>
            <a:ext cx="4445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2730500" y="51181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미팅 녹음 + 명함 사진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448300"/>
            <a:ext cx="2032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5448300"/>
            <a:ext cx="63500" cy="330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698500" y="54483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매뉴얼 검토</a:t>
            </a:r>
          </a:p>
        </p:txBody>
      </p:sp>
      <p:sp>
        <p:nvSpPr>
          <p:cNvPr id="145" name="S145"/>
          <p:cNvSpPr/>
          <p:nvPr/>
        </p:nvSpPr>
        <p:spPr>
          <a:xfrm>
            <a:off x="2578100" y="5448300"/>
            <a:ext cx="4445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2730500" y="54483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페이지 사진 + 핵심 메모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5778500"/>
            <a:ext cx="2032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5778500"/>
            <a:ext cx="63500" cy="3302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698500" y="57785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현장 점검</a:t>
            </a:r>
          </a:p>
        </p:txBody>
      </p:sp>
      <p:sp>
        <p:nvSpPr>
          <p:cNvPr id="150" name="S150"/>
          <p:cNvSpPr/>
          <p:nvPr/>
        </p:nvSpPr>
        <p:spPr>
          <a:xfrm>
            <a:off x="2578100" y="5778500"/>
            <a:ext cx="4445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2730500" y="57785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점검표 사진 + 이상 부위 영상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6108700"/>
            <a:ext cx="2032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6108700"/>
            <a:ext cx="63500" cy="330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698500" y="61087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베테랑 동행</a:t>
            </a:r>
          </a:p>
        </p:txBody>
      </p:sp>
      <p:sp>
        <p:nvSpPr>
          <p:cNvPr id="155" name="S155"/>
          <p:cNvSpPr/>
          <p:nvPr/>
        </p:nvSpPr>
        <p:spPr>
          <a:xfrm>
            <a:off x="2578100" y="6108700"/>
            <a:ext cx="4445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730500" y="61087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작업 영상 + 베테랑 설명 음성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6438900"/>
            <a:ext cx="2032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6438900"/>
            <a:ext cx="63500" cy="3302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698500" y="6438900"/>
            <a:ext cx="1879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회의</a:t>
            </a:r>
          </a:p>
        </p:txBody>
      </p:sp>
      <p:sp>
        <p:nvSpPr>
          <p:cNvPr id="160" name="S160"/>
          <p:cNvSpPr/>
          <p:nvPr/>
        </p:nvSpPr>
        <p:spPr>
          <a:xfrm>
            <a:off x="2578100" y="6438900"/>
            <a:ext cx="4445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2730500" y="64389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자동 녹음 + 화이트보드 사진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985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698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717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746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"수집"이 아니라 </a:t>
            </a:r>
            <a:r>
              <a:rPr lang="en-US" sz="1500" b="1" dirty="0">
                <a:solidFill>
                  <a:srgbClr val="F4B400"/>
                </a:solidFill>
              </a:rPr>
              <a:t>"부산물"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784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본 업무 결과물의 일부로 — 따로 시간 들이지 않아도 매일 자동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8318500"/>
            <a:ext cx="6477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762000" y="848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💭 1분 자기 설계 — 내 일상 업무 1가지에 임베디드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762000" y="8826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079500" y="8826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내 일상 업무 1가지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3619500" y="88265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매일/주기적 반복하는 일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762000" y="9080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1079500" y="9080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끼워넣을 수집 활동 1가지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3619500" y="90805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사진·녹음·메모 중 가장 쉬운 것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9334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1079500" y="9334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걸리는 시간 (1분 이내)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3619500" y="93345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넘으면 임베디드 X — 양식 단순화 필요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762000" y="9588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1079500" y="9588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내일부터 시작 가능?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3619500" y="95885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불가하면 다른 업무·다른 활동으로 재설계</a:t>
            </a:r>
          </a:p>
        </p:txBody>
      </p:sp>
      <p:sp>
        <p:nvSpPr>
          <p:cNvPr id="181" name="S18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067 —</a:t>
            </a:r>
          </a:p>
        </p:txBody>
      </p:sp>
      <p:sp>
        <p:nvSpPr>
          <p:cNvPr id="184" name="S18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974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원칙 2·3 · 메타 9요소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원칙 2·3 · 그림 2-6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0F3A2E"/>
                </a:solidFill>
              </a:rPr>
              <a:t>원칙 2·3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540000" y="952500"/>
            <a:ext cx="412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양식화·표준화 + 메타데이터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매번 기억할 필요 X — 양식이 곧 시스템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양식화의 효과 — Before vs After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2159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215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측면</a:t>
            </a:r>
          </a:p>
        </p:txBody>
      </p:sp>
      <p:sp>
        <p:nvSpPr>
          <p:cNvPr id="115" name="S115"/>
          <p:cNvSpPr/>
          <p:nvPr/>
        </p:nvSpPr>
        <p:spPr>
          <a:xfrm>
            <a:off x="2705100" y="2349500"/>
            <a:ext cx="2159000" cy="2794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2705100" y="2349500"/>
            <a:ext cx="215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17" name="S117"/>
          <p:cNvSpPr/>
          <p:nvPr/>
        </p:nvSpPr>
        <p:spPr>
          <a:xfrm>
            <a:off x="4864100" y="2349500"/>
            <a:ext cx="2159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4864100" y="2349500"/>
            <a:ext cx="215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 (양식화)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28900"/>
            <a:ext cx="2159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289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입력 시간</a:t>
            </a:r>
          </a:p>
        </p:txBody>
      </p:sp>
      <p:sp>
        <p:nvSpPr>
          <p:cNvPr id="121" name="S121"/>
          <p:cNvSpPr/>
          <p:nvPr/>
        </p:nvSpPr>
        <p:spPr>
          <a:xfrm>
            <a:off x="2705100" y="2628900"/>
            <a:ext cx="2159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705100" y="26289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5~10분</a:t>
            </a:r>
          </a:p>
        </p:txBody>
      </p:sp>
      <p:sp>
        <p:nvSpPr>
          <p:cNvPr id="123" name="S123"/>
          <p:cNvSpPr/>
          <p:nvPr/>
        </p:nvSpPr>
        <p:spPr>
          <a:xfrm>
            <a:off x="4864100" y="2628900"/>
            <a:ext cx="2159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4864100" y="26289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1~2분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2933700"/>
            <a:ext cx="2159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29337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일관성</a:t>
            </a:r>
          </a:p>
        </p:txBody>
      </p:sp>
      <p:sp>
        <p:nvSpPr>
          <p:cNvPr id="127" name="S127"/>
          <p:cNvSpPr/>
          <p:nvPr/>
        </p:nvSpPr>
        <p:spPr>
          <a:xfrm>
            <a:off x="2705100" y="2933700"/>
            <a:ext cx="2159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2705100" y="29337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50%</a:t>
            </a:r>
          </a:p>
        </p:txBody>
      </p:sp>
      <p:sp>
        <p:nvSpPr>
          <p:cNvPr id="129" name="S129"/>
          <p:cNvSpPr/>
          <p:nvPr/>
        </p:nvSpPr>
        <p:spPr>
          <a:xfrm>
            <a:off x="4864100" y="2933700"/>
            <a:ext cx="2159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4864100" y="29337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95% +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238500"/>
            <a:ext cx="2159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2385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분석 가능성</a:t>
            </a:r>
          </a:p>
        </p:txBody>
      </p:sp>
      <p:sp>
        <p:nvSpPr>
          <p:cNvPr id="133" name="S133"/>
          <p:cNvSpPr/>
          <p:nvPr/>
        </p:nvSpPr>
        <p:spPr>
          <a:xfrm>
            <a:off x="2705100" y="3238500"/>
            <a:ext cx="2159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2705100" y="32385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어려움</a:t>
            </a:r>
          </a:p>
        </p:txBody>
      </p:sp>
      <p:sp>
        <p:nvSpPr>
          <p:cNvPr id="135" name="S135"/>
          <p:cNvSpPr/>
          <p:nvPr/>
        </p:nvSpPr>
        <p:spPr>
          <a:xfrm>
            <a:off x="4864100" y="3238500"/>
            <a:ext cx="2159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4864100" y="32385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즉시 분석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543300"/>
            <a:ext cx="2159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5433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신입 활용</a:t>
            </a:r>
          </a:p>
        </p:txBody>
      </p:sp>
      <p:sp>
        <p:nvSpPr>
          <p:cNvPr id="139" name="S139"/>
          <p:cNvSpPr/>
          <p:nvPr/>
        </p:nvSpPr>
        <p:spPr>
          <a:xfrm>
            <a:off x="2705100" y="3543300"/>
            <a:ext cx="2159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2705100" y="35433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어려움</a:t>
            </a:r>
          </a:p>
        </p:txBody>
      </p:sp>
      <p:sp>
        <p:nvSpPr>
          <p:cNvPr id="141" name="S141"/>
          <p:cNvSpPr/>
          <p:nvPr/>
        </p:nvSpPr>
        <p:spPr>
          <a:xfrm>
            <a:off x="4864100" y="3543300"/>
            <a:ext cx="2159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864100" y="35433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쉬움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127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4127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표준 메타데이터 9요소 — 양식 헤더로 고정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4572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4572000"/>
            <a:ext cx="381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546100" y="4572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028700" y="4673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일자/시각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028700" y="4927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E8632C"/>
                </a:solidFill>
              </a:rPr>
              <a:t>자동</a:t>
            </a:r>
          </a:p>
        </p:txBody>
      </p:sp>
      <p:sp>
        <p:nvSpPr>
          <p:cNvPr id="150" name="S150"/>
          <p:cNvSpPr/>
          <p:nvPr/>
        </p:nvSpPr>
        <p:spPr>
          <a:xfrm>
            <a:off x="2705100" y="4572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2705100" y="4572000"/>
            <a:ext cx="3810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2705100" y="4572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187700" y="4673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작성자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187700" y="4927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F4B400"/>
                </a:solidFill>
              </a:rPr>
              <a:t>사번</a:t>
            </a:r>
          </a:p>
        </p:txBody>
      </p:sp>
      <p:sp>
        <p:nvSpPr>
          <p:cNvPr id="155" name="S155"/>
          <p:cNvSpPr/>
          <p:nvPr/>
        </p:nvSpPr>
        <p:spPr>
          <a:xfrm>
            <a:off x="4864100" y="4572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4864100" y="4572000"/>
            <a:ext cx="3810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4864100" y="4572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346700" y="4673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부서·직무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5346700" y="4927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8B9A3F"/>
                </a:solidFill>
              </a:rPr>
              <a:t>드롭다운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52705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546100" y="5270500"/>
            <a:ext cx="3810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546100" y="52705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028700" y="53721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데이터 형태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028700" y="56261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3D7BC8"/>
                </a:solidFill>
              </a:rPr>
              <a:t>5형태 중</a:t>
            </a:r>
          </a:p>
        </p:txBody>
      </p:sp>
      <p:sp>
        <p:nvSpPr>
          <p:cNvPr id="165" name="S165"/>
          <p:cNvSpPr/>
          <p:nvPr/>
        </p:nvSpPr>
        <p:spPr>
          <a:xfrm>
            <a:off x="2705100" y="52705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2705100" y="5270500"/>
            <a:ext cx="381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2705100" y="52705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187700" y="53721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주제·태그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3187700" y="56261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0F3A2E"/>
                </a:solidFill>
              </a:rPr>
              <a:t>3~5개</a:t>
            </a:r>
          </a:p>
        </p:txBody>
      </p:sp>
      <p:sp>
        <p:nvSpPr>
          <p:cNvPr id="170" name="S170"/>
          <p:cNvSpPr/>
          <p:nvPr/>
        </p:nvSpPr>
        <p:spPr>
          <a:xfrm>
            <a:off x="4864100" y="52705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4864100" y="5270500"/>
            <a:ext cx="381000" cy="635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4864100" y="52705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5346700" y="53721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보안 등급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5346700" y="56261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C73E1D"/>
                </a:solidFill>
              </a:rPr>
              <a:t>4등급</a:t>
            </a:r>
          </a:p>
        </p:txBody>
      </p:sp>
      <p:sp>
        <p:nvSpPr>
          <p:cNvPr id="175" name="S175"/>
          <p:cNvSpPr/>
          <p:nvPr/>
        </p:nvSpPr>
        <p:spPr>
          <a:xfrm>
            <a:off x="546100" y="5969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546100" y="5969000"/>
            <a:ext cx="3810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546100" y="5969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1028700" y="6070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관련 장비/고객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1028700" y="6324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7E3FBF"/>
                </a:solidFill>
              </a:rPr>
              <a:t>옵션</a:t>
            </a:r>
          </a:p>
        </p:txBody>
      </p:sp>
      <p:sp>
        <p:nvSpPr>
          <p:cNvPr id="180" name="S180"/>
          <p:cNvSpPr/>
          <p:nvPr/>
        </p:nvSpPr>
        <p:spPr>
          <a:xfrm>
            <a:off x="2705100" y="5969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2705100" y="5969000"/>
            <a:ext cx="381000" cy="635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2705100" y="5969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3187700" y="6070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위치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3187700" y="6324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GPS · 옵션</a:t>
            </a:r>
          </a:p>
        </p:txBody>
      </p:sp>
      <p:sp>
        <p:nvSpPr>
          <p:cNvPr id="185" name="S185"/>
          <p:cNvSpPr/>
          <p:nvPr/>
        </p:nvSpPr>
        <p:spPr>
          <a:xfrm>
            <a:off x="4864100" y="5969000"/>
            <a:ext cx="2159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/>
          <p:cNvSpPr/>
          <p:nvPr/>
        </p:nvSpPr>
        <p:spPr>
          <a:xfrm>
            <a:off x="4864100" y="5969000"/>
            <a:ext cx="381000" cy="635000"/>
          </a:xfrm>
          <a:prstGeom prst="rect">
            <a:avLst/>
          </a:prstGeom>
          <a:solidFill>
            <a:srgbClr val="5B7F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T187"/>
          <p:cNvSpPr txBox="1"/>
          <p:nvPr/>
        </p:nvSpPr>
        <p:spPr>
          <a:xfrm>
            <a:off x="4864100" y="5969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5346700" y="6070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맥락 메모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346700" y="6324600"/>
            <a:ext cx="1625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5B7FA0"/>
                </a:solidFill>
              </a:rPr>
              <a:t>한 줄</a:t>
            </a:r>
          </a:p>
        </p:txBody>
      </p:sp>
      <p:sp>
        <p:nvSpPr>
          <p:cNvPr id="190" name="S190"/>
          <p:cNvSpPr/>
          <p:nvPr/>
        </p:nvSpPr>
        <p:spPr>
          <a:xfrm>
            <a:off x="546100" y="6858000"/>
            <a:ext cx="6477000" cy="222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546100" y="6858000"/>
            <a:ext cx="76200" cy="222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7023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적용 사례 — 정비 점검표 1건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927100" y="73660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일자</a:t>
            </a:r>
          </a:p>
        </p:txBody>
      </p:sp>
      <p:sp>
        <p:nvSpPr>
          <p:cNvPr id="194" name="T194"/>
          <p:cNvSpPr txBox="1"/>
          <p:nvPr/>
        </p:nvSpPr>
        <p:spPr>
          <a:xfrm>
            <a:off x="1714500" y="73660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2026-05-09 09:30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3975100" y="73660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작성자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4445000" y="73660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김정비 (사번 12345)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927100" y="75819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부서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1714500" y="75819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A/S 1팀</a:t>
            </a:r>
          </a:p>
        </p:txBody>
      </p:sp>
      <p:sp>
        <p:nvSpPr>
          <p:cNvPr id="199" name="T199"/>
          <p:cNvSpPr txBox="1"/>
          <p:nvPr/>
        </p:nvSpPr>
        <p:spPr>
          <a:xfrm>
            <a:off x="3975100" y="75819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데이터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4445000" y="75819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사진(점검표) + 음성 메모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927100" y="77978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주제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1714500" y="77978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일일점검 · 굴삭기 · PC200-8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3975100" y="77978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보안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4445000" y="77978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E8632C"/>
                </a:solidFill>
              </a:rPr>
              <a:t>내부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927100" y="80137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장비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714500" y="80137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굴삭기 ABC-123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3975100" y="80137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메모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4445000" y="80137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E8632C"/>
                </a:solidFill>
              </a:rPr>
              <a:t>좌측 유압 호스 미세 누유 발견 — 내일 교체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927100" y="8258175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F4B400"/>
                </a:solidFill>
              </a:rPr>
              <a:t>메모: </a:t>
            </a:r>
            <a:r>
              <a:rPr lang="en-US" sz="950" dirty="0">
                <a:solidFill>
                  <a:srgbClr val="F4B400"/>
                </a:solidFill>
              </a:rPr>
              <a:t>좌측 유압 호스 미세 누유 발견 — 내일 교체 예정</a:t>
            </a:r>
          </a:p>
        </p:txBody>
      </p:sp>
      <p:sp>
        <p:nvSpPr>
          <p:cNvPr id="210" name="S210"/>
          <p:cNvSpPr/>
          <p:nvPr/>
        </p:nvSpPr>
        <p:spPr>
          <a:xfrm>
            <a:off x="927100" y="8509000"/>
            <a:ext cx="5892800" cy="457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T211"/>
          <p:cNvSpPr txBox="1"/>
          <p:nvPr/>
        </p:nvSpPr>
        <p:spPr>
          <a:xfrm>
            <a:off x="1079500" y="8636000"/>
            <a:ext cx="558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9요소 자동화 = 입력 1분 안에 완료</a:t>
            </a:r>
          </a:p>
        </p:txBody>
      </p:sp>
      <p:sp>
        <p:nvSpPr>
          <p:cNvPr id="212" name="S212"/>
          <p:cNvSpPr/>
          <p:nvPr/>
        </p:nvSpPr>
        <p:spPr>
          <a:xfrm>
            <a:off x="546100" y="9207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S213"/>
          <p:cNvSpPr/>
          <p:nvPr/>
        </p:nvSpPr>
        <p:spPr>
          <a:xfrm>
            <a:off x="546100" y="9207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T214"/>
          <p:cNvSpPr txBox="1"/>
          <p:nvPr/>
        </p:nvSpPr>
        <p:spPr>
          <a:xfrm>
            <a:off x="927100" y="937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927100" y="9652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양식화 = </a:t>
            </a:r>
            <a:r>
              <a:rPr lang="en-US" sz="1300" b="1" dirty="0">
                <a:solidFill>
                  <a:srgbClr val="F4B400"/>
                </a:solidFill>
              </a:rPr>
              <a:t>한번 만들고 평생 활용</a:t>
            </a:r>
            <a:r>
              <a:rPr lang="en-US" sz="1100" dirty="0">
                <a:solidFill>
                  <a:srgbClr val="DDDDDD"/>
                </a:solidFill>
              </a:rPr>
              <a:t> — 9요소 표준화로 사내 모든 데이터 호환</a:t>
            </a:r>
          </a:p>
        </p:txBody>
      </p:sp>
      <p:sp>
        <p:nvSpPr>
          <p:cNvPr id="216" name="S21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T21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068 —</a:t>
            </a:r>
          </a:p>
        </p:txBody>
      </p:sp>
      <p:sp>
        <p:nvSpPr>
          <p:cNvPr id="219" name="S21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S22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S22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S22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44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8C1B-E6B6-AA4B-C120-76C35AFB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0FE54983-AA93-EFE5-4929-425F8FD912F4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DEDF39EC-FFD0-47F3-2437-49E5C1958E8E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F9CC0FFE-EA54-F7C1-E9D4-01B73A734A82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원칙 2·3 · 메타 9요소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888B8752-3A1C-08D1-88E0-E491965C0DFF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C2B0F47C-42E7-8DA5-246E-C7DD02EE5D07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원칙 2·3 · 그림 2-6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DC31E50E-AFC9-8D02-057A-B36357B474B0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S216">
            <a:extLst>
              <a:ext uri="{FF2B5EF4-FFF2-40B4-BE49-F238E27FC236}">
                <a16:creationId xmlns:a16="http://schemas.microsoft.com/office/drawing/2014/main" id="{BB685D35-5122-E817-B44B-5D9F617EFDFC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T217">
            <a:extLst>
              <a:ext uri="{FF2B5EF4-FFF2-40B4-BE49-F238E27FC236}">
                <a16:creationId xmlns:a16="http://schemas.microsoft.com/office/drawing/2014/main" id="{CE2A0965-5D01-BDD7-98B3-A2256EC14401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18" name="T218">
            <a:extLst>
              <a:ext uri="{FF2B5EF4-FFF2-40B4-BE49-F238E27FC236}">
                <a16:creationId xmlns:a16="http://schemas.microsoft.com/office/drawing/2014/main" id="{0A4862AC-EE66-3BC5-2E3D-19D79BA2E261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068 —</a:t>
            </a:r>
          </a:p>
        </p:txBody>
      </p:sp>
      <p:sp>
        <p:nvSpPr>
          <p:cNvPr id="219" name="S219">
            <a:extLst>
              <a:ext uri="{FF2B5EF4-FFF2-40B4-BE49-F238E27FC236}">
                <a16:creationId xmlns:a16="http://schemas.microsoft.com/office/drawing/2014/main" id="{55DFE28F-DAE1-B9E1-4BC4-8A17689A948B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S220">
            <a:extLst>
              <a:ext uri="{FF2B5EF4-FFF2-40B4-BE49-F238E27FC236}">
                <a16:creationId xmlns:a16="http://schemas.microsoft.com/office/drawing/2014/main" id="{303DDBEC-7E36-1DB3-CB32-55ED20BAA89D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S221">
            <a:extLst>
              <a:ext uri="{FF2B5EF4-FFF2-40B4-BE49-F238E27FC236}">
                <a16:creationId xmlns:a16="http://schemas.microsoft.com/office/drawing/2014/main" id="{4CABBFE8-0787-D5BF-FA26-AC96A1D605F5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S222">
            <a:extLst>
              <a:ext uri="{FF2B5EF4-FFF2-40B4-BE49-F238E27FC236}">
                <a16:creationId xmlns:a16="http://schemas.microsoft.com/office/drawing/2014/main" id="{6B40F4B6-9ECD-A42E-1419-2DACC81A2ED5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B5F2515-CA50-1145-52FE-0DE0A640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853602"/>
            <a:ext cx="6748446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904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원칙 4 · 보안 4등급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원칙 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07"/>
          <p:cNvSpPr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108"/>
          <p:cNvSpPr txBox="1"/>
          <p:nvPr/>
        </p:nvSpPr>
        <p:spPr>
          <a:xfrm>
            <a:off x="889000" y="952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spc="200" dirty="0">
                <a:solidFill>
                  <a:srgbClr val="FFFFFF"/>
                </a:solidFill>
              </a:rPr>
              <a:t>원칙 4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2540000" y="952500"/>
            <a:ext cx="4127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보안 등급 분류 — 4등급 체계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수집 시점에 분류 → 추후 분리 작업 불필요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1968500"/>
            <a:ext cx="1524000" cy="361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1968500"/>
            <a:ext cx="1524000" cy="698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20320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546100" y="23114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공개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686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8B9A3F"/>
                </a:solidFill>
              </a:rPr>
              <a:t>Public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09600" y="30480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설명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609600" y="32766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외부 공개 가능</a:t>
            </a:r>
          </a:p>
        </p:txBody>
      </p:sp>
      <p:sp>
        <p:nvSpPr>
          <p:cNvPr id="118" name="S118"/>
          <p:cNvSpPr/>
          <p:nvPr/>
        </p:nvSpPr>
        <p:spPr>
          <a:xfrm>
            <a:off x="736600" y="3619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9600" y="3746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609600" y="3975100"/>
            <a:ext cx="1397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매뉴얼 · 카탈로그</a:t>
            </a:r>
          </a:p>
        </p:txBody>
      </p:sp>
      <p:sp>
        <p:nvSpPr>
          <p:cNvPr id="121" name="S121"/>
          <p:cNvSpPr/>
          <p:nvPr/>
        </p:nvSpPr>
        <p:spPr>
          <a:xfrm>
            <a:off x="736600" y="4508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09600" y="4635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처리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609600" y="4864100"/>
            <a:ext cx="1397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8B9A3F"/>
                </a:solidFill>
              </a:rPr>
              <a:t>모든 도구 사용 가능</a:t>
            </a:r>
          </a:p>
        </p:txBody>
      </p:sp>
      <p:sp>
        <p:nvSpPr>
          <p:cNvPr id="124" name="S124"/>
          <p:cNvSpPr/>
          <p:nvPr/>
        </p:nvSpPr>
        <p:spPr>
          <a:xfrm>
            <a:off x="2197100" y="1968500"/>
            <a:ext cx="1524000" cy="361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2197100" y="1968500"/>
            <a:ext cx="1524000" cy="698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2197100" y="20320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2197100" y="23114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내부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260600" y="27686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3D7BC8"/>
                </a:solidFill>
              </a:rPr>
              <a:t>Internal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260600" y="30480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설명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2260600" y="32766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사내 공유</a:t>
            </a:r>
          </a:p>
        </p:txBody>
      </p:sp>
      <p:sp>
        <p:nvSpPr>
          <p:cNvPr id="131" name="S131"/>
          <p:cNvSpPr/>
          <p:nvPr/>
        </p:nvSpPr>
        <p:spPr>
          <a:xfrm>
            <a:off x="2387600" y="3619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2260600" y="3746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260600" y="3975100"/>
            <a:ext cx="1397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정비 이력 · KPI</a:t>
            </a:r>
          </a:p>
        </p:txBody>
      </p:sp>
      <p:sp>
        <p:nvSpPr>
          <p:cNvPr id="134" name="S134"/>
          <p:cNvSpPr/>
          <p:nvPr/>
        </p:nvSpPr>
        <p:spPr>
          <a:xfrm>
            <a:off x="2387600" y="4508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2260600" y="4635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처리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260600" y="4864100"/>
            <a:ext cx="1397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3D7BC8"/>
                </a:solidFill>
              </a:rPr>
              <a:t>사내 시스템</a:t>
            </a:r>
          </a:p>
        </p:txBody>
      </p:sp>
      <p:sp>
        <p:nvSpPr>
          <p:cNvPr id="137" name="S137"/>
          <p:cNvSpPr/>
          <p:nvPr/>
        </p:nvSpPr>
        <p:spPr>
          <a:xfrm>
            <a:off x="3848100" y="1968500"/>
            <a:ext cx="1524000" cy="361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3848100" y="1968500"/>
            <a:ext cx="15240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3848100" y="20320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3848100" y="23114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기밀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3911600" y="27686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E8632C"/>
                </a:solidFill>
              </a:rPr>
              <a:t>Confidential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3911600" y="30480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설명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3911600" y="32766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제한된 접근</a:t>
            </a:r>
          </a:p>
        </p:txBody>
      </p:sp>
      <p:sp>
        <p:nvSpPr>
          <p:cNvPr id="144" name="S144"/>
          <p:cNvSpPr/>
          <p:nvPr/>
        </p:nvSpPr>
        <p:spPr>
          <a:xfrm>
            <a:off x="4038600" y="3619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3911600" y="3746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3911600" y="3975100"/>
            <a:ext cx="1397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견적 · 계약 · 원가</a:t>
            </a:r>
          </a:p>
        </p:txBody>
      </p:sp>
      <p:sp>
        <p:nvSpPr>
          <p:cNvPr id="147" name="S147"/>
          <p:cNvSpPr/>
          <p:nvPr/>
        </p:nvSpPr>
        <p:spPr>
          <a:xfrm>
            <a:off x="4038600" y="4508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911600" y="4635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처리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3911600" y="4864100"/>
            <a:ext cx="1397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E8632C"/>
                </a:solidFill>
              </a:rPr>
              <a:t>Team / Enterprise</a:t>
            </a:r>
          </a:p>
        </p:txBody>
      </p:sp>
      <p:sp>
        <p:nvSpPr>
          <p:cNvPr id="150" name="S150"/>
          <p:cNvSpPr/>
          <p:nvPr/>
        </p:nvSpPr>
        <p:spPr>
          <a:xfrm>
            <a:off x="5499100" y="1968500"/>
            <a:ext cx="1524000" cy="3619500"/>
          </a:xfrm>
          <a:prstGeom prst="rect">
            <a:avLst/>
          </a:prstGeom>
          <a:solidFill>
            <a:srgbClr val="FAFAFA"/>
          </a:solidFill>
          <a:ln w="12700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99100" y="1968500"/>
            <a:ext cx="1524000" cy="6985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499100" y="20320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5499100" y="2311400"/>
            <a:ext cx="1524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민감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562600" y="27686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spc="100" dirty="0">
                <a:solidFill>
                  <a:srgbClr val="C73E1D"/>
                </a:solidFill>
              </a:rPr>
              <a:t>Sensitive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562600" y="30480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설명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5562600" y="32766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2C2C2C"/>
                </a:solidFill>
              </a:rPr>
              <a:t>개인정보 · 법적</a:t>
            </a:r>
          </a:p>
        </p:txBody>
      </p:sp>
      <p:sp>
        <p:nvSpPr>
          <p:cNvPr id="157" name="S157"/>
          <p:cNvSpPr/>
          <p:nvPr/>
        </p:nvSpPr>
        <p:spPr>
          <a:xfrm>
            <a:off x="5689600" y="3619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5562600" y="3746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예시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5562600" y="3975100"/>
            <a:ext cx="1397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고객 PII · 임직원</a:t>
            </a:r>
          </a:p>
        </p:txBody>
      </p:sp>
      <p:sp>
        <p:nvSpPr>
          <p:cNvPr id="160" name="S160"/>
          <p:cNvSpPr/>
          <p:nvPr/>
        </p:nvSpPr>
        <p:spPr>
          <a:xfrm>
            <a:off x="5689600" y="4508500"/>
            <a:ext cx="1143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562600" y="4635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처리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5562600" y="4864100"/>
            <a:ext cx="1397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C73E1D"/>
                </a:solidFill>
              </a:rPr>
              <a:t>★ 로컬 · 익명화</a:t>
            </a:r>
          </a:p>
        </p:txBody>
      </p:sp>
      <p:sp>
        <p:nvSpPr>
          <p:cNvPr id="163" name="S163"/>
          <p:cNvSpPr/>
          <p:nvPr/>
        </p:nvSpPr>
        <p:spPr>
          <a:xfrm>
            <a:off x="6705600" y="20701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6705600" y="20701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C73E1D"/>
                </a:solidFill>
              </a:rPr>
              <a:t>!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적용 시나리오 — 부서별 등급 매핑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6286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546100" y="6286500"/>
            <a:ext cx="76200" cy="533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98500" y="6350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A. 정비 데이터</a:t>
            </a:r>
          </a:p>
        </p:txBody>
      </p:sp>
      <p:sp>
        <p:nvSpPr>
          <p:cNvPr id="170" name="S170"/>
          <p:cNvSpPr/>
          <p:nvPr/>
        </p:nvSpPr>
        <p:spPr>
          <a:xfrm>
            <a:off x="2857500" y="6413500"/>
            <a:ext cx="1143000" cy="279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2857500" y="64135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대부분 내부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4127500" y="64516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단, 고객 정보 포함 시 → 민감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8834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8834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698500" y="6946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B. 영업 데이터</a:t>
            </a:r>
          </a:p>
        </p:txBody>
      </p:sp>
      <p:sp>
        <p:nvSpPr>
          <p:cNvPr id="176" name="S176"/>
          <p:cNvSpPr/>
          <p:nvPr/>
        </p:nvSpPr>
        <p:spPr>
          <a:xfrm>
            <a:off x="2857500" y="7010400"/>
            <a:ext cx="1143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857500" y="70104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대부분 기밀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4127500" y="70485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단, 거래선 정보 포함 시 → 민감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74803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7480300"/>
            <a:ext cx="762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698500" y="75438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C. 베테랑 인터뷰</a:t>
            </a:r>
          </a:p>
        </p:txBody>
      </p:sp>
      <p:sp>
        <p:nvSpPr>
          <p:cNvPr id="182" name="S182"/>
          <p:cNvSpPr/>
          <p:nvPr/>
        </p:nvSpPr>
        <p:spPr>
          <a:xfrm>
            <a:off x="2857500" y="7607300"/>
            <a:ext cx="1143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2857500" y="76073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대부분 내부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4127500" y="76454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단, 베테랑 사적 정보 → 민감</a:t>
            </a:r>
          </a:p>
        </p:txBody>
      </p:sp>
      <p:sp>
        <p:nvSpPr>
          <p:cNvPr id="185" name="S185"/>
          <p:cNvSpPr/>
          <p:nvPr/>
        </p:nvSpPr>
        <p:spPr>
          <a:xfrm>
            <a:off x="546100" y="8128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8293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💡 등급 판단 의사결정 — 3 질문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762000" y="8610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8B9A3F"/>
                </a:solidFill>
              </a:rPr>
              <a:t>Q1. 외부에 노출되어도 되나?</a:t>
            </a:r>
            <a:r>
              <a:rPr lang="en-US" sz="1000" dirty="0">
                <a:solidFill>
                  <a:srgbClr val="6B6B6B"/>
                </a:solidFill>
              </a:rPr>
              <a:t>  Yes → 공개 / No → 다음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762000" y="8826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Q2. 개인정보·법적 이슈?</a:t>
            </a:r>
            <a:r>
              <a:rPr lang="en-US" sz="1000" dirty="0">
                <a:solidFill>
                  <a:srgbClr val="6B6B6B"/>
                </a:solidFill>
              </a:rPr>
              <a:t>  Yes → 민감 / No → 다음</a:t>
            </a:r>
          </a:p>
        </p:txBody>
      </p:sp>
      <p:sp>
        <p:nvSpPr>
          <p:cNvPr id="189" name="S189"/>
          <p:cNvSpPr/>
          <p:nvPr/>
        </p:nvSpPr>
        <p:spPr>
          <a:xfrm>
            <a:off x="546100" y="9207500"/>
            <a:ext cx="6477000" cy="762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546100" y="9207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T191"/>
          <p:cNvSpPr txBox="1"/>
          <p:nvPr/>
        </p:nvSpPr>
        <p:spPr>
          <a:xfrm>
            <a:off x="927100" y="937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927100" y="9652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보안 등급 분류 = </a:t>
            </a:r>
            <a:r>
              <a:rPr lang="en-US" sz="1300" b="1" dirty="0">
                <a:solidFill>
                  <a:srgbClr val="F4B400"/>
                </a:solidFill>
              </a:rPr>
              <a:t>데이터 자산화의 첫 안전장치</a:t>
            </a:r>
          </a:p>
        </p:txBody>
      </p:sp>
      <p:sp>
        <p:nvSpPr>
          <p:cNvPr id="193" name="S19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069 —</a:t>
            </a:r>
          </a:p>
        </p:txBody>
      </p:sp>
      <p:sp>
        <p:nvSpPr>
          <p:cNvPr id="196" name="S19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S19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S19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S19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220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실습 2-2 · 양식 작성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실습 2-2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2-2] 자기 직무 수집 양식 작성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40분 — 양식 1개 만들기 → 평생 자산화 시스템 구축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진행 절차 (총 40분)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6035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603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S115"/>
          <p:cNvSpPr/>
          <p:nvPr/>
        </p:nvSpPr>
        <p:spPr>
          <a:xfrm>
            <a:off x="1270000" y="2603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270000" y="2603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2032000" y="2578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도구 접속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2032000" y="2857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forms.google.com 또는 notion.so 로그인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3149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546100" y="31496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762000" y="32766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762000" y="3276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3" name="S123"/>
          <p:cNvSpPr/>
          <p:nvPr/>
        </p:nvSpPr>
        <p:spPr>
          <a:xfrm>
            <a:off x="1270000" y="32766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270000" y="3276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5분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032000" y="3251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자기 직무 데이터 1종 선택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2032000" y="3530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VOL.02 PART 01 인벤토리에서 활용 — 정비 점검표·고객 응대 메모·베테랑 노하우 등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3822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38227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39497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3949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S131"/>
          <p:cNvSpPr/>
          <p:nvPr/>
        </p:nvSpPr>
        <p:spPr>
          <a:xfrm>
            <a:off x="1270000" y="39497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1270000" y="3949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15분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032000" y="3924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양식 설계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2032000" y="4203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메타데이터 9요소 (필수) + 직무 특화 항목 5~10개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44958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546100" y="44958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762000" y="4622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762000" y="4622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9" name="S139"/>
          <p:cNvSpPr/>
          <p:nvPr/>
        </p:nvSpPr>
        <p:spPr>
          <a:xfrm>
            <a:off x="1270000" y="46228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270000" y="4622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2032000" y="4597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테스트 입력 + 검토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2032000" y="48768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가상 데이터 3건 입력 — Excel 자동 집계 확인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51689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546100" y="5168900"/>
            <a:ext cx="762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762000" y="52959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762000" y="5295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7" name="S147"/>
          <p:cNvSpPr/>
          <p:nvPr/>
        </p:nvSpPr>
        <p:spPr>
          <a:xfrm>
            <a:off x="1270000" y="5295900"/>
            <a:ext cx="6350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270000" y="52959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2032000" y="52705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동료와 공유 · 피드백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032000" y="55499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양식 URL 공유 → 1줄 피드백 받기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6032500"/>
            <a:ext cx="6477000" cy="215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60325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6197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양식 구조 — 2단 구성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6527800"/>
            <a:ext cx="5892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1117600" y="66040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필수 필드 — 메타데이터 9요소 (전체 공통)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117600" y="68580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일자 · 작성자 · 부서 · 데이터 형태 · 주제 태그 · 보안 등급 · 장비/고객 · 위치 · 메모</a:t>
            </a:r>
          </a:p>
        </p:txBody>
      </p:sp>
      <p:sp>
        <p:nvSpPr>
          <p:cNvPr id="157" name="S157"/>
          <p:cNvSpPr/>
          <p:nvPr/>
        </p:nvSpPr>
        <p:spPr>
          <a:xfrm>
            <a:off x="927100" y="7366000"/>
            <a:ext cx="58928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1117600" y="74295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100" dirty="0">
                <a:solidFill>
                  <a:srgbClr val="F4B400"/>
                </a:solidFill>
              </a:rPr>
              <a:t>본문 필드 — 자기 직무 특화 5~10개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1117600" y="76581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정비: 장비명 · 증상 · 진단 · 조치 · 소요시간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1117600" y="78613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영업: 고객명 · 요청 · 반응 · 후속조치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83820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8382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산출물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27100" y="8826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4B400"/>
                </a:solidFill>
              </a:rPr>
              <a:t>📋 </a:t>
            </a:r>
            <a:r>
              <a:rPr lang="en-US" sz="1300" b="1" dirty="0">
                <a:solidFill>
                  <a:srgbClr val="FFFFFF"/>
                </a:solidFill>
              </a:rPr>
              <a:t>자기 직무 수집 양식 1개 </a:t>
            </a:r>
            <a:r>
              <a:rPr lang="en-US" sz="1100" dirty="0">
                <a:solidFill>
                  <a:srgbClr val="FFEEDD"/>
                </a:solidFill>
              </a:rPr>
              <a:t>(Forms URL 또는 Notion 페이지)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762000" y="9398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PRO TIP </a:t>
            </a:r>
            <a:r>
              <a:rPr lang="en-US" sz="1100" dirty="0">
                <a:solidFill>
                  <a:srgbClr val="2C2C2C"/>
                </a:solidFill>
              </a:rPr>
              <a:t> — 양식은 </a:t>
            </a:r>
            <a:r>
              <a:rPr lang="en-US" sz="1100" b="1" dirty="0">
                <a:solidFill>
                  <a:srgbClr val="E8632C"/>
                </a:solidFill>
              </a:rPr>
              <a:t>"가장 자주 쓰는 1개"</a:t>
            </a:r>
            <a:r>
              <a:rPr lang="en-US" sz="1100" dirty="0">
                <a:solidFill>
                  <a:srgbClr val="2C2C2C"/>
                </a:solidFill>
              </a:rPr>
              <a:t>부터 — 완벽보다 시작이 우선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한번 만든 양식은 1년 후 "자산화 시스템"으로 진화 — 추후 개선·확장 가능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070 —</a:t>
            </a:r>
          </a:p>
        </p:txBody>
      </p:sp>
      <p:sp>
        <p:nvSpPr>
          <p:cNvPr id="171" name="S17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185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2.3 · 부서별 시나리오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그림 2-7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부서별 수집 시나리오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6직무 × 3주기(일상·정기·특별) — 양식이 시스템이 되는 매트릭스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7780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1778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직무</a:t>
            </a:r>
          </a:p>
        </p:txBody>
      </p:sp>
      <p:sp>
        <p:nvSpPr>
          <p:cNvPr id="111" name="S111"/>
          <p:cNvSpPr/>
          <p:nvPr/>
        </p:nvSpPr>
        <p:spPr>
          <a:xfrm>
            <a:off x="2324100" y="1968500"/>
            <a:ext cx="16510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2324100" y="19685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100" dirty="0">
                <a:solidFill>
                  <a:srgbClr val="FFFFFF"/>
                </a:solidFill>
              </a:rPr>
              <a:t>일상 수집</a:t>
            </a:r>
          </a:p>
        </p:txBody>
      </p:sp>
      <p:sp>
        <p:nvSpPr>
          <p:cNvPr id="113" name="S113"/>
          <p:cNvSpPr/>
          <p:nvPr/>
        </p:nvSpPr>
        <p:spPr>
          <a:xfrm>
            <a:off x="3975100" y="1968500"/>
            <a:ext cx="1524000" cy="406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3975100" y="1968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100" dirty="0">
                <a:solidFill>
                  <a:srgbClr val="0F3A2E"/>
                </a:solidFill>
              </a:rPr>
              <a:t>정기 수집</a:t>
            </a:r>
          </a:p>
        </p:txBody>
      </p:sp>
      <p:sp>
        <p:nvSpPr>
          <p:cNvPr id="115" name="S115"/>
          <p:cNvSpPr/>
          <p:nvPr/>
        </p:nvSpPr>
        <p:spPr>
          <a:xfrm>
            <a:off x="5499100" y="1968500"/>
            <a:ext cx="15240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5499100" y="1968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100" dirty="0">
                <a:solidFill>
                  <a:srgbClr val="FFFFFF"/>
                </a:solidFill>
              </a:rPr>
              <a:t>특별 수집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374900"/>
            <a:ext cx="1778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374900"/>
            <a:ext cx="63500" cy="482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98500" y="23749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3D7BC8"/>
                </a:solidFill>
              </a:rPr>
              <a:t>기술문서</a:t>
            </a:r>
          </a:p>
        </p:txBody>
      </p:sp>
      <p:sp>
        <p:nvSpPr>
          <p:cNvPr id="120" name="S120"/>
          <p:cNvSpPr/>
          <p:nvPr/>
        </p:nvSpPr>
        <p:spPr>
          <a:xfrm>
            <a:off x="2324100" y="2374900"/>
            <a:ext cx="1651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2387600" y="23749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매뉴얼 OCR 사진</a:t>
            </a:r>
          </a:p>
        </p:txBody>
      </p:sp>
      <p:sp>
        <p:nvSpPr>
          <p:cNvPr id="122" name="S122"/>
          <p:cNvSpPr/>
          <p:nvPr/>
        </p:nvSpPr>
        <p:spPr>
          <a:xfrm>
            <a:off x="3975100" y="23749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038600" y="23749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매주 매뉴얼 검토</a:t>
            </a:r>
          </a:p>
        </p:txBody>
      </p:sp>
      <p:sp>
        <p:nvSpPr>
          <p:cNvPr id="124" name="S124"/>
          <p:cNvSpPr/>
          <p:nvPr/>
        </p:nvSpPr>
        <p:spPr>
          <a:xfrm>
            <a:off x="5499100" y="23749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5562600" y="23749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신모델 출시 시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2857500"/>
            <a:ext cx="1778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6100" y="2857500"/>
            <a:ext cx="635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28575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A/S 엔지니어</a:t>
            </a:r>
          </a:p>
        </p:txBody>
      </p:sp>
      <p:sp>
        <p:nvSpPr>
          <p:cNvPr id="129" name="S129"/>
          <p:cNvSpPr/>
          <p:nvPr/>
        </p:nvSpPr>
        <p:spPr>
          <a:xfrm>
            <a:off x="2324100" y="2857500"/>
            <a:ext cx="1651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2387600" y="28575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정비 사진 · 음성 보고</a:t>
            </a:r>
          </a:p>
        </p:txBody>
      </p:sp>
      <p:sp>
        <p:nvSpPr>
          <p:cNvPr id="131" name="S131"/>
          <p:cNvSpPr/>
          <p:nvPr/>
        </p:nvSpPr>
        <p:spPr>
          <a:xfrm>
            <a:off x="3975100" y="28575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038600" y="28575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주간 베테랑 동행</a:t>
            </a:r>
          </a:p>
        </p:txBody>
      </p:sp>
      <p:sp>
        <p:nvSpPr>
          <p:cNvPr id="133" name="S133"/>
          <p:cNvSpPr/>
          <p:nvPr/>
        </p:nvSpPr>
        <p:spPr>
          <a:xfrm>
            <a:off x="5499100" y="28575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5562600" y="28575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베테랑 인터뷰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3340100"/>
            <a:ext cx="1778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546100" y="3340100"/>
            <a:ext cx="635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698500" y="33401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영업·견적</a:t>
            </a:r>
          </a:p>
        </p:txBody>
      </p:sp>
      <p:sp>
        <p:nvSpPr>
          <p:cNvPr id="138" name="S138"/>
          <p:cNvSpPr/>
          <p:nvPr/>
        </p:nvSpPr>
        <p:spPr>
          <a:xfrm>
            <a:off x="2324100" y="3340100"/>
            <a:ext cx="1651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387600" y="33401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미팅 녹음 · 명함</a:t>
            </a:r>
          </a:p>
        </p:txBody>
      </p:sp>
      <p:sp>
        <p:nvSpPr>
          <p:cNvPr id="140" name="S140"/>
          <p:cNvSpPr/>
          <p:nvPr/>
        </p:nvSpPr>
        <p:spPr>
          <a:xfrm>
            <a:off x="3975100" y="33401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038600" y="33401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주간 영업 회고</a:t>
            </a:r>
          </a:p>
        </p:txBody>
      </p:sp>
      <p:sp>
        <p:nvSpPr>
          <p:cNvPr id="142" name="S142"/>
          <p:cNvSpPr/>
          <p:nvPr/>
        </p:nvSpPr>
        <p:spPr>
          <a:xfrm>
            <a:off x="5499100" y="33401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5562600" y="33401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고객 인터뷰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3822700"/>
            <a:ext cx="1778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3822700"/>
            <a:ext cx="635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698500" y="38227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해외영업</a:t>
            </a:r>
          </a:p>
        </p:txBody>
      </p:sp>
      <p:sp>
        <p:nvSpPr>
          <p:cNvPr id="147" name="S147"/>
          <p:cNvSpPr/>
          <p:nvPr/>
        </p:nvSpPr>
        <p:spPr>
          <a:xfrm>
            <a:off x="2324100" y="3822700"/>
            <a:ext cx="1651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2387600" y="38227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다국어 회의 녹음</a:t>
            </a:r>
          </a:p>
        </p:txBody>
      </p:sp>
      <p:sp>
        <p:nvSpPr>
          <p:cNvPr id="149" name="S149"/>
          <p:cNvSpPr/>
          <p:nvPr/>
        </p:nvSpPr>
        <p:spPr>
          <a:xfrm>
            <a:off x="3975100" y="38227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4038600" y="38227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주간 시장 동향</a:t>
            </a:r>
          </a:p>
        </p:txBody>
      </p:sp>
      <p:sp>
        <p:nvSpPr>
          <p:cNvPr id="151" name="S151"/>
          <p:cNvSpPr/>
          <p:nvPr/>
        </p:nvSpPr>
        <p:spPr>
          <a:xfrm>
            <a:off x="5499100" y="38227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562600" y="38227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ITB 사례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4305300"/>
            <a:ext cx="1778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546100" y="4305300"/>
            <a:ext cx="63500" cy="4826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698500" y="43053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마케팅·PM</a:t>
            </a:r>
          </a:p>
        </p:txBody>
      </p:sp>
      <p:sp>
        <p:nvSpPr>
          <p:cNvPr id="156" name="S156"/>
          <p:cNvSpPr/>
          <p:nvPr/>
        </p:nvSpPr>
        <p:spPr>
          <a:xfrm>
            <a:off x="2324100" y="4305300"/>
            <a:ext cx="1651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387600" y="43053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캠페인 데이터</a:t>
            </a:r>
          </a:p>
        </p:txBody>
      </p:sp>
      <p:sp>
        <p:nvSpPr>
          <p:cNvPr id="158" name="S158"/>
          <p:cNvSpPr/>
          <p:nvPr/>
        </p:nvSpPr>
        <p:spPr>
          <a:xfrm>
            <a:off x="3975100" y="43053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4038600" y="43053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주간 SNS 반응</a:t>
            </a:r>
          </a:p>
        </p:txBody>
      </p:sp>
      <p:sp>
        <p:nvSpPr>
          <p:cNvPr id="160" name="S160"/>
          <p:cNvSpPr/>
          <p:nvPr/>
        </p:nvSpPr>
        <p:spPr>
          <a:xfrm>
            <a:off x="5499100" y="4305300"/>
            <a:ext cx="1524000" cy="482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562600" y="43053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고객 인터뷰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4787900"/>
            <a:ext cx="1778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4787900"/>
            <a:ext cx="63500" cy="482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698500" y="4787900"/>
            <a:ext cx="1625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DX·IT</a:t>
            </a:r>
          </a:p>
        </p:txBody>
      </p:sp>
      <p:sp>
        <p:nvSpPr>
          <p:cNvPr id="165" name="S165"/>
          <p:cNvSpPr/>
          <p:nvPr/>
        </p:nvSpPr>
        <p:spPr>
          <a:xfrm>
            <a:off x="2324100" y="4787900"/>
            <a:ext cx="1651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2387600" y="4787900"/>
            <a:ext cx="1524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시스템 사용 데이터</a:t>
            </a:r>
          </a:p>
        </p:txBody>
      </p:sp>
      <p:sp>
        <p:nvSpPr>
          <p:cNvPr id="167" name="S167"/>
          <p:cNvSpPr/>
          <p:nvPr/>
        </p:nvSpPr>
        <p:spPr>
          <a:xfrm>
            <a:off x="3975100" y="47879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4038600" y="47879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주간 KPI 통계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4787900"/>
            <a:ext cx="1524000" cy="482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5562600" y="47879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부서 인터뷰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5461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5461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5651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팀 단위 수집 시너지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5969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각 부서가 양식만 잘 설계해 두면, </a:t>
            </a:r>
            <a:r>
              <a:rPr lang="en-US" sz="1300" b="1" dirty="0">
                <a:solidFill>
                  <a:srgbClr val="F4B400"/>
                </a:solidFill>
              </a:rPr>
              <a:t>개인의 노력 없이 부서 단위 자산화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6324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"양식이 시스템이 되는 것" — 한번 만들고 매일 자동 누적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94500"/>
            <a:ext cx="6477000" cy="209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762000" y="695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수집 빈도별 의미</a:t>
            </a:r>
          </a:p>
        </p:txBody>
      </p:sp>
      <p:sp>
        <p:nvSpPr>
          <p:cNvPr id="178" name="S178"/>
          <p:cNvSpPr/>
          <p:nvPr/>
        </p:nvSpPr>
        <p:spPr>
          <a:xfrm>
            <a:off x="762000" y="7366000"/>
            <a:ext cx="11430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762000" y="73660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일상 수집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2032000" y="74041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업무 중 자동 — 양식만 잘 설계되면 의식하지 않고 누적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2032000" y="76073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"부산물" 모드</a:t>
            </a:r>
          </a:p>
        </p:txBody>
      </p:sp>
      <p:sp>
        <p:nvSpPr>
          <p:cNvPr id="182" name="S182"/>
          <p:cNvSpPr/>
          <p:nvPr/>
        </p:nvSpPr>
        <p:spPr>
          <a:xfrm>
            <a:off x="762000" y="7823200"/>
            <a:ext cx="1143000" cy="406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762000" y="78232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정기 수집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2032000" y="78613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매주 정해진 시간에 30분 — 누락 보완 + 1주 데이터 검수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2032000" y="80645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F4B400"/>
                </a:solidFill>
              </a:rPr>
              <a:t>"리뷰" 모드</a:t>
            </a:r>
          </a:p>
        </p:txBody>
      </p:sp>
      <p:sp>
        <p:nvSpPr>
          <p:cNvPr id="186" name="S186"/>
          <p:cNvSpPr/>
          <p:nvPr/>
        </p:nvSpPr>
        <p:spPr>
          <a:xfrm>
            <a:off x="762000" y="8280400"/>
            <a:ext cx="11430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T187"/>
          <p:cNvSpPr txBox="1"/>
          <p:nvPr/>
        </p:nvSpPr>
        <p:spPr>
          <a:xfrm>
            <a:off x="762000" y="82804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특별 수집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2032000" y="83185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이벤트 발생 시 (베테랑 은퇴·신모델·중요 고객) — 별도 프로젝트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2032000" y="85217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8B9A3F"/>
                </a:solidFill>
              </a:rPr>
              <a:t>"캠페인" 모드</a:t>
            </a:r>
          </a:p>
        </p:txBody>
      </p:sp>
      <p:sp>
        <p:nvSpPr>
          <p:cNvPr id="190" name="S190"/>
          <p:cNvSpPr/>
          <p:nvPr/>
        </p:nvSpPr>
        <p:spPr>
          <a:xfrm>
            <a:off x="546100" y="9080500"/>
            <a:ext cx="6477000" cy="889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546100" y="9080500"/>
            <a:ext cx="76200" cy="88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9245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자기 부서 액션 포인트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927100" y="9499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내 부서 일상 수집 1가지 식별 — 위 표 참고</a:t>
            </a:r>
          </a:p>
        </p:txBody>
      </p:sp>
      <p:sp>
        <p:nvSpPr>
          <p:cNvPr id="194" name="T194"/>
          <p:cNvSpPr txBox="1"/>
          <p:nvPr/>
        </p:nvSpPr>
        <p:spPr>
          <a:xfrm>
            <a:off x="927100" y="9715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매주 1회 30분 "정기 수집 슬롯" 확보 (예: 금요일 17시)</a:t>
            </a:r>
          </a:p>
        </p:txBody>
      </p:sp>
      <p:sp>
        <p:nvSpPr>
          <p:cNvPr id="195" name="S19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071 —</a:t>
            </a:r>
          </a:p>
        </p:txBody>
      </p:sp>
      <p:sp>
        <p:nvSpPr>
          <p:cNvPr id="198" name="S19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S19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S20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20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37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Chapter 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Chapter 2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2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수집 방법론 — 5원칙 마스터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5원칙 마스터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698500" y="2578100"/>
            <a:ext cx="330200" cy="330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698500" y="25781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143000" y="2540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임베디드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143000" y="27813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E8632C"/>
                </a:solidFill>
              </a:rPr>
              <a:t>Embedded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2794000" y="26416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일상 업무 중 자연 수집 — "부산물"로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0734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073400"/>
            <a:ext cx="76200" cy="533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175000"/>
            <a:ext cx="330200" cy="330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1750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143000" y="31369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양식화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143000" y="33782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F4B400"/>
                </a:solidFill>
              </a:rPr>
              <a:t>Standardize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794000" y="32385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매번 기억 X · 양식 채우기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6703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670300"/>
            <a:ext cx="762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3771900"/>
            <a:ext cx="330200" cy="330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37719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143000" y="37338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메타데이터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143000" y="3975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8B9A3F"/>
                </a:solidFill>
              </a:rPr>
              <a:t>Meta-tag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794000" y="38354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9요소 즉시 부여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42672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4267200"/>
            <a:ext cx="76200" cy="5334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4368800"/>
            <a:ext cx="330200" cy="330200"/>
          </a:xfrm>
          <a:prstGeom prst="ellipse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43688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143000" y="43307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보안 등급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143000" y="45720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C73E1D"/>
                </a:solidFill>
              </a:rPr>
              <a:t>Classify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794000" y="44323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4등급 즉시 분류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8641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864100"/>
            <a:ext cx="76200" cy="53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4965700"/>
            <a:ext cx="330200" cy="330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4965700"/>
            <a:ext cx="3302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143000" y="49276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정기 점검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143000" y="51689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0F3A2E"/>
                </a:solidFill>
              </a:rPr>
              <a:t>Review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794000" y="5029200"/>
            <a:ext cx="412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1주일 단위 검수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5651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5651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584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오늘의 산출물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6159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 </a:t>
            </a:r>
            <a:r>
              <a:rPr lang="en-US" sz="1400" b="1" dirty="0">
                <a:solidFill>
                  <a:srgbClr val="FFFFFF"/>
                </a:solidFill>
              </a:rPr>
              <a:t>자기 직무 수집 양식 1개 </a:t>
            </a:r>
            <a:r>
              <a:rPr lang="en-US" sz="1100" dirty="0">
                <a:solidFill>
                  <a:srgbClr val="FFEEDD"/>
                </a:solidFill>
              </a:rPr>
              <a:t>(Forms·Notion)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6540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메타데이터 9요소 + 직무 특화 5~10항목 + 4등급 보안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7048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7048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723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27100" y="7620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수집은 </a:t>
            </a:r>
            <a:r>
              <a:rPr lang="en-US" sz="1700" b="1" dirty="0">
                <a:solidFill>
                  <a:srgbClr val="F4B400"/>
                </a:solidFill>
              </a:rPr>
              <a:t>시스템의 문제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의지력 </a:t>
            </a:r>
            <a:r>
              <a:rPr lang="en-US" sz="1500" b="1" dirty="0">
                <a:solidFill>
                  <a:srgbClr val="C73E1D"/>
                </a:solidFill>
              </a:rPr>
              <a:t>X</a:t>
            </a:r>
            <a:r>
              <a:rPr lang="en-US" sz="1500" b="1" dirty="0">
                <a:solidFill>
                  <a:srgbClr val="FFFFFF"/>
                </a:solidFill>
              </a:rPr>
              <a:t>  ·  양식 </a:t>
            </a:r>
            <a:r>
              <a:rPr lang="en-US" sz="1500" b="1" dirty="0">
                <a:solidFill>
                  <a:srgbClr val="F4B400"/>
                </a:solidFill>
              </a:rPr>
              <a:t>O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27100" y="9398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3 — </a:t>
            </a:r>
            <a:r>
              <a:rPr lang="en-US" sz="1500" b="1" dirty="0">
                <a:solidFill>
                  <a:srgbClr val="FFFFFF"/>
                </a:solidFill>
              </a:rPr>
              <a:t>베테랑 인터뷰 가이드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753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수집 시스템 + 인터뷰 = 암묵지 자산화의 양 날개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072 —</a:t>
            </a:r>
          </a:p>
        </p:txBody>
      </p:sp>
      <p:sp>
        <p:nvSpPr>
          <p:cNvPr id="164" name="S16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934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02 · DAY 2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3 · INTERVIEW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베테랑 인터뷰 가이드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Veteran Interview Guide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"잘 준비된 1시간 = 잘못 진행된 10시간보다 가치 있다"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베테랑 인터뷰의 중요성과 도전 과제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인터뷰 준비 (사전 조사 · 질문 설계)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효과적 질문 기법 (5W1H + Why-5)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인터뷰 진행과 정리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9017000"/>
            <a:ext cx="57658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889000" y="9017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143000" y="91821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 — 암묵지 자산화의 핵심 활동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43000" y="94615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베테랑 인터뷰 = 회사 자산화의 가장 중요한 작업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143000" y="97790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단, 가장 어려움 — "본인도 모르는" 노하우를 끌어내는 기술 필요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073 —</a:t>
            </a:r>
          </a:p>
        </p:txBody>
      </p:sp>
    </p:spTree>
    <p:extLst>
      <p:ext uri="{BB962C8B-B14F-4D97-AF65-F5344CB8AC3E}">
        <p14:creationId xmlns:p14="http://schemas.microsoft.com/office/powerpoint/2010/main" val="37101133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3.1 인터뷰 중요성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베테랑 인터뷰 — 가장 중요하지만 가장 어려운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회사 자산화의 핵심 활동 — 그리고 가장 큰 도전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FFFFF"/>
                </a:solidFill>
              </a:rPr>
              <a:t>왜 중요한가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781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78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06500" y="26162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651000" y="2616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회사 자산의 70% = 암묵지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30099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30099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31115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31115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206500" y="31496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🧠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651000" y="3149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그 중 상당 부분이 베테랑 머릿속에만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5433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5433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62000" y="36449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62000" y="36449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206500" y="36830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⚠️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651000" y="3683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은퇴·이직 시 영구 손실 위험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4191000"/>
            <a:ext cx="6477000" cy="381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191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FFFFF"/>
                </a:solidFill>
              </a:rPr>
              <a:t>왜 어려운가 — 2가지 도전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699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699000"/>
            <a:ext cx="76200" cy="1143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851400"/>
            <a:ext cx="381000" cy="381000"/>
          </a:xfrm>
          <a:prstGeom prst="ellipse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851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270000" y="4851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베테랑 본인도 모른다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70000" y="518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너무 자연스러워서 의식하지 못함</a:t>
            </a:r>
          </a:p>
        </p:txBody>
      </p:sp>
      <p:sp>
        <p:nvSpPr>
          <p:cNvPr id="137" name="S137"/>
          <p:cNvSpPr/>
          <p:nvPr/>
        </p:nvSpPr>
        <p:spPr>
          <a:xfrm>
            <a:off x="1270000" y="5461000"/>
            <a:ext cx="5651500" cy="30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1371600" y="5461000"/>
            <a:ext cx="5524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"어떻게 그렇게 하시는 거예요?"</a:t>
            </a:r>
            <a:r>
              <a:rPr lang="en-US" sz="1100" b="1" dirty="0">
                <a:solidFill>
                  <a:srgbClr val="C73E1D"/>
                </a:solidFill>
              </a:rPr>
              <a:t> → </a:t>
            </a:r>
            <a:r>
              <a:rPr lang="en-US" sz="1000" b="1" dirty="0">
                <a:solidFill>
                  <a:srgbClr val="C73E1D"/>
                </a:solidFill>
              </a:rPr>
              <a:t>"그냥 합니다"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1143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21400"/>
            <a:ext cx="381000" cy="381000"/>
          </a:xfrm>
          <a:prstGeom prst="ellipse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21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121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표현이 어렵다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30년 경험을 단순 언어로 풀기 어려움</a:t>
            </a:r>
          </a:p>
        </p:txBody>
      </p:sp>
      <p:sp>
        <p:nvSpPr>
          <p:cNvPr id="145" name="S145"/>
          <p:cNvSpPr/>
          <p:nvPr/>
        </p:nvSpPr>
        <p:spPr>
          <a:xfrm>
            <a:off x="1270000" y="6731000"/>
            <a:ext cx="5651500" cy="30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371600" y="6731000"/>
            <a:ext cx="5524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6B6B6B"/>
                </a:solidFill>
              </a:rPr>
              <a:t>감각·직관·암묵지 → 명확한 단어로 변환 X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7366000"/>
            <a:ext cx="6477000" cy="152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7366000"/>
            <a:ext cx="76200" cy="152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해결책 — 본 챕터에서 학습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8994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270000" y="7912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잘 준비된 인터뷰 (3.2 — 5단계 준비)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927100" y="82042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270000" y="8216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효과적 질문 기법 (3.3 — 5W1H + Why-5)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927100" y="85090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270000" y="8521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신뢰 구축 시간 (3.4 — 도입 + 본 + 마무리)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9080500"/>
            <a:ext cx="6477000" cy="88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546100" y="9080500"/>
            <a:ext cx="76200" cy="88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927100" y="9245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27100" y="9525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4B400"/>
                </a:solidFill>
              </a:rPr>
              <a:t>잘 준비된 인터뷰 1시간</a:t>
            </a:r>
            <a:r>
              <a:rPr lang="en-US" sz="1300" dirty="0">
                <a:solidFill>
                  <a:srgbClr val="FFFFFF"/>
                </a:solidFill>
              </a:rPr>
              <a:t> = 잘못 진행된 </a:t>
            </a:r>
            <a:r>
              <a:rPr lang="en-US" sz="1400" b="1" dirty="0">
                <a:solidFill>
                  <a:srgbClr val="C73E1D"/>
                </a:solidFill>
              </a:rPr>
              <a:t>10시간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074 —</a:t>
            </a:r>
          </a:p>
        </p:txBody>
      </p:sp>
      <p:sp>
        <p:nvSpPr>
          <p:cNvPr id="163" name="S16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06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3.2 인터뷰 준비 5단계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그림 2-8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인터뷰 준비 5단계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"준비가 곧 인터뷰의 70%" — 1시간 인터뷰 = 1주일 준비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635000" cy="635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587500" y="2095500"/>
            <a:ext cx="1143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587500" y="20955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1주 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857500" y="20955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베테랑 선정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587500" y="24511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노하우 깊이 · 은퇴 임박도 · 협조 의향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587500" y="27051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💡 </a:t>
            </a:r>
            <a:r>
              <a:rPr lang="en-US" sz="1000" b="1" dirty="0">
                <a:solidFill>
                  <a:srgbClr val="E8632C"/>
                </a:solidFill>
              </a:rPr>
              <a:t>부서장 사전 협의 필수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0353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0353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3225800"/>
            <a:ext cx="635000" cy="635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32258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S122"/>
          <p:cNvSpPr/>
          <p:nvPr/>
        </p:nvSpPr>
        <p:spPr>
          <a:xfrm>
            <a:off x="1587500" y="3162300"/>
            <a:ext cx="1143000" cy="279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587500" y="31623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1주~3일 전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57500" y="31623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사전 조사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587500" y="35179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베테랑 경력 · 전문 영역 파악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587500" y="37719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💡 </a:t>
            </a:r>
            <a:r>
              <a:rPr lang="en-US" sz="1000" b="1" dirty="0">
                <a:solidFill>
                  <a:srgbClr val="F4B400"/>
                </a:solidFill>
              </a:rPr>
              <a:t>기존 매뉴얼 검토 → 빠진 부분 식별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1021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102100"/>
            <a:ext cx="762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292600"/>
            <a:ext cx="635000" cy="635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2926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S131"/>
          <p:cNvSpPr/>
          <p:nvPr/>
        </p:nvSpPr>
        <p:spPr>
          <a:xfrm>
            <a:off x="1587500" y="4229100"/>
            <a:ext cx="1143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1587500" y="42291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3일 전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857500" y="42291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질문 설계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1587500" y="45847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10~20개 질문 작성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587500" y="48387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💡 </a:t>
            </a:r>
            <a:r>
              <a:rPr lang="en-US" sz="1000" b="1" dirty="0">
                <a:solidFill>
                  <a:srgbClr val="8B9A3F"/>
                </a:solidFill>
              </a:rPr>
              <a:t>5W1H + Why-5 기법 활용</a:t>
            </a:r>
          </a:p>
        </p:txBody>
      </p:sp>
      <p:sp>
        <p:nvSpPr>
          <p:cNvPr id="136" name="S136"/>
          <p:cNvSpPr/>
          <p:nvPr/>
        </p:nvSpPr>
        <p:spPr>
          <a:xfrm>
            <a:off x="546100" y="51689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546100" y="5168900"/>
            <a:ext cx="76200" cy="1016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762000" y="5359400"/>
            <a:ext cx="635000" cy="635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762000" y="53594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0" name="S140"/>
          <p:cNvSpPr/>
          <p:nvPr/>
        </p:nvSpPr>
        <p:spPr>
          <a:xfrm>
            <a:off x="1587500" y="5295900"/>
            <a:ext cx="1143000" cy="279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1587500" y="52959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1일 전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2857500" y="52959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시간·장소 약속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587500" y="56515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1시간 단위 · 분할 가능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59055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💡 </a:t>
            </a:r>
            <a:r>
              <a:rPr lang="en-US" sz="1000" b="1" dirty="0">
                <a:solidFill>
                  <a:srgbClr val="3D7BC8"/>
                </a:solidFill>
              </a:rPr>
              <a:t>조용한 회의실 + 녹음 동의 사전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2357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235700"/>
            <a:ext cx="762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426200"/>
            <a:ext cx="635000" cy="635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4262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9" name="S149"/>
          <p:cNvSpPr/>
          <p:nvPr/>
        </p:nvSpPr>
        <p:spPr>
          <a:xfrm>
            <a:off x="1587500" y="6362700"/>
            <a:ext cx="1143000" cy="279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1587500" y="63627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1일 전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2857500" y="63627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사전 자료 공유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587500" y="67183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인터뷰 목적 · 질문 개요 사전 공유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587500" y="6972300"/>
            <a:ext cx="533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💡 </a:t>
            </a:r>
            <a:r>
              <a:rPr lang="en-US" sz="1000" b="1" dirty="0">
                <a:solidFill>
                  <a:srgbClr val="0F3A2E"/>
                </a:solidFill>
              </a:rPr>
              <a:t>베테랑이 미리 생각해 올 수 있게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7429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546100" y="7429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927100" y="7620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27100" y="7937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1시간 인터뷰 </a:t>
            </a:r>
            <a:r>
              <a:rPr lang="en-US" sz="1500" b="1" dirty="0">
                <a:solidFill>
                  <a:srgbClr val="F4B400"/>
                </a:solidFill>
              </a:rPr>
              <a:t>=</a:t>
            </a:r>
            <a:r>
              <a:rPr lang="en-US" sz="1500" b="1" dirty="0">
                <a:solidFill>
                  <a:srgbClr val="FFFFFF"/>
                </a:solidFill>
              </a:rPr>
              <a:t> 1주일 준비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82931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"준비가 곧 인터뷰의 70%" — 즉흥 인터뷰는 자산이 아닌 잡담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8763000"/>
            <a:ext cx="6477000" cy="1206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762000" y="8915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인터뷰 1주일 준비 체크리스트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762000" y="9207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☐  베테랑 1명 선정 + 부서장 협의 완료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762000" y="9385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☐  베테랑 경력 · 매뉴얼 사전 조사 완료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762000" y="9563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☐  10~20개 질문 작성 (5W1H + Why-5)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62000" y="9740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☐  조용한 회의실 예약 + 녹음 동의 + 사전 자료 공유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075 —</a:t>
            </a:r>
          </a:p>
        </p:txBody>
      </p:sp>
      <p:sp>
        <p:nvSpPr>
          <p:cNvPr id="168" name="S16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499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3.3 · 5W1H+Why-5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Ch.3.3 · 그림 2-9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효과적 질문 기법 — 5W1H + Why-5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기본 프레임으로 표면을 다 묻고 → 깊이 5번 더 파기 = 진짜 노하우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1. 5W1H — 기본 질문 프레임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2159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0" cy="825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2578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546100" y="2908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무엇이?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409700" y="2578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3D7BC8"/>
                </a:solidFill>
              </a:rPr>
              <a:t>예시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09700" y="2781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"어떤 증상이 나타나면 유압 펌프 고장을 의심?"</a:t>
            </a:r>
          </a:p>
        </p:txBody>
      </p:sp>
      <p:sp>
        <p:nvSpPr>
          <p:cNvPr id="117" name="S117"/>
          <p:cNvSpPr/>
          <p:nvPr/>
        </p:nvSpPr>
        <p:spPr>
          <a:xfrm>
            <a:off x="2705100" y="2476500"/>
            <a:ext cx="2159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2705100" y="2476500"/>
            <a:ext cx="7620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2705100" y="2578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When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2705100" y="2908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언제?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568700" y="2578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8B9A3F"/>
                </a:solidFill>
              </a:rPr>
              <a:t>예시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3568700" y="2781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"그 증상은 언제 가장 잘 나타나나요?"</a:t>
            </a:r>
          </a:p>
        </p:txBody>
      </p:sp>
      <p:sp>
        <p:nvSpPr>
          <p:cNvPr id="123" name="S123"/>
          <p:cNvSpPr/>
          <p:nvPr/>
        </p:nvSpPr>
        <p:spPr>
          <a:xfrm>
            <a:off x="4864100" y="2476500"/>
            <a:ext cx="2159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4864100" y="2476500"/>
            <a:ext cx="7620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864100" y="2578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Where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2908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어디서?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727700" y="2578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7E3FBF"/>
                </a:solidFill>
              </a:rPr>
              <a:t>예시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5727700" y="2781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"어느 부위를 가장 먼저 확인하시나요?"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3365500"/>
            <a:ext cx="2159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546100" y="3365500"/>
            <a:ext cx="762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546100" y="3467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Who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46100" y="3797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누가?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409700" y="3467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예시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1409700" y="3670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"이런 일은 주로 어떤 운전자가 일으키나요?"</a:t>
            </a:r>
          </a:p>
        </p:txBody>
      </p:sp>
      <p:sp>
        <p:nvSpPr>
          <p:cNvPr id="135" name="S135"/>
          <p:cNvSpPr/>
          <p:nvPr/>
        </p:nvSpPr>
        <p:spPr>
          <a:xfrm>
            <a:off x="2705100" y="3365500"/>
            <a:ext cx="2159000" cy="825500"/>
          </a:xfrm>
          <a:prstGeom prst="rect">
            <a:avLst/>
          </a:prstGeom>
          <a:solidFill>
            <a:srgbClr val="FAFAFA"/>
          </a:solidFill>
          <a:ln w="9525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2705100" y="3365500"/>
            <a:ext cx="762000" cy="8255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2705100" y="3467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705100" y="3797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왜?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3568700" y="3467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C73E1D"/>
                </a:solidFill>
              </a:rPr>
              <a:t>예시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3568700" y="3670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"왜 그 부위를 먼저 확인하시나요?"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584700" y="3429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C73E1D"/>
                </a:solidFill>
              </a:rPr>
              <a:t>★</a:t>
            </a:r>
          </a:p>
        </p:txBody>
      </p:sp>
      <p:sp>
        <p:nvSpPr>
          <p:cNvPr id="142" name="S142"/>
          <p:cNvSpPr/>
          <p:nvPr/>
        </p:nvSpPr>
        <p:spPr>
          <a:xfrm>
            <a:off x="4864100" y="3365500"/>
            <a:ext cx="2159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4864100" y="3365500"/>
            <a:ext cx="7620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4864100" y="3467100"/>
            <a:ext cx="762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864100" y="37973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어떻게?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5727700" y="3467100"/>
            <a:ext cx="12319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0F3A2E"/>
                </a:solidFill>
              </a:rPr>
              <a:t>예시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5727700" y="3670300"/>
            <a:ext cx="12319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2C2C2C"/>
                </a:solidFill>
              </a:rPr>
              <a:t>"어떻게 정확한 부위를 찾으세요?"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43180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318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2. Why-5 — 깊이 파기 (5번 왜)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48260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6100" y="48260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698500" y="4927600"/>
            <a:ext cx="406400" cy="279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698500" y="4927600"/>
            <a:ext cx="40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Q1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206500" y="4889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왜 유압 호스 누유 발생?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4127500" y="4889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206500" y="5105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8B9A3F"/>
                </a:solidFill>
              </a:rPr>
              <a:t>답: </a:t>
            </a:r>
            <a:r>
              <a:rPr lang="en-US" sz="950" dirty="0">
                <a:solidFill>
                  <a:srgbClr val="2C2C2C"/>
                </a:solidFill>
              </a:rPr>
              <a:t>굴곡 부위 응력 집중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340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340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698500" y="5435600"/>
            <a:ext cx="406400" cy="279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698500" y="5435600"/>
            <a:ext cx="40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Q2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06500" y="5397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왜 응력 집중?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4127500" y="5397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206500" y="5613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8B9A3F"/>
                </a:solidFill>
              </a:rPr>
              <a:t>답: </a:t>
            </a:r>
            <a:r>
              <a:rPr lang="en-US" sz="950" dirty="0">
                <a:solidFill>
                  <a:srgbClr val="2C2C2C"/>
                </a:solidFill>
              </a:rPr>
              <a:t>호스가 자주 굽혀짐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58420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546100" y="58420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698500" y="5943600"/>
            <a:ext cx="406400" cy="279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698500" y="5943600"/>
            <a:ext cx="40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Q3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206500" y="5905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왜 자주 굽혀짐?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4127500" y="5905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206500" y="6121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8B9A3F"/>
                </a:solidFill>
              </a:rPr>
              <a:t>답: </a:t>
            </a:r>
            <a:r>
              <a:rPr lang="en-US" sz="950" dirty="0">
                <a:solidFill>
                  <a:srgbClr val="2C2C2C"/>
                </a:solidFill>
              </a:rPr>
              <a:t>운전자 짧은 경로 선택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63500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63500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698500" y="6451600"/>
            <a:ext cx="406400" cy="279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698500" y="6451600"/>
            <a:ext cx="40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Q4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1206500" y="6413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왜 짧은 경로 문제?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4127500" y="6413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1206500" y="6629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8B9A3F"/>
                </a:solidFill>
              </a:rPr>
              <a:t>답: </a:t>
            </a:r>
            <a:r>
              <a:rPr lang="en-US" sz="950" dirty="0">
                <a:solidFill>
                  <a:srgbClr val="2C2C2C"/>
                </a:solidFill>
              </a:rPr>
              <a:t>곡률 반경 안전 기준 미만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6858000"/>
            <a:ext cx="6477000" cy="482600"/>
          </a:xfrm>
          <a:prstGeom prst="rect">
            <a:avLst/>
          </a:prstGeom>
          <a:solidFill>
            <a:srgbClr val="FFF8E8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68580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698500" y="6959600"/>
            <a:ext cx="4064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698500" y="6959600"/>
            <a:ext cx="406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Q5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1206500" y="6921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왜 안전 기준이 그 정도?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4127500" y="6921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206500" y="7137400"/>
            <a:ext cx="577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spc="50" dirty="0">
                <a:solidFill>
                  <a:srgbClr val="E8632C"/>
                </a:solidFill>
              </a:rPr>
              <a:t>답: </a:t>
            </a:r>
            <a:r>
              <a:rPr lang="en-US" sz="950" b="1" dirty="0">
                <a:solidFill>
                  <a:srgbClr val="E8632C"/>
                </a:solidFill>
              </a:rPr>
              <a:t>★ 재질 한계 + 안전 마진 30%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6705600" y="69977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86" name="S186"/>
          <p:cNvSpPr/>
          <p:nvPr/>
        </p:nvSpPr>
        <p:spPr>
          <a:xfrm>
            <a:off x="546100" y="7429500"/>
            <a:ext cx="6477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546100" y="7429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927100" y="758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5번째에 진짜 노하우·인사이트 도출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927100" y="7835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표면 답변에 만족 X — 5번 더 "왜" 파기</a:t>
            </a:r>
          </a:p>
        </p:txBody>
      </p:sp>
      <p:sp>
        <p:nvSpPr>
          <p:cNvPr id="190" name="S190"/>
          <p:cNvSpPr/>
          <p:nvPr/>
        </p:nvSpPr>
        <p:spPr>
          <a:xfrm>
            <a:off x="546100" y="8255000"/>
            <a:ext cx="6477000" cy="1714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546100" y="8255000"/>
            <a:ext cx="76200" cy="171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420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질문 설계의 3가지 핵심</a:t>
            </a:r>
          </a:p>
        </p:txBody>
      </p:sp>
      <p:sp>
        <p:nvSpPr>
          <p:cNvPr id="193" name="S193"/>
          <p:cNvSpPr/>
          <p:nvPr/>
        </p:nvSpPr>
        <p:spPr>
          <a:xfrm>
            <a:off x="927100" y="87630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927100" y="8763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1231900" y="87757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개방형 (예/아니오 답변 X)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1231900" y="89916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DDDDDD"/>
                </a:solidFill>
              </a:rPr>
              <a:t>"X를 하시나요?" → "X를 어떻게 하시는지 들려주세요"</a:t>
            </a:r>
          </a:p>
        </p:txBody>
      </p:sp>
      <p:sp>
        <p:nvSpPr>
          <p:cNvPr id="197" name="S197"/>
          <p:cNvSpPr/>
          <p:nvPr/>
        </p:nvSpPr>
        <p:spPr>
          <a:xfrm>
            <a:off x="927100" y="91694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927100" y="9169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99" name="T199"/>
          <p:cNvSpPr txBox="1"/>
          <p:nvPr/>
        </p:nvSpPr>
        <p:spPr>
          <a:xfrm>
            <a:off x="1231900" y="91821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구체적 (모호하지 않게)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1231900" y="9398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DDDDDD"/>
                </a:solidFill>
              </a:rPr>
              <a:t>"노하우는 무엇인가요?" → "엔진 소리만으로 진단할 때 어떤 소리가 단서?"</a:t>
            </a:r>
          </a:p>
        </p:txBody>
      </p:sp>
      <p:sp>
        <p:nvSpPr>
          <p:cNvPr id="201" name="S201"/>
          <p:cNvSpPr/>
          <p:nvPr/>
        </p:nvSpPr>
        <p:spPr>
          <a:xfrm>
            <a:off x="927100" y="95758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927100" y="9575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231900" y="95885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답변 가능 (너무 어렵지 않게)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231900" y="9804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DDDDDD"/>
                </a:solidFill>
              </a:rPr>
              <a:t>"30년 노하우를 정리해 주세요" → "가장 자주 만나는 고장 1가지 사례를 들려주세요"</a:t>
            </a:r>
          </a:p>
        </p:txBody>
      </p:sp>
      <p:sp>
        <p:nvSpPr>
          <p:cNvPr id="205" name="S20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T20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076 —</a:t>
            </a:r>
          </a:p>
        </p:txBody>
      </p:sp>
      <p:sp>
        <p:nvSpPr>
          <p:cNvPr id="208" name="S20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S20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352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실습 2-3 · 질문 설계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실습 2-3 (40분)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2-3] 베테랑 인터뷰 질문 설계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40분 — 가상 베테랑 1명 + 10~20개 질문지 완성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Step 1. 가상 베테랑 시나리오 선택 (5분)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1524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15240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546100" y="2476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984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30년 정비 베테랑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32131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E8632C"/>
                </a:solidFill>
              </a:rPr>
              <a:t>A/S</a:t>
            </a:r>
          </a:p>
        </p:txBody>
      </p:sp>
      <p:sp>
        <p:nvSpPr>
          <p:cNvPr id="116" name="S116"/>
          <p:cNvSpPr/>
          <p:nvPr/>
        </p:nvSpPr>
        <p:spPr>
          <a:xfrm>
            <a:off x="2197100" y="2476500"/>
            <a:ext cx="1524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2197100" y="2476500"/>
            <a:ext cx="1524000" cy="406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2197100" y="2476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0F3A2E"/>
                </a:solidFill>
              </a:rPr>
              <a:t>B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2260600" y="2984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20년 영업 베테랑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2260600" y="32131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F4B400"/>
                </a:solidFill>
              </a:rPr>
              <a:t>영업·견적</a:t>
            </a:r>
          </a:p>
        </p:txBody>
      </p:sp>
      <p:sp>
        <p:nvSpPr>
          <p:cNvPr id="121" name="S121"/>
          <p:cNvSpPr/>
          <p:nvPr/>
        </p:nvSpPr>
        <p:spPr>
          <a:xfrm>
            <a:off x="3848100" y="2476500"/>
            <a:ext cx="1524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3848100" y="2476500"/>
            <a:ext cx="15240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3848100" y="2476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3911600" y="2984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25년 해외영업 베테랑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3911600" y="32131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8B9A3F"/>
                </a:solidFill>
              </a:rPr>
              <a:t>해외영업</a:t>
            </a:r>
          </a:p>
        </p:txBody>
      </p:sp>
      <p:sp>
        <p:nvSpPr>
          <p:cNvPr id="126" name="S126"/>
          <p:cNvSpPr/>
          <p:nvPr/>
        </p:nvSpPr>
        <p:spPr>
          <a:xfrm>
            <a:off x="5499100" y="2476500"/>
            <a:ext cx="1524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99100" y="2476500"/>
            <a:ext cx="1524000" cy="406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5499100" y="2476500"/>
            <a:ext cx="1524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562600" y="2984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15년 마케팅 베테랑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5562600" y="32131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7E3FBF"/>
                </a:solidFill>
              </a:rPr>
              <a:t>마케팅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6195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3619500"/>
            <a:ext cx="76200" cy="609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37338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3733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35" name="S135"/>
          <p:cNvSpPr/>
          <p:nvPr/>
        </p:nvSpPr>
        <p:spPr>
          <a:xfrm>
            <a:off x="1270000" y="37338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1270000" y="3733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5분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2032000" y="3721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핵심 영역 5개 선정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032000" y="39751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베테랑 노하우 영역 — 예(정비): 진단·예방·고장 패턴·도구·고객 응대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2545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254500"/>
            <a:ext cx="76200" cy="609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436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36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3" name="S143"/>
          <p:cNvSpPr/>
          <p:nvPr/>
        </p:nvSpPr>
        <p:spPr>
          <a:xfrm>
            <a:off x="1270000" y="43688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270000" y="4368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20분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032000" y="4356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영역별 질문 작성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032000" y="46101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영역당 2~4개 = 총 10~20개 · 5W1H 기본 + Why-5 후속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48895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4889500"/>
            <a:ext cx="76200" cy="609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762000" y="50038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762000" y="5003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1" name="S151"/>
          <p:cNvSpPr/>
          <p:nvPr/>
        </p:nvSpPr>
        <p:spPr>
          <a:xfrm>
            <a:off x="1270000" y="50038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270000" y="5003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2032000" y="4991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동료와 교차 검토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2032000" y="52451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답변하기 어려운 질문 식별 · 너무 광범위·좁은 질문 보완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5651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5651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5803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산출물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6070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 </a:t>
            </a:r>
            <a:r>
              <a:rPr lang="en-US" sz="1300" b="1" dirty="0">
                <a:solidFill>
                  <a:srgbClr val="FFFFFF"/>
                </a:solidFill>
              </a:rPr>
              <a:t>베테랑 인터뷰 질문지 </a:t>
            </a:r>
            <a:r>
              <a:rPr lang="en-US" sz="1100" dirty="0">
                <a:solidFill>
                  <a:srgbClr val="FFEEDD"/>
                </a:solidFill>
              </a:rPr>
              <a:t>(10~20문항)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604000"/>
            <a:ext cx="6477000" cy="1778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604000"/>
            <a:ext cx="76200" cy="177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76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평가 기준 — 4항목 모두 ✓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71374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7137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270000" y="71501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5W1H 골고루 활용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3810000" y="71501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한 차원에 치우치지 않음</a:t>
            </a:r>
          </a:p>
        </p:txBody>
      </p:sp>
      <p:sp>
        <p:nvSpPr>
          <p:cNvPr id="166" name="S166"/>
          <p:cNvSpPr/>
          <p:nvPr/>
        </p:nvSpPr>
        <p:spPr>
          <a:xfrm>
            <a:off x="927100" y="74168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927100" y="7416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270000" y="7429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Why-5 후속 질문 포함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3810000" y="7429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각 핵심 영역마다 1개 이상</a:t>
            </a:r>
          </a:p>
        </p:txBody>
      </p:sp>
      <p:sp>
        <p:nvSpPr>
          <p:cNvPr id="170" name="S170"/>
          <p:cNvSpPr/>
          <p:nvPr/>
        </p:nvSpPr>
        <p:spPr>
          <a:xfrm>
            <a:off x="927100" y="76962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7696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1270000" y="77089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구체적 (모호하지 않음)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3810000" y="77089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"노하우는?" → "X 상황에서 무엇을?"</a:t>
            </a:r>
          </a:p>
        </p:txBody>
      </p:sp>
      <p:sp>
        <p:nvSpPr>
          <p:cNvPr id="174" name="S174"/>
          <p:cNvSpPr/>
          <p:nvPr/>
        </p:nvSpPr>
        <p:spPr>
          <a:xfrm>
            <a:off x="927100" y="79756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7975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1270000" y="79883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답변 가능 (너무 어렵지 않음)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3810000" y="79883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가상 사례·경험 기반 응답 가능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86360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762000" y="8763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PRO TIP </a:t>
            </a:r>
            <a:r>
              <a:rPr lang="en-US" sz="1100" dirty="0">
                <a:solidFill>
                  <a:srgbClr val="2C2C2C"/>
                </a:solidFill>
              </a:rPr>
              <a:t> — 가상 베테랑이라도 </a:t>
            </a:r>
            <a:r>
              <a:rPr lang="en-US" sz="1100" b="1" dirty="0">
                <a:solidFill>
                  <a:srgbClr val="E8632C"/>
                </a:solidFill>
              </a:rPr>
              <a:t>실제 베테랑 1명을 떠올리며</a:t>
            </a:r>
            <a:r>
              <a:rPr lang="en-US" sz="1100" dirty="0">
                <a:solidFill>
                  <a:srgbClr val="2C2C2C"/>
                </a:solidFill>
              </a:rPr>
              <a:t> 작성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762000" y="9017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오늘 만든 질문지는 다음 주 실제 인터뷰에서 그대로 활용</a:t>
            </a:r>
          </a:p>
        </p:txBody>
      </p:sp>
      <p:sp>
        <p:nvSpPr>
          <p:cNvPr id="181" name="S181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927100" y="9550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다음 주 실전 인터뷰</a:t>
            </a:r>
            <a:r>
              <a:rPr lang="en-US" sz="1100" dirty="0">
                <a:solidFill>
                  <a:srgbClr val="FFFFFF"/>
                </a:solidFill>
              </a:rPr>
              <a:t> — 베테랑 1명 + 1시간 + 이 질문지 = 자산화 시작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077 —</a:t>
            </a: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760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3.4 · 인터뷰 진행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Ch.3.4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인터뷰 진행 가이드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1세션 — 도입 5~10분 + 본 40~50분 + 마무리 10분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397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457200" cy="457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346200" y="2120900"/>
            <a:ext cx="7620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346200" y="21209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5~10분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222500" y="21209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도입 — 신뢰 구축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62000" y="2540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인터뷰 목적·결과 활용 설명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62000" y="27432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녹음 동의 재확인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762000" y="2946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가벼운 주제 (경력·동기)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762000" y="3149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"솔직한 답변이 가장 중요"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441700"/>
            <a:ext cx="6477000" cy="1397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441700"/>
            <a:ext cx="76200" cy="1397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5687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5687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4" name="S124"/>
          <p:cNvSpPr/>
          <p:nvPr/>
        </p:nvSpPr>
        <p:spPr>
          <a:xfrm>
            <a:off x="1346200" y="3594100"/>
            <a:ext cx="762000" cy="304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1346200" y="35941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40~50분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2222500" y="35941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본 인터뷰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762000" y="40132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개방형 질문 우선 ("~을 어떻게 하시는지")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762000" y="4216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경청 + 후속 ("좀 더 들려주실 수 있을까요?")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762000" y="4419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구체적 사례 요청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762000" y="46228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침묵 활용 — 답변 후 3초 기다리기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914900"/>
            <a:ext cx="6477000" cy="1206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914900"/>
            <a:ext cx="76200" cy="1206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50419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50419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S135"/>
          <p:cNvSpPr/>
          <p:nvPr/>
        </p:nvSpPr>
        <p:spPr>
          <a:xfrm>
            <a:off x="1346200" y="5067300"/>
            <a:ext cx="762000" cy="3048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1346200" y="506730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2222500" y="50673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마무리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762000" y="5486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"제가 못 물어본 것이 있을까요?"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762000" y="5689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추가 추천 자료·인물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762000" y="58928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0F3A2E"/>
                </a:solidFill>
              </a:rPr>
              <a:t>•  </a:t>
            </a:r>
            <a:r>
              <a:rPr lang="en-US" sz="1000" dirty="0">
                <a:solidFill>
                  <a:srgbClr val="2C2C2C"/>
                </a:solidFill>
              </a:rPr>
              <a:t>감사 + 후속 일정 (필요 시 2차)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6096000"/>
            <a:ext cx="6477000" cy="215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60960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927100" y="626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팁 — 4가지 원칙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927100" y="666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308100" y="66675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✓ </a:t>
            </a:r>
            <a:r>
              <a:rPr lang="en-US" sz="1100" b="1" dirty="0">
                <a:solidFill>
                  <a:srgbClr val="FFFFFF"/>
                </a:solidFill>
              </a:rPr>
              <a:t>녹음에 의존 — 메모 X · 경청 O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308100" y="6858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메모하느라 경청 놓치는 것이 가장 큰 손실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927100" y="70739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🗣️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308100" y="70739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✓ </a:t>
            </a:r>
            <a:r>
              <a:rPr lang="en-US" sz="1100" b="1" dirty="0">
                <a:solidFill>
                  <a:srgbClr val="FFFFFF"/>
                </a:solidFill>
              </a:rPr>
              <a:t>베테랑이 말하게 — 본인 60% · 인터뷰어 20%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308100" y="7264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나머지 20% 침묵 — 베테랑이 채우도록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4803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🤝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308100" y="74803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✓ </a:t>
            </a:r>
            <a:r>
              <a:rPr lang="en-US" sz="1100" b="1" dirty="0">
                <a:solidFill>
                  <a:srgbClr val="FFFFFF"/>
                </a:solidFill>
              </a:rPr>
              <a:t>자존감 존중 — 비판·반박 X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308100" y="76708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"왜 그렇게 하셨어요?" 대신 "흥미롭네요. 더 들려주세요"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27100" y="78867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⏰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308100" y="78867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✓ </a:t>
            </a:r>
            <a:r>
              <a:rPr lang="en-US" sz="1100" b="1" dirty="0">
                <a:solidFill>
                  <a:srgbClr val="FFFFFF"/>
                </a:solidFill>
              </a:rPr>
              <a:t>시간 엄수 — 약속 시간 초과 X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308100" y="80772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60분 약속이면 60분에 마침 → 신뢰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8382000"/>
            <a:ext cx="6477000" cy="1016000"/>
          </a:xfrm>
          <a:prstGeom prst="rect">
            <a:avLst/>
          </a:prstGeom>
          <a:solidFill>
            <a:srgbClr val="FFF8E8"/>
          </a:solidFill>
          <a:ln w="9525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762000" y="850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C73E1D"/>
                </a:solidFill>
              </a:rPr>
              <a:t>⚠️ 흔한 실수 — 절대 하지 말 것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762000" y="8826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✗ 인터뷰어가 더 많이 말함 (베테랑이 말하게 X)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762000" y="9004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✗ 답변 듣고 즉시 다음 질문 (침묵 활용 X)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762000" y="9182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✗ "이건 매뉴얼에 있잖아요" 같은 반박 (자존감 침해)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"잘 들어주는 사람"</a:t>
            </a:r>
            <a:r>
              <a:rPr lang="en-US" sz="1100" dirty="0">
                <a:solidFill>
                  <a:srgbClr val="FFFFFF"/>
                </a:solidFill>
              </a:rPr>
              <a:t> 이 가장 좋은 인터뷰어 — 질문보다 경청이 중요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078 —</a:t>
            </a:r>
          </a:p>
        </p:txBody>
      </p:sp>
      <p:sp>
        <p:nvSpPr>
          <p:cNvPr id="167" name="S16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316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인터뷰 정리 · 24H 룰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Ch.3.4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인터뷰 후 정리 — 24시간 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인터뷰 1시간 → 정리 4시간 (24시간 내) → 자산 1건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왜 24시간 내?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49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인터뷰어 기억 신선도 가장 높음</a:t>
            </a:r>
            <a:r>
              <a:rPr lang="en-US" sz="1050" dirty="0">
                <a:solidFill>
                  <a:srgbClr val="FFEEDD"/>
                </a:solidFill>
              </a:rPr>
              <a:t> + 베테랑에게도 "빨리 정리됐네" 신뢰감 형성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857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4단계 정리 프로세스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365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3365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34925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492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9" name="S119"/>
          <p:cNvSpPr/>
          <p:nvPr/>
        </p:nvSpPr>
        <p:spPr>
          <a:xfrm>
            <a:off x="1270000" y="3492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270000" y="3492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1H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32000" y="3467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STT 자동 변환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32000" y="3746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ChatGPT Whisper 또는 Otter.ai · 화자 분리 + 시각 표시 자동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038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0386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62000" y="41656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62000" y="4165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7" name="S127"/>
          <p:cNvSpPr/>
          <p:nvPr/>
        </p:nvSpPr>
        <p:spPr>
          <a:xfrm>
            <a:off x="1270000" y="41656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270000" y="4165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2~3H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32000" y="4140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핵심 노하우 추출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2032000" y="4419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AI 도구 (VOL.01 학습한 4도구) 활용 · 항목별 분류 (영역·증상·도구)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711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7117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8387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838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S135"/>
          <p:cNvSpPr/>
          <p:nvPr/>
        </p:nvSpPr>
        <p:spPr>
          <a:xfrm>
            <a:off x="1270000" y="48387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1270000" y="4838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30M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2032000" y="4813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검수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2032000" y="5092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정리본 메일 발송 → 베테랑 확인 · 잘못 이해한 부분·보충 사항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3848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3848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55118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5511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S143"/>
          <p:cNvSpPr/>
          <p:nvPr/>
        </p:nvSpPr>
        <p:spPr>
          <a:xfrm>
            <a:off x="1270000" y="55118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270000" y="5511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1H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032000" y="5486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사내 등록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032000" y="57658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Custom GPT/Project Knowledge에 추가 · 사내 위키·LMS 등록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6096000"/>
            <a:ext cx="6477000" cy="2159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60960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626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산출물 — 1시간 인터뷰 → 4시간 정리 → 4가지 결과물</a:t>
            </a:r>
          </a:p>
        </p:txBody>
      </p:sp>
      <p:sp>
        <p:nvSpPr>
          <p:cNvPr id="150" name="S150"/>
          <p:cNvSpPr/>
          <p:nvPr/>
        </p:nvSpPr>
        <p:spPr>
          <a:xfrm>
            <a:off x="927100" y="6667500"/>
            <a:ext cx="2921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927100" y="6667500"/>
            <a:ext cx="381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927100" y="66675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409700" y="67310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📝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752600" y="6731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인터뷰 전체 텍스트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409700" y="7010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화자 분리 · 시각 표시</a:t>
            </a:r>
          </a:p>
        </p:txBody>
      </p:sp>
      <p:sp>
        <p:nvSpPr>
          <p:cNvPr id="156" name="S156"/>
          <p:cNvSpPr/>
          <p:nvPr/>
        </p:nvSpPr>
        <p:spPr>
          <a:xfrm>
            <a:off x="3975100" y="6667500"/>
            <a:ext cx="2921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3975100" y="6667500"/>
            <a:ext cx="381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3975100" y="66675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457700" y="67310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4800600" y="6731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항목별 노하우 정리 (Q&amp;A)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4457700" y="7010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영역별 분류 · 검색 가능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7366000"/>
            <a:ext cx="2921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927100" y="7366000"/>
            <a:ext cx="381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7366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1409700" y="7429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🎴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752600" y="7429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신입 학습 카드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409700" y="770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10~20개 카드 — Anki 형식</a:t>
            </a:r>
          </a:p>
        </p:txBody>
      </p:sp>
      <p:sp>
        <p:nvSpPr>
          <p:cNvPr id="168" name="S168"/>
          <p:cNvSpPr/>
          <p:nvPr/>
        </p:nvSpPr>
        <p:spPr>
          <a:xfrm>
            <a:off x="3975100" y="7366000"/>
            <a:ext cx="2921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3975100" y="7366000"/>
            <a:ext cx="381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3975100" y="7366000"/>
            <a:ext cx="381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4B400"/>
                </a:solidFill>
              </a:rPr>
              <a:t>✅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4457700" y="7429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🎧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4800600" y="7429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Audio Overview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4457700" y="770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출퇴근 학습용 오디오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8445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8445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8597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864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인터뷰는 시작일 뿐 — </a:t>
            </a:r>
            <a:r>
              <a:rPr lang="en-US" sz="1300" b="1" dirty="0">
                <a:solidFill>
                  <a:srgbClr val="F4B400"/>
                </a:solidFill>
              </a:rPr>
              <a:t>정리·자산화가 진짜 작업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762000" y="9398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⏰ </a:t>
            </a:r>
            <a:r>
              <a:rPr lang="en-US" sz="1100" b="1" dirty="0">
                <a:solidFill>
                  <a:srgbClr val="E8632C"/>
                </a:solidFill>
              </a:rPr>
              <a:t>24시간 카운트다운 </a:t>
            </a:r>
            <a:r>
              <a:rPr lang="en-US" sz="1100" dirty="0">
                <a:solidFill>
                  <a:srgbClr val="2C2C2C"/>
                </a:solidFill>
              </a:rPr>
              <a:t> — 인터뷰 종료 즉시 STT 시작 → 다음날까지 사내 등록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"내일 하자"는 함정 — 기억은 24시간 후 50% 손실</a:t>
            </a:r>
          </a:p>
        </p:txBody>
      </p:sp>
      <p:sp>
        <p:nvSpPr>
          <p:cNvPr id="181" name="S18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079 —</a:t>
            </a:r>
          </a:p>
        </p:txBody>
      </p:sp>
      <p:sp>
        <p:nvSpPr>
          <p:cNvPr id="184" name="S18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997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Chapter 3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Chapter 3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3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베테랑 인터뷰 — 암묵지 자산화의 핵심 활동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2479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2479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159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인터뷰는 암묵지 자산화의 핵심 활동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540000"/>
            <a:ext cx="546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회사 자산의 70% = 암묵지 — 그 중 다수가 베테랑 머릿속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0353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30353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33147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3147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460500" y="32258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1시간 인터뷰 = 1주일 준비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460500" y="3606800"/>
            <a:ext cx="546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준비가 곧 인터뷰의 70% — 베테랑 선정·사전 조사·질문 설계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41021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4102100"/>
            <a:ext cx="762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4381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42926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5W1H + Why-5 기법으로 깊이 파기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460500" y="4673600"/>
            <a:ext cx="546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표면 답변에 만족 X — 5번째에 진짜 노하우·인사이트 도출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51689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5168900"/>
            <a:ext cx="762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54483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54483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460500" y="5359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24시간 룰 — 인터뷰 후 정리·검수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460500" y="5740400"/>
            <a:ext cx="546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STT → 정리 → 베테랑 검수 → 사내 등록 (1시간 → 4시간)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6286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6286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927100" y="6438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오늘의 산출물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927100" y="6705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 </a:t>
            </a:r>
            <a:r>
              <a:rPr lang="en-US" sz="1300" b="1" dirty="0">
                <a:solidFill>
                  <a:srgbClr val="FFFFFF"/>
                </a:solidFill>
              </a:rPr>
              <a:t>베테랑 인터뷰 질문지 </a:t>
            </a:r>
            <a:r>
              <a:rPr lang="en-US" sz="1100" dirty="0">
                <a:solidFill>
                  <a:srgbClr val="FFEEDD"/>
                </a:solidFill>
              </a:rPr>
              <a:t>(10~20문항)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7239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7239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7404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단계 권장 — 평생 자산을 만드는 1회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927100" y="7721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본 과정 끝나기 전에 </a:t>
            </a:r>
            <a:r>
              <a:rPr lang="en-US" sz="1400" b="1" dirty="0">
                <a:solidFill>
                  <a:srgbClr val="F4B400"/>
                </a:solidFill>
              </a:rPr>
              <a:t>실제 베테랑 인터뷰 1회 진행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927100" y="8102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오늘 만든 질문지 + 1주일 준비 = 회사의 "평생 자산" 1건 확보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8572500"/>
            <a:ext cx="6477000" cy="1397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8572500"/>
            <a:ext cx="76200" cy="1397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927100" y="8737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 — 그날의 ★ BIG WIN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27100" y="90424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4 — </a:t>
            </a:r>
            <a:r>
              <a:rPr lang="en-US" sz="1500" b="1" dirty="0">
                <a:solidFill>
                  <a:srgbClr val="FFFFFF"/>
                </a:solidFill>
              </a:rPr>
              <a:t>1주일 데이터 수집 시스템 설계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94488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오늘 학습한 모든 것을 통합 → 자기 부서 시스템 직접 설계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927100" y="9715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이론 끝 — 실습 6H 시작 (Ch.4)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080 —</a:t>
            </a:r>
          </a:p>
        </p:txBody>
      </p:sp>
      <p:sp>
        <p:nvSpPr>
          <p:cNvPr id="151" name="S15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752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4826000" y="444500"/>
            <a:ext cx="1016000" cy="1016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651500" y="825500"/>
            <a:ext cx="1143000" cy="1143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016500" y="1524000"/>
            <a:ext cx="762000" cy="762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104"/>
          <p:cNvSpPr/>
          <p:nvPr/>
        </p:nvSpPr>
        <p:spPr>
          <a:xfrm>
            <a:off x="6032500" y="1778000"/>
            <a:ext cx="444500" cy="44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105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02 · DAY 2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F4B400"/>
                </a:solidFill>
              </a:rPr>
              <a:t>CHAPTER 4 · ★ BIG WIN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952500" y="2540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400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952500" y="2984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600" dirty="0">
                <a:solidFill>
                  <a:srgbClr val="F4B400"/>
                </a:solidFill>
              </a:rPr>
              <a:t>CHAPTER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889000" y="3238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10" name="S110"/>
          <p:cNvSpPr/>
          <p:nvPr/>
        </p:nvSpPr>
        <p:spPr>
          <a:xfrm>
            <a:off x="889000" y="5207000"/>
            <a:ext cx="1143000" cy="50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889000" y="5397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1주일 데이터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6032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4B400"/>
                </a:solidFill>
              </a:rPr>
              <a:t>수집 시스템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889000" y="6794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7-Day Data Collection System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889000" y="7239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"1주일이 끝나도 지속적으로 작동하는 자산화 엔진"</a:t>
            </a:r>
          </a:p>
        </p:txBody>
      </p:sp>
      <p:sp>
        <p:nvSpPr>
          <p:cNvPr id="115" name="S115"/>
          <p:cNvSpPr/>
          <p:nvPr/>
        </p:nvSpPr>
        <p:spPr>
          <a:xfrm>
            <a:off x="889000" y="7747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889000" y="7899400"/>
            <a:ext cx="5765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시스템의 5가지 요소</a:t>
            </a:r>
          </a:p>
        </p:txBody>
      </p:sp>
      <p:sp>
        <p:nvSpPr>
          <p:cNvPr id="117" name="S117"/>
          <p:cNvSpPr/>
          <p:nvPr/>
        </p:nvSpPr>
        <p:spPr>
          <a:xfrm>
            <a:off x="889000" y="82296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889000" y="8229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19200" y="82423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매일 자동 수집 (임베디드)</a:t>
            </a:r>
          </a:p>
        </p:txBody>
      </p:sp>
      <p:sp>
        <p:nvSpPr>
          <p:cNvPr id="120" name="S120"/>
          <p:cNvSpPr/>
          <p:nvPr/>
        </p:nvSpPr>
        <p:spPr>
          <a:xfrm>
            <a:off x="889000" y="85090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889000" y="8509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19200" y="85217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주간 베테랑 인터뷰 1회</a:t>
            </a:r>
          </a:p>
        </p:txBody>
      </p:sp>
      <p:sp>
        <p:nvSpPr>
          <p:cNvPr id="123" name="S123"/>
          <p:cNvSpPr/>
          <p:nvPr/>
        </p:nvSpPr>
        <p:spPr>
          <a:xfrm>
            <a:off x="889000" y="87884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889000" y="87884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19200" y="88011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양식·메타데이터 표준</a:t>
            </a:r>
          </a:p>
        </p:txBody>
      </p:sp>
      <p:sp>
        <p:nvSpPr>
          <p:cNvPr id="126" name="S126"/>
          <p:cNvSpPr/>
          <p:nvPr/>
        </p:nvSpPr>
        <p:spPr>
          <a:xfrm>
            <a:off x="889000" y="90678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889000" y="90678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219200" y="908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사내 공유 체계</a:t>
            </a:r>
          </a:p>
        </p:txBody>
      </p:sp>
      <p:sp>
        <p:nvSpPr>
          <p:cNvPr id="129" name="S129"/>
          <p:cNvSpPr/>
          <p:nvPr/>
        </p:nvSpPr>
        <p:spPr>
          <a:xfrm>
            <a:off x="889000" y="93472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889000" y="9347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19200" y="93599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정기 검수·개선 사이클</a:t>
            </a:r>
          </a:p>
        </p:txBody>
      </p:sp>
      <p:sp>
        <p:nvSpPr>
          <p:cNvPr id="132" name="S132"/>
          <p:cNvSpPr/>
          <p:nvPr/>
        </p:nvSpPr>
        <p:spPr>
          <a:xfrm>
            <a:off x="889000" y="9715500"/>
            <a:ext cx="57658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889000" y="9715500"/>
            <a:ext cx="5765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1년 후 → 사내 가장 풍부한 데이터 보유 부서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081 —</a:t>
            </a:r>
          </a:p>
        </p:txBody>
      </p:sp>
    </p:spTree>
    <p:extLst>
      <p:ext uri="{BB962C8B-B14F-4D97-AF65-F5344CB8AC3E}">
        <p14:creationId xmlns:p14="http://schemas.microsoft.com/office/powerpoint/2010/main" val="1330576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4.1 · 7일 시스템 개관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★ BIG WIN · 그림 2-10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1주일 데이터 수집 시스템 개관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7일 구조 — 식별 → 양식 → 수집 → 인터뷰 → 정리 → 디지털화 → 검수</a:t>
            </a:r>
          </a:p>
        </p:txBody>
      </p:sp>
      <p:sp>
        <p:nvSpPr>
          <p:cNvPr id="109" name="S109"/>
          <p:cNvSpPr/>
          <p:nvPr/>
        </p:nvSpPr>
        <p:spPr>
          <a:xfrm>
            <a:off x="5969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96900" y="1968500"/>
            <a:ext cx="8636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5969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12" name="S112"/>
          <p:cNvSpPr/>
          <p:nvPr/>
        </p:nvSpPr>
        <p:spPr>
          <a:xfrm>
            <a:off x="825500" y="2476500"/>
            <a:ext cx="406400" cy="4064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8255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223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식별·계획</a:t>
            </a:r>
          </a:p>
        </p:txBody>
      </p:sp>
      <p:sp>
        <p:nvSpPr>
          <p:cNvPr id="115" name="S115"/>
          <p:cNvSpPr/>
          <p:nvPr/>
        </p:nvSpPr>
        <p:spPr>
          <a:xfrm>
            <a:off x="787400" y="3238500"/>
            <a:ext cx="482600" cy="228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7874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17" name="S117"/>
          <p:cNvSpPr/>
          <p:nvPr/>
        </p:nvSpPr>
        <p:spPr>
          <a:xfrm>
            <a:off x="6604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6223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6223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우선순위 자산
3~5개 선정</a:t>
            </a:r>
          </a:p>
        </p:txBody>
      </p:sp>
      <p:sp>
        <p:nvSpPr>
          <p:cNvPr id="120" name="S120"/>
          <p:cNvSpPr/>
          <p:nvPr/>
        </p:nvSpPr>
        <p:spPr>
          <a:xfrm>
            <a:off x="15113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511300" y="1968500"/>
            <a:ext cx="8636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5113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23" name="S123"/>
          <p:cNvSpPr/>
          <p:nvPr/>
        </p:nvSpPr>
        <p:spPr>
          <a:xfrm>
            <a:off x="1739900" y="2476500"/>
            <a:ext cx="406400" cy="4064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7399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5367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양식 작성</a:t>
            </a:r>
          </a:p>
        </p:txBody>
      </p:sp>
      <p:sp>
        <p:nvSpPr>
          <p:cNvPr id="126" name="S126"/>
          <p:cNvSpPr/>
          <p:nvPr/>
        </p:nvSpPr>
        <p:spPr>
          <a:xfrm>
            <a:off x="1701800" y="3238500"/>
            <a:ext cx="482600" cy="228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7018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1H</a:t>
            </a:r>
          </a:p>
        </p:txBody>
      </p:sp>
      <p:sp>
        <p:nvSpPr>
          <p:cNvPr id="128" name="S128"/>
          <p:cNvSpPr/>
          <p:nvPr/>
        </p:nvSpPr>
        <p:spPr>
          <a:xfrm>
            <a:off x="15748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15367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367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Forms·Notion
양식 + 테스트</a:t>
            </a:r>
          </a:p>
        </p:txBody>
      </p:sp>
      <p:sp>
        <p:nvSpPr>
          <p:cNvPr id="131" name="S131"/>
          <p:cNvSpPr/>
          <p:nvPr/>
        </p:nvSpPr>
        <p:spPr>
          <a:xfrm>
            <a:off x="24257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2425700" y="1968500"/>
            <a:ext cx="8636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24257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34" name="S134"/>
          <p:cNvSpPr/>
          <p:nvPr/>
        </p:nvSpPr>
        <p:spPr>
          <a:xfrm>
            <a:off x="2654300" y="2476500"/>
            <a:ext cx="406400" cy="4064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26543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4511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일상 수집</a:t>
            </a:r>
          </a:p>
        </p:txBody>
      </p:sp>
      <p:sp>
        <p:nvSpPr>
          <p:cNvPr id="137" name="S137"/>
          <p:cNvSpPr/>
          <p:nvPr/>
        </p:nvSpPr>
        <p:spPr>
          <a:xfrm>
            <a:off x="2616200" y="3238500"/>
            <a:ext cx="482600" cy="228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26162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0.5H</a:t>
            </a:r>
          </a:p>
        </p:txBody>
      </p:sp>
      <p:sp>
        <p:nvSpPr>
          <p:cNvPr id="139" name="S139"/>
          <p:cNvSpPr/>
          <p:nvPr/>
        </p:nvSpPr>
        <p:spPr>
          <a:xfrm>
            <a:off x="24892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24511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24511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양식 입력
5건+</a:t>
            </a:r>
          </a:p>
        </p:txBody>
      </p:sp>
      <p:sp>
        <p:nvSpPr>
          <p:cNvPr id="142" name="S142"/>
          <p:cNvSpPr/>
          <p:nvPr/>
        </p:nvSpPr>
        <p:spPr>
          <a:xfrm>
            <a:off x="3340100" y="1968500"/>
            <a:ext cx="863600" cy="2921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3340100" y="1968500"/>
            <a:ext cx="8636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33401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4</a:t>
            </a:r>
          </a:p>
        </p:txBody>
      </p:sp>
      <p:sp>
        <p:nvSpPr>
          <p:cNvPr id="145" name="S145"/>
          <p:cNvSpPr/>
          <p:nvPr/>
        </p:nvSpPr>
        <p:spPr>
          <a:xfrm>
            <a:off x="3568700" y="2476500"/>
            <a:ext cx="406400" cy="406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35687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33655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 err="1">
                <a:solidFill>
                  <a:srgbClr val="E8632C"/>
                </a:solidFill>
              </a:rPr>
              <a:t>베테랑인터뷰</a:t>
            </a:r>
            <a:endParaRPr lang="en-US" sz="1050" b="1" dirty="0">
              <a:solidFill>
                <a:srgbClr val="E8632C"/>
              </a:solidFill>
            </a:endParaRPr>
          </a:p>
        </p:txBody>
      </p:sp>
      <p:sp>
        <p:nvSpPr>
          <p:cNvPr id="148" name="S148"/>
          <p:cNvSpPr/>
          <p:nvPr/>
        </p:nvSpPr>
        <p:spPr>
          <a:xfrm>
            <a:off x="3530600" y="3238500"/>
            <a:ext cx="4826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35306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50" name="S150"/>
          <p:cNvSpPr/>
          <p:nvPr/>
        </p:nvSpPr>
        <p:spPr>
          <a:xfrm>
            <a:off x="34036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33655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33655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60분 인터뷰
+ 즉시 정리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4013200" y="2070100"/>
            <a:ext cx="152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54" name="S154"/>
          <p:cNvSpPr/>
          <p:nvPr/>
        </p:nvSpPr>
        <p:spPr>
          <a:xfrm>
            <a:off x="42545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4254500" y="1968500"/>
            <a:ext cx="863600" cy="381000"/>
          </a:xfrm>
          <a:prstGeom prst="rect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42545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157" name="S157"/>
          <p:cNvSpPr/>
          <p:nvPr/>
        </p:nvSpPr>
        <p:spPr>
          <a:xfrm>
            <a:off x="4483100" y="2476500"/>
            <a:ext cx="406400" cy="406400"/>
          </a:xfrm>
          <a:prstGeom prst="ellipse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44831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2799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인터뷰 정리</a:t>
            </a:r>
          </a:p>
        </p:txBody>
      </p:sp>
      <p:sp>
        <p:nvSpPr>
          <p:cNvPr id="160" name="S160"/>
          <p:cNvSpPr/>
          <p:nvPr/>
        </p:nvSpPr>
        <p:spPr>
          <a:xfrm>
            <a:off x="4445000" y="3238500"/>
            <a:ext cx="482600" cy="228600"/>
          </a:xfrm>
          <a:prstGeom prst="rect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44450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62" name="S162"/>
          <p:cNvSpPr/>
          <p:nvPr/>
        </p:nvSpPr>
        <p:spPr>
          <a:xfrm>
            <a:off x="43180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42799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42799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항목별 노하우
학습 카드 작성</a:t>
            </a:r>
          </a:p>
        </p:txBody>
      </p:sp>
      <p:sp>
        <p:nvSpPr>
          <p:cNvPr id="165" name="S165"/>
          <p:cNvSpPr/>
          <p:nvPr/>
        </p:nvSpPr>
        <p:spPr>
          <a:xfrm>
            <a:off x="51689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5168900" y="1968500"/>
            <a:ext cx="8636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1689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6</a:t>
            </a:r>
          </a:p>
        </p:txBody>
      </p:sp>
      <p:sp>
        <p:nvSpPr>
          <p:cNvPr id="168" name="S168"/>
          <p:cNvSpPr/>
          <p:nvPr/>
        </p:nvSpPr>
        <p:spPr>
          <a:xfrm>
            <a:off x="5397500" y="2476500"/>
            <a:ext cx="406400" cy="4064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53975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51943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171" name="S171"/>
          <p:cNvSpPr/>
          <p:nvPr/>
        </p:nvSpPr>
        <p:spPr>
          <a:xfrm>
            <a:off x="5359400" y="3238500"/>
            <a:ext cx="482600" cy="2286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53594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73" name="S173"/>
          <p:cNvSpPr/>
          <p:nvPr/>
        </p:nvSpPr>
        <p:spPr>
          <a:xfrm>
            <a:off x="52324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51943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51943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OCR·STT 변환
구조화</a:t>
            </a:r>
          </a:p>
        </p:txBody>
      </p:sp>
      <p:sp>
        <p:nvSpPr>
          <p:cNvPr id="176" name="S176"/>
          <p:cNvSpPr/>
          <p:nvPr/>
        </p:nvSpPr>
        <p:spPr>
          <a:xfrm>
            <a:off x="6083300" y="1968500"/>
            <a:ext cx="863600" cy="292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6083300" y="1968500"/>
            <a:ext cx="863600" cy="381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6083300" y="1968500"/>
            <a:ext cx="863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7</a:t>
            </a:r>
          </a:p>
        </p:txBody>
      </p:sp>
      <p:sp>
        <p:nvSpPr>
          <p:cNvPr id="179" name="S179"/>
          <p:cNvSpPr/>
          <p:nvPr/>
        </p:nvSpPr>
        <p:spPr>
          <a:xfrm>
            <a:off x="6311900" y="2476500"/>
            <a:ext cx="406400" cy="406400"/>
          </a:xfrm>
          <a:prstGeom prst="ellipse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6311900" y="24765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6108700" y="29591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2C2C2C"/>
                </a:solidFill>
              </a:rPr>
              <a:t>검수·공유</a:t>
            </a:r>
          </a:p>
        </p:txBody>
      </p:sp>
      <p:sp>
        <p:nvSpPr>
          <p:cNvPr id="182" name="S182"/>
          <p:cNvSpPr/>
          <p:nvPr/>
        </p:nvSpPr>
        <p:spPr>
          <a:xfrm>
            <a:off x="6273800" y="3238500"/>
            <a:ext cx="4826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6273800" y="3238500"/>
            <a:ext cx="482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1.5H</a:t>
            </a:r>
          </a:p>
        </p:txBody>
      </p:sp>
      <p:sp>
        <p:nvSpPr>
          <p:cNvPr id="184" name="S184"/>
          <p:cNvSpPr/>
          <p:nvPr/>
        </p:nvSpPr>
        <p:spPr>
          <a:xfrm>
            <a:off x="6146800" y="3581400"/>
            <a:ext cx="7366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6108700" y="3657600"/>
            <a:ext cx="81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b="1" spc="50" dirty="0">
                <a:solidFill>
                  <a:srgbClr val="6B6B6B"/>
                </a:solidFill>
              </a:rPr>
              <a:t>산출물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6108700" y="3848100"/>
            <a:ext cx="81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동료 검수
+ 사내 등록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5143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546100" y="5143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927100" y="530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1주일 누적 산출물</a:t>
            </a:r>
          </a:p>
        </p:txBody>
      </p:sp>
      <p:sp>
        <p:nvSpPr>
          <p:cNvPr id="190" name="S190"/>
          <p:cNvSpPr/>
          <p:nvPr/>
        </p:nvSpPr>
        <p:spPr>
          <a:xfrm>
            <a:off x="927100" y="5651500"/>
            <a:ext cx="1460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T191"/>
          <p:cNvSpPr txBox="1"/>
          <p:nvPr/>
        </p:nvSpPr>
        <p:spPr>
          <a:xfrm>
            <a:off x="927100" y="5651500"/>
            <a:ext cx="1460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✓ 수집 양식 가동</a:t>
            </a:r>
          </a:p>
        </p:txBody>
      </p:sp>
      <p:sp>
        <p:nvSpPr>
          <p:cNvPr id="192" name="S192"/>
          <p:cNvSpPr/>
          <p:nvPr/>
        </p:nvSpPr>
        <p:spPr>
          <a:xfrm>
            <a:off x="2451100" y="5651500"/>
            <a:ext cx="1460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T193"/>
          <p:cNvSpPr txBox="1"/>
          <p:nvPr/>
        </p:nvSpPr>
        <p:spPr>
          <a:xfrm>
            <a:off x="2451100" y="5651500"/>
            <a:ext cx="1460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✓ 베테랑 인터뷰 1건</a:t>
            </a:r>
          </a:p>
        </p:txBody>
      </p:sp>
      <p:sp>
        <p:nvSpPr>
          <p:cNvPr id="194" name="S194"/>
          <p:cNvSpPr/>
          <p:nvPr/>
        </p:nvSpPr>
        <p:spPr>
          <a:xfrm>
            <a:off x="3975100" y="5651500"/>
            <a:ext cx="1460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T195"/>
          <p:cNvSpPr txBox="1"/>
          <p:nvPr/>
        </p:nvSpPr>
        <p:spPr>
          <a:xfrm>
            <a:off x="3975100" y="5651500"/>
            <a:ext cx="1460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✓ 일상 수집 30건 +</a:t>
            </a:r>
          </a:p>
        </p:txBody>
      </p:sp>
      <p:sp>
        <p:nvSpPr>
          <p:cNvPr id="196" name="S196"/>
          <p:cNvSpPr/>
          <p:nvPr/>
        </p:nvSpPr>
        <p:spPr>
          <a:xfrm>
            <a:off x="5499100" y="5651500"/>
            <a:ext cx="1460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T197"/>
          <p:cNvSpPr txBox="1"/>
          <p:nvPr/>
        </p:nvSpPr>
        <p:spPr>
          <a:xfrm>
            <a:off x="5499100" y="5651500"/>
            <a:ext cx="1460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✓ 사내 공유 · 운영</a:t>
            </a:r>
          </a:p>
        </p:txBody>
      </p:sp>
      <p:sp>
        <p:nvSpPr>
          <p:cNvPr id="198" name="S198"/>
          <p:cNvSpPr/>
          <p:nvPr/>
        </p:nvSpPr>
        <p:spPr>
          <a:xfrm>
            <a:off x="546100" y="6477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S199"/>
          <p:cNvSpPr/>
          <p:nvPr/>
        </p:nvSpPr>
        <p:spPr>
          <a:xfrm>
            <a:off x="546100" y="6477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927100" y="662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핵심 원칙 — 시스템 작동 조건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927100" y="6921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⏰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1244600" y="69215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하루 30분~2시간 투입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244600" y="71247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F4B400"/>
                </a:solidFill>
              </a:rPr>
              <a:t>가능한 분량으로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3022600" y="6921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🔄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3340100" y="69215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일상 업무 우선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3340100" y="71247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F4B400"/>
                </a:solidFill>
              </a:rPr>
              <a:t>수집은 부산물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5118100" y="6921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♾️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435600" y="69215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1주 후 지속적 시스템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5435600" y="71247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F4B400"/>
                </a:solidFill>
              </a:rPr>
              <a:t>매주 사이클 반복</a:t>
            </a:r>
          </a:p>
        </p:txBody>
      </p:sp>
      <p:sp>
        <p:nvSpPr>
          <p:cNvPr id="210" name="S210"/>
          <p:cNvSpPr/>
          <p:nvPr/>
        </p:nvSpPr>
        <p:spPr>
          <a:xfrm>
            <a:off x="546100" y="7810500"/>
            <a:ext cx="6477000" cy="215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T211"/>
          <p:cNvSpPr txBox="1"/>
          <p:nvPr/>
        </p:nvSpPr>
        <p:spPr>
          <a:xfrm>
            <a:off x="762000" y="7975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E8632C"/>
                </a:solidFill>
              </a:rPr>
              <a:t>★ 매주 같은 사이클 반복 — 1년 후 모습</a:t>
            </a:r>
          </a:p>
        </p:txBody>
      </p:sp>
      <p:sp>
        <p:nvSpPr>
          <p:cNvPr id="212" name="S212"/>
          <p:cNvSpPr/>
          <p:nvPr/>
        </p:nvSpPr>
        <p:spPr>
          <a:xfrm>
            <a:off x="927100" y="8382000"/>
            <a:ext cx="1016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T213"/>
          <p:cNvSpPr txBox="1"/>
          <p:nvPr/>
        </p:nvSpPr>
        <p:spPr>
          <a:xfrm>
            <a:off x="927100" y="83820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1주 후</a:t>
            </a:r>
          </a:p>
        </p:txBody>
      </p:sp>
      <p:sp>
        <p:nvSpPr>
          <p:cNvPr id="214" name="S214"/>
          <p:cNvSpPr/>
          <p:nvPr/>
        </p:nvSpPr>
        <p:spPr>
          <a:xfrm>
            <a:off x="2070100" y="8445500"/>
            <a:ext cx="1485900" cy="254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T215"/>
          <p:cNvSpPr txBox="1"/>
          <p:nvPr/>
        </p:nvSpPr>
        <p:spPr>
          <a:xfrm>
            <a:off x="2159000" y="8445500"/>
            <a:ext cx="1358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FFFFFF"/>
                </a:solidFill>
              </a:rPr>
              <a:t>양식 가동 + 인터뷰 1건</a:t>
            </a:r>
          </a:p>
        </p:txBody>
      </p:sp>
      <p:sp>
        <p:nvSpPr>
          <p:cNvPr id="216" name="S216"/>
          <p:cNvSpPr/>
          <p:nvPr/>
        </p:nvSpPr>
        <p:spPr>
          <a:xfrm>
            <a:off x="927100" y="8826500"/>
            <a:ext cx="1016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T217"/>
          <p:cNvSpPr txBox="1"/>
          <p:nvPr/>
        </p:nvSpPr>
        <p:spPr>
          <a:xfrm>
            <a:off x="927100" y="8826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3개월 후</a:t>
            </a:r>
          </a:p>
        </p:txBody>
      </p:sp>
      <p:sp>
        <p:nvSpPr>
          <p:cNvPr id="218" name="S218"/>
          <p:cNvSpPr/>
          <p:nvPr/>
        </p:nvSpPr>
        <p:spPr>
          <a:xfrm>
            <a:off x="2070100" y="8890000"/>
            <a:ext cx="29718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T219"/>
          <p:cNvSpPr txBox="1"/>
          <p:nvPr/>
        </p:nvSpPr>
        <p:spPr>
          <a:xfrm>
            <a:off x="2159000" y="88900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dirty="0">
                <a:solidFill>
                  <a:srgbClr val="FFFFFF"/>
                </a:solidFill>
              </a:rPr>
              <a:t>인터뷰 12건 · 일상 360건+</a:t>
            </a:r>
          </a:p>
        </p:txBody>
      </p:sp>
      <p:sp>
        <p:nvSpPr>
          <p:cNvPr id="220" name="S220"/>
          <p:cNvSpPr/>
          <p:nvPr/>
        </p:nvSpPr>
        <p:spPr>
          <a:xfrm>
            <a:off x="927100" y="9271000"/>
            <a:ext cx="1016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T221"/>
          <p:cNvSpPr txBox="1"/>
          <p:nvPr/>
        </p:nvSpPr>
        <p:spPr>
          <a:xfrm>
            <a:off x="927100" y="92710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1년 후</a:t>
            </a:r>
          </a:p>
        </p:txBody>
      </p:sp>
      <p:sp>
        <p:nvSpPr>
          <p:cNvPr id="222" name="S222"/>
          <p:cNvSpPr/>
          <p:nvPr/>
        </p:nvSpPr>
        <p:spPr>
          <a:xfrm>
            <a:off x="2070100" y="9334500"/>
            <a:ext cx="4953000" cy="25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T223"/>
          <p:cNvSpPr txBox="1"/>
          <p:nvPr/>
        </p:nvSpPr>
        <p:spPr>
          <a:xfrm>
            <a:off x="2070100" y="9334500"/>
            <a:ext cx="495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사내 가장 풍부한 데이터 보유 부서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동일 시스템·동일 시간 투입 — 누적 효과로 1년 후 자산이 폭발적 증대</a:t>
            </a:r>
          </a:p>
        </p:txBody>
      </p:sp>
      <p:sp>
        <p:nvSpPr>
          <p:cNvPr id="225" name="S22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T22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082 —</a:t>
            </a:r>
          </a:p>
        </p:txBody>
      </p:sp>
      <p:sp>
        <p:nvSpPr>
          <p:cNvPr id="228" name="S22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9" name="S22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0" name="S23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1" name="S23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59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4.2 · Day 1-2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Day 1-2 — 식별·양식 작성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첫 이틀이 시스템 성패의 70% — "준비가 곧 시작"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215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2159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1143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Day 1</a:t>
            </a:r>
          </a:p>
        </p:txBody>
      </p:sp>
      <p:sp>
        <p:nvSpPr>
          <p:cNvPr id="113" name="S113"/>
          <p:cNvSpPr/>
          <p:nvPr/>
        </p:nvSpPr>
        <p:spPr>
          <a:xfrm>
            <a:off x="1968500" y="2095500"/>
            <a:ext cx="762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968500" y="2095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857500" y="21590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식별·계획</a:t>
            </a:r>
          </a:p>
        </p:txBody>
      </p:sp>
      <p:sp>
        <p:nvSpPr>
          <p:cNvPr id="116" name="S116"/>
          <p:cNvSpPr/>
          <p:nvPr/>
        </p:nvSpPr>
        <p:spPr>
          <a:xfrm>
            <a:off x="762000" y="2603500"/>
            <a:ext cx="3048000" cy="13970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26924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100" dirty="0">
                <a:solidFill>
                  <a:srgbClr val="8B9A3F"/>
                </a:solidFill>
              </a:rPr>
              <a:t>오전 · 1H — 식별</a:t>
            </a:r>
          </a:p>
        </p:txBody>
      </p:sp>
      <p:sp>
        <p:nvSpPr>
          <p:cNvPr id="118" name="S118"/>
          <p:cNvSpPr/>
          <p:nvPr/>
        </p:nvSpPr>
        <p:spPr>
          <a:xfrm>
            <a:off x="762000" y="2959100"/>
            <a:ext cx="3048000" cy="127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889000" y="3060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VOL.02 PART 01 인벤토리 검토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889000" y="3289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1주일 내 수집 가능 자산 3~5개 선정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89000" y="3517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베테랑 1명 잠정 선정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89000" y="37465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6B6B6B"/>
                </a:solidFill>
              </a:rPr>
              <a:t>• 손실 위험 + 가치 高 = 1순위</a:t>
            </a:r>
          </a:p>
        </p:txBody>
      </p:sp>
      <p:sp>
        <p:nvSpPr>
          <p:cNvPr id="123" name="S123"/>
          <p:cNvSpPr/>
          <p:nvPr/>
        </p:nvSpPr>
        <p:spPr>
          <a:xfrm>
            <a:off x="3937000" y="2603500"/>
            <a:ext cx="3048000" cy="139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937000" y="26924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100" dirty="0">
                <a:solidFill>
                  <a:srgbClr val="E8632C"/>
                </a:solidFill>
              </a:rPr>
              <a:t>오후 · 1H — 계획</a:t>
            </a:r>
          </a:p>
        </p:txBody>
      </p:sp>
      <p:sp>
        <p:nvSpPr>
          <p:cNvPr id="125" name="S125"/>
          <p:cNvSpPr/>
          <p:nvPr/>
        </p:nvSpPr>
        <p:spPr>
          <a:xfrm>
            <a:off x="3937000" y="2959100"/>
            <a:ext cx="3048000" cy="127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4064000" y="3060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일별 액션 계획표 작성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064000" y="3289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부서장 사전 공유·동의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064000" y="3517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Day 4 베테랑 인터뷰 일정 확정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064000" y="37465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6B6B6B"/>
                </a:solidFill>
              </a:rPr>
              <a:t>• 7일 분량을 시간 블록으로 정리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4318000"/>
            <a:ext cx="6477000" cy="165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4318000"/>
            <a:ext cx="76200" cy="165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762000" y="4445000"/>
            <a:ext cx="11430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762000" y="44450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34" name="S134"/>
          <p:cNvSpPr/>
          <p:nvPr/>
        </p:nvSpPr>
        <p:spPr>
          <a:xfrm>
            <a:off x="1968500" y="4445000"/>
            <a:ext cx="762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968500" y="44450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1H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857500" y="4508500"/>
            <a:ext cx="406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양식 작성·테스트</a:t>
            </a:r>
          </a:p>
        </p:txBody>
      </p:sp>
      <p:sp>
        <p:nvSpPr>
          <p:cNvPr id="137" name="S137"/>
          <p:cNvSpPr/>
          <p:nvPr/>
        </p:nvSpPr>
        <p:spPr>
          <a:xfrm>
            <a:off x="762000" y="4953000"/>
            <a:ext cx="6223000" cy="889000"/>
          </a:xfrm>
          <a:prstGeom prst="rect">
            <a:avLst/>
          </a:prstGeom>
          <a:solidFill>
            <a:srgbClr val="FFFFFF"/>
          </a:solidFill>
          <a:ln w="6350">
            <a:solidFill>
              <a:srgbClr val="3D7B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952500" y="5054600"/>
            <a:ext cx="603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D7BC8"/>
                </a:solidFill>
              </a:rPr>
              <a:t>양식 설계·테스트 (1H)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952500" y="53086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Google Forms 또는 Notion으로 양식 작성 — 메타데이터 9요소 + 본문 5~10요소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952500" y="55372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가상 데이터 3건 입력 테스트 — Excel 자동 집계 확인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6159500"/>
            <a:ext cx="64770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6159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927100" y="632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1-2 산출물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6667500"/>
            <a:ext cx="1143000" cy="10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6731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2C2C2C"/>
                </a:solidFill>
              </a:rPr>
              <a:t>📅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70485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산출물 1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7277100"/>
            <a:ext cx="1143000" cy="127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3660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2C2C2C"/>
                </a:solidFill>
              </a:rPr>
              <a:t>1주일 액션 계획표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2159000" y="68580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1주일 액션 계획표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159000" y="71501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 1~7 일별 시간 블록·산출물</a:t>
            </a:r>
          </a:p>
        </p:txBody>
      </p:sp>
      <p:sp>
        <p:nvSpPr>
          <p:cNvPr id="151" name="S151"/>
          <p:cNvSpPr/>
          <p:nvPr/>
        </p:nvSpPr>
        <p:spPr>
          <a:xfrm>
            <a:off x="927100" y="6667500"/>
            <a:ext cx="457200" cy="304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927100" y="666750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460500" y="67310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 lang="en-US" sz="1300" dirty="0">
              <a:solidFill>
                <a:srgbClr val="2C2C2C"/>
              </a:solidFill>
            </a:endParaRPr>
          </a:p>
        </p:txBody>
      </p:sp>
      <p:sp>
        <p:nvSpPr>
          <p:cNvPr id="154" name="T154"/>
          <p:cNvSpPr txBox="1"/>
          <p:nvPr/>
        </p:nvSpPr>
        <p:spPr>
          <a:xfrm>
            <a:off x="1905000" y="67310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1주일 액션 계획표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4318000" y="67310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 1~7 일별 시간 블록·산출물</a:t>
            </a:r>
          </a:p>
        </p:txBody>
      </p:sp>
      <p:sp>
        <p:nvSpPr>
          <p:cNvPr id="156" name="S156"/>
          <p:cNvSpPr/>
          <p:nvPr/>
        </p:nvSpPr>
        <p:spPr>
          <a:xfrm>
            <a:off x="927100" y="7023100"/>
            <a:ext cx="457200" cy="304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702310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1905000" y="70866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 수집 양식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4318000" y="70866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Forms 또는 Notion (URL)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7378700"/>
            <a:ext cx="457200" cy="304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737870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460500" y="74422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📞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905000" y="74422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베테랑 인터뷰 일정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318000" y="74422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 4 약속 확정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7937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546100" y="7937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806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💡 핵심 팁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8318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첫 이틀이 시스템 성패의 </a:t>
            </a:r>
            <a:r>
              <a:rPr lang="en-US" sz="1300" b="1" dirty="0">
                <a:solidFill>
                  <a:srgbClr val="F4B400"/>
                </a:solidFill>
              </a:rPr>
              <a:t>70%</a:t>
            </a:r>
            <a:r>
              <a:rPr lang="en-US" sz="1200" b="1" dirty="0">
                <a:solidFill>
                  <a:srgbClr val="FFFFFF"/>
                </a:solidFill>
              </a:rPr>
              <a:t> — 준비가 곧 시작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8763000"/>
            <a:ext cx="6477000" cy="1206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8890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Day 1-2 완료 후 → Day 3 진입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762000" y="9182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양식 가동 + 베테랑 약속 → Day 3부터 매일 자동 누적 시작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762000" y="9410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부서장 사전 공유는 Day 7 보고에 결정적 — 미리 합의된 산출물이 운영으로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762000" y="9626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일정 확정은 1주 전 — Day 1 첫 시간에 약속 잡기</a:t>
            </a:r>
          </a:p>
        </p:txBody>
      </p:sp>
      <p:sp>
        <p:nvSpPr>
          <p:cNvPr id="175" name="S17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083 —</a:t>
            </a:r>
          </a:p>
        </p:txBody>
      </p:sp>
      <p:sp>
        <p:nvSpPr>
          <p:cNvPr id="178" name="S17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077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4.2 · Day 3-5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Day 3-5 — 수집·인터뷰·정리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양식 가동 + 베테랑 인터뷰 + 즉시 정리 = 자산화 사이클 완성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1016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13" name="S113"/>
          <p:cNvSpPr/>
          <p:nvPr/>
        </p:nvSpPr>
        <p:spPr>
          <a:xfrm>
            <a:off x="1841500" y="2095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841500" y="2095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30M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603500" y="2159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일상 수집 시작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62000" y="2603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양식 입력 시작 (일상 업무 중) — 사진 · 음성 메모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62000" y="2819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목표: </a:t>
            </a:r>
            <a:r>
              <a:rPr lang="en-US" sz="1000" b="1" dirty="0">
                <a:solidFill>
                  <a:srgbClr val="8B9A3F"/>
                </a:solidFill>
              </a:rPr>
              <a:t>5건+ 입력</a:t>
            </a:r>
            <a:r>
              <a:rPr lang="en-US" sz="1000" dirty="0">
                <a:solidFill>
                  <a:srgbClr val="2C2C2C"/>
                </a:solidFill>
              </a:rPr>
              <a:t>  ·  일과 마무리 30분 정리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111500"/>
            <a:ext cx="6477000" cy="2032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111500"/>
            <a:ext cx="76200" cy="203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3238500"/>
            <a:ext cx="1016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3238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Day 4 ★</a:t>
            </a:r>
          </a:p>
        </p:txBody>
      </p:sp>
      <p:sp>
        <p:nvSpPr>
          <p:cNvPr id="122" name="S122"/>
          <p:cNvSpPr/>
          <p:nvPr/>
        </p:nvSpPr>
        <p:spPr>
          <a:xfrm>
            <a:off x="1841500" y="32385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841500" y="3238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2H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603500" y="3302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베테랑 인터뷰 (★ 최핵심)</a:t>
            </a:r>
          </a:p>
        </p:txBody>
      </p:sp>
      <p:sp>
        <p:nvSpPr>
          <p:cNvPr id="125" name="S125"/>
          <p:cNvSpPr/>
          <p:nvPr/>
        </p:nvSpPr>
        <p:spPr>
          <a:xfrm>
            <a:off x="762000" y="3746500"/>
            <a:ext cx="3048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62000" y="3848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오전 60분 — 인터뷰 진행</a:t>
            </a:r>
          </a:p>
        </p:txBody>
      </p:sp>
      <p:sp>
        <p:nvSpPr>
          <p:cNvPr id="127" name="S127"/>
          <p:cNvSpPr/>
          <p:nvPr/>
        </p:nvSpPr>
        <p:spPr>
          <a:xfrm>
            <a:off x="762000" y="4102100"/>
            <a:ext cx="3048000" cy="127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889000" y="41910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사전 준비된 질문 활용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889000" y="43942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5W1H + Why-5 기법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889000" y="45974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녹음 · 자유 발언 우선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889000" y="48006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본인 60% · 인터뷰어 20%</a:t>
            </a:r>
          </a:p>
        </p:txBody>
      </p:sp>
      <p:sp>
        <p:nvSpPr>
          <p:cNvPr id="132" name="S132"/>
          <p:cNvSpPr/>
          <p:nvPr/>
        </p:nvSpPr>
        <p:spPr>
          <a:xfrm>
            <a:off x="3937000" y="3746500"/>
            <a:ext cx="3048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3937000" y="3848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E8632C"/>
                </a:solidFill>
              </a:rPr>
              <a:t>오후 30~60분 — 즉시 정리</a:t>
            </a:r>
          </a:p>
        </p:txBody>
      </p:sp>
      <p:sp>
        <p:nvSpPr>
          <p:cNvPr id="134" name="S134"/>
          <p:cNvSpPr/>
          <p:nvPr/>
        </p:nvSpPr>
        <p:spPr>
          <a:xfrm>
            <a:off x="3937000" y="4102100"/>
            <a:ext cx="3048000" cy="127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4064000" y="41910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STT 자동 변환 (Whisper)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4064000" y="43942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핵심 메모 작성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4064000" y="45974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• 베테랑에게 정리본 사전 발송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064000" y="48006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• 24시간 룰 시작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270500"/>
            <a:ext cx="64770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270500"/>
            <a:ext cx="76200" cy="1460500"/>
          </a:xfrm>
          <a:prstGeom prst="rect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5397500"/>
            <a:ext cx="1016000" cy="381000"/>
          </a:xfrm>
          <a:prstGeom prst="rect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5397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143" name="S143"/>
          <p:cNvSpPr/>
          <p:nvPr/>
        </p:nvSpPr>
        <p:spPr>
          <a:xfrm>
            <a:off x="1841500" y="5397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841500" y="5397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2603500" y="5461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인터뷰 정리 — 4가지 산출물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762000" y="5905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항목별 노하우 추출 (AI 도구 활용 — VOL.01 4도구)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762000" y="61087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신입 학습 카드 작성 (10~20개)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762000" y="63119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베테랑 검수 받기·반영 (메일 → 답변)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762000" y="65151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Custom GPT/Project Knowledge에 추가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9215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6100" y="6921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927100" y="708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3일 누적 산출물</a:t>
            </a:r>
          </a:p>
        </p:txBody>
      </p:sp>
      <p:sp>
        <p:nvSpPr>
          <p:cNvPr id="153" name="S153"/>
          <p:cNvSpPr/>
          <p:nvPr/>
        </p:nvSpPr>
        <p:spPr>
          <a:xfrm>
            <a:off x="927100" y="74676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5057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15+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77724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일상 수집 데이터</a:t>
            </a:r>
          </a:p>
        </p:txBody>
      </p:sp>
      <p:sp>
        <p:nvSpPr>
          <p:cNvPr id="156" name="S156"/>
          <p:cNvSpPr/>
          <p:nvPr/>
        </p:nvSpPr>
        <p:spPr>
          <a:xfrm>
            <a:off x="2984500" y="74676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984500" y="75057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1건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2984500" y="77724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베테랑 인터뷰 (정리·검수)</a:t>
            </a:r>
          </a:p>
        </p:txBody>
      </p:sp>
      <p:sp>
        <p:nvSpPr>
          <p:cNvPr id="159" name="S159"/>
          <p:cNvSpPr/>
          <p:nvPr/>
        </p:nvSpPr>
        <p:spPr>
          <a:xfrm>
            <a:off x="5041900" y="74676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5041900" y="75057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4B400"/>
                </a:solidFill>
              </a:rPr>
              <a:t>10~20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041900" y="77724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2C2C2C"/>
                </a:solidFill>
              </a:rPr>
              <a:t>노하우 학습 카드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8191500"/>
            <a:ext cx="6477000" cy="1778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8191500"/>
            <a:ext cx="76200" cy="177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835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4 인터뷰 — 절대 잊지 말 것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8699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✓ 녹음 시작 — 인터뷰 첫 1초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8928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✓ 5W1H 기본 질문 → Why-5 후속 (5번 더 파기)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915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✓ 침묵 활용 — 답변 후 3초 기다리기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27100" y="9385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✓ 24시간 룰 — 인터뷰 종료 즉시 STT 시작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b="1" dirty="0">
                <a:solidFill>
                  <a:srgbClr val="F4B400"/>
                </a:solidFill>
              </a:rPr>
              <a:t>베테랑 1명 + 60분 + 이 질문지 = 회사의 평생 자산 1건 확보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084 —</a:t>
            </a:r>
          </a:p>
        </p:txBody>
      </p:sp>
      <p:sp>
        <p:nvSpPr>
          <p:cNvPr id="173" name="S17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639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4.2 · Day 6-7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Day 6-7 — 디지털화·검수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OCR·STT 변환 + 동료 검수 + 사내 등록 — 자산화 사이클 완성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215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2159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10160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6</a:t>
            </a:r>
          </a:p>
        </p:txBody>
      </p:sp>
      <p:sp>
        <p:nvSpPr>
          <p:cNvPr id="113" name="S113"/>
          <p:cNvSpPr/>
          <p:nvPr/>
        </p:nvSpPr>
        <p:spPr>
          <a:xfrm>
            <a:off x="1841500" y="2095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841500" y="2095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2H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603500" y="2159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디지털화 변환 — OCR·STT·구조화</a:t>
            </a:r>
          </a:p>
        </p:txBody>
      </p:sp>
      <p:sp>
        <p:nvSpPr>
          <p:cNvPr id="116" name="S116"/>
          <p:cNvSpPr/>
          <p:nvPr/>
        </p:nvSpPr>
        <p:spPr>
          <a:xfrm>
            <a:off x="762000" y="2603500"/>
            <a:ext cx="3048000" cy="139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2705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1H — OCR·STT 처리</a:t>
            </a:r>
          </a:p>
        </p:txBody>
      </p:sp>
      <p:sp>
        <p:nvSpPr>
          <p:cNvPr id="118" name="S118"/>
          <p:cNvSpPr/>
          <p:nvPr/>
        </p:nvSpPr>
        <p:spPr>
          <a:xfrm>
            <a:off x="762000" y="2959100"/>
            <a:ext cx="3048000" cy="127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889000" y="3060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사진 → 텍스트 (Vision)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889000" y="3289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음성 → 텍스트 (Whisper)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89000" y="3517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영상 → 매뉴얼 (Veo)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89000" y="37465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※ PART 03에서 깊이 학습</a:t>
            </a:r>
          </a:p>
        </p:txBody>
      </p:sp>
      <p:sp>
        <p:nvSpPr>
          <p:cNvPr id="123" name="S123"/>
          <p:cNvSpPr/>
          <p:nvPr/>
        </p:nvSpPr>
        <p:spPr>
          <a:xfrm>
            <a:off x="3937000" y="2603500"/>
            <a:ext cx="3048000" cy="13970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937000" y="2705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8B9A3F"/>
                </a:solidFill>
              </a:rPr>
              <a:t>1H — 구조화</a:t>
            </a:r>
          </a:p>
        </p:txBody>
      </p:sp>
      <p:sp>
        <p:nvSpPr>
          <p:cNvPr id="125" name="S125"/>
          <p:cNvSpPr/>
          <p:nvPr/>
        </p:nvSpPr>
        <p:spPr>
          <a:xfrm>
            <a:off x="3937000" y="2959100"/>
            <a:ext cx="3048000" cy="127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4064000" y="3060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비정형 → 정형 변환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064000" y="3289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메타데이터 보완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064000" y="3517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분류 · 태깅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4064000" y="37465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※ PART 04에서 깊이 학습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4254500"/>
            <a:ext cx="64770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4254500"/>
            <a:ext cx="76200" cy="2032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762000" y="4381500"/>
            <a:ext cx="1016000" cy="381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762000" y="43815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7</a:t>
            </a:r>
          </a:p>
        </p:txBody>
      </p:sp>
      <p:sp>
        <p:nvSpPr>
          <p:cNvPr id="134" name="S134"/>
          <p:cNvSpPr/>
          <p:nvPr/>
        </p:nvSpPr>
        <p:spPr>
          <a:xfrm>
            <a:off x="1841500" y="4381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841500" y="4381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1.5H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603500" y="4445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C2C2C"/>
                </a:solidFill>
              </a:rPr>
              <a:t>검수·공유 — 시스템 정착 마지막 단계</a:t>
            </a:r>
          </a:p>
        </p:txBody>
      </p:sp>
      <p:sp>
        <p:nvSpPr>
          <p:cNvPr id="137" name="S137"/>
          <p:cNvSpPr/>
          <p:nvPr/>
        </p:nvSpPr>
        <p:spPr>
          <a:xfrm>
            <a:off x="762000" y="4889500"/>
            <a:ext cx="3048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762000" y="4991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C73E1D"/>
                </a:solidFill>
              </a:rPr>
              <a:t>1H — 동료 검수</a:t>
            </a:r>
          </a:p>
        </p:txBody>
      </p:sp>
      <p:sp>
        <p:nvSpPr>
          <p:cNvPr id="139" name="S139"/>
          <p:cNvSpPr/>
          <p:nvPr/>
        </p:nvSpPr>
        <p:spPr>
          <a:xfrm>
            <a:off x="762000" y="5245100"/>
            <a:ext cx="3048000" cy="127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889000" y="5346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동료 1명에게 정리본 공유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889000" y="5575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피드백 수렴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889000" y="5803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수정 · 보완</a:t>
            </a:r>
          </a:p>
        </p:txBody>
      </p:sp>
      <p:sp>
        <p:nvSpPr>
          <p:cNvPr id="143" name="S143"/>
          <p:cNvSpPr/>
          <p:nvPr/>
        </p:nvSpPr>
        <p:spPr>
          <a:xfrm>
            <a:off x="3937000" y="4889500"/>
            <a:ext cx="304800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3937000" y="49911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0.5H — 사내 공유 (★ 최종)</a:t>
            </a:r>
          </a:p>
        </p:txBody>
      </p:sp>
      <p:sp>
        <p:nvSpPr>
          <p:cNvPr id="145" name="S145"/>
          <p:cNvSpPr/>
          <p:nvPr/>
        </p:nvSpPr>
        <p:spPr>
          <a:xfrm>
            <a:off x="3937000" y="5245100"/>
            <a:ext cx="3048000" cy="127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4064000" y="53467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사내 LMS · 위키 등록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4064000" y="55753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Custom GPT / Project Knowledge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4064000" y="5803900"/>
            <a:ext cx="279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0F3A2E"/>
                </a:solidFill>
              </a:rPr>
              <a:t>• 부서장 보고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6413500"/>
            <a:ext cx="64770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6413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927100" y="657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1주일 누적 산출물 — 손에 든 자산</a:t>
            </a:r>
          </a:p>
        </p:txBody>
      </p:sp>
      <p:sp>
        <p:nvSpPr>
          <p:cNvPr id="152" name="S152"/>
          <p:cNvSpPr/>
          <p:nvPr/>
        </p:nvSpPr>
        <p:spPr>
          <a:xfrm>
            <a:off x="927100" y="6959600"/>
            <a:ext cx="29210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1028700" y="70231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409700" y="70231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✓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562100" y="70231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자기 부서 데이터 수집 양식 가동</a:t>
            </a:r>
          </a:p>
        </p:txBody>
      </p:sp>
      <p:sp>
        <p:nvSpPr>
          <p:cNvPr id="156" name="S156"/>
          <p:cNvSpPr/>
          <p:nvPr/>
        </p:nvSpPr>
        <p:spPr>
          <a:xfrm>
            <a:off x="3975100" y="6959600"/>
            <a:ext cx="29210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4076700" y="70231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4457700" y="70231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✓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610100" y="70231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베테랑 인터뷰 1건 (자산화 완료)</a:t>
            </a:r>
          </a:p>
        </p:txBody>
      </p:sp>
      <p:sp>
        <p:nvSpPr>
          <p:cNvPr id="160" name="S160"/>
          <p:cNvSpPr/>
          <p:nvPr/>
        </p:nvSpPr>
        <p:spPr>
          <a:xfrm>
            <a:off x="927100" y="7442200"/>
            <a:ext cx="29210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1028700" y="75057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409700" y="75057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✓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562100" y="75057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일상 수집 데이터 30건 +</a:t>
            </a:r>
          </a:p>
        </p:txBody>
      </p:sp>
      <p:sp>
        <p:nvSpPr>
          <p:cNvPr id="164" name="S164"/>
          <p:cNvSpPr/>
          <p:nvPr/>
        </p:nvSpPr>
        <p:spPr>
          <a:xfrm>
            <a:off x="3975100" y="7442200"/>
            <a:ext cx="2921000" cy="40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4076700" y="75057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4457700" y="7505700"/>
            <a:ext cx="234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✓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4610100" y="75057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사내 공유 · 운영 체계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8191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546100" y="8191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927100" y="835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주 준비 — 시스템 정착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927100" y="8636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매주 같은 사이클 반복</a:t>
            </a:r>
            <a:r>
              <a:rPr lang="en-US" sz="1100" dirty="0">
                <a:solidFill>
                  <a:srgbClr val="FFFFFF"/>
                </a:solidFill>
              </a:rPr>
              <a:t> — 양식 개선 · 확장하며 1년 후 부서 자산화 완성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9154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"한번 만든 시스템"이 매주 자동 작동 — 의지력 X, 시스템 O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100" dirty="0">
                <a:solidFill>
                  <a:srgbClr val="E8632C"/>
                </a:solidFill>
              </a:rPr>
              <a:t>7일 → 매주 반복 → 1년 = 사내 가장 풍부한 데이터 보유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Day 1~7 사이클을 매주 적용 → 50주 후 인터뷰 50건 + 데이터 1,500건 누적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085 —</a:t>
            </a: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156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실습 2-4 · 시스템 설계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실습 2-4 (60분)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2-4] 자기 부서 1주일 시스템 설계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— 1주일 시스템 설계도 한 페이지로 완성 (BIG WIN 산출물)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32000" y="2070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자기 부서 분석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2032000" y="2349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 인원·업무 흐름·기존 자료 + 협조 가능한 베테랑 식별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641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6416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27686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2768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S121"/>
          <p:cNvSpPr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20분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032000" y="2743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1주일 액션 계획 작성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032000" y="3022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Day 1~7 시간·액션·산출물 표 채우기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4417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441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S129"/>
          <p:cNvSpPr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032000" y="3416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핵심 양식 설계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2032000" y="3695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자기 부서 핵심 데이터 1종 양식 + 메타 9요소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39878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3987800"/>
            <a:ext cx="762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41148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4114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S137"/>
          <p:cNvSpPr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2032000" y="4089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인터뷰 질문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2032000" y="43688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영역 5개 + 질문 10개 (5W1H + Why-5)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46609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46609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762000" y="47879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4787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S145"/>
          <p:cNvSpPr/>
          <p:nvPr/>
        </p:nvSpPr>
        <p:spPr>
          <a:xfrm>
            <a:off x="1270000" y="47879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270000" y="47879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2032000" y="47625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동료와 시스템 발표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2032000" y="50419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1분 발표 + 4분 피드백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5397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762000" y="5397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Step 2 핵심 — 1주일 액션 계획표 (참고)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5778500"/>
            <a:ext cx="1016000" cy="254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46100" y="57785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153" name="S153"/>
          <p:cNvSpPr/>
          <p:nvPr/>
        </p:nvSpPr>
        <p:spPr>
          <a:xfrm>
            <a:off x="1562100" y="5778500"/>
            <a:ext cx="952500" cy="254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1562100" y="57785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시간</a:t>
            </a:r>
          </a:p>
        </p:txBody>
      </p:sp>
      <p:sp>
        <p:nvSpPr>
          <p:cNvPr id="155" name="S155"/>
          <p:cNvSpPr/>
          <p:nvPr/>
        </p:nvSpPr>
        <p:spPr>
          <a:xfrm>
            <a:off x="2514600" y="5778500"/>
            <a:ext cx="2222500" cy="254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14600" y="5778500"/>
            <a:ext cx="2222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액션</a:t>
            </a:r>
          </a:p>
        </p:txBody>
      </p:sp>
      <p:sp>
        <p:nvSpPr>
          <p:cNvPr id="157" name="S157"/>
          <p:cNvSpPr/>
          <p:nvPr/>
        </p:nvSpPr>
        <p:spPr>
          <a:xfrm>
            <a:off x="4737100" y="5778500"/>
            <a:ext cx="2286000" cy="254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4737100" y="57785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032500"/>
            <a:ext cx="101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032500"/>
            <a:ext cx="50800" cy="2413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635000" y="60325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0F3A2E"/>
                </a:solidFill>
              </a:rPr>
              <a:t>Day 1</a:t>
            </a:r>
          </a:p>
        </p:txBody>
      </p:sp>
      <p:sp>
        <p:nvSpPr>
          <p:cNvPr id="162" name="S162"/>
          <p:cNvSpPr/>
          <p:nvPr/>
        </p:nvSpPr>
        <p:spPr>
          <a:xfrm>
            <a:off x="1562100" y="6032500"/>
            <a:ext cx="95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1562100" y="60325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2H</a:t>
            </a:r>
          </a:p>
        </p:txBody>
      </p:sp>
      <p:sp>
        <p:nvSpPr>
          <p:cNvPr id="164" name="S164"/>
          <p:cNvSpPr/>
          <p:nvPr/>
        </p:nvSpPr>
        <p:spPr>
          <a:xfrm>
            <a:off x="2514600" y="6032500"/>
            <a:ext cx="222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2603500" y="60325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식별·계획</a:t>
            </a:r>
          </a:p>
        </p:txBody>
      </p:sp>
      <p:sp>
        <p:nvSpPr>
          <p:cNvPr id="166" name="S166"/>
          <p:cNvSpPr/>
          <p:nvPr/>
        </p:nvSpPr>
        <p:spPr>
          <a:xfrm>
            <a:off x="4737100" y="6032500"/>
            <a:ext cx="228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4826000" y="60325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우선순위 3개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6273800"/>
            <a:ext cx="10160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546100" y="6273800"/>
            <a:ext cx="50800" cy="2413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635000" y="62738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3D7BC8"/>
                </a:solidFill>
              </a:rPr>
              <a:t>Day 2</a:t>
            </a:r>
          </a:p>
        </p:txBody>
      </p:sp>
      <p:sp>
        <p:nvSpPr>
          <p:cNvPr id="171" name="S171"/>
          <p:cNvSpPr/>
          <p:nvPr/>
        </p:nvSpPr>
        <p:spPr>
          <a:xfrm>
            <a:off x="1562100" y="6273800"/>
            <a:ext cx="9525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1562100" y="62738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1H</a:t>
            </a:r>
          </a:p>
        </p:txBody>
      </p:sp>
      <p:sp>
        <p:nvSpPr>
          <p:cNvPr id="173" name="S173"/>
          <p:cNvSpPr/>
          <p:nvPr/>
        </p:nvSpPr>
        <p:spPr>
          <a:xfrm>
            <a:off x="2514600" y="6273800"/>
            <a:ext cx="22225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2603500" y="62738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양식 작성</a:t>
            </a:r>
          </a:p>
        </p:txBody>
      </p:sp>
      <p:sp>
        <p:nvSpPr>
          <p:cNvPr id="175" name="S175"/>
          <p:cNvSpPr/>
          <p:nvPr/>
        </p:nvSpPr>
        <p:spPr>
          <a:xfrm>
            <a:off x="4737100" y="6273800"/>
            <a:ext cx="22860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4826000" y="62738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Forms 양식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6515100"/>
            <a:ext cx="101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546100" y="6515100"/>
            <a:ext cx="50800" cy="2413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635000" y="65151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8B9A3F"/>
                </a:solidFill>
              </a:rPr>
              <a:t>Day 3</a:t>
            </a:r>
          </a:p>
        </p:txBody>
      </p:sp>
      <p:sp>
        <p:nvSpPr>
          <p:cNvPr id="180" name="S180"/>
          <p:cNvSpPr/>
          <p:nvPr/>
        </p:nvSpPr>
        <p:spPr>
          <a:xfrm>
            <a:off x="1562100" y="6515100"/>
            <a:ext cx="95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1562100" y="65151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0.5H</a:t>
            </a:r>
          </a:p>
        </p:txBody>
      </p:sp>
      <p:sp>
        <p:nvSpPr>
          <p:cNvPr id="182" name="S182"/>
          <p:cNvSpPr/>
          <p:nvPr/>
        </p:nvSpPr>
        <p:spPr>
          <a:xfrm>
            <a:off x="2514600" y="6515100"/>
            <a:ext cx="222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2603500" y="65151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일상 수집</a:t>
            </a:r>
          </a:p>
        </p:txBody>
      </p:sp>
      <p:sp>
        <p:nvSpPr>
          <p:cNvPr id="184" name="S184"/>
          <p:cNvSpPr/>
          <p:nvPr/>
        </p:nvSpPr>
        <p:spPr>
          <a:xfrm>
            <a:off x="4737100" y="6515100"/>
            <a:ext cx="228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4826000" y="65151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5건+</a:t>
            </a:r>
          </a:p>
        </p:txBody>
      </p:sp>
      <p:sp>
        <p:nvSpPr>
          <p:cNvPr id="186" name="S186"/>
          <p:cNvSpPr/>
          <p:nvPr/>
        </p:nvSpPr>
        <p:spPr>
          <a:xfrm>
            <a:off x="546100" y="6756400"/>
            <a:ext cx="1016000" cy="2413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546100" y="6756400"/>
            <a:ext cx="50800" cy="2413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635000" y="67564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E8632C"/>
                </a:solidFill>
              </a:rPr>
              <a:t>Day 4 ★</a:t>
            </a:r>
          </a:p>
        </p:txBody>
      </p:sp>
      <p:sp>
        <p:nvSpPr>
          <p:cNvPr id="189" name="S189"/>
          <p:cNvSpPr/>
          <p:nvPr/>
        </p:nvSpPr>
        <p:spPr>
          <a:xfrm>
            <a:off x="1562100" y="6756400"/>
            <a:ext cx="952500" cy="2413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1562100" y="67564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2H</a:t>
            </a:r>
          </a:p>
        </p:txBody>
      </p:sp>
      <p:sp>
        <p:nvSpPr>
          <p:cNvPr id="191" name="S191"/>
          <p:cNvSpPr/>
          <p:nvPr/>
        </p:nvSpPr>
        <p:spPr>
          <a:xfrm>
            <a:off x="2514600" y="6756400"/>
            <a:ext cx="2222500" cy="2413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2603500" y="67564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베테랑 인터뷰</a:t>
            </a:r>
          </a:p>
        </p:txBody>
      </p:sp>
      <p:sp>
        <p:nvSpPr>
          <p:cNvPr id="193" name="S193"/>
          <p:cNvSpPr/>
          <p:nvPr/>
        </p:nvSpPr>
        <p:spPr>
          <a:xfrm>
            <a:off x="4737100" y="6756400"/>
            <a:ext cx="2286000" cy="2413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4826000" y="67564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1건 + 정리</a:t>
            </a:r>
          </a:p>
        </p:txBody>
      </p:sp>
      <p:sp>
        <p:nvSpPr>
          <p:cNvPr id="195" name="S195"/>
          <p:cNvSpPr/>
          <p:nvPr/>
        </p:nvSpPr>
        <p:spPr>
          <a:xfrm>
            <a:off x="546100" y="6997700"/>
            <a:ext cx="101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6" name="S196"/>
          <p:cNvSpPr/>
          <p:nvPr/>
        </p:nvSpPr>
        <p:spPr>
          <a:xfrm>
            <a:off x="546100" y="6997700"/>
            <a:ext cx="50800" cy="241300"/>
          </a:xfrm>
          <a:prstGeom prst="rect">
            <a:avLst/>
          </a:prstGeom>
          <a:solidFill>
            <a:srgbClr val="E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T197"/>
          <p:cNvSpPr txBox="1"/>
          <p:nvPr/>
        </p:nvSpPr>
        <p:spPr>
          <a:xfrm>
            <a:off x="635000" y="69977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E89A6B"/>
                </a:solidFill>
              </a:rPr>
              <a:t>Day 5</a:t>
            </a:r>
          </a:p>
        </p:txBody>
      </p:sp>
      <p:sp>
        <p:nvSpPr>
          <p:cNvPr id="198" name="S198"/>
          <p:cNvSpPr/>
          <p:nvPr/>
        </p:nvSpPr>
        <p:spPr>
          <a:xfrm>
            <a:off x="1562100" y="6997700"/>
            <a:ext cx="95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9" name="T199"/>
          <p:cNvSpPr txBox="1"/>
          <p:nvPr/>
        </p:nvSpPr>
        <p:spPr>
          <a:xfrm>
            <a:off x="1562100" y="69977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2H</a:t>
            </a:r>
          </a:p>
        </p:txBody>
      </p:sp>
      <p:sp>
        <p:nvSpPr>
          <p:cNvPr id="200" name="S200"/>
          <p:cNvSpPr/>
          <p:nvPr/>
        </p:nvSpPr>
        <p:spPr>
          <a:xfrm>
            <a:off x="2514600" y="6997700"/>
            <a:ext cx="222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T201"/>
          <p:cNvSpPr txBox="1"/>
          <p:nvPr/>
        </p:nvSpPr>
        <p:spPr>
          <a:xfrm>
            <a:off x="2603500" y="69977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정리·자산화</a:t>
            </a:r>
          </a:p>
        </p:txBody>
      </p:sp>
      <p:sp>
        <p:nvSpPr>
          <p:cNvPr id="202" name="S202"/>
          <p:cNvSpPr/>
          <p:nvPr/>
        </p:nvSpPr>
        <p:spPr>
          <a:xfrm>
            <a:off x="4737100" y="6997700"/>
            <a:ext cx="228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4826000" y="69977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학습 카드</a:t>
            </a:r>
          </a:p>
        </p:txBody>
      </p:sp>
      <p:sp>
        <p:nvSpPr>
          <p:cNvPr id="204" name="S204"/>
          <p:cNvSpPr/>
          <p:nvPr/>
        </p:nvSpPr>
        <p:spPr>
          <a:xfrm>
            <a:off x="546100" y="7239000"/>
            <a:ext cx="10160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" name="S205"/>
          <p:cNvSpPr/>
          <p:nvPr/>
        </p:nvSpPr>
        <p:spPr>
          <a:xfrm>
            <a:off x="546100" y="7239000"/>
            <a:ext cx="50800" cy="2413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T206"/>
          <p:cNvSpPr txBox="1"/>
          <p:nvPr/>
        </p:nvSpPr>
        <p:spPr>
          <a:xfrm>
            <a:off x="635000" y="72390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7E3FBF"/>
                </a:solidFill>
              </a:rPr>
              <a:t>Day 6</a:t>
            </a:r>
          </a:p>
        </p:txBody>
      </p:sp>
      <p:sp>
        <p:nvSpPr>
          <p:cNvPr id="207" name="S207"/>
          <p:cNvSpPr/>
          <p:nvPr/>
        </p:nvSpPr>
        <p:spPr>
          <a:xfrm>
            <a:off x="1562100" y="7239000"/>
            <a:ext cx="9525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T208"/>
          <p:cNvSpPr txBox="1"/>
          <p:nvPr/>
        </p:nvSpPr>
        <p:spPr>
          <a:xfrm>
            <a:off x="1562100" y="72390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2H</a:t>
            </a:r>
          </a:p>
        </p:txBody>
      </p:sp>
      <p:sp>
        <p:nvSpPr>
          <p:cNvPr id="209" name="S209"/>
          <p:cNvSpPr/>
          <p:nvPr/>
        </p:nvSpPr>
        <p:spPr>
          <a:xfrm>
            <a:off x="2514600" y="7239000"/>
            <a:ext cx="22225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" name="T210"/>
          <p:cNvSpPr txBox="1"/>
          <p:nvPr/>
        </p:nvSpPr>
        <p:spPr>
          <a:xfrm>
            <a:off x="2603500" y="72390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211" name="S211"/>
          <p:cNvSpPr/>
          <p:nvPr/>
        </p:nvSpPr>
        <p:spPr>
          <a:xfrm>
            <a:off x="4737100" y="7239000"/>
            <a:ext cx="2286000" cy="2413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T212"/>
          <p:cNvSpPr txBox="1"/>
          <p:nvPr/>
        </p:nvSpPr>
        <p:spPr>
          <a:xfrm>
            <a:off x="4826000" y="72390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OCR·STT 변환</a:t>
            </a:r>
          </a:p>
        </p:txBody>
      </p:sp>
      <p:sp>
        <p:nvSpPr>
          <p:cNvPr id="213" name="S213"/>
          <p:cNvSpPr/>
          <p:nvPr/>
        </p:nvSpPr>
        <p:spPr>
          <a:xfrm>
            <a:off x="546100" y="7480300"/>
            <a:ext cx="101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4" name="S214"/>
          <p:cNvSpPr/>
          <p:nvPr/>
        </p:nvSpPr>
        <p:spPr>
          <a:xfrm>
            <a:off x="546100" y="7480300"/>
            <a:ext cx="50800" cy="2413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T215"/>
          <p:cNvSpPr txBox="1"/>
          <p:nvPr/>
        </p:nvSpPr>
        <p:spPr>
          <a:xfrm>
            <a:off x="635000" y="7480300"/>
            <a:ext cx="9271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C73E1D"/>
                </a:solidFill>
              </a:rPr>
              <a:t>Day 7</a:t>
            </a:r>
          </a:p>
        </p:txBody>
      </p:sp>
      <p:sp>
        <p:nvSpPr>
          <p:cNvPr id="216" name="S216"/>
          <p:cNvSpPr/>
          <p:nvPr/>
        </p:nvSpPr>
        <p:spPr>
          <a:xfrm>
            <a:off x="1562100" y="7480300"/>
            <a:ext cx="95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T217"/>
          <p:cNvSpPr txBox="1"/>
          <p:nvPr/>
        </p:nvSpPr>
        <p:spPr>
          <a:xfrm>
            <a:off x="1562100" y="7480300"/>
            <a:ext cx="952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1.5H</a:t>
            </a:r>
          </a:p>
        </p:txBody>
      </p:sp>
      <p:sp>
        <p:nvSpPr>
          <p:cNvPr id="218" name="S218"/>
          <p:cNvSpPr/>
          <p:nvPr/>
        </p:nvSpPr>
        <p:spPr>
          <a:xfrm>
            <a:off x="2514600" y="7480300"/>
            <a:ext cx="22225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T219"/>
          <p:cNvSpPr txBox="1"/>
          <p:nvPr/>
        </p:nvSpPr>
        <p:spPr>
          <a:xfrm>
            <a:off x="2603500" y="7480300"/>
            <a:ext cx="20955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검수·공유</a:t>
            </a:r>
          </a:p>
        </p:txBody>
      </p:sp>
      <p:sp>
        <p:nvSpPr>
          <p:cNvPr id="220" name="S220"/>
          <p:cNvSpPr/>
          <p:nvPr/>
        </p:nvSpPr>
        <p:spPr>
          <a:xfrm>
            <a:off x="4737100" y="7480300"/>
            <a:ext cx="2286000" cy="2413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" name="T221"/>
          <p:cNvSpPr txBox="1"/>
          <p:nvPr/>
        </p:nvSpPr>
        <p:spPr>
          <a:xfrm>
            <a:off x="4826000" y="7480300"/>
            <a:ext cx="2159000" cy="241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사내 등록</a:t>
            </a:r>
          </a:p>
        </p:txBody>
      </p:sp>
      <p:sp>
        <p:nvSpPr>
          <p:cNvPr id="222" name="S222"/>
          <p:cNvSpPr/>
          <p:nvPr/>
        </p:nvSpPr>
        <p:spPr>
          <a:xfrm>
            <a:off x="546100" y="7937500"/>
            <a:ext cx="64770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S223"/>
          <p:cNvSpPr/>
          <p:nvPr/>
        </p:nvSpPr>
        <p:spPr>
          <a:xfrm>
            <a:off x="546100" y="7937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T224"/>
          <p:cNvSpPr txBox="1"/>
          <p:nvPr/>
        </p:nvSpPr>
        <p:spPr>
          <a:xfrm>
            <a:off x="927100" y="810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산출물 — 한 페이지로 완성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927100" y="838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📄 </a:t>
            </a:r>
            <a:r>
              <a:rPr lang="en-US" sz="1300" b="1" dirty="0">
                <a:solidFill>
                  <a:srgbClr val="FFFFFF"/>
                </a:solidFill>
              </a:rPr>
              <a:t>1주일 시스템 설계도 (한 페이지)</a:t>
            </a:r>
          </a:p>
        </p:txBody>
      </p:sp>
      <p:sp>
        <p:nvSpPr>
          <p:cNvPr id="226" name="S226"/>
          <p:cNvSpPr/>
          <p:nvPr/>
        </p:nvSpPr>
        <p:spPr>
          <a:xfrm>
            <a:off x="546100" y="8763000"/>
            <a:ext cx="6477000" cy="1206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7" name="S227"/>
          <p:cNvSpPr/>
          <p:nvPr/>
        </p:nvSpPr>
        <p:spPr>
          <a:xfrm>
            <a:off x="546100" y="8763000"/>
            <a:ext cx="76200" cy="1206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T228"/>
          <p:cNvSpPr txBox="1"/>
          <p:nvPr/>
        </p:nvSpPr>
        <p:spPr>
          <a:xfrm>
            <a:off x="927100" y="8915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 손에 들고 가는 것 — 다음 주부터 즉시 가동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927100" y="9207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☐  설계도 1장 + 양식 URL + 질문지 + 베테랑 약속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927100" y="9461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☐  부서장 사전 공유 — 다음 주 시스템 가동 동의 받기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927100" y="96901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☐  Day 4 베테랑 인터뷰 일정 확정 (이번 주말 약속)</a:t>
            </a:r>
          </a:p>
        </p:txBody>
      </p:sp>
      <p:sp>
        <p:nvSpPr>
          <p:cNvPr id="232" name="S23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T23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086 —</a:t>
            </a:r>
          </a:p>
        </p:txBody>
      </p:sp>
      <p:sp>
        <p:nvSpPr>
          <p:cNvPr id="235" name="S23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S23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S23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S23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178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Ch.4 정리 · ★ BIG WIN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Ch.4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E8632C"/>
                </a:solidFill>
              </a:rPr>
              <a:t>💡 Chapter 4 — ★ BIG WIN 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 손에 들고 가는 4가지 산출물 — 다음 주부터 즉시 가동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오늘의 BIG WIN 달성 — 4가지 산출물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787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6416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64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26289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📄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778000" y="26289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1주일 데이터 수집 시스템 설계도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9591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7일 액션·시간·산출물 한 페이지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3020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302000"/>
            <a:ext cx="76200" cy="787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34671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3467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0F3A2E"/>
                </a:solidFill>
              </a:rPr>
              <a:t>✅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371600" y="3454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778000" y="3454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일상 수집 양식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3784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Forms 또는 Notion · 메타 9요소 + 직무 특화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127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127500"/>
            <a:ext cx="76200" cy="787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4292600"/>
            <a:ext cx="457200" cy="457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4292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371600" y="42799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778000" y="42799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인터뷰 질문지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778000" y="46101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5W1H + Why-5 · 10~20문항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49530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4953000"/>
            <a:ext cx="76200" cy="787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762000" y="51181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762000" y="5118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371600" y="5105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5105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사내 공유·운영 계획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778000" y="5435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부서장 협의 + 다음 주 가동 일정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05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05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6096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927100" y="6477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1주일이 끝난 후에도 </a:t>
            </a:r>
            <a:r>
              <a:rPr lang="en-US" sz="1500" b="1" dirty="0">
                <a:solidFill>
                  <a:srgbClr val="F4B400"/>
                </a:solidFill>
              </a:rPr>
              <a:t>지속적으로 작동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927100" y="6921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하는 </a:t>
            </a:r>
            <a:r>
              <a:rPr lang="en-US" sz="1500" b="1" dirty="0">
                <a:solidFill>
                  <a:srgbClr val="F4B400"/>
                </a:solidFill>
              </a:rPr>
              <a:t>시스템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927100" y="736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1년 후 — 부서 가장 풍부한 데이터 보유 가능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7747000"/>
            <a:ext cx="6477000" cy="1460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77470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927100" y="7937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다음 주 약속 — 실제 가동 체크리스트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927100" y="8318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실제 1주일 시스템 가동 (Day 1부터)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85979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베테랑 1명 인터뷰 진행 (Day 4)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88773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Day 7 결과 부서장 보고 (가시화)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762000" y="9550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PART 02 끝 → </a:t>
            </a:r>
            <a:r>
              <a:rPr lang="en-US" sz="1300" b="1" dirty="0">
                <a:solidFill>
                  <a:srgbClr val="E8632C"/>
                </a:solidFill>
              </a:rPr>
              <a:t>PART 03 OCR·STT 디지털화</a:t>
            </a:r>
            <a:r>
              <a:rPr lang="en-US" sz="1100" dirty="0">
                <a:solidFill>
                  <a:srgbClr val="6B6B6B"/>
                </a:solidFill>
              </a:rPr>
              <a:t> 진입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762000" y="9753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수집한 데이터를 "분석 가능한 자산"으로 변환하는 다음 단계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087 —</a:t>
            </a:r>
          </a:p>
        </p:txBody>
      </p:sp>
      <p:sp>
        <p:nvSpPr>
          <p:cNvPr id="157" name="S15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056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자가진단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자가진단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PART 02 자가진단 체크리스트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6개 항목 모두 체크 시 PART 03 진입 준비 완료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698500" y="2070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698500" y="2349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Ch.1</a:t>
            </a:r>
          </a:p>
        </p:txBody>
      </p:sp>
      <p:sp>
        <p:nvSpPr>
          <p:cNvPr id="113" name="S113"/>
          <p:cNvSpPr/>
          <p:nvPr/>
        </p:nvSpPr>
        <p:spPr>
          <a:xfrm>
            <a:off x="1460500" y="2197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460500" y="2197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905000" y="2209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스마트폰 카메라·마이크·앱을 데이터 수집에 활용할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2794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2794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698500" y="2895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698500" y="3175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Ch.2</a:t>
            </a:r>
          </a:p>
        </p:txBody>
      </p:sp>
      <p:sp>
        <p:nvSpPr>
          <p:cNvPr id="120" name="S120"/>
          <p:cNvSpPr/>
          <p:nvPr/>
        </p:nvSpPr>
        <p:spPr>
          <a:xfrm>
            <a:off x="1460500" y="3022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1460500" y="3022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905000" y="3035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효율적 수집의 5원칙을 자기 직무에 적용할 수 있다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619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619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698500" y="3721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698500" y="4000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Ch.2</a:t>
            </a:r>
          </a:p>
        </p:txBody>
      </p:sp>
      <p:sp>
        <p:nvSpPr>
          <p:cNvPr id="127" name="S127"/>
          <p:cNvSpPr/>
          <p:nvPr/>
        </p:nvSpPr>
        <p:spPr>
          <a:xfrm>
            <a:off x="1460500" y="3848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460500" y="3848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F4B400"/>
                </a:solidFill>
              </a:rPr>
              <a:t>☐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905000" y="3860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자기 직무 데이터 수집 양식을 설계하고 운영할 수 있다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4445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44450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698500" y="4546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8B9A3F"/>
                </a:solidFill>
              </a:rPr>
              <a:t>04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698500" y="4826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Ch.3</a:t>
            </a:r>
          </a:p>
        </p:txBody>
      </p:sp>
      <p:sp>
        <p:nvSpPr>
          <p:cNvPr id="134" name="S134"/>
          <p:cNvSpPr/>
          <p:nvPr/>
        </p:nvSpPr>
        <p:spPr>
          <a:xfrm>
            <a:off x="1460500" y="4673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460500" y="4673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8B9A3F"/>
                </a:solidFill>
              </a:rPr>
              <a:t>☐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905000" y="4686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베테랑 인터뷰를 체계적으로 준비·진행·정리할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270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2705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698500" y="53721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8B9A3F"/>
                </a:solidFill>
              </a:rPr>
              <a:t>05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698500" y="56515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Ch.3</a:t>
            </a:r>
          </a:p>
        </p:txBody>
      </p:sp>
      <p:sp>
        <p:nvSpPr>
          <p:cNvPr id="141" name="S141"/>
          <p:cNvSpPr/>
          <p:nvPr/>
        </p:nvSpPr>
        <p:spPr>
          <a:xfrm>
            <a:off x="1460500" y="54991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1460500" y="54991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8B9A3F"/>
                </a:solidFill>
              </a:rPr>
              <a:t>☐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905000" y="55118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dirty="0">
                <a:solidFill>
                  <a:srgbClr val="2C2C2C"/>
                </a:solidFill>
              </a:rPr>
              <a:t>5W1H + Why-5 기법으로 효과적인 질문을 설계할 수 있다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60960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60960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698500" y="6197600"/>
            <a:ext cx="63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06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698500" y="6477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Ch.4 ★</a:t>
            </a:r>
          </a:p>
        </p:txBody>
      </p:sp>
      <p:sp>
        <p:nvSpPr>
          <p:cNvPr id="148" name="S148"/>
          <p:cNvSpPr/>
          <p:nvPr/>
        </p:nvSpPr>
        <p:spPr>
          <a:xfrm>
            <a:off x="1460500" y="63246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1460500" y="6324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600" dirty="0">
                <a:solidFill>
                  <a:srgbClr val="0F3A2E"/>
                </a:solidFill>
              </a:rPr>
              <a:t>☐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905000" y="6337300"/>
            <a:ext cx="5016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1주일 데이터 수집 시스템을 자기 부서에 적용할 수 있다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7048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7048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927100" y="723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체크 결과 해석 — 다음 주 액션 결정</a:t>
            </a:r>
          </a:p>
        </p:txBody>
      </p:sp>
      <p:sp>
        <p:nvSpPr>
          <p:cNvPr id="154" name="S154"/>
          <p:cNvSpPr/>
          <p:nvPr/>
        </p:nvSpPr>
        <p:spPr>
          <a:xfrm>
            <a:off x="927100" y="7620000"/>
            <a:ext cx="6985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76200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6/6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778000" y="76327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PART 03 준비 완료 — 다음 주 1주일 시스템 가동 가능</a:t>
            </a:r>
          </a:p>
        </p:txBody>
      </p:sp>
      <p:sp>
        <p:nvSpPr>
          <p:cNvPr id="157" name="S157"/>
          <p:cNvSpPr/>
          <p:nvPr/>
        </p:nvSpPr>
        <p:spPr>
          <a:xfrm>
            <a:off x="927100" y="7937500"/>
            <a:ext cx="6985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927100" y="79375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4-5/6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1778000" y="79502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부족한 항목 복습 — 양식 또는 인터뷰 질문지 재검토</a:t>
            </a:r>
          </a:p>
        </p:txBody>
      </p:sp>
      <p:sp>
        <p:nvSpPr>
          <p:cNvPr id="160" name="S160"/>
          <p:cNvSpPr/>
          <p:nvPr/>
        </p:nvSpPr>
        <p:spPr>
          <a:xfrm>
            <a:off x="927100" y="8255000"/>
            <a:ext cx="6985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8255000"/>
            <a:ext cx="698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0-3/6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778000" y="82677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오늘 자료 다시 학습 권장 — 강사·동료에게 질문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8826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546100" y="8826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901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PART 03 진입 권장 행동 — 본 과정 효과 극대화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927100" y="9334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☐  오늘 만든 양식·질문지 동료와 공유 — 부서 전체 가동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9588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EEE"/>
                </a:solidFill>
              </a:rPr>
              <a:t>☐  PART 03 OCR·STT — 오늘 수집한 데이터로 직접 실습 예정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088 —</a:t>
            </a:r>
          </a:p>
        </p:txBody>
      </p:sp>
      <p:sp>
        <p:nvSpPr>
          <p:cNvPr id="171" name="S17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864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다음 PART 예고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DAY 2 → DAY 3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NEXT — DAY 3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OCR · STT 디지털화 기술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OCR · STT Digitization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5단계 워크플로우의 Step 3 — 디지털화 깊이 학습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2865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889000" y="6477000"/>
            <a:ext cx="5765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PART 03 핵심 주제</a:t>
            </a:r>
          </a:p>
        </p:txBody>
      </p:sp>
      <p:sp>
        <p:nvSpPr>
          <p:cNvPr id="114" name="S114"/>
          <p:cNvSpPr/>
          <p:nvPr/>
        </p:nvSpPr>
        <p:spPr>
          <a:xfrm>
            <a:off x="889000" y="68580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889000" y="68580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320800" y="68834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OCR 기술 마스터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3937000" y="6883400"/>
            <a:ext cx="273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사진·도면·점검표 → 텍스트 (Vision)</a:t>
            </a:r>
          </a:p>
        </p:txBody>
      </p:sp>
      <p:sp>
        <p:nvSpPr>
          <p:cNvPr id="118" name="S118"/>
          <p:cNvSpPr/>
          <p:nvPr/>
        </p:nvSpPr>
        <p:spPr>
          <a:xfrm>
            <a:off x="889000" y="72644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889000" y="7264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20800" y="7289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STT 기술 마스터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937000" y="7289800"/>
            <a:ext cx="273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음성·인터뷰 → 텍스트 (Whisper)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7670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7670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20800" y="76962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다국어 처리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3937000" y="7696200"/>
            <a:ext cx="273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한·영·동남아 동시 변환</a:t>
            </a:r>
          </a:p>
        </p:txBody>
      </p:sp>
      <p:sp>
        <p:nvSpPr>
          <p:cNvPr id="126" name="S126"/>
          <p:cNvSpPr/>
          <p:nvPr/>
        </p:nvSpPr>
        <p:spPr>
          <a:xfrm>
            <a:off x="889000" y="80772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889000" y="8077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320800" y="8102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BIG WIN — 부서별 자동 파이프라인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3937000" y="8102600"/>
            <a:ext cx="273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오늘 수집한 데이터로 직접 실습</a:t>
            </a:r>
          </a:p>
        </p:txBody>
      </p:sp>
      <p:sp>
        <p:nvSpPr>
          <p:cNvPr id="130" name="S130"/>
          <p:cNvSpPr/>
          <p:nvPr/>
        </p:nvSpPr>
        <p:spPr>
          <a:xfrm>
            <a:off x="889000" y="86360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889000" y="86360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BIG WIN — DAY 3 산출물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143000" y="9042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비정형 데이터 → 분석 가능한 자산 (자동 변환 파이프라인)</a:t>
            </a:r>
          </a:p>
        </p:txBody>
      </p:sp>
      <p:sp>
        <p:nvSpPr>
          <p:cNvPr id="134" name="S134"/>
          <p:cNvSpPr/>
          <p:nvPr/>
        </p:nvSpPr>
        <p:spPr>
          <a:xfrm>
            <a:off x="889000" y="9461500"/>
            <a:ext cx="57658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079500" y="9550400"/>
            <a:ext cx="539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오늘 밤 미션 </a:t>
            </a:r>
            <a:r>
              <a:rPr lang="en-US" sz="1100" dirty="0">
                <a:solidFill>
                  <a:srgbClr val="0F3A2E"/>
                </a:solidFill>
              </a:rPr>
              <a:t> — 오늘 수집·인터뷰한 데이터를 USB·클라우드로 준비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079500" y="9779000"/>
            <a:ext cx="539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0F3A2E"/>
                </a:solidFill>
              </a:rPr>
              <a:t>"수집했다면 디지털화가 다음 단계 — 비정형을 분석 가능한 자산으로"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089 —</a:t>
            </a:r>
          </a:p>
        </p:txBody>
      </p:sp>
    </p:spTree>
    <p:extLst>
      <p:ext uri="{BB962C8B-B14F-4D97-AF65-F5344CB8AC3E}">
        <p14:creationId xmlns:p14="http://schemas.microsoft.com/office/powerpoint/2010/main" val="39924942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02 · 마무리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02 · DAY 2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PART 02 마무리 — 오늘의 여정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2 — 스마트폰 기반 현장 데이터 수집을 마치며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spc="200" dirty="0">
                <a:solidFill>
                  <a:srgbClr val="F4B400"/>
                </a:solidFill>
              </a:rPr>
              <a:t>오늘 배운 것 — 4가지 핵심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1079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74700" y="26289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74700" y="2628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282700" y="262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스마트폰 = 만능 수집 도구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282700" y="29083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카메라·마이크·앱·GPS — 비싼 장비 X, 90% 데이터 수집 가능</a:t>
            </a:r>
          </a:p>
        </p:txBody>
      </p:sp>
      <p:sp>
        <p:nvSpPr>
          <p:cNvPr id="117" name="S117"/>
          <p:cNvSpPr/>
          <p:nvPr/>
        </p:nvSpPr>
        <p:spPr>
          <a:xfrm>
            <a:off x="3810000" y="24765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3810000" y="2476500"/>
            <a:ext cx="76200" cy="1079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4038600" y="26289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38600" y="26289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4546600" y="26289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효율적 수집 5원칙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4546600" y="29083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임베디드·양식화·메타데이터·보안·정기 검수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683000"/>
            <a:ext cx="3213100" cy="1079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683000"/>
            <a:ext cx="76200" cy="1079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74700" y="38354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74700" y="3835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282700" y="3835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2C2C2C"/>
                </a:solidFill>
              </a:rPr>
              <a:t>베테랑 인터뷰 5단계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282700" y="41148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선정·조사·질문 설계·진행·정리 (1시간 = 1주일 준비)</a:t>
            </a:r>
          </a:p>
        </p:txBody>
      </p:sp>
      <p:sp>
        <p:nvSpPr>
          <p:cNvPr id="129" name="S129"/>
          <p:cNvSpPr/>
          <p:nvPr/>
        </p:nvSpPr>
        <p:spPr>
          <a:xfrm>
            <a:off x="3810000" y="3683000"/>
            <a:ext cx="3213100" cy="10795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810000" y="3683000"/>
            <a:ext cx="76200" cy="1079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4038600" y="38354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038600" y="3835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4546600" y="3835400"/>
            <a:ext cx="234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50" b="1" dirty="0">
                <a:solidFill>
                  <a:srgbClr val="E8632C"/>
                </a:solidFill>
              </a:rPr>
              <a:t>★ 1주일 데이터 수집 시스템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546600" y="4114800"/>
            <a:ext cx="23495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BIG WIN — 7일 사이클로 매주 자동 자산화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6705600" y="3810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36" name="S136"/>
          <p:cNvSpPr/>
          <p:nvPr/>
        </p:nvSpPr>
        <p:spPr>
          <a:xfrm>
            <a:off x="546100" y="5016500"/>
            <a:ext cx="6477000" cy="165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546100" y="5016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927100" y="520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자기 약속 — 다음 주 행동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927100" y="5588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이번 주말까지 자기 직무 수집 양식 가동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927100" y="5905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다음 주 베테랑 인터뷰 1회 진행 (Day 4)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927100" y="6223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1주일 시스템 부서장과 공유 (사전 동의 확보)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68580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68580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927100" y="708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27100" y="74295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"수집"이 </a:t>
            </a:r>
            <a:r>
              <a:rPr lang="en-US" sz="1500" b="1" dirty="0">
                <a:solidFill>
                  <a:srgbClr val="F4B400"/>
                </a:solidFill>
              </a:rPr>
              <a:t>일상</a:t>
            </a:r>
            <a:r>
              <a:rPr lang="en-US" sz="1500" b="1" dirty="0">
                <a:solidFill>
                  <a:srgbClr val="FFFFFF"/>
                </a:solidFill>
              </a:rPr>
              <a:t>이 될 때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7874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자산화는 </a:t>
            </a:r>
            <a:r>
              <a:rPr lang="en-US" sz="1500" b="1" dirty="0">
                <a:solidFill>
                  <a:srgbClr val="F4B400"/>
                </a:solidFill>
              </a:rPr>
              <a:t>자동으로 일어난다</a:t>
            </a:r>
            <a:r>
              <a:rPr lang="en-US" sz="1500" b="1" dirty="0">
                <a:solidFill>
                  <a:srgbClr val="FFFFFF"/>
                </a:solidFill>
              </a:rPr>
              <a:t>."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8699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8699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85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단계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91059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03 — </a:t>
            </a:r>
            <a:r>
              <a:rPr lang="en-US" sz="1300" b="1" dirty="0">
                <a:solidFill>
                  <a:srgbClr val="FFFFFF"/>
                </a:solidFill>
              </a:rPr>
              <a:t>OCR · STT 디지털화로 비정형을 자산으로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9588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762000" y="9690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632C"/>
                </a:solidFill>
              </a:rPr>
              <a:t>수고하셨습니다 — 내일 DAY 3에서 만나뵙겠습니다 🙌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02 · DAY 2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090 —</a:t>
            </a:r>
          </a:p>
        </p:txBody>
      </p:sp>
      <p:sp>
        <p:nvSpPr>
          <p:cNvPr id="156" name="S15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190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DAY 3 · 8H (이론 2H + 실습 6H)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857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600" dirty="0">
                <a:solidFill>
                  <a:srgbClr val="E8632C"/>
                </a:solidFill>
              </a:rPr>
              <a:t>PART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3111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5461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57785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OCR·STT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64770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디지털화 기술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7366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OCR · STT Digitization Technology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7810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DDDDD"/>
                </a:solidFill>
              </a:rPr>
              <a:t>— 비정형 데이터를 분석 가능한 자산으로 —</a:t>
            </a:r>
          </a:p>
        </p:txBody>
      </p:sp>
      <p:sp>
        <p:nvSpPr>
          <p:cNvPr id="113" name="S113"/>
          <p:cNvSpPr/>
          <p:nvPr/>
        </p:nvSpPr>
        <p:spPr>
          <a:xfrm>
            <a:off x="889000" y="8509000"/>
            <a:ext cx="57785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114"/>
          <p:cNvSpPr/>
          <p:nvPr/>
        </p:nvSpPr>
        <p:spPr>
          <a:xfrm>
            <a:off x="889000" y="8509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1143000" y="86741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그날의 BIG WIN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143000" y="8978900"/>
            <a:ext cx="5524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부서별 디지털화 자동 파이프라인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143000" y="9309100"/>
            <a:ext cx="5524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이론 2H + 실습 6H = 자기 부서 자동 변환 시스템 1개 완성</a:t>
            </a:r>
          </a:p>
        </p:txBody>
      </p:sp>
      <p:sp>
        <p:nvSpPr>
          <p:cNvPr id="118" name="S118"/>
          <p:cNvSpPr/>
          <p:nvPr/>
        </p:nvSpPr>
        <p:spPr>
          <a:xfrm>
            <a:off x="889000" y="99060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460500" y="99060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032000" y="99060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603500" y="99060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091 —</a:t>
            </a:r>
          </a:p>
        </p:txBody>
      </p:sp>
    </p:spTree>
    <p:extLst>
      <p:ext uri="{BB962C8B-B14F-4D97-AF65-F5344CB8AC3E}">
        <p14:creationId xmlns:p14="http://schemas.microsoft.com/office/powerpoint/2010/main" val="38536113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OCR·STT · 학습 목표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OCR·STT 디지털화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학습 목표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3 — 비정형 데이터를 분석 가능한 자산으로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76200" cy="990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S112"/>
          <p:cNvSpPr/>
          <p:nvPr/>
        </p:nvSpPr>
        <p:spPr>
          <a:xfrm>
            <a:off x="1651000" y="22606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651000" y="2260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2095500" y="22225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4가지 기술 이해 + 도구 선택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95500" y="25654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OCR · STT · 영상 분석 · 자동 분류 — 적합 도구를 골라 활용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496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76200" cy="990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251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S119"/>
          <p:cNvSpPr/>
          <p:nvPr/>
        </p:nvSpPr>
        <p:spPr>
          <a:xfrm>
            <a:off x="1651000" y="33782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651000" y="3378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95500" y="3340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OCR로 이미지 → 텍스트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95500" y="36830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도면 · 점검표 · 손글씨 등 다양한 이미지를 텍스트화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2672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267200"/>
            <a:ext cx="76200" cy="990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762000" y="43688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8B9A3F"/>
                </a:solidFill>
              </a:rPr>
              <a:t>03</a:t>
            </a:r>
          </a:p>
        </p:txBody>
      </p:sp>
      <p:sp>
        <p:nvSpPr>
          <p:cNvPr id="126" name="S126"/>
          <p:cNvSpPr/>
          <p:nvPr/>
        </p:nvSpPr>
        <p:spPr>
          <a:xfrm>
            <a:off x="1651000" y="449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651000" y="449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STT로 음성 → 텍스트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95500" y="48006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회의 · 인터뷰 음성을 화자 분리된 텍스트로 변환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53848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384800"/>
            <a:ext cx="76200" cy="990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486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0F3A2E"/>
                </a:solidFill>
              </a:rPr>
              <a:t>04</a:t>
            </a:r>
          </a:p>
        </p:txBody>
      </p:sp>
      <p:sp>
        <p:nvSpPr>
          <p:cNvPr id="133" name="S133"/>
          <p:cNvSpPr/>
          <p:nvPr/>
        </p:nvSpPr>
        <p:spPr>
          <a:xfrm>
            <a:off x="1651000" y="56134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51000" y="5613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95500" y="5575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자동 파이프라인 설계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095500" y="59182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자기 부서 디지털화 자동 파이프라인을 설계할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6604000"/>
            <a:ext cx="6477000" cy="254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6604000"/>
            <a:ext cx="76200" cy="254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679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핵심 산출물 — DAY 3 종료 시 손에 든 것</a:t>
            </a:r>
          </a:p>
        </p:txBody>
      </p:sp>
      <p:sp>
        <p:nvSpPr>
          <p:cNvPr id="140" name="S140"/>
          <p:cNvSpPr/>
          <p:nvPr/>
        </p:nvSpPr>
        <p:spPr>
          <a:xfrm>
            <a:off x="927100" y="717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717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717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도면·점검표·손글씨 OCR 결과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460500" y="742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3가지 이미지 유형을 텍스트로 변환 — 정확도 95%+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7810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810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460500" y="781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베테랑 인터뷰 STT 변환 결과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460500" y="8064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 2 녹음한 음성 → 화자 분리된 텍스트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44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44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60500" y="844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부서별 디지털화 자동 파이프라인 설계도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460500" y="869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수집 → OCR/STT → 구조화 자동 흐름도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BIG WIN </a:t>
            </a:r>
            <a:r>
              <a:rPr lang="en-US" sz="1100" dirty="0">
                <a:solidFill>
                  <a:srgbClr val="2C2C2C"/>
                </a:solidFill>
              </a:rPr>
              <a:t> — 어제 수집한 데이터로 직접 </a:t>
            </a:r>
            <a:r>
              <a:rPr lang="en-US" sz="1100" b="1" dirty="0">
                <a:solidFill>
                  <a:srgbClr val="E8632C"/>
                </a:solidFill>
              </a:rPr>
              <a:t>"자동 변환 파이프라인"</a:t>
            </a:r>
            <a:r>
              <a:rPr lang="en-US" sz="1100" dirty="0">
                <a:solidFill>
                  <a:srgbClr val="2C2C2C"/>
                </a:solidFill>
              </a:rPr>
              <a:t> 가동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이론 2H로 기술 익히고, 실습 6H로 자기 데이터 직접 변환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092 —</a:t>
            </a:r>
          </a:p>
        </p:txBody>
      </p:sp>
      <p:sp>
        <p:nvSpPr>
          <p:cNvPr id="158" name="S15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416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OCR·STT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OCR·STT 디지털화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PART 03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5개 Chapter — 개관 → OCR → STT → 영상·자동화 → ★ BIG WIN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3213100" cy="457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36600" y="2070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112" name="S112"/>
          <p:cNvSpPr/>
          <p:nvPr/>
        </p:nvSpPr>
        <p:spPr>
          <a:xfrm>
            <a:off x="3086100" y="20701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086100" y="2070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1H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25400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705100" y="26035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36600" y="33401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디지털화 기술 개관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36600" y="35941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4가지 기술과 도구 비교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1968500"/>
            <a:ext cx="3213100" cy="457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00500" y="2070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0F3A2E"/>
                </a:solidFill>
              </a:rPr>
              <a:t>Chapter 2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070100"/>
            <a:ext cx="533400" cy="25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350000" y="2070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4B400"/>
                </a:solidFill>
              </a:rPr>
              <a:t>1.5H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00500" y="25400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5969000" y="26035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📷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000500" y="33401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OCR — 이미지 → 텍스트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00500" y="35941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도면·점검표·손글씨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0640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064000"/>
            <a:ext cx="3213100" cy="457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36600" y="41656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3</a:t>
            </a:r>
          </a:p>
        </p:txBody>
      </p:sp>
      <p:sp>
        <p:nvSpPr>
          <p:cNvPr id="130" name="S130"/>
          <p:cNvSpPr/>
          <p:nvPr/>
        </p:nvSpPr>
        <p:spPr>
          <a:xfrm>
            <a:off x="3086100" y="41656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086100" y="4165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8B9A3F"/>
                </a:solidFill>
              </a:rPr>
              <a:t>1.5H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36600" y="46355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705100" y="46990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36600" y="54356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STT — 음성 → 텍스트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36600" y="56896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회의·인터뷰·다국어</a:t>
            </a:r>
          </a:p>
        </p:txBody>
      </p:sp>
      <p:sp>
        <p:nvSpPr>
          <p:cNvPr id="136" name="S136"/>
          <p:cNvSpPr/>
          <p:nvPr/>
        </p:nvSpPr>
        <p:spPr>
          <a:xfrm>
            <a:off x="3810000" y="40640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10000" y="4064000"/>
            <a:ext cx="3213100" cy="4572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000500" y="41656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4</a:t>
            </a:r>
          </a:p>
        </p:txBody>
      </p:sp>
      <p:sp>
        <p:nvSpPr>
          <p:cNvPr id="139" name="S139"/>
          <p:cNvSpPr/>
          <p:nvPr/>
        </p:nvSpPr>
        <p:spPr>
          <a:xfrm>
            <a:off x="6350000" y="41656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50000" y="4165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3D7BC8"/>
                </a:solidFill>
              </a:rPr>
              <a:t>1H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00500" y="46355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3D7BC8"/>
                </a:solidFill>
              </a:rPr>
              <a:t>4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5969000" y="46990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🎬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000500" y="54356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영상·자동 분류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00500" y="56896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영상 → 매뉴얼·태깅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159500"/>
            <a:ext cx="6477000" cy="15240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159500"/>
            <a:ext cx="6477000" cy="457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736600" y="6261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Chapter 5 ★</a:t>
            </a:r>
          </a:p>
        </p:txBody>
      </p:sp>
      <p:sp>
        <p:nvSpPr>
          <p:cNvPr id="148" name="S148"/>
          <p:cNvSpPr/>
          <p:nvPr/>
        </p:nvSpPr>
        <p:spPr>
          <a:xfrm>
            <a:off x="6286500" y="6261100"/>
            <a:ext cx="5334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6286500" y="6261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3H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736600" y="67310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500" b="1" dirty="0">
                <a:solidFill>
                  <a:srgbClr val="E8632C"/>
                </a:solidFill>
              </a:rPr>
              <a:t>5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651000" y="6794500"/>
            <a:ext cx="762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🏆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540000" y="6858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★ BIG WIN — 자동 파이프라인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2540000" y="71755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부서별 디지털화 자동 시스템 직접 설계·구축</a:t>
            </a:r>
          </a:p>
        </p:txBody>
      </p:sp>
      <p:sp>
        <p:nvSpPr>
          <p:cNvPr id="154" name="S154"/>
          <p:cNvSpPr/>
          <p:nvPr/>
        </p:nvSpPr>
        <p:spPr>
          <a:xfrm>
            <a:off x="2540000" y="7429500"/>
            <a:ext cx="4318000" cy="177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540000" y="74295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4B400"/>
                </a:solidFill>
              </a:rPr>
              <a:t>수집 → OCR/STT → 구조화 자동 흐름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7937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762000" y="810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DAY 3 시간 배분 (8H)</a:t>
            </a:r>
          </a:p>
        </p:txBody>
      </p:sp>
      <p:sp>
        <p:nvSpPr>
          <p:cNvPr id="158" name="S158"/>
          <p:cNvSpPr/>
          <p:nvPr/>
        </p:nvSpPr>
        <p:spPr>
          <a:xfrm>
            <a:off x="762000" y="8445500"/>
            <a:ext cx="762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762000" y="8445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Ch.1 · 1H</a:t>
            </a:r>
          </a:p>
        </p:txBody>
      </p:sp>
      <p:sp>
        <p:nvSpPr>
          <p:cNvPr id="160" name="S160"/>
          <p:cNvSpPr/>
          <p:nvPr/>
        </p:nvSpPr>
        <p:spPr>
          <a:xfrm>
            <a:off x="1524000" y="8445500"/>
            <a:ext cx="1143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1524000" y="8445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Ch.2 · 1.5H</a:t>
            </a:r>
          </a:p>
        </p:txBody>
      </p:sp>
      <p:sp>
        <p:nvSpPr>
          <p:cNvPr id="162" name="S162"/>
          <p:cNvSpPr/>
          <p:nvPr/>
        </p:nvSpPr>
        <p:spPr>
          <a:xfrm>
            <a:off x="2667000" y="8445500"/>
            <a:ext cx="1143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667000" y="8445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Ch.3 · 1.5H</a:t>
            </a:r>
          </a:p>
        </p:txBody>
      </p:sp>
      <p:sp>
        <p:nvSpPr>
          <p:cNvPr id="164" name="S164"/>
          <p:cNvSpPr/>
          <p:nvPr/>
        </p:nvSpPr>
        <p:spPr>
          <a:xfrm>
            <a:off x="3810000" y="8445500"/>
            <a:ext cx="7620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810000" y="8445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Ch.4 · 1H</a:t>
            </a:r>
          </a:p>
        </p:txBody>
      </p:sp>
      <p:sp>
        <p:nvSpPr>
          <p:cNvPr id="166" name="S166"/>
          <p:cNvSpPr/>
          <p:nvPr/>
        </p:nvSpPr>
        <p:spPr>
          <a:xfrm>
            <a:off x="4572000" y="8445500"/>
            <a:ext cx="2286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4572000" y="844550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Ch.5 · 3H ★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890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이론 2H + 실습 6H — 직접 변환하며 익힌다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9207500"/>
            <a:ext cx="64770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9207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933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학습 흐름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962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개관 → </a:t>
            </a:r>
            <a:r>
              <a:rPr lang="en-US" sz="1100" b="1" dirty="0">
                <a:solidFill>
                  <a:srgbClr val="F4B400"/>
                </a:solidFill>
              </a:rPr>
              <a:t>OCR 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8B9A3F"/>
                </a:solidFill>
              </a:rPr>
              <a:t>STT </a:t>
            </a:r>
            <a:r>
              <a:rPr lang="en-US" sz="1100" dirty="0">
                <a:solidFill>
                  <a:srgbClr val="FFFFFF"/>
                </a:solidFill>
              </a:rPr>
              <a:t> → 영상 → </a:t>
            </a:r>
            <a:r>
              <a:rPr lang="en-US" sz="1100" b="1" dirty="0">
                <a:solidFill>
                  <a:srgbClr val="E8632C"/>
                </a:solidFill>
              </a:rPr>
              <a:t>★ 자동 파이프라인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093 —</a:t>
            </a:r>
          </a:p>
        </p:txBody>
      </p:sp>
      <p:sp>
        <p:nvSpPr>
          <p:cNvPr id="176" name="S17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328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03 · DAY 3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OVERVIEW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디지털화 기술 개관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Digitization Technology Overview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"PART 02에서 수집한 비정형 데이터 → 분석 가능한 텍스트·정형 데이터"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디지털화 기술 4가지 분류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AI 도구별 디지털화 능력 비교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정확도와 한계 인식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636000"/>
            <a:ext cx="5765800" cy="127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889000" y="8636000"/>
            <a:ext cx="76200" cy="127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90932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비정형 </a:t>
            </a:r>
            <a:r>
              <a:rPr lang="en-US" sz="1500" b="1" dirty="0">
                <a:solidFill>
                  <a:srgbClr val="F4B400"/>
                </a:solidFill>
              </a:rPr>
              <a:t>→</a:t>
            </a:r>
            <a:r>
              <a:rPr lang="en-US" sz="1500" b="1" dirty="0">
                <a:solidFill>
                  <a:srgbClr val="FFFFFF"/>
                </a:solidFill>
              </a:rPr>
              <a:t> 정형 변환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143000" y="94996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4대 AI 도구 + 4가지 기술 = 분석 가능한 자산화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094 —</a:t>
            </a:r>
          </a:p>
        </p:txBody>
      </p:sp>
    </p:spTree>
    <p:extLst>
      <p:ext uri="{BB962C8B-B14F-4D97-AF65-F5344CB8AC3E}">
        <p14:creationId xmlns:p14="http://schemas.microsoft.com/office/powerpoint/2010/main" val="297740012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1.1 · 4가지 기술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Ch.1.1 · 그림 3-1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디지털화 기술 4가지 분류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비정형 → 분석 가능한 자산 변환의 4가지 핵심 기술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13100" cy="273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32131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73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73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81100" y="2120900"/>
            <a:ext cx="1651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OCR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3086100" y="21209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📷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36600" y="27051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E8632C"/>
                </a:solidFill>
              </a:rPr>
              <a:t>Optical Character Recognition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36600" y="30099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입력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625600" y="30099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이미지·PDF (스캔본)</a:t>
            </a:r>
          </a:p>
        </p:txBody>
      </p:sp>
      <p:sp>
        <p:nvSpPr>
          <p:cNvPr id="118" name="S118"/>
          <p:cNvSpPr/>
          <p:nvPr/>
        </p:nvSpPr>
        <p:spPr>
          <a:xfrm>
            <a:off x="736600" y="32639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36600" y="33655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출력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625600" y="33655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텍스트·구조화 데이터</a:t>
            </a:r>
          </a:p>
        </p:txBody>
      </p:sp>
      <p:sp>
        <p:nvSpPr>
          <p:cNvPr id="121" name="S121"/>
          <p:cNvSpPr/>
          <p:nvPr/>
        </p:nvSpPr>
        <p:spPr>
          <a:xfrm>
            <a:off x="736600" y="38735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736600" y="39751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E8632C"/>
                </a:solidFill>
              </a:rPr>
              <a:t>활용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625600" y="3975100"/>
            <a:ext cx="196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도면·점검표·손글씨·매뉴얼</a:t>
            </a:r>
          </a:p>
        </p:txBody>
      </p:sp>
      <p:sp>
        <p:nvSpPr>
          <p:cNvPr id="124" name="S124"/>
          <p:cNvSpPr/>
          <p:nvPr/>
        </p:nvSpPr>
        <p:spPr>
          <a:xfrm>
            <a:off x="3810000" y="1968500"/>
            <a:ext cx="3213100" cy="273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3810000" y="1968500"/>
            <a:ext cx="32131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3937000" y="20955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39370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445000" y="2120900"/>
            <a:ext cx="1651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0F3A2E"/>
                </a:solidFill>
              </a:rPr>
              <a:t>STT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6350000" y="21209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000500" y="27051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F4B400"/>
                </a:solidFill>
              </a:rPr>
              <a:t>Speech to Text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4000500" y="30099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입력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4889500" y="30099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음성 파일·실시간 녹음</a:t>
            </a:r>
          </a:p>
        </p:txBody>
      </p:sp>
      <p:sp>
        <p:nvSpPr>
          <p:cNvPr id="133" name="S133"/>
          <p:cNvSpPr/>
          <p:nvPr/>
        </p:nvSpPr>
        <p:spPr>
          <a:xfrm>
            <a:off x="4000500" y="32639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4000500" y="33655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출력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4889500" y="33655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텍스트 (화자 분리 가능)</a:t>
            </a:r>
          </a:p>
        </p:txBody>
      </p:sp>
      <p:sp>
        <p:nvSpPr>
          <p:cNvPr id="136" name="S136"/>
          <p:cNvSpPr/>
          <p:nvPr/>
        </p:nvSpPr>
        <p:spPr>
          <a:xfrm>
            <a:off x="4000500" y="38735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000500" y="39751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F4B400"/>
                </a:solidFill>
              </a:rPr>
              <a:t>활용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89500" y="3975100"/>
            <a:ext cx="196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회의·인터뷰·고객 상담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826000"/>
            <a:ext cx="3213100" cy="273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826000"/>
            <a:ext cx="32131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73100" y="49530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73100" y="4953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181100" y="4978400"/>
            <a:ext cx="1651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3086100" y="49784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🎬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36600" y="55626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8B9A3F"/>
                </a:solidFill>
              </a:rPr>
              <a:t>Video Analysis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736600" y="58674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입력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625600" y="58674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영상 파일</a:t>
            </a:r>
          </a:p>
        </p:txBody>
      </p:sp>
      <p:sp>
        <p:nvSpPr>
          <p:cNvPr id="148" name="S148"/>
          <p:cNvSpPr/>
          <p:nvPr/>
        </p:nvSpPr>
        <p:spPr>
          <a:xfrm>
            <a:off x="736600" y="61214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36600" y="62230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출력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625600" y="62230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단계별 텍스트·시각·요약</a:t>
            </a:r>
          </a:p>
        </p:txBody>
      </p:sp>
      <p:sp>
        <p:nvSpPr>
          <p:cNvPr id="151" name="S151"/>
          <p:cNvSpPr/>
          <p:nvPr/>
        </p:nvSpPr>
        <p:spPr>
          <a:xfrm>
            <a:off x="736600" y="67310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736600" y="68326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8B9A3F"/>
                </a:solidFill>
              </a:rPr>
              <a:t>활용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1625600" y="6832600"/>
            <a:ext cx="196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정비 시연·안전 교육</a:t>
            </a:r>
          </a:p>
        </p:txBody>
      </p:sp>
      <p:sp>
        <p:nvSpPr>
          <p:cNvPr id="154" name="S154"/>
          <p:cNvSpPr/>
          <p:nvPr/>
        </p:nvSpPr>
        <p:spPr>
          <a:xfrm>
            <a:off x="3810000" y="4826000"/>
            <a:ext cx="3213100" cy="273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3810000" y="4826000"/>
            <a:ext cx="32131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3937000" y="49530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3937000" y="4953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7E3FBF"/>
                </a:solidFill>
              </a:rPr>
              <a:t>4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4445000" y="4978400"/>
            <a:ext cx="1651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 Tag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6350000" y="49784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dirty="0">
                <a:solidFill>
                  <a:srgbClr val="2C2C2C"/>
                </a:solidFill>
              </a:rPr>
              <a:t>🏷️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4000500" y="5562600"/>
            <a:ext cx="285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spc="100" dirty="0">
                <a:solidFill>
                  <a:srgbClr val="7E3FBF"/>
                </a:solidFill>
              </a:rPr>
              <a:t>Auto Classification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4000500" y="58674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입력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4889500" y="5867400"/>
            <a:ext cx="1968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텍스트·이미지·음성</a:t>
            </a:r>
          </a:p>
        </p:txBody>
      </p:sp>
      <p:sp>
        <p:nvSpPr>
          <p:cNvPr id="163" name="S163"/>
          <p:cNvSpPr/>
          <p:nvPr/>
        </p:nvSpPr>
        <p:spPr>
          <a:xfrm>
            <a:off x="4000500" y="61214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4000500" y="62230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6B6B6B"/>
                </a:solidFill>
              </a:rPr>
              <a:t>출력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889500" y="6223000"/>
            <a:ext cx="196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태그·카테고리·메타데이터</a:t>
            </a:r>
          </a:p>
        </p:txBody>
      </p:sp>
      <p:sp>
        <p:nvSpPr>
          <p:cNvPr id="166" name="S166"/>
          <p:cNvSpPr/>
          <p:nvPr/>
        </p:nvSpPr>
        <p:spPr>
          <a:xfrm>
            <a:off x="4000500" y="6731000"/>
            <a:ext cx="28575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4000500" y="6832600"/>
            <a:ext cx="825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spc="100" dirty="0">
                <a:solidFill>
                  <a:srgbClr val="7E3FBF"/>
                </a:solidFill>
              </a:rPr>
              <a:t>활용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4889500" y="6832600"/>
            <a:ext cx="196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사내 자료 자동 정리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7937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229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4가지 기술을 조합하면 </a:t>
            </a:r>
            <a:r>
              <a:rPr lang="en-US" sz="1400" b="1" dirty="0">
                <a:solidFill>
                  <a:srgbClr val="F4B400"/>
                </a:solidFill>
              </a:rPr>
              <a:t>모든 형태의 비정형 데이터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8610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를 디지털 자산으로 변환 가능 — 텍스트·표·이미지·음성·영상 모두 커버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실무 워크플로우 — 자주 쓰는 조합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점검표 사진 → </a:t>
            </a:r>
            <a:r>
              <a:rPr lang="en-US" sz="1100" b="1" dirty="0">
                <a:solidFill>
                  <a:srgbClr val="F4B400"/>
                </a:solidFill>
              </a:rPr>
              <a:t>OCR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F4B400"/>
                </a:solidFill>
              </a:rPr>
              <a:t>자동 분류</a:t>
            </a:r>
            <a:r>
              <a:rPr lang="en-US" sz="1100" dirty="0">
                <a:solidFill>
                  <a:srgbClr val="FFFFFF"/>
                </a:solidFill>
              </a:rPr>
              <a:t> → DB 등록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베테랑 인터뷰 → </a:t>
            </a:r>
            <a:r>
              <a:rPr lang="en-US" sz="1100" b="1" dirty="0">
                <a:solidFill>
                  <a:srgbClr val="F4B400"/>
                </a:solidFill>
              </a:rPr>
              <a:t>STT</a:t>
            </a:r>
            <a:r>
              <a:rPr lang="en-US" sz="1100" dirty="0">
                <a:solidFill>
                  <a:srgbClr val="FFFFFF"/>
                </a:solidFill>
              </a:rPr>
              <a:t> → </a:t>
            </a:r>
            <a:r>
              <a:rPr lang="en-US" sz="1100" b="1" dirty="0">
                <a:solidFill>
                  <a:srgbClr val="F4B400"/>
                </a:solidFill>
              </a:rPr>
              <a:t>자동 분류</a:t>
            </a:r>
            <a:r>
              <a:rPr lang="en-US" sz="1100" dirty="0">
                <a:solidFill>
                  <a:srgbClr val="FFFFFF"/>
                </a:solidFill>
              </a:rPr>
              <a:t> → 학습 카드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095 —</a:t>
            </a:r>
          </a:p>
        </p:txBody>
      </p:sp>
      <p:sp>
        <p:nvSpPr>
          <p:cNvPr id="182" name="S18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S18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083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1.2 · 도구 비교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Ch.1.2 · 그림 3-2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AI 도구별 디지털화 능력 비교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4대 도구 × 8가지 능력 — 용도별 최적 선택 가이드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9685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19685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능력</a:t>
            </a:r>
          </a:p>
        </p:txBody>
      </p:sp>
      <p:sp>
        <p:nvSpPr>
          <p:cNvPr id="111" name="S111"/>
          <p:cNvSpPr/>
          <p:nvPr/>
        </p:nvSpPr>
        <p:spPr>
          <a:xfrm>
            <a:off x="2514600" y="1968500"/>
            <a:ext cx="1117600" cy="4064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2514600" y="1968500"/>
            <a:ext cx="11176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13" name="S113"/>
          <p:cNvSpPr/>
          <p:nvPr/>
        </p:nvSpPr>
        <p:spPr>
          <a:xfrm>
            <a:off x="3644900" y="1968500"/>
            <a:ext cx="1117600" cy="406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3644900" y="1968500"/>
            <a:ext cx="11176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115" name="S115"/>
          <p:cNvSpPr/>
          <p:nvPr/>
        </p:nvSpPr>
        <p:spPr>
          <a:xfrm>
            <a:off x="4775200" y="1968500"/>
            <a:ext cx="1117600" cy="406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4775200" y="1968500"/>
            <a:ext cx="11176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17" name="S117"/>
          <p:cNvSpPr/>
          <p:nvPr/>
        </p:nvSpPr>
        <p:spPr>
          <a:xfrm>
            <a:off x="5905500" y="1968500"/>
            <a:ext cx="1117600" cy="406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5905500" y="1968500"/>
            <a:ext cx="11176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Genspark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3749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635000" y="23749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OCR (이미지)</a:t>
            </a:r>
          </a:p>
        </p:txBody>
      </p:sp>
      <p:sp>
        <p:nvSpPr>
          <p:cNvPr id="121" name="S121"/>
          <p:cNvSpPr/>
          <p:nvPr/>
        </p:nvSpPr>
        <p:spPr>
          <a:xfrm>
            <a:off x="2514600" y="23749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514600" y="2374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0A37F"/>
                </a:solidFill>
              </a:rPr>
              <a:t>★★★★★</a:t>
            </a:r>
          </a:p>
        </p:txBody>
      </p:sp>
      <p:sp>
        <p:nvSpPr>
          <p:cNvPr id="123" name="S123"/>
          <p:cNvSpPr/>
          <p:nvPr/>
        </p:nvSpPr>
        <p:spPr>
          <a:xfrm>
            <a:off x="3644900" y="23749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644900" y="2374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4285F4"/>
                </a:solidFill>
              </a:rPr>
              <a:t>★★★★★</a:t>
            </a:r>
          </a:p>
        </p:txBody>
      </p:sp>
      <p:sp>
        <p:nvSpPr>
          <p:cNvPr id="125" name="S125"/>
          <p:cNvSpPr/>
          <p:nvPr/>
        </p:nvSpPr>
        <p:spPr>
          <a:xfrm>
            <a:off x="4775200" y="23749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4775200" y="2374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27" name="S127"/>
          <p:cNvSpPr/>
          <p:nvPr/>
        </p:nvSpPr>
        <p:spPr>
          <a:xfrm>
            <a:off x="5905500" y="23749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5905500" y="2374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27305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35000" y="27305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OCR (손글씨)</a:t>
            </a:r>
          </a:p>
        </p:txBody>
      </p:sp>
      <p:sp>
        <p:nvSpPr>
          <p:cNvPr id="131" name="S131"/>
          <p:cNvSpPr/>
          <p:nvPr/>
        </p:nvSpPr>
        <p:spPr>
          <a:xfrm>
            <a:off x="2514600" y="27305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251460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33" name="S133"/>
          <p:cNvSpPr/>
          <p:nvPr/>
        </p:nvSpPr>
        <p:spPr>
          <a:xfrm>
            <a:off x="3644900" y="27305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364490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35" name="S135"/>
          <p:cNvSpPr/>
          <p:nvPr/>
        </p:nvSpPr>
        <p:spPr>
          <a:xfrm>
            <a:off x="4775200" y="27305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477520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D97757"/>
                </a:solidFill>
              </a:rPr>
              <a:t>★★★★★</a:t>
            </a:r>
          </a:p>
        </p:txBody>
      </p:sp>
      <p:sp>
        <p:nvSpPr>
          <p:cNvPr id="137" name="S137"/>
          <p:cNvSpPr/>
          <p:nvPr/>
        </p:nvSpPr>
        <p:spPr>
          <a:xfrm>
            <a:off x="5905500" y="27305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90550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30861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5000" y="30861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OCR (도면)</a:t>
            </a:r>
          </a:p>
        </p:txBody>
      </p:sp>
      <p:sp>
        <p:nvSpPr>
          <p:cNvPr id="141" name="S141"/>
          <p:cNvSpPr/>
          <p:nvPr/>
        </p:nvSpPr>
        <p:spPr>
          <a:xfrm>
            <a:off x="2514600" y="30861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2514600" y="3086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0A37F"/>
                </a:solidFill>
              </a:rPr>
              <a:t>★★★★</a:t>
            </a:r>
          </a:p>
        </p:txBody>
      </p:sp>
      <p:sp>
        <p:nvSpPr>
          <p:cNvPr id="143" name="S143"/>
          <p:cNvSpPr/>
          <p:nvPr/>
        </p:nvSpPr>
        <p:spPr>
          <a:xfrm>
            <a:off x="3644900" y="30861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3644900" y="3086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4285F4"/>
                </a:solidFill>
              </a:rPr>
              <a:t>★★★★</a:t>
            </a:r>
          </a:p>
        </p:txBody>
      </p:sp>
      <p:sp>
        <p:nvSpPr>
          <p:cNvPr id="145" name="S145"/>
          <p:cNvSpPr/>
          <p:nvPr/>
        </p:nvSpPr>
        <p:spPr>
          <a:xfrm>
            <a:off x="4775200" y="30861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4775200" y="3086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47" name="S147"/>
          <p:cNvSpPr/>
          <p:nvPr/>
        </p:nvSpPr>
        <p:spPr>
          <a:xfrm>
            <a:off x="5905500" y="30861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5905500" y="3086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34417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635000" y="34417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STT (한국어)</a:t>
            </a:r>
          </a:p>
        </p:txBody>
      </p:sp>
      <p:sp>
        <p:nvSpPr>
          <p:cNvPr id="151" name="S151"/>
          <p:cNvSpPr/>
          <p:nvPr/>
        </p:nvSpPr>
        <p:spPr>
          <a:xfrm>
            <a:off x="2514600" y="34417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2514600" y="3441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0A37F"/>
                </a:solidFill>
              </a:rPr>
              <a:t>★★★★★</a:t>
            </a:r>
          </a:p>
        </p:txBody>
      </p:sp>
      <p:sp>
        <p:nvSpPr>
          <p:cNvPr id="153" name="S153"/>
          <p:cNvSpPr/>
          <p:nvPr/>
        </p:nvSpPr>
        <p:spPr>
          <a:xfrm>
            <a:off x="3644900" y="34417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644900" y="3441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55" name="S155"/>
          <p:cNvSpPr/>
          <p:nvPr/>
        </p:nvSpPr>
        <p:spPr>
          <a:xfrm>
            <a:off x="4775200" y="34417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4775200" y="3441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57" name="S157"/>
          <p:cNvSpPr/>
          <p:nvPr/>
        </p:nvSpPr>
        <p:spPr>
          <a:xfrm>
            <a:off x="5905500" y="34417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5905500" y="3441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37973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635000" y="37973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STT (다국어)</a:t>
            </a:r>
          </a:p>
        </p:txBody>
      </p:sp>
      <p:sp>
        <p:nvSpPr>
          <p:cNvPr id="161" name="S161"/>
          <p:cNvSpPr/>
          <p:nvPr/>
        </p:nvSpPr>
        <p:spPr>
          <a:xfrm>
            <a:off x="2514600" y="37973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2514600" y="37973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0A37F"/>
                </a:solidFill>
              </a:rPr>
              <a:t>★★★★★</a:t>
            </a:r>
          </a:p>
        </p:txBody>
      </p:sp>
      <p:sp>
        <p:nvSpPr>
          <p:cNvPr id="163" name="S163"/>
          <p:cNvSpPr/>
          <p:nvPr/>
        </p:nvSpPr>
        <p:spPr>
          <a:xfrm>
            <a:off x="3644900" y="37973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3644900" y="37973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65" name="S165"/>
          <p:cNvSpPr/>
          <p:nvPr/>
        </p:nvSpPr>
        <p:spPr>
          <a:xfrm>
            <a:off x="4775200" y="37973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4775200" y="37973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67" name="S167"/>
          <p:cNvSpPr/>
          <p:nvPr/>
        </p:nvSpPr>
        <p:spPr>
          <a:xfrm>
            <a:off x="5905500" y="37973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5905500" y="37973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41529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635000" y="41529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화자 분리</a:t>
            </a:r>
          </a:p>
        </p:txBody>
      </p:sp>
      <p:sp>
        <p:nvSpPr>
          <p:cNvPr id="171" name="S171"/>
          <p:cNvSpPr/>
          <p:nvPr/>
        </p:nvSpPr>
        <p:spPr>
          <a:xfrm>
            <a:off x="2514600" y="41529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2514600" y="4152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0A37F"/>
                </a:solidFill>
              </a:rPr>
              <a:t>★★★★★</a:t>
            </a:r>
          </a:p>
        </p:txBody>
      </p:sp>
      <p:sp>
        <p:nvSpPr>
          <p:cNvPr id="173" name="S173"/>
          <p:cNvSpPr/>
          <p:nvPr/>
        </p:nvSpPr>
        <p:spPr>
          <a:xfrm>
            <a:off x="3644900" y="41529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3644900" y="4152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75" name="S175"/>
          <p:cNvSpPr/>
          <p:nvPr/>
        </p:nvSpPr>
        <p:spPr>
          <a:xfrm>
            <a:off x="4775200" y="41529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4775200" y="4152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77" name="S177"/>
          <p:cNvSpPr/>
          <p:nvPr/>
        </p:nvSpPr>
        <p:spPr>
          <a:xfrm>
            <a:off x="5905500" y="41529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5905500" y="41529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45085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635000" y="45085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영상 분석</a:t>
            </a:r>
          </a:p>
        </p:txBody>
      </p:sp>
      <p:sp>
        <p:nvSpPr>
          <p:cNvPr id="181" name="S181"/>
          <p:cNvSpPr/>
          <p:nvPr/>
        </p:nvSpPr>
        <p:spPr>
          <a:xfrm>
            <a:off x="2514600" y="45085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2514600" y="4508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83" name="S183"/>
          <p:cNvSpPr/>
          <p:nvPr/>
        </p:nvSpPr>
        <p:spPr>
          <a:xfrm>
            <a:off x="3644900" y="45085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3644900" y="4508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4285F4"/>
                </a:solidFill>
              </a:rPr>
              <a:t>★★★★★</a:t>
            </a:r>
          </a:p>
        </p:txBody>
      </p:sp>
      <p:sp>
        <p:nvSpPr>
          <p:cNvPr id="185" name="S185"/>
          <p:cNvSpPr/>
          <p:nvPr/>
        </p:nvSpPr>
        <p:spPr>
          <a:xfrm>
            <a:off x="4775200" y="45085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4775200" y="4508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</a:t>
            </a:r>
          </a:p>
        </p:txBody>
      </p:sp>
      <p:sp>
        <p:nvSpPr>
          <p:cNvPr id="187" name="S187"/>
          <p:cNvSpPr/>
          <p:nvPr/>
        </p:nvSpPr>
        <p:spPr>
          <a:xfrm>
            <a:off x="5905500" y="4508500"/>
            <a:ext cx="1117600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5905500" y="4508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</a:t>
            </a:r>
          </a:p>
        </p:txBody>
      </p:sp>
      <p:sp>
        <p:nvSpPr>
          <p:cNvPr id="189" name="S189"/>
          <p:cNvSpPr/>
          <p:nvPr/>
        </p:nvSpPr>
        <p:spPr>
          <a:xfrm>
            <a:off x="546100" y="4864100"/>
            <a:ext cx="1968500" cy="3556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635000" y="4864100"/>
            <a:ext cx="1879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자동 분류</a:t>
            </a:r>
          </a:p>
        </p:txBody>
      </p:sp>
      <p:sp>
        <p:nvSpPr>
          <p:cNvPr id="191" name="S191"/>
          <p:cNvSpPr/>
          <p:nvPr/>
        </p:nvSpPr>
        <p:spPr>
          <a:xfrm>
            <a:off x="2514600" y="48641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2514600" y="4864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93" name="S193"/>
          <p:cNvSpPr/>
          <p:nvPr/>
        </p:nvSpPr>
        <p:spPr>
          <a:xfrm>
            <a:off x="3644900" y="48641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3644900" y="4864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95" name="S195"/>
          <p:cNvSpPr/>
          <p:nvPr/>
        </p:nvSpPr>
        <p:spPr>
          <a:xfrm>
            <a:off x="4775200" y="4864100"/>
            <a:ext cx="1117600" cy="3556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4775200" y="4864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D97757"/>
                </a:solidFill>
              </a:rPr>
              <a:t>★★★★★</a:t>
            </a:r>
          </a:p>
        </p:txBody>
      </p:sp>
      <p:sp>
        <p:nvSpPr>
          <p:cNvPr id="197" name="S197"/>
          <p:cNvSpPr/>
          <p:nvPr/>
        </p:nvSpPr>
        <p:spPr>
          <a:xfrm>
            <a:off x="5905500" y="4864100"/>
            <a:ext cx="1117600" cy="3556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5905500" y="48641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2C2C2C"/>
                </a:solidFill>
              </a:rPr>
              <a:t>★★★★</a:t>
            </a:r>
          </a:p>
        </p:txBody>
      </p:sp>
      <p:sp>
        <p:nvSpPr>
          <p:cNvPr id="199" name="S199"/>
          <p:cNvSpPr/>
          <p:nvPr/>
        </p:nvSpPr>
        <p:spPr>
          <a:xfrm>
            <a:off x="546100" y="5397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762000" y="5397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용도별 1순위 추천</a:t>
            </a:r>
          </a:p>
        </p:txBody>
      </p:sp>
      <p:sp>
        <p:nvSpPr>
          <p:cNvPr id="201" name="S201"/>
          <p:cNvSpPr/>
          <p:nvPr/>
        </p:nvSpPr>
        <p:spPr>
          <a:xfrm>
            <a:off x="546100" y="5905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" name="S202"/>
          <p:cNvSpPr/>
          <p:nvPr/>
        </p:nvSpPr>
        <p:spPr>
          <a:xfrm>
            <a:off x="546100" y="5905500"/>
            <a:ext cx="76200" cy="381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762000" y="5905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도면·매뉴얼 OCR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3365500" y="5905500"/>
            <a:ext cx="317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3746500" y="5905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ChatGPT / Gemini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63246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S207"/>
          <p:cNvSpPr/>
          <p:nvPr/>
        </p:nvSpPr>
        <p:spPr>
          <a:xfrm>
            <a:off x="546100" y="6324600"/>
            <a:ext cx="76200" cy="381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T208"/>
          <p:cNvSpPr txBox="1"/>
          <p:nvPr/>
        </p:nvSpPr>
        <p:spPr>
          <a:xfrm>
            <a:off x="762000" y="63246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손글씨 OCR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3365500" y="6324600"/>
            <a:ext cx="317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210" name="T210"/>
          <p:cNvSpPr txBox="1"/>
          <p:nvPr/>
        </p:nvSpPr>
        <p:spPr>
          <a:xfrm>
            <a:off x="3746500" y="63246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Claude (정확도↑)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6731000" y="6324600"/>
            <a:ext cx="228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212" name="S212"/>
          <p:cNvSpPr/>
          <p:nvPr/>
        </p:nvSpPr>
        <p:spPr>
          <a:xfrm>
            <a:off x="546100" y="67437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S213"/>
          <p:cNvSpPr/>
          <p:nvPr/>
        </p:nvSpPr>
        <p:spPr>
          <a:xfrm>
            <a:off x="546100" y="6743700"/>
            <a:ext cx="76200" cy="381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T214"/>
          <p:cNvSpPr txBox="1"/>
          <p:nvPr/>
        </p:nvSpPr>
        <p:spPr>
          <a:xfrm>
            <a:off x="762000" y="67437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회의 STT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3365500" y="6743700"/>
            <a:ext cx="317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3746500" y="67437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ChatGPT (Whisper)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6731000" y="6743700"/>
            <a:ext cx="228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218" name="S218"/>
          <p:cNvSpPr/>
          <p:nvPr/>
        </p:nvSpPr>
        <p:spPr>
          <a:xfrm>
            <a:off x="546100" y="71628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S219"/>
          <p:cNvSpPr/>
          <p:nvPr/>
        </p:nvSpPr>
        <p:spPr>
          <a:xfrm>
            <a:off x="546100" y="7162800"/>
            <a:ext cx="762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T220"/>
          <p:cNvSpPr txBox="1"/>
          <p:nvPr/>
        </p:nvSpPr>
        <p:spPr>
          <a:xfrm>
            <a:off x="762000" y="71628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영상 매뉴얼화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3365500" y="7162800"/>
            <a:ext cx="317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3746500" y="71628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4285F4"/>
                </a:solidFill>
              </a:rPr>
              <a:t>Gemini (Veo)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6731000" y="7162800"/>
            <a:ext cx="228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224" name="S224"/>
          <p:cNvSpPr/>
          <p:nvPr/>
        </p:nvSpPr>
        <p:spPr>
          <a:xfrm>
            <a:off x="546100" y="75819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5" name="S225"/>
          <p:cNvSpPr/>
          <p:nvPr/>
        </p:nvSpPr>
        <p:spPr>
          <a:xfrm>
            <a:off x="546100" y="7581900"/>
            <a:ext cx="76200" cy="381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T226"/>
          <p:cNvSpPr txBox="1"/>
          <p:nvPr/>
        </p:nvSpPr>
        <p:spPr>
          <a:xfrm>
            <a:off x="762000" y="75819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자동 분류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3365500" y="7581900"/>
            <a:ext cx="317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→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3746500" y="75819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Claude (지시 충실)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6731000" y="7581900"/>
            <a:ext cx="228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230" name="S230"/>
          <p:cNvSpPr/>
          <p:nvPr/>
        </p:nvSpPr>
        <p:spPr>
          <a:xfrm>
            <a:off x="546100" y="8064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1" name="S231"/>
          <p:cNvSpPr/>
          <p:nvPr/>
        </p:nvSpPr>
        <p:spPr>
          <a:xfrm>
            <a:off x="546100" y="8064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T232"/>
          <p:cNvSpPr txBox="1"/>
          <p:nvPr/>
        </p:nvSpPr>
        <p:spPr>
          <a:xfrm>
            <a:off x="927100" y="822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도구 선택 원칙 — "한 도구로 다 X, 용도별 최적 도구"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OCR·STT 작업: </a:t>
            </a:r>
            <a:r>
              <a:rPr lang="en-US" sz="1050" b="1" dirty="0">
                <a:solidFill>
                  <a:srgbClr val="F4B400"/>
                </a:solidFill>
              </a:rPr>
              <a:t>ChatGPT (Whisper)</a:t>
            </a:r>
            <a:r>
              <a:rPr lang="en-US" sz="1050" dirty="0">
                <a:solidFill>
                  <a:srgbClr val="FFFFFF"/>
                </a:solidFill>
              </a:rPr>
              <a:t> 또는 </a:t>
            </a:r>
            <a:r>
              <a:rPr lang="en-US" sz="1050" b="1" dirty="0">
                <a:solidFill>
                  <a:srgbClr val="F4B400"/>
                </a:solidFill>
              </a:rPr>
              <a:t>Gemini (Vision)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927100" y="8737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손글씨·자동 분류: </a:t>
            </a:r>
            <a:r>
              <a:rPr lang="en-US" sz="1050" b="1" dirty="0">
                <a:solidFill>
                  <a:srgbClr val="F4B400"/>
                </a:solidFill>
              </a:rPr>
              <a:t>Claude</a:t>
            </a:r>
            <a:r>
              <a:rPr lang="en-US" sz="1050" b="1" dirty="0">
                <a:solidFill>
                  <a:srgbClr val="FFFFFF"/>
                </a:solidFill>
              </a:rPr>
              <a:t>  ·  영상 매뉴얼화: </a:t>
            </a:r>
            <a:r>
              <a:rPr lang="en-US" sz="1050" b="1" dirty="0">
                <a:solidFill>
                  <a:srgbClr val="F4B400"/>
                </a:solidFill>
              </a:rPr>
              <a:t>Gemini Veo</a:t>
            </a:r>
          </a:p>
        </p:txBody>
      </p:sp>
      <p:sp>
        <p:nvSpPr>
          <p:cNvPr id="235" name="S235"/>
          <p:cNvSpPr/>
          <p:nvPr/>
        </p:nvSpPr>
        <p:spPr>
          <a:xfrm>
            <a:off x="546100" y="9207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S236"/>
          <p:cNvSpPr/>
          <p:nvPr/>
        </p:nvSpPr>
        <p:spPr>
          <a:xfrm>
            <a:off x="546100" y="9207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T237"/>
          <p:cNvSpPr txBox="1"/>
          <p:nvPr/>
        </p:nvSpPr>
        <p:spPr>
          <a:xfrm>
            <a:off x="927100" y="937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실무 접근 — 자기 부서 데이터 형태별로 도구 1개 선정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Tier 계정 1개 + 용도별 모듈 분배 = 모든 디지털화 커버</a:t>
            </a:r>
          </a:p>
        </p:txBody>
      </p:sp>
      <p:sp>
        <p:nvSpPr>
          <p:cNvPr id="239" name="S23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0" name="T24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096 —</a:t>
            </a:r>
          </a:p>
        </p:txBody>
      </p:sp>
      <p:sp>
        <p:nvSpPr>
          <p:cNvPr id="242" name="S24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S24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4" name="S24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5" name="S24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56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1.3 · 정확도 한계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Ch.1.3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정확도와 한계 인식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AI는 1차 자료 — 인간 검수가 자산화의 마지막 안전장치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도구별 정확도 (실측 평균) + 검수 필요도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349500"/>
            <a:ext cx="3556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35000" y="23495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작업</a:t>
            </a:r>
          </a:p>
        </p:txBody>
      </p:sp>
      <p:sp>
        <p:nvSpPr>
          <p:cNvPr id="113" name="S113"/>
          <p:cNvSpPr/>
          <p:nvPr/>
        </p:nvSpPr>
        <p:spPr>
          <a:xfrm>
            <a:off x="4102100" y="2349500"/>
            <a:ext cx="1524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4102100" y="23495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정확도</a:t>
            </a:r>
          </a:p>
        </p:txBody>
      </p:sp>
      <p:sp>
        <p:nvSpPr>
          <p:cNvPr id="115" name="S115"/>
          <p:cNvSpPr/>
          <p:nvPr/>
        </p:nvSpPr>
        <p:spPr>
          <a:xfrm>
            <a:off x="5626100" y="2349500"/>
            <a:ext cx="1397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5626100" y="23495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검수 필요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654300"/>
            <a:ext cx="3556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654300"/>
            <a:ext cx="63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98500" y="26543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인쇄 텍스트 OCR</a:t>
            </a:r>
          </a:p>
        </p:txBody>
      </p:sp>
      <p:sp>
        <p:nvSpPr>
          <p:cNvPr id="120" name="S120"/>
          <p:cNvSpPr/>
          <p:nvPr/>
        </p:nvSpPr>
        <p:spPr>
          <a:xfrm>
            <a:off x="4102100" y="2654300"/>
            <a:ext cx="1524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4102100" y="26543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99% +</a:t>
            </a:r>
          </a:p>
        </p:txBody>
      </p:sp>
      <p:sp>
        <p:nvSpPr>
          <p:cNvPr id="122" name="S122"/>
          <p:cNvSpPr/>
          <p:nvPr/>
        </p:nvSpPr>
        <p:spPr>
          <a:xfrm>
            <a:off x="5626100" y="2654300"/>
            <a:ext cx="1397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5626100" y="26543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0A37F"/>
                </a:solidFill>
              </a:rPr>
              <a:t>낮음</a:t>
            </a:r>
          </a:p>
        </p:txBody>
      </p:sp>
      <p:sp>
        <p:nvSpPr>
          <p:cNvPr id="124" name="S124"/>
          <p:cNvSpPr/>
          <p:nvPr/>
        </p:nvSpPr>
        <p:spPr>
          <a:xfrm>
            <a:off x="546100" y="2959100"/>
            <a:ext cx="3556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546100" y="2959100"/>
            <a:ext cx="63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698500" y="29591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도면 부품 OCR</a:t>
            </a:r>
          </a:p>
        </p:txBody>
      </p:sp>
      <p:sp>
        <p:nvSpPr>
          <p:cNvPr id="127" name="S127"/>
          <p:cNvSpPr/>
          <p:nvPr/>
        </p:nvSpPr>
        <p:spPr>
          <a:xfrm>
            <a:off x="4102100" y="2959100"/>
            <a:ext cx="1524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4102100" y="29591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90~95%</a:t>
            </a:r>
          </a:p>
        </p:txBody>
      </p:sp>
      <p:sp>
        <p:nvSpPr>
          <p:cNvPr id="129" name="S129"/>
          <p:cNvSpPr/>
          <p:nvPr/>
        </p:nvSpPr>
        <p:spPr>
          <a:xfrm>
            <a:off x="5626100" y="2959100"/>
            <a:ext cx="1397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5626100" y="29591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보통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263900"/>
            <a:ext cx="3556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3263900"/>
            <a:ext cx="63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698500" y="32639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손글씨 OCR</a:t>
            </a:r>
          </a:p>
        </p:txBody>
      </p:sp>
      <p:sp>
        <p:nvSpPr>
          <p:cNvPr id="134" name="S134"/>
          <p:cNvSpPr/>
          <p:nvPr/>
        </p:nvSpPr>
        <p:spPr>
          <a:xfrm>
            <a:off x="4102100" y="3263900"/>
            <a:ext cx="1524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4102100" y="32639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80~95%</a:t>
            </a:r>
          </a:p>
        </p:txBody>
      </p:sp>
      <p:sp>
        <p:nvSpPr>
          <p:cNvPr id="136" name="S136"/>
          <p:cNvSpPr/>
          <p:nvPr/>
        </p:nvSpPr>
        <p:spPr>
          <a:xfrm>
            <a:off x="5626100" y="3263900"/>
            <a:ext cx="1397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5626100" y="32639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73E1D"/>
                </a:solidFill>
              </a:rPr>
              <a:t>높음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3568700"/>
            <a:ext cx="3556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46100" y="3568700"/>
            <a:ext cx="63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98500" y="35687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한국어 STT (스튜디오)</a:t>
            </a:r>
          </a:p>
        </p:txBody>
      </p:sp>
      <p:sp>
        <p:nvSpPr>
          <p:cNvPr id="141" name="S141"/>
          <p:cNvSpPr/>
          <p:nvPr/>
        </p:nvSpPr>
        <p:spPr>
          <a:xfrm>
            <a:off x="4102100" y="3568700"/>
            <a:ext cx="1524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102100" y="35687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95% +</a:t>
            </a:r>
          </a:p>
        </p:txBody>
      </p:sp>
      <p:sp>
        <p:nvSpPr>
          <p:cNvPr id="143" name="S143"/>
          <p:cNvSpPr/>
          <p:nvPr/>
        </p:nvSpPr>
        <p:spPr>
          <a:xfrm>
            <a:off x="5626100" y="3568700"/>
            <a:ext cx="1397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626100" y="35687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10A37F"/>
                </a:solidFill>
              </a:rPr>
              <a:t>낮음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3873500"/>
            <a:ext cx="3556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3873500"/>
            <a:ext cx="63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698500" y="38735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한국어 STT (현장 노이즈)</a:t>
            </a:r>
          </a:p>
        </p:txBody>
      </p:sp>
      <p:sp>
        <p:nvSpPr>
          <p:cNvPr id="148" name="S148"/>
          <p:cNvSpPr/>
          <p:nvPr/>
        </p:nvSpPr>
        <p:spPr>
          <a:xfrm>
            <a:off x="4102100" y="3873500"/>
            <a:ext cx="1524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4102100" y="38735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70~85%</a:t>
            </a:r>
          </a:p>
        </p:txBody>
      </p:sp>
      <p:sp>
        <p:nvSpPr>
          <p:cNvPr id="150" name="S150"/>
          <p:cNvSpPr/>
          <p:nvPr/>
        </p:nvSpPr>
        <p:spPr>
          <a:xfrm>
            <a:off x="5626100" y="3873500"/>
            <a:ext cx="1397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5626100" y="38735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73E1D"/>
                </a:solidFill>
              </a:rPr>
              <a:t>높음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4178300"/>
            <a:ext cx="3556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4178300"/>
            <a:ext cx="63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698500" y="41783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다국어 동시 STT</a:t>
            </a:r>
          </a:p>
        </p:txBody>
      </p:sp>
      <p:sp>
        <p:nvSpPr>
          <p:cNvPr id="155" name="S155"/>
          <p:cNvSpPr/>
          <p:nvPr/>
        </p:nvSpPr>
        <p:spPr>
          <a:xfrm>
            <a:off x="4102100" y="4178300"/>
            <a:ext cx="1524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4102100" y="41783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80~90%</a:t>
            </a:r>
          </a:p>
        </p:txBody>
      </p:sp>
      <p:sp>
        <p:nvSpPr>
          <p:cNvPr id="157" name="S157"/>
          <p:cNvSpPr/>
          <p:nvPr/>
        </p:nvSpPr>
        <p:spPr>
          <a:xfrm>
            <a:off x="5626100" y="4178300"/>
            <a:ext cx="1397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5626100" y="41783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보통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4483100"/>
            <a:ext cx="3556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4483100"/>
            <a:ext cx="63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698500" y="44831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영상 매뉴얼화</a:t>
            </a:r>
          </a:p>
        </p:txBody>
      </p:sp>
      <p:sp>
        <p:nvSpPr>
          <p:cNvPr id="162" name="S162"/>
          <p:cNvSpPr/>
          <p:nvPr/>
        </p:nvSpPr>
        <p:spPr>
          <a:xfrm>
            <a:off x="4102100" y="4483100"/>
            <a:ext cx="1524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4102100" y="44831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70~85%</a:t>
            </a:r>
          </a:p>
        </p:txBody>
      </p:sp>
      <p:sp>
        <p:nvSpPr>
          <p:cNvPr id="164" name="S164"/>
          <p:cNvSpPr/>
          <p:nvPr/>
        </p:nvSpPr>
        <p:spPr>
          <a:xfrm>
            <a:off x="5626100" y="4483100"/>
            <a:ext cx="1397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5626100" y="4483100"/>
            <a:ext cx="139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73E1D"/>
                </a:solidFill>
              </a:rPr>
              <a:t>높음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48260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762000" y="4826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⚠️ 5가지 한계 인지 — 미리 알면 대응 가능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5334000"/>
            <a:ext cx="6477000" cy="43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546100" y="5334000"/>
            <a:ext cx="63500" cy="431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698500" y="54229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698500" y="54229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1079500" y="53975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입력 품질 의존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2921000" y="5435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흐릿한 사진 · 시끄러운 음성 → 정확도 급락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5791200"/>
            <a:ext cx="6477000" cy="43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5791200"/>
            <a:ext cx="63500" cy="431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698500" y="58801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698500" y="58801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1079500" y="58547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도메인 용어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5892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건설기계 전문 용어 → 일부 오인식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6248400"/>
            <a:ext cx="6477000" cy="43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6248400"/>
            <a:ext cx="63500" cy="431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698500" y="63373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698500" y="63373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079500" y="63119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약어 · 고유명사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2921000" y="6350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"PC200-8" 등 부품번호 정확도 변동</a:t>
            </a:r>
          </a:p>
        </p:txBody>
      </p:sp>
      <p:sp>
        <p:nvSpPr>
          <p:cNvPr id="186" name="S186"/>
          <p:cNvSpPr/>
          <p:nvPr/>
        </p:nvSpPr>
        <p:spPr>
          <a:xfrm>
            <a:off x="546100" y="6705600"/>
            <a:ext cx="6477000" cy="43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546100" y="6705600"/>
            <a:ext cx="63500" cy="431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698500" y="67945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698500" y="67945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1079500" y="67691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다국어 · 혼합어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2921000" y="68072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한 · 영 혼용 시 정확도 저하</a:t>
            </a:r>
          </a:p>
        </p:txBody>
      </p:sp>
      <p:sp>
        <p:nvSpPr>
          <p:cNvPr id="192" name="S192"/>
          <p:cNvSpPr/>
          <p:nvPr/>
        </p:nvSpPr>
        <p:spPr>
          <a:xfrm>
            <a:off x="546100" y="7162800"/>
            <a:ext cx="6477000" cy="43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546100" y="7162800"/>
            <a:ext cx="63500" cy="431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698500" y="72517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T195"/>
          <p:cNvSpPr txBox="1"/>
          <p:nvPr/>
        </p:nvSpPr>
        <p:spPr>
          <a:xfrm>
            <a:off x="698500" y="7251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1079500" y="72263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손글씨 · 약어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2921000" y="7264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손글씨 약어 → 검수 필수</a:t>
            </a:r>
          </a:p>
        </p:txBody>
      </p:sp>
      <p:sp>
        <p:nvSpPr>
          <p:cNvPr id="198" name="S198"/>
          <p:cNvSpPr/>
          <p:nvPr/>
        </p:nvSpPr>
        <p:spPr>
          <a:xfrm>
            <a:off x="546100" y="77470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S199"/>
          <p:cNvSpPr/>
          <p:nvPr/>
        </p:nvSpPr>
        <p:spPr>
          <a:xfrm>
            <a:off x="546100" y="77470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927100" y="7937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검수 원칙 — 3가지 절대 원칙</a:t>
            </a:r>
          </a:p>
        </p:txBody>
      </p:sp>
      <p:sp>
        <p:nvSpPr>
          <p:cNvPr id="201" name="S201"/>
          <p:cNvSpPr/>
          <p:nvPr/>
        </p:nvSpPr>
        <p:spPr>
          <a:xfrm>
            <a:off x="927100" y="83185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927100" y="83185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270000" y="83312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AI 결과는 항상 1차 자료로 취급 — "완성품"이 아닌 "초안"</a:t>
            </a:r>
          </a:p>
        </p:txBody>
      </p:sp>
      <p:sp>
        <p:nvSpPr>
          <p:cNvPr id="204" name="S204"/>
          <p:cNvSpPr/>
          <p:nvPr/>
        </p:nvSpPr>
        <p:spPr>
          <a:xfrm>
            <a:off x="927100" y="85979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8597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270000" y="86106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중요 데이터는 인간 검수 거쳐 사내 등록 (계약 · 의사결정 · 안전)</a:t>
            </a:r>
          </a:p>
        </p:txBody>
      </p:sp>
      <p:sp>
        <p:nvSpPr>
          <p:cNvPr id="207" name="S207"/>
          <p:cNvSpPr/>
          <p:nvPr/>
        </p:nvSpPr>
        <p:spPr>
          <a:xfrm>
            <a:off x="927100" y="8877300"/>
            <a:ext cx="2286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T208"/>
          <p:cNvSpPr txBox="1"/>
          <p:nvPr/>
        </p:nvSpPr>
        <p:spPr>
          <a:xfrm>
            <a:off x="927100" y="88773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1270000" y="8890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"[확인 필요]" 자동 표시 활용 — 신뢰도 ★4 미만 자동 플래깅</a:t>
            </a:r>
          </a:p>
        </p:txBody>
      </p:sp>
      <p:sp>
        <p:nvSpPr>
          <p:cNvPr id="210" name="S210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T212"/>
          <p:cNvSpPr txBox="1"/>
          <p:nvPr/>
        </p:nvSpPr>
        <p:spPr>
          <a:xfrm>
            <a:off x="9271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AI는 </a:t>
            </a:r>
            <a:r>
              <a:rPr lang="en-US" sz="1300" b="1" dirty="0">
                <a:solidFill>
                  <a:srgbClr val="F4B400"/>
                </a:solidFill>
              </a:rPr>
              <a:t>1차 자료</a:t>
            </a:r>
            <a:r>
              <a:rPr lang="en-US" sz="1300" dirty="0">
                <a:solidFill>
                  <a:srgbClr val="FFFFFF"/>
                </a:solidFill>
              </a:rPr>
              <a:t>  ·  </a:t>
            </a:r>
            <a:r>
              <a:rPr lang="en-US" sz="1300" b="1" dirty="0">
                <a:solidFill>
                  <a:srgbClr val="F4B400"/>
                </a:solidFill>
              </a:rPr>
              <a:t>인간 검수</a:t>
            </a:r>
            <a:r>
              <a:rPr lang="en-US" sz="1300" b="1" dirty="0">
                <a:solidFill>
                  <a:srgbClr val="FFFFFF"/>
                </a:solidFill>
              </a:rPr>
              <a:t>가 마지막 안전장치</a:t>
            </a:r>
          </a:p>
        </p:txBody>
      </p:sp>
      <p:sp>
        <p:nvSpPr>
          <p:cNvPr id="213" name="S21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T21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097 —</a:t>
            </a:r>
          </a:p>
        </p:txBody>
      </p:sp>
      <p:sp>
        <p:nvSpPr>
          <p:cNvPr id="216" name="S21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S21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S21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S21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80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Chapter 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Ch.1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기술 개관 — 4기술 + 4도구 + 검수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4가지 디지털화 기술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OCR · STT · 영상 · 자동 분류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비정형 데이터 모든 형태를 분석 가능한 자산으로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도구별 강점 매트릭스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용도별 최적 도구 선택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손글씨=Claude · 회의=ChatGPT · 영상=Gemini · 분류=Claude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정확도 한계 인식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AI는 1차 자료 · 인간 검수 필수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중요 데이터일수록 검수 비중 ↑ — 안전장치 없으면 자산 X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디지털화는 </a:t>
            </a:r>
            <a:r>
              <a:rPr lang="en-US" sz="1500" b="1" dirty="0">
                <a:solidFill>
                  <a:srgbClr val="E8632C"/>
                </a:solidFill>
              </a:rPr>
              <a:t>마법이 아니다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시스템 + 검수</a:t>
            </a:r>
            <a:r>
              <a:rPr lang="en-US" sz="1500" b="1" dirty="0">
                <a:solidFill>
                  <a:srgbClr val="FFFFFF"/>
                </a:solidFill>
              </a:rPr>
              <a:t>가 자산화의 핵심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AI는 1차 자료 — 인간 검수가 자산화의 마지막 안전장치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</a:t>
            </a:r>
            <a:r>
              <a:rPr lang="en-US" sz="1500" b="1" dirty="0">
                <a:solidFill>
                  <a:srgbClr val="FFFFFF"/>
                </a:solidFill>
              </a:rPr>
              <a:t>OCR 이미지 → 텍스트 (실습 시작)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098 —</a:t>
            </a: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717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03 · DAY 3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OCR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OCR — 이미지를 텍스트로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Optical Character Recognition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"종이·이미지 → 검색 가능한 텍스트·구조화 데이터"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OCR 작동 원리·발전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도면·점검표 OCR 실습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손글씨 노트 OCR 실습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다국어 OCR 처리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정확도 향상 팁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종이 → 검색·분석 가능한 디지털 자산 (4시간 → 5분 단축)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099 —</a:t>
            </a:r>
          </a:p>
        </p:txBody>
      </p:sp>
    </p:spTree>
    <p:extLst>
      <p:ext uri="{BB962C8B-B14F-4D97-AF65-F5344CB8AC3E}">
        <p14:creationId xmlns:p14="http://schemas.microsoft.com/office/powerpoint/2010/main" val="84516873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2.1 · OCR 원리 · 그림 3-3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Ch.2.1 · 그림 3-3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OCR 작동 원리와 최근 발전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3단계 작동 + 전통 OCR vs LLM Vision의 결정적 차이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2159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73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73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81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73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이미지 분석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73100" y="2984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0F3A2E"/>
                </a:solidFill>
              </a:rPr>
              <a:t>(Vision)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73100" y="3238500"/>
            <a:ext cx="1905000" cy="44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이미지 → 픽셀 분석
텍스트 영역·도표·이미지 구분</a:t>
            </a:r>
          </a:p>
        </p:txBody>
      </p:sp>
      <p:sp>
        <p:nvSpPr>
          <p:cNvPr id="117" name="S117"/>
          <p:cNvSpPr/>
          <p:nvPr/>
        </p:nvSpPr>
        <p:spPr>
          <a:xfrm>
            <a:off x="2705100" y="2768600"/>
            <a:ext cx="165100" cy="1778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2705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2705100" y="1968500"/>
            <a:ext cx="2159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832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2832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3340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832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문자 인식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832100" y="2984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(Recognition)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832100" y="3238500"/>
            <a:ext cx="1905000" cy="44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픽셀 패턴 → 문자 매칭
언어 모델로 컨텍스트 보정</a:t>
            </a:r>
          </a:p>
        </p:txBody>
      </p:sp>
      <p:sp>
        <p:nvSpPr>
          <p:cNvPr id="126" name="S126"/>
          <p:cNvSpPr/>
          <p:nvPr/>
        </p:nvSpPr>
        <p:spPr>
          <a:xfrm>
            <a:off x="4864100" y="2768600"/>
            <a:ext cx="165100" cy="1778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4864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4864100" y="1968500"/>
            <a:ext cx="21590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4991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4991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499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4991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구조화 출력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4991100" y="2984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8B9A3F"/>
                </a:solidFill>
              </a:rPr>
              <a:t>(Output)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991100" y="3238500"/>
            <a:ext cx="1905000" cy="444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문자 → 텍스트
표·레이아웃 보존 + 메타데이터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4000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4000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전통 OCR vs LLM Vision — 결정적 차이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4381500"/>
            <a:ext cx="1651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4381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특성</a:t>
            </a:r>
          </a:p>
        </p:txBody>
      </p:sp>
      <p:sp>
        <p:nvSpPr>
          <p:cNvPr id="139" name="S139"/>
          <p:cNvSpPr/>
          <p:nvPr/>
        </p:nvSpPr>
        <p:spPr>
          <a:xfrm>
            <a:off x="2197100" y="4381500"/>
            <a:ext cx="24130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2197100" y="43815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전통 OCR</a:t>
            </a:r>
          </a:p>
        </p:txBody>
      </p:sp>
      <p:sp>
        <p:nvSpPr>
          <p:cNvPr id="141" name="S141"/>
          <p:cNvSpPr/>
          <p:nvPr/>
        </p:nvSpPr>
        <p:spPr>
          <a:xfrm>
            <a:off x="4610100" y="4381500"/>
            <a:ext cx="24130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610100" y="43815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LLM Vision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686300"/>
            <a:ext cx="1651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6863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구조 인식</a:t>
            </a:r>
          </a:p>
        </p:txBody>
      </p:sp>
      <p:sp>
        <p:nvSpPr>
          <p:cNvPr id="145" name="S145"/>
          <p:cNvSpPr/>
          <p:nvPr/>
        </p:nvSpPr>
        <p:spPr>
          <a:xfrm>
            <a:off x="2197100" y="46863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2260600" y="46863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단순 텍스트 추출</a:t>
            </a:r>
          </a:p>
        </p:txBody>
      </p:sp>
      <p:sp>
        <p:nvSpPr>
          <p:cNvPr id="147" name="S147"/>
          <p:cNvSpPr/>
          <p:nvPr/>
        </p:nvSpPr>
        <p:spPr>
          <a:xfrm>
            <a:off x="4610100" y="46863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4673600" y="46863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컨텍스트 이해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991100"/>
            <a:ext cx="1651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9911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손글씨</a:t>
            </a:r>
          </a:p>
        </p:txBody>
      </p:sp>
      <p:sp>
        <p:nvSpPr>
          <p:cNvPr id="151" name="S151"/>
          <p:cNvSpPr/>
          <p:nvPr/>
        </p:nvSpPr>
        <p:spPr>
          <a:xfrm>
            <a:off x="2197100" y="4991100"/>
            <a:ext cx="241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2260600" y="49911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낮은 정확도</a:t>
            </a:r>
          </a:p>
        </p:txBody>
      </p:sp>
      <p:sp>
        <p:nvSpPr>
          <p:cNvPr id="153" name="S153"/>
          <p:cNvSpPr/>
          <p:nvPr/>
        </p:nvSpPr>
        <p:spPr>
          <a:xfrm>
            <a:off x="4610100" y="4991100"/>
            <a:ext cx="241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4673600" y="49911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높은 정확도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5295900"/>
            <a:ext cx="1651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46100" y="52959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후처리</a:t>
            </a:r>
          </a:p>
        </p:txBody>
      </p:sp>
      <p:sp>
        <p:nvSpPr>
          <p:cNvPr id="157" name="S157"/>
          <p:cNvSpPr/>
          <p:nvPr/>
        </p:nvSpPr>
        <p:spPr>
          <a:xfrm>
            <a:off x="2197100" y="52959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2260600" y="52959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별도 시스템 필요</a:t>
            </a:r>
          </a:p>
        </p:txBody>
      </p:sp>
      <p:sp>
        <p:nvSpPr>
          <p:cNvPr id="159" name="S159"/>
          <p:cNvSpPr/>
          <p:nvPr/>
        </p:nvSpPr>
        <p:spPr>
          <a:xfrm>
            <a:off x="4610100" y="52959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4673600" y="52959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자연어 처리 일체화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5600700"/>
            <a:ext cx="1651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546100" y="56007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다국어</a:t>
            </a:r>
          </a:p>
        </p:txBody>
      </p:sp>
      <p:sp>
        <p:nvSpPr>
          <p:cNvPr id="163" name="S163"/>
          <p:cNvSpPr/>
          <p:nvPr/>
        </p:nvSpPr>
        <p:spPr>
          <a:xfrm>
            <a:off x="2197100" y="5600700"/>
            <a:ext cx="241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2260600" y="56007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제한적</a:t>
            </a:r>
          </a:p>
        </p:txBody>
      </p:sp>
      <p:sp>
        <p:nvSpPr>
          <p:cNvPr id="165" name="S165"/>
          <p:cNvSpPr/>
          <p:nvPr/>
        </p:nvSpPr>
        <p:spPr>
          <a:xfrm>
            <a:off x="4610100" y="5600700"/>
            <a:ext cx="241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4673600" y="56007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자유로움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5905500"/>
            <a:ext cx="1651000" cy="3048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546100" y="590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2C2C2C"/>
                </a:solidFill>
              </a:rPr>
              <a:t>비용</a:t>
            </a:r>
          </a:p>
        </p:txBody>
      </p:sp>
      <p:sp>
        <p:nvSpPr>
          <p:cNvPr id="169" name="S169"/>
          <p:cNvSpPr/>
          <p:nvPr/>
        </p:nvSpPr>
        <p:spPr>
          <a:xfrm>
            <a:off x="2197100" y="59055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2260600" y="59055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인프라 구축</a:t>
            </a:r>
          </a:p>
        </p:txBody>
      </p:sp>
      <p:sp>
        <p:nvSpPr>
          <p:cNvPr id="171" name="S171"/>
          <p:cNvSpPr/>
          <p:nvPr/>
        </p:nvSpPr>
        <p:spPr>
          <a:xfrm>
            <a:off x="4610100" y="5905500"/>
            <a:ext cx="241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4673600" y="59055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사용량 기반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286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477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최근 발전 (2024~2026)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6794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ChatGPT Vision · Gemini Vision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3911600" y="6794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인쇄·손글씨 모두 우수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70739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Claude Vision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3911600" y="70739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손글씨·복잡한 레이아웃 강점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실무 의의 — 왜 LLM Vision이 게임 체인저인가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8102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별도 OCR 인프라 불필요</a:t>
            </a:r>
            <a:r>
              <a:rPr lang="en-US" sz="1100" dirty="0">
                <a:solidFill>
                  <a:srgbClr val="FFFFFF"/>
                </a:solidFill>
              </a:rPr>
              <a:t> — Tier 계정 1개로 즉시 사용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927100" y="8382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자연어 후처리 통합</a:t>
            </a:r>
            <a:r>
              <a:rPr lang="en-US" sz="1050" dirty="0">
                <a:solidFill>
                  <a:srgbClr val="FFFFFF"/>
                </a:solidFill>
              </a:rPr>
              <a:t> — "점검표 ★ 항목만 추출" 즉시 가능</a:t>
            </a:r>
          </a:p>
        </p:txBody>
      </p:sp>
      <p:sp>
        <p:nvSpPr>
          <p:cNvPr id="185" name="S185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다음 절 — 실제 도면 OCR 실습 (실습 3-1)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762000" y="9398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굴삭기 유압 펌프 분해도 → 25개 부품 정보 자동 추출 (4시간 → 5분)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DAY 2에서 촬영한 도면 사진 또는 제공 샘플로 즉시 실습</a:t>
            </a:r>
          </a:p>
        </p:txBody>
      </p:sp>
      <p:sp>
        <p:nvSpPr>
          <p:cNvPr id="189" name="S189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100 —</a:t>
            </a:r>
          </a:p>
        </p:txBody>
      </p:sp>
      <p:sp>
        <p:nvSpPr>
          <p:cNvPr id="192" name="S192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S195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839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3-1 · 도면 OCR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3-1 · 그림 3-4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3-1] 도면 OCR — 부품 정보 자동 추출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굴삭기 유압 펌프 분해도 → 25개 부품 자동 추출 (4시간 → 5분)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32000" y="2070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도면 이미지 첨부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2032000" y="2349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PDF 또는 PNG (이미 촬영한 도면)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641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6416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27686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2768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S121"/>
          <p:cNvSpPr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2분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032000" y="2743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자연어 요청 입력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032000" y="3022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부품번호·명칭·위치·치수 추출 + 한글 번역 + 신뢰도 표시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4417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441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S129"/>
          <p:cNvSpPr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30초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032000" y="3416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자동 추출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2032000" y="3695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25개 부품 자동 표 생성 (Excel 다운로드 가능)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39878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39878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41148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4114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S137"/>
          <p:cNvSpPr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1분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2032000" y="4089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검수 + 사내 등록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2032000" y="43688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신뢰도 ★4 미만 검수 → 부품 카탈로그 DB 등록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4762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762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💬 자연어 요청 템플릿 (Step 2)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5143500"/>
            <a:ext cx="6477000" cy="2159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5270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이 굴삭기 유압 펌프 분해도에서: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762000" y="55499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1. 모든 부품 번호와 명칭 추출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762000" y="57277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2. 부품 위치 (좌상/중앙/우하 등)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762000" y="5905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3. 표시된 치수 (있다면)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762000" y="60833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4. 부품 간 조립 순서 추정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762000" y="62611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/>
          </a:p>
        </p:txBody>
      </p:sp>
      <p:sp>
        <p:nvSpPr>
          <p:cNvPr id="150" name="T150"/>
          <p:cNvSpPr txBox="1"/>
          <p:nvPr/>
        </p:nvSpPr>
        <p:spPr>
          <a:xfrm>
            <a:off x="762000" y="64389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응답 형식: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762000" y="66167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E8632C"/>
                </a:solidFill>
              </a:rPr>
              <a:t>• 표: 부품번호 / 명칭 / 위치 / 치수 / 비고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762000" y="6794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E8632C"/>
                </a:solidFill>
              </a:rPr>
              <a:t>• 영문 부품명은 한글 자동 번역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762000" y="69723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E8632C"/>
                </a:solidFill>
              </a:rPr>
              <a:t>• 신뢰도 ★ 1~5 표시 (애매한 경우)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7493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546100" y="7493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927100" y="7658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실제 산출물 — 25개 부품 자동 표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27100" y="7937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📊 Excel 표 (25행 × 5컬럼) — 번호·명칭·위치·치수·신뢰도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8191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🌐 영문 부품명 자동 한글 번역 — 도면 그대로 사내 활용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27100" y="8420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⭐ 신뢰도 표시로 검수 우선순위 자동 결정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8826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546100" y="8826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8978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</a:t>
            </a:r>
            <a:r>
              <a:rPr lang="en-US" sz="1300" dirty="0">
                <a:solidFill>
                  <a:srgbClr val="FFFFFF"/>
                </a:solidFill>
              </a:rPr>
              <a:t>매뉴얼 디지털화 </a:t>
            </a:r>
            <a:r>
              <a:rPr lang="en-US" sz="1500" b="1" dirty="0">
                <a:solidFill>
                  <a:srgbClr val="F4B400"/>
                </a:solidFill>
              </a:rPr>
              <a:t>1일 → 30분</a:t>
            </a:r>
            <a:r>
              <a:rPr lang="en-US" sz="1100" dirty="0">
                <a:solidFill>
                  <a:srgbClr val="FFFFFF"/>
                </a:solidFill>
              </a:rPr>
              <a:t>  (96% 단축)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9588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9652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적용 팁 — </a:t>
            </a:r>
            <a:r>
              <a:rPr lang="en-US" sz="1100" dirty="0">
                <a:solidFill>
                  <a:srgbClr val="2C2C2C"/>
                </a:solidFill>
              </a:rPr>
              <a:t>1차 OCR 후 </a:t>
            </a:r>
            <a:r>
              <a:rPr lang="en-US" sz="1100" b="1" dirty="0">
                <a:solidFill>
                  <a:srgbClr val="E8632C"/>
                </a:solidFill>
              </a:rPr>
              <a:t>Claude로 검수·교정</a:t>
            </a:r>
            <a:r>
              <a:rPr lang="en-US" sz="1100" dirty="0">
                <a:solidFill>
                  <a:srgbClr val="2C2C2C"/>
                </a:solidFill>
              </a:rPr>
              <a:t> 시 정확도 5~10%↑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101 —</a:t>
            </a:r>
          </a:p>
        </p:txBody>
      </p:sp>
      <p:sp>
        <p:nvSpPr>
          <p:cNvPr id="168" name="S16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961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054D-595E-7C53-AE20-E74718F6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D354262F-3799-98CB-75BE-75828FE1597A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CF831073-4235-1260-16E4-46467CAE5BC9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1B1A5B58-A7EF-F3E0-58B3-32CDF4544B5C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3-1 · 도면 OCR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71B29F01-A6D6-83E0-B155-1A69130C8967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C9521792-0369-8FB9-01FF-A996CD28067D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3-1 · 그림 3-4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967E8885-483A-3E86-A1CE-31A7C300FEB9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>
            <a:extLst>
              <a:ext uri="{FF2B5EF4-FFF2-40B4-BE49-F238E27FC236}">
                <a16:creationId xmlns:a16="http://schemas.microsoft.com/office/drawing/2014/main" id="{9E5213AF-6893-FCF1-1DFA-42DE204F7D2A}"/>
              </a:ext>
            </a:extLst>
          </p:cNvPr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3-1] 도면 OCR — 부품 정보 자동 추출</a:t>
            </a:r>
          </a:p>
        </p:txBody>
      </p:sp>
      <p:sp>
        <p:nvSpPr>
          <p:cNvPr id="108" name="T108">
            <a:extLst>
              <a:ext uri="{FF2B5EF4-FFF2-40B4-BE49-F238E27FC236}">
                <a16:creationId xmlns:a16="http://schemas.microsoft.com/office/drawing/2014/main" id="{1909AF56-15A1-DF9F-C17F-729C4FF9AA2D}"/>
              </a:ext>
            </a:extLst>
          </p:cNvPr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굴삭기 유압 펌프 분해도 → 25개 부품 자동 추출 (4시간 → 5분)</a:t>
            </a:r>
          </a:p>
        </p:txBody>
      </p:sp>
      <p:sp>
        <p:nvSpPr>
          <p:cNvPr id="165" name="S165">
            <a:extLst>
              <a:ext uri="{FF2B5EF4-FFF2-40B4-BE49-F238E27FC236}">
                <a16:creationId xmlns:a16="http://schemas.microsoft.com/office/drawing/2014/main" id="{D6155AF2-0B16-7016-BCF5-3F760F43FE5E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>
            <a:extLst>
              <a:ext uri="{FF2B5EF4-FFF2-40B4-BE49-F238E27FC236}">
                <a16:creationId xmlns:a16="http://schemas.microsoft.com/office/drawing/2014/main" id="{4620A591-2815-EE0C-916D-FAA2E0C615D8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7" name="T167">
            <a:extLst>
              <a:ext uri="{FF2B5EF4-FFF2-40B4-BE49-F238E27FC236}">
                <a16:creationId xmlns:a16="http://schemas.microsoft.com/office/drawing/2014/main" id="{9492E273-8B1F-1C2A-EED0-999658DFCFFF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101 —</a:t>
            </a:r>
          </a:p>
        </p:txBody>
      </p:sp>
      <p:sp>
        <p:nvSpPr>
          <p:cNvPr id="168" name="S168">
            <a:extLst>
              <a:ext uri="{FF2B5EF4-FFF2-40B4-BE49-F238E27FC236}">
                <a16:creationId xmlns:a16="http://schemas.microsoft.com/office/drawing/2014/main" id="{A6E95358-436A-DDC7-ECA8-4205BF3EE372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>
            <a:extLst>
              <a:ext uri="{FF2B5EF4-FFF2-40B4-BE49-F238E27FC236}">
                <a16:creationId xmlns:a16="http://schemas.microsoft.com/office/drawing/2014/main" id="{766332B0-9F08-0E49-D3A7-DCB09E3F2B6C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>
            <a:extLst>
              <a:ext uri="{FF2B5EF4-FFF2-40B4-BE49-F238E27FC236}">
                <a16:creationId xmlns:a16="http://schemas.microsoft.com/office/drawing/2014/main" id="{92BB2484-A097-1275-7F5E-BCA89EE6D9D0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>
            <a:extLst>
              <a:ext uri="{FF2B5EF4-FFF2-40B4-BE49-F238E27FC236}">
                <a16:creationId xmlns:a16="http://schemas.microsoft.com/office/drawing/2014/main" id="{CA1EEC8E-8690-DA69-CCA0-ADACA8A4BDD1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47CB11F-5815-0E33-0709-4958E4AB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51" y="1765300"/>
            <a:ext cx="6379450" cy="3429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9CC4C4A-D827-C8AA-65E1-75EC94A92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11" y="5524500"/>
            <a:ext cx="6917930" cy="394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7810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3-2 · 점검표 DB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3-2 · 그림 3-5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3-2] 종이 점검표 OCR + 정비 이력 DB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30장 점검표 사진 → 디지털 정비 이력 DB (4시간 → 5분)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5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209550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spc="200" dirty="0">
                <a:solidFill>
                  <a:srgbClr val="6B6B6B"/>
                </a:solidFill>
              </a:rPr>
              <a:t>INPUT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546100" y="23495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0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546100" y="285750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2C2C2C"/>
                </a:solidFill>
              </a:rPr>
              <a:t>30장 점검표 사진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546100" y="3111500"/>
            <a:ext cx="2159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(현장 정비사 촬영)</a:t>
            </a:r>
          </a:p>
        </p:txBody>
      </p:sp>
      <p:sp>
        <p:nvSpPr>
          <p:cNvPr id="114" name="S114"/>
          <p:cNvSpPr/>
          <p:nvPr/>
        </p:nvSpPr>
        <p:spPr>
          <a:xfrm>
            <a:off x="2768600" y="2641600"/>
            <a:ext cx="2540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115"/>
          <p:cNvSpPr/>
          <p:nvPr/>
        </p:nvSpPr>
        <p:spPr>
          <a:xfrm>
            <a:off x="3086100" y="1968500"/>
            <a:ext cx="2159000" cy="1524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3086100" y="209550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spc="200" dirty="0">
                <a:solidFill>
                  <a:srgbClr val="F4B400"/>
                </a:solidFill>
              </a:rPr>
              <a:t>PROCESS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3086100" y="2387600"/>
            <a:ext cx="215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Vision OCR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3213100" y="2730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• 30장 일괄 처리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3213100" y="29337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• 항목 자동 추출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213100" y="31369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• 표 형식 변환</a:t>
            </a:r>
          </a:p>
        </p:txBody>
      </p:sp>
      <p:sp>
        <p:nvSpPr>
          <p:cNvPr id="121" name="S121"/>
          <p:cNvSpPr/>
          <p:nvPr/>
        </p:nvSpPr>
        <p:spPr>
          <a:xfrm>
            <a:off x="3213100" y="3327400"/>
            <a:ext cx="19050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3213100" y="33274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5분 처리</a:t>
            </a:r>
          </a:p>
        </p:txBody>
      </p:sp>
      <p:sp>
        <p:nvSpPr>
          <p:cNvPr id="123" name="S123"/>
          <p:cNvSpPr/>
          <p:nvPr/>
        </p:nvSpPr>
        <p:spPr>
          <a:xfrm>
            <a:off x="5308600" y="2641600"/>
            <a:ext cx="254000" cy="177800"/>
          </a:xfrm>
          <a:prstGeom prst="rightArrow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626100" y="1968500"/>
            <a:ext cx="1397000" cy="1524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5626100" y="2095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b="1" spc="200" dirty="0">
                <a:solidFill>
                  <a:srgbClr val="F4B400"/>
                </a:solidFill>
              </a:rPr>
              <a:t>OUTPUT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5626100" y="23876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8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626100" y="27305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디지털 DB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5626100" y="2984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30행 × 12컬럼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626100" y="32131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★ 분석 가능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3746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762000" y="3746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디지털 정비 이력 DB — 미리보기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4127500"/>
            <a:ext cx="762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546100" y="41275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일자</a:t>
            </a:r>
          </a:p>
        </p:txBody>
      </p:sp>
      <p:sp>
        <p:nvSpPr>
          <p:cNvPr id="134" name="S134"/>
          <p:cNvSpPr/>
          <p:nvPr/>
        </p:nvSpPr>
        <p:spPr>
          <a:xfrm>
            <a:off x="1308100" y="4127500"/>
            <a:ext cx="10160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1308100" y="4127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정비사</a:t>
            </a:r>
          </a:p>
        </p:txBody>
      </p:sp>
      <p:sp>
        <p:nvSpPr>
          <p:cNvPr id="136" name="S136"/>
          <p:cNvSpPr/>
          <p:nvPr/>
        </p:nvSpPr>
        <p:spPr>
          <a:xfrm>
            <a:off x="2324100" y="4127500"/>
            <a:ext cx="9525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2324100" y="4127500"/>
            <a:ext cx="95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장비</a:t>
            </a:r>
          </a:p>
        </p:txBody>
      </p:sp>
      <p:sp>
        <p:nvSpPr>
          <p:cNvPr id="138" name="S138"/>
          <p:cNvSpPr/>
          <p:nvPr/>
        </p:nvSpPr>
        <p:spPr>
          <a:xfrm>
            <a:off x="3276600" y="4127500"/>
            <a:ext cx="635000" cy="2794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3276600" y="41275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정상</a:t>
            </a:r>
          </a:p>
        </p:txBody>
      </p:sp>
      <p:sp>
        <p:nvSpPr>
          <p:cNvPr id="140" name="S140"/>
          <p:cNvSpPr/>
          <p:nvPr/>
        </p:nvSpPr>
        <p:spPr>
          <a:xfrm>
            <a:off x="3911600" y="4127500"/>
            <a:ext cx="635000" cy="279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3911600" y="41275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F3A2E"/>
                </a:solidFill>
              </a:rPr>
              <a:t>주의</a:t>
            </a:r>
          </a:p>
        </p:txBody>
      </p:sp>
      <p:sp>
        <p:nvSpPr>
          <p:cNvPr id="142" name="S142"/>
          <p:cNvSpPr/>
          <p:nvPr/>
        </p:nvSpPr>
        <p:spPr>
          <a:xfrm>
            <a:off x="4546600" y="4127500"/>
            <a:ext cx="635000" cy="2794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4546600" y="41275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불량</a:t>
            </a:r>
          </a:p>
        </p:txBody>
      </p:sp>
      <p:sp>
        <p:nvSpPr>
          <p:cNvPr id="144" name="S144"/>
          <p:cNvSpPr/>
          <p:nvPr/>
        </p:nvSpPr>
        <p:spPr>
          <a:xfrm>
            <a:off x="5181600" y="4127500"/>
            <a:ext cx="1841500" cy="2794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181600" y="4127500"/>
            <a:ext cx="1841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4406900"/>
            <a:ext cx="762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546100" y="44069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05-09</a:t>
            </a:r>
          </a:p>
        </p:txBody>
      </p:sp>
      <p:sp>
        <p:nvSpPr>
          <p:cNvPr id="148" name="S148"/>
          <p:cNvSpPr/>
          <p:nvPr/>
        </p:nvSpPr>
        <p:spPr>
          <a:xfrm>
            <a:off x="1308100" y="4406900"/>
            <a:ext cx="1016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1308100" y="44069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김정비</a:t>
            </a:r>
          </a:p>
        </p:txBody>
      </p:sp>
      <p:sp>
        <p:nvSpPr>
          <p:cNvPr id="150" name="S150"/>
          <p:cNvSpPr/>
          <p:nvPr/>
        </p:nvSpPr>
        <p:spPr>
          <a:xfrm>
            <a:off x="2324100" y="4406900"/>
            <a:ext cx="9525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2324100" y="4406900"/>
            <a:ext cx="95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PC200</a:t>
            </a:r>
          </a:p>
        </p:txBody>
      </p:sp>
      <p:sp>
        <p:nvSpPr>
          <p:cNvPr id="152" name="S152"/>
          <p:cNvSpPr/>
          <p:nvPr/>
        </p:nvSpPr>
        <p:spPr>
          <a:xfrm>
            <a:off x="3276600" y="4406900"/>
            <a:ext cx="635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276600" y="44069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10</a:t>
            </a:r>
          </a:p>
        </p:txBody>
      </p:sp>
      <p:sp>
        <p:nvSpPr>
          <p:cNvPr id="154" name="S154"/>
          <p:cNvSpPr/>
          <p:nvPr/>
        </p:nvSpPr>
        <p:spPr>
          <a:xfrm>
            <a:off x="3911600" y="4406900"/>
            <a:ext cx="635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3911600" y="44069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2</a:t>
            </a:r>
          </a:p>
        </p:txBody>
      </p:sp>
      <p:sp>
        <p:nvSpPr>
          <p:cNvPr id="156" name="S156"/>
          <p:cNvSpPr/>
          <p:nvPr/>
        </p:nvSpPr>
        <p:spPr>
          <a:xfrm>
            <a:off x="4546600" y="4406900"/>
            <a:ext cx="6350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4546600" y="44069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</a:t>
            </a:r>
          </a:p>
        </p:txBody>
      </p:sp>
      <p:sp>
        <p:nvSpPr>
          <p:cNvPr id="158" name="S158"/>
          <p:cNvSpPr/>
          <p:nvPr/>
        </p:nvSpPr>
        <p:spPr>
          <a:xfrm>
            <a:off x="5181600" y="4406900"/>
            <a:ext cx="1841500" cy="2794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181600" y="4406900"/>
            <a:ext cx="1841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유압유 보충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4686300"/>
            <a:ext cx="7620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46100" y="46863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05-09</a:t>
            </a:r>
          </a:p>
        </p:txBody>
      </p:sp>
      <p:sp>
        <p:nvSpPr>
          <p:cNvPr id="162" name="S162"/>
          <p:cNvSpPr/>
          <p:nvPr/>
        </p:nvSpPr>
        <p:spPr>
          <a:xfrm>
            <a:off x="1308100" y="4686300"/>
            <a:ext cx="10160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1308100" y="46863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이정비</a:t>
            </a:r>
          </a:p>
        </p:txBody>
      </p:sp>
      <p:sp>
        <p:nvSpPr>
          <p:cNvPr id="164" name="S164"/>
          <p:cNvSpPr/>
          <p:nvPr/>
        </p:nvSpPr>
        <p:spPr>
          <a:xfrm>
            <a:off x="2324100" y="4686300"/>
            <a:ext cx="9525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2324100" y="4686300"/>
            <a:ext cx="95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EC210</a:t>
            </a:r>
          </a:p>
        </p:txBody>
      </p:sp>
      <p:sp>
        <p:nvSpPr>
          <p:cNvPr id="166" name="S166"/>
          <p:cNvSpPr/>
          <p:nvPr/>
        </p:nvSpPr>
        <p:spPr>
          <a:xfrm>
            <a:off x="3276600" y="4686300"/>
            <a:ext cx="6350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276600" y="46863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11</a:t>
            </a:r>
          </a:p>
        </p:txBody>
      </p:sp>
      <p:sp>
        <p:nvSpPr>
          <p:cNvPr id="168" name="S168"/>
          <p:cNvSpPr/>
          <p:nvPr/>
        </p:nvSpPr>
        <p:spPr>
          <a:xfrm>
            <a:off x="3911600" y="4686300"/>
            <a:ext cx="6350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3911600" y="46863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</a:t>
            </a:r>
          </a:p>
        </p:txBody>
      </p:sp>
      <p:sp>
        <p:nvSpPr>
          <p:cNvPr id="170" name="S170"/>
          <p:cNvSpPr/>
          <p:nvPr/>
        </p:nvSpPr>
        <p:spPr>
          <a:xfrm>
            <a:off x="4546600" y="4686300"/>
            <a:ext cx="6350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4546600" y="46863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</a:t>
            </a:r>
          </a:p>
        </p:txBody>
      </p:sp>
      <p:sp>
        <p:nvSpPr>
          <p:cNvPr id="172" name="S172"/>
          <p:cNvSpPr/>
          <p:nvPr/>
        </p:nvSpPr>
        <p:spPr>
          <a:xfrm>
            <a:off x="5181600" y="4686300"/>
            <a:ext cx="1841500" cy="2794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181600" y="4686300"/>
            <a:ext cx="1841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정상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4965700"/>
            <a:ext cx="7620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546100" y="49657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05-08</a:t>
            </a:r>
          </a:p>
        </p:txBody>
      </p:sp>
      <p:sp>
        <p:nvSpPr>
          <p:cNvPr id="176" name="S176"/>
          <p:cNvSpPr/>
          <p:nvPr/>
        </p:nvSpPr>
        <p:spPr>
          <a:xfrm>
            <a:off x="1308100" y="4965700"/>
            <a:ext cx="10160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1308100" y="49657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박정비</a:t>
            </a:r>
          </a:p>
        </p:txBody>
      </p:sp>
      <p:sp>
        <p:nvSpPr>
          <p:cNvPr id="178" name="S178"/>
          <p:cNvSpPr/>
          <p:nvPr/>
        </p:nvSpPr>
        <p:spPr>
          <a:xfrm>
            <a:off x="2324100" y="4965700"/>
            <a:ext cx="9525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2324100" y="4965700"/>
            <a:ext cx="952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HX220</a:t>
            </a:r>
          </a:p>
        </p:txBody>
      </p:sp>
      <p:sp>
        <p:nvSpPr>
          <p:cNvPr id="180" name="S180"/>
          <p:cNvSpPr/>
          <p:nvPr/>
        </p:nvSpPr>
        <p:spPr>
          <a:xfrm>
            <a:off x="3276600" y="4965700"/>
            <a:ext cx="6350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3276600" y="49657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8</a:t>
            </a:r>
          </a:p>
        </p:txBody>
      </p:sp>
      <p:sp>
        <p:nvSpPr>
          <p:cNvPr id="182" name="S182"/>
          <p:cNvSpPr/>
          <p:nvPr/>
        </p:nvSpPr>
        <p:spPr>
          <a:xfrm>
            <a:off x="3911600" y="4965700"/>
            <a:ext cx="6350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3911600" y="49657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3</a:t>
            </a:r>
          </a:p>
        </p:txBody>
      </p:sp>
      <p:sp>
        <p:nvSpPr>
          <p:cNvPr id="184" name="S184"/>
          <p:cNvSpPr/>
          <p:nvPr/>
        </p:nvSpPr>
        <p:spPr>
          <a:xfrm>
            <a:off x="4546600" y="4965700"/>
            <a:ext cx="6350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4546600" y="49657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</a:t>
            </a:r>
          </a:p>
        </p:txBody>
      </p:sp>
      <p:sp>
        <p:nvSpPr>
          <p:cNvPr id="186" name="S186"/>
          <p:cNvSpPr/>
          <p:nvPr/>
        </p:nvSpPr>
        <p:spPr>
          <a:xfrm>
            <a:off x="5181600" y="4965700"/>
            <a:ext cx="1841500" cy="2794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T187"/>
          <p:cNvSpPr txBox="1"/>
          <p:nvPr/>
        </p:nvSpPr>
        <p:spPr>
          <a:xfrm>
            <a:off x="5181600" y="4965700"/>
            <a:ext cx="1841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C73E1D"/>
                </a:solidFill>
              </a:rPr>
              <a:t>⚠️ 호스 균열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5397500"/>
            <a:ext cx="6477000" cy="21590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762000" y="556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디지털 정비 이력 DB 활용 — 4가지</a:t>
            </a:r>
          </a:p>
        </p:txBody>
      </p:sp>
      <p:sp>
        <p:nvSpPr>
          <p:cNvPr id="190" name="S190"/>
          <p:cNvSpPr/>
          <p:nvPr/>
        </p:nvSpPr>
        <p:spPr>
          <a:xfrm>
            <a:off x="762000" y="5943600"/>
            <a:ext cx="29845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T191"/>
          <p:cNvSpPr txBox="1"/>
          <p:nvPr/>
        </p:nvSpPr>
        <p:spPr>
          <a:xfrm>
            <a:off x="889000" y="6007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1397000" y="60452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패턴 분석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1397000" y="63246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"주의·불량" 자동 필터</a:t>
            </a:r>
          </a:p>
        </p:txBody>
      </p:sp>
      <p:sp>
        <p:nvSpPr>
          <p:cNvPr id="194" name="S194"/>
          <p:cNvSpPr/>
          <p:nvPr/>
        </p:nvSpPr>
        <p:spPr>
          <a:xfrm>
            <a:off x="3873500" y="5943600"/>
            <a:ext cx="29845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T195"/>
          <p:cNvSpPr txBox="1"/>
          <p:nvPr/>
        </p:nvSpPr>
        <p:spPr>
          <a:xfrm>
            <a:off x="4000500" y="6007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4508500" y="60452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AI 어시스턴트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4508500" y="63246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Custom GPT Knowledge 추가</a:t>
            </a:r>
          </a:p>
        </p:txBody>
      </p:sp>
      <p:sp>
        <p:nvSpPr>
          <p:cNvPr id="198" name="S198"/>
          <p:cNvSpPr/>
          <p:nvPr/>
        </p:nvSpPr>
        <p:spPr>
          <a:xfrm>
            <a:off x="762000" y="6858000"/>
            <a:ext cx="29845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T199"/>
          <p:cNvSpPr txBox="1"/>
          <p:nvPr/>
        </p:nvSpPr>
        <p:spPr>
          <a:xfrm>
            <a:off x="889000" y="692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2C2C2C"/>
                </a:solidFill>
              </a:rPr>
              <a:t>🛡️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1397000" y="69596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예방 정비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397000" y="72390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고장 패턴 사전 식별</a:t>
            </a:r>
          </a:p>
        </p:txBody>
      </p:sp>
      <p:sp>
        <p:nvSpPr>
          <p:cNvPr id="202" name="S202"/>
          <p:cNvSpPr/>
          <p:nvPr/>
        </p:nvSpPr>
        <p:spPr>
          <a:xfrm>
            <a:off x="3873500" y="6858000"/>
            <a:ext cx="29845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4000500" y="6921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2C2C2C"/>
                </a:solidFill>
              </a:rPr>
              <a:t>📈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4508500" y="69596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정기 보고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4508500" y="7239000"/>
            <a:ext cx="2222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주간 자동 리포트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77470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S207"/>
          <p:cNvSpPr/>
          <p:nvPr/>
        </p:nvSpPr>
        <p:spPr>
          <a:xfrm>
            <a:off x="546100" y="77470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T208"/>
          <p:cNvSpPr txBox="1"/>
          <p:nvPr/>
        </p:nvSpPr>
        <p:spPr>
          <a:xfrm>
            <a:off x="927100" y="789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927100" y="8191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30장 → 30행 표 자동 변환  ·  </a:t>
            </a:r>
            <a:r>
              <a:rPr lang="en-US" sz="1300" b="1" dirty="0">
                <a:solidFill>
                  <a:srgbClr val="F4B400"/>
                </a:solidFill>
              </a:rPr>
              <a:t>4시간 → 5분 (98% 단축)</a:t>
            </a:r>
          </a:p>
        </p:txBody>
      </p:sp>
      <p:sp>
        <p:nvSpPr>
          <p:cNvPr id="210" name="S210"/>
          <p:cNvSpPr/>
          <p:nvPr/>
        </p:nvSpPr>
        <p:spPr>
          <a:xfrm>
            <a:off x="546100" y="8636000"/>
            <a:ext cx="6477000" cy="1333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546100" y="8636000"/>
            <a:ext cx="76200" cy="1333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T212"/>
          <p:cNvSpPr txBox="1"/>
          <p:nvPr/>
        </p:nvSpPr>
        <p:spPr>
          <a:xfrm>
            <a:off x="927100" y="880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4단계 워크플로우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927100" y="9118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1. 점검표 사진 일괄 업로드 (10~30장)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927100" y="9321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2. 자연어 요청 — 일자·정비사·장비·결과·비고 추출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927100" y="9525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3. 30개 통합 Excel 표 + "주의·불량" 필터링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927100" y="9728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4. Code Interpreter로 추가 통계 → 사내 DB 등록</a:t>
            </a:r>
          </a:p>
        </p:txBody>
      </p:sp>
      <p:sp>
        <p:nvSpPr>
          <p:cNvPr id="217" name="S21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T21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102 —</a:t>
            </a:r>
          </a:p>
        </p:txBody>
      </p:sp>
      <p:sp>
        <p:nvSpPr>
          <p:cNvPr id="220" name="S22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S22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S22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S22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7076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3-3 · 손글씨 OCR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3-3] 베테랑 손글씨 노트 OCR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30년 베테랑 노트 → 검색 가능 디지털 매뉴얼 (Claude 활용)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손글씨 OCR 1순위 도구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Claude Vision</a:t>
            </a:r>
            <a:r>
              <a:rPr lang="en-US" sz="1200" dirty="0">
                <a:solidFill>
                  <a:srgbClr val="FFFFFF"/>
                </a:solidFill>
              </a:rPr>
              <a:t>  ·  손글씨·복잡한 레이아웃 강점 (정확도 90~95%)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921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921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4단계 절차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4290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3429000"/>
            <a:ext cx="76200" cy="609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35433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543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3530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노트 페이지 사진 일괄 업로드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810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10~50장 — 베테랑이 보관해 둔 정비 노트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40767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4076700"/>
            <a:ext cx="76200" cy="6096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4191000"/>
            <a:ext cx="381000" cy="3810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4191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41783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Claude Vision 자연어 요청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44577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일자·장비·증상·진단·조치·★ 베테랑 팁 추출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7244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724400"/>
            <a:ext cx="76200" cy="609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8387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838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826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"[확인 필요]" 자동 표시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5105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손글씨 인식 어려운 부분 → 검수 우선순위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372100"/>
            <a:ext cx="6477000" cy="609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372100"/>
            <a:ext cx="76200" cy="609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4864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486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473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베테랑 검수 + 사내 매뉴얼 등재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7531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30분 검수 → 회사 영구 자산화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032500"/>
            <a:ext cx="6477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762000" y="6159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D97757"/>
                </a:solidFill>
              </a:rPr>
              <a:t>💬 자연어 요청 — 추출 항목 5가지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762000" y="64770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📅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143000" y="64897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일자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2984500" y="6489700"/>
            <a:ext cx="393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있는 경우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762000" y="67183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🔧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143000" y="67310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장비 모델 · 증상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984500" y="6731000"/>
            <a:ext cx="393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/>
          </a:p>
        </p:txBody>
      </p:sp>
      <p:sp>
        <p:nvSpPr>
          <p:cNvPr id="147" name="T147"/>
          <p:cNvSpPr txBox="1"/>
          <p:nvPr/>
        </p:nvSpPr>
        <p:spPr>
          <a:xfrm>
            <a:off x="762000" y="695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143000" y="69723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진단 과정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2984500" y="6972300"/>
            <a:ext cx="393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가능한 한 상세히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762000" y="72009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🛠️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143000" y="72136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조치 방법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984500" y="7213600"/>
            <a:ext cx="393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/>
          </a:p>
        </p:txBody>
      </p:sp>
      <p:sp>
        <p:nvSpPr>
          <p:cNvPr id="153" name="T153"/>
          <p:cNvSpPr txBox="1"/>
          <p:nvPr/>
        </p:nvSpPr>
        <p:spPr>
          <a:xfrm>
            <a:off x="762000" y="74422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⭐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143000" y="74549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E8632C"/>
                </a:solidFill>
              </a:rPr>
              <a:t>베테랑 팁 / 노하우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2984500" y="7454900"/>
            <a:ext cx="393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별도 표시 — 핵심 자산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762000" y="7620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※ 약어는 풀이 (예: "유압유→유압 작동유") · 인식 어려운 부분 "[확인 필요]"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7937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7937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810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검수 워크플로우 — 80%-20% 원칙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8382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AI 80%</a:t>
            </a:r>
            <a:r>
              <a:rPr lang="en-US" sz="1200" dirty="0">
                <a:solidFill>
                  <a:srgbClr val="FFFFFF"/>
                </a:solidFill>
              </a:rPr>
              <a:t>  +  </a:t>
            </a:r>
            <a:r>
              <a:rPr lang="en-US" sz="1300" b="1" dirty="0">
                <a:solidFill>
                  <a:srgbClr val="F4B400"/>
                </a:solidFill>
              </a:rPr>
              <a:t>검수 20%</a:t>
            </a:r>
            <a:r>
              <a:rPr lang="en-US" sz="1200" dirty="0">
                <a:solidFill>
                  <a:srgbClr val="FFFFFF"/>
                </a:solidFill>
              </a:rPr>
              <a:t>  =  </a:t>
            </a:r>
            <a:r>
              <a:rPr lang="en-US" sz="1300" b="1" dirty="0">
                <a:solidFill>
                  <a:srgbClr val="FFFFFF"/>
                </a:solidFill>
              </a:rPr>
              <a:t>100% 자산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8674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정리본 → 베테랑 검수 (30분 이내) → 수정·보완 → 사내 매뉴얼 등재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958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베테랑 노트는 </a:t>
            </a:r>
            <a:r>
              <a:rPr lang="en-US" sz="1300" b="1" dirty="0">
                <a:solidFill>
                  <a:srgbClr val="F4B400"/>
                </a:solidFill>
              </a:rPr>
              <a:t>회사 자산의 핵심</a:t>
            </a:r>
            <a:r>
              <a:rPr lang="en-US" sz="1100" dirty="0">
                <a:solidFill>
                  <a:srgbClr val="DDDDDD"/>
                </a:solidFill>
              </a:rPr>
              <a:t>  ·  AI 80% + 검수 20% — 둘 다 필수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103 —</a:t>
            </a:r>
          </a:p>
        </p:txBody>
      </p:sp>
      <p:sp>
        <p:nvSpPr>
          <p:cNvPr id="169" name="S16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0082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2.4 · 다국어 OCR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Ch.2.4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다국어 OCR — 한·영·동남아 동시 처리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 시나리오 + 언어별 정확도 + 도구 추천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971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97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133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다국어 매뉴얼 통합 디지털화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451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영문 50쪽 → 영·한·인니·베트남 4개 언어 병렬 + 안전 표현 직역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8575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8575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3086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086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3022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다국어 계약서 검토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340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영문 50쪽 → 한국어 번역 + ★ 위험 조항 식별 + 인코텀즈 표준 검토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7465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7465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9751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975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911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다국어 도면·카탈로그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4229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일본어 부품 카탈로그 → 한·영 부품명 매핑 + 호환 모델 추출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826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4826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언어별 OCR 정확도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5207000"/>
            <a:ext cx="381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546100" y="52070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언어</a:t>
            </a:r>
          </a:p>
        </p:txBody>
      </p:sp>
      <p:sp>
        <p:nvSpPr>
          <p:cNvPr id="131" name="S131"/>
          <p:cNvSpPr/>
          <p:nvPr/>
        </p:nvSpPr>
        <p:spPr>
          <a:xfrm>
            <a:off x="4356100" y="5207000"/>
            <a:ext cx="2667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356100" y="52070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OCR 정확도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511800"/>
            <a:ext cx="381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511800"/>
            <a:ext cx="76200" cy="330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762000" y="5511800"/>
            <a:ext cx="3594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영어 · 한국어</a:t>
            </a:r>
          </a:p>
        </p:txBody>
      </p:sp>
      <p:sp>
        <p:nvSpPr>
          <p:cNvPr id="136" name="S136"/>
          <p:cNvSpPr/>
          <p:nvPr/>
        </p:nvSpPr>
        <p:spPr>
          <a:xfrm>
            <a:off x="4356100" y="5511800"/>
            <a:ext cx="2667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356100" y="5511800"/>
            <a:ext cx="2667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99% +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5842000"/>
            <a:ext cx="381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46100" y="5842000"/>
            <a:ext cx="76200" cy="3302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762000" y="5842000"/>
            <a:ext cx="3594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일본어 · 중국어</a:t>
            </a:r>
          </a:p>
        </p:txBody>
      </p:sp>
      <p:sp>
        <p:nvSpPr>
          <p:cNvPr id="141" name="S141"/>
          <p:cNvSpPr/>
          <p:nvPr/>
        </p:nvSpPr>
        <p:spPr>
          <a:xfrm>
            <a:off x="4356100" y="5842000"/>
            <a:ext cx="2667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356100" y="5842000"/>
            <a:ext cx="2667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3D7BC8"/>
                </a:solidFill>
              </a:rPr>
              <a:t>95~99%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6172200"/>
            <a:ext cx="381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546100" y="6172200"/>
            <a:ext cx="76200" cy="3302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762000" y="6172200"/>
            <a:ext cx="3594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인도네시아어</a:t>
            </a:r>
          </a:p>
        </p:txBody>
      </p:sp>
      <p:sp>
        <p:nvSpPr>
          <p:cNvPr id="146" name="S146"/>
          <p:cNvSpPr/>
          <p:nvPr/>
        </p:nvSpPr>
        <p:spPr>
          <a:xfrm>
            <a:off x="4356100" y="6172200"/>
            <a:ext cx="2667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356100" y="6172200"/>
            <a:ext cx="2667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7E3FBF"/>
                </a:solidFill>
              </a:rPr>
              <a:t>95~99%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6502400"/>
            <a:ext cx="381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46100" y="6502400"/>
            <a:ext cx="76200" cy="330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762000" y="6502400"/>
            <a:ext cx="3594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베트남어 · 태국어</a:t>
            </a:r>
          </a:p>
        </p:txBody>
      </p:sp>
      <p:sp>
        <p:nvSpPr>
          <p:cNvPr id="151" name="S151"/>
          <p:cNvSpPr/>
          <p:nvPr/>
        </p:nvSpPr>
        <p:spPr>
          <a:xfrm>
            <a:off x="4356100" y="6502400"/>
            <a:ext cx="2667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4356100" y="6502400"/>
            <a:ext cx="2667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91E63"/>
                </a:solidFill>
              </a:rPr>
              <a:t>90~95%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6985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546100" y="6985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927100" y="7150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도구 — 용도별 1순위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7429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ChatGPT Vision</a:t>
            </a:r>
            <a:r>
              <a:rPr lang="en-US" sz="1050" dirty="0">
                <a:solidFill>
                  <a:srgbClr val="FFFFFF"/>
                </a:solidFill>
              </a:rPr>
              <a:t> — 글로벌 다국어 가장 우수 (영·한·일·중·동남아)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927100" y="7683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Claude</a:t>
            </a:r>
            <a:r>
              <a:rPr lang="en-US" sz="1050" dirty="0">
                <a:solidFill>
                  <a:srgbClr val="FFFFFF"/>
                </a:solidFill>
              </a:rPr>
              <a:t> — 한·영 정확도 최강 (계약서 검토 · 위험 식별)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8191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8191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835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통합 처리 — 5개 언어 동시 산출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8674100"/>
            <a:ext cx="11430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86741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한국어</a:t>
            </a:r>
          </a:p>
        </p:txBody>
      </p:sp>
      <p:sp>
        <p:nvSpPr>
          <p:cNvPr id="163" name="S163"/>
          <p:cNvSpPr/>
          <p:nvPr/>
        </p:nvSpPr>
        <p:spPr>
          <a:xfrm>
            <a:off x="2146300" y="8674100"/>
            <a:ext cx="1143000" cy="406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2146300" y="86741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영어</a:t>
            </a:r>
          </a:p>
        </p:txBody>
      </p:sp>
      <p:sp>
        <p:nvSpPr>
          <p:cNvPr id="165" name="S165"/>
          <p:cNvSpPr/>
          <p:nvPr/>
        </p:nvSpPr>
        <p:spPr>
          <a:xfrm>
            <a:off x="3365500" y="8674100"/>
            <a:ext cx="11430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3365500" y="86741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인니어</a:t>
            </a:r>
          </a:p>
        </p:txBody>
      </p:sp>
      <p:sp>
        <p:nvSpPr>
          <p:cNvPr id="167" name="S167"/>
          <p:cNvSpPr/>
          <p:nvPr/>
        </p:nvSpPr>
        <p:spPr>
          <a:xfrm>
            <a:off x="4584700" y="8674100"/>
            <a:ext cx="1143000" cy="406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4584700" y="86741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일본어</a:t>
            </a:r>
          </a:p>
        </p:txBody>
      </p:sp>
      <p:sp>
        <p:nvSpPr>
          <p:cNvPr id="169" name="S169"/>
          <p:cNvSpPr/>
          <p:nvPr/>
        </p:nvSpPr>
        <p:spPr>
          <a:xfrm>
            <a:off x="5803900" y="8674100"/>
            <a:ext cx="1143000" cy="406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5803900" y="86741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베트남어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효과 — </a:t>
            </a:r>
            <a:r>
              <a:rPr lang="en-US" sz="1300" b="1" dirty="0">
                <a:solidFill>
                  <a:srgbClr val="2C2C2C"/>
                </a:solidFill>
              </a:rPr>
              <a:t>글로벌 동시 발행 + 다국가 협업 즉시</a:t>
            </a:r>
            <a:r>
              <a:rPr lang="en-US" sz="950" dirty="0">
                <a:solidFill>
                  <a:srgbClr val="6B6B6B"/>
                </a:solidFill>
              </a:rPr>
              <a:t>  · 정확도 영·한 95%+, 동남아 85~92%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104 —</a:t>
            </a:r>
          </a:p>
        </p:txBody>
      </p:sp>
      <p:sp>
        <p:nvSpPr>
          <p:cNvPr id="176" name="S17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0172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2.5 · 정확도 7팁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Ch.2.5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OCR 정확도 향상 7가지 팁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입력 → 요청 → 출력 → 검수까지 — 정확도 5~10%↑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입력 이미지 품질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해상도 300 DPI+ · 균일 조명 · 정면 수직 — OCR 정확도의 80%는 입력에서 결정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컨텍스트 정보 풍부히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"이 사진은 굴삭기 유압 펌프 분해도" — 도메인·언어·기대 형식 명시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구체적 출력 양식 지정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"Excel 표 / 5컬럼 / 컬럼명: ..." — 모호한 요청 = 모호한 결과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신뢰도 표시 요청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"애매한 부분은 ★ 1~5로 표시" — 검수 우선순위 자동 결정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후처리 · 재시도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1차 결과 검수 → 부족한 부분만 재요청 · 같은 이미지 다른 도구로도 시도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검수 워크플로우 표준화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80% + 인간 20% 원칙 — 검수자·검수 시간 사전 약속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도구 조합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ChatGPT (1차 OCR) + Claude (검수·교정) — 정확도 평균 5~10%↑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4-Phase 적용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입력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F4B400"/>
                </a:solidFill>
              </a:rPr>
              <a:t>요청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8B9A3F"/>
                </a:solidFill>
              </a:rPr>
              <a:t>출력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0F3A2E"/>
                </a:solidFill>
              </a:rPr>
              <a:t>검수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각 단계 1팁씩 적용 = 누적 효과로 정확도 90% → 95%+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적용 체크리스트 — 다음 OCR 작업에 즉시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입력 이미지 300 DPI 확인  ☐  컨텍스트 1줄 추가  ☐  ★ 신뢰도 요청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ChatGPT 1차 OCR → Claude 검수·교정 (정확도 5~10%↑ 보장)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105 —</a:t>
            </a: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168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Chapter 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Ch.2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Chapter 2 핵심 정리 — OCR 마스터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종이·이미지 자산을 분석 가능한 텍스트로 — 3가지 마스터 + 3 산출물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도면·점검표 OCR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25개 부품 + 30장 표 자동 변환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4시간 → 5분 (98% 단축) · ChatGPT/Gemini Vision 추천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손글씨 OCR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Claude로 베테랑 노트 90%+ 정확도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80% + 검수 20% 원칙 — 둘 다 필수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다국어 OCR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한·영·동남아 동시 처리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영·한 99%+ · 인니/일본 95~99% · 베트남/태국 90~95%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023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산출물 — 3종</a:t>
            </a:r>
          </a:p>
        </p:txBody>
      </p:sp>
      <p:sp>
        <p:nvSpPr>
          <p:cNvPr id="130" name="S130"/>
          <p:cNvSpPr/>
          <p:nvPr/>
        </p:nvSpPr>
        <p:spPr>
          <a:xfrm>
            <a:off x="927100" y="74041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1028700" y="7467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409700" y="74676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도면 OCR 결과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409700" y="77089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Excel</a:t>
            </a:r>
          </a:p>
        </p:txBody>
      </p:sp>
      <p:sp>
        <p:nvSpPr>
          <p:cNvPr id="134" name="S134"/>
          <p:cNvSpPr/>
          <p:nvPr/>
        </p:nvSpPr>
        <p:spPr>
          <a:xfrm>
            <a:off x="2984500" y="74041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3086100" y="7467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3467100" y="74676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점검표 OCR 결과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3467100" y="77089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Excel + DB</a:t>
            </a:r>
          </a:p>
        </p:txBody>
      </p:sp>
      <p:sp>
        <p:nvSpPr>
          <p:cNvPr id="138" name="S138"/>
          <p:cNvSpPr/>
          <p:nvPr/>
        </p:nvSpPr>
        <p:spPr>
          <a:xfrm>
            <a:off x="5041900" y="7404100"/>
            <a:ext cx="19685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5143500" y="7467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📝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524500" y="74676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손글씨 노트 OCR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5524500" y="77089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Markdown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8191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8191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927100" y="835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27100" y="8674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"종이·이미지" 형태의 자산을 </a:t>
            </a:r>
            <a:r>
              <a:rPr lang="en-US" sz="1300" b="1" dirty="0">
                <a:solidFill>
                  <a:srgbClr val="F4B400"/>
                </a:solidFill>
              </a:rPr>
              <a:t>분석 가능한 텍스트로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9017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변환 완료 — 다음은 음성 (활용도 가장 낮은 자산)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다음 챕터 — </a:t>
            </a:r>
            <a:r>
              <a:rPr lang="en-US" sz="1500" b="1" dirty="0">
                <a:solidFill>
                  <a:srgbClr val="F4B400"/>
                </a:solidFill>
              </a:rPr>
              <a:t>Chapter 3 STT (음성 → 텍스트)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106 —</a:t>
            </a:r>
          </a:p>
        </p:txBody>
      </p:sp>
      <p:sp>
        <p:nvSpPr>
          <p:cNvPr id="153" name="S15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15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25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03 · DAY 3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3 · STT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STT — 음성을 텍스트로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Speech to Text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"음성 = 활용도 가장 낮은 자산 → 가장 큰 자산화 기회"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STT 작동 원리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회의·인터뷰 STT 실습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화자 분리·시각 표시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다국어 음성 처리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정확도 향상 팁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 — 음성 자산화의 결정적 도약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1시간 회의 → 5분 회의록 (Whisper 99% 정확도)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BBBBBB"/>
                </a:solidFill>
              </a:rPr>
              <a:t>— 107 —</a:t>
            </a:r>
          </a:p>
        </p:txBody>
      </p:sp>
    </p:spTree>
    <p:extLst>
      <p:ext uri="{BB962C8B-B14F-4D97-AF65-F5344CB8AC3E}">
        <p14:creationId xmlns:p14="http://schemas.microsoft.com/office/powerpoint/2010/main" val="2362766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3.1 · STT 원리 · 그림 3-6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Ch.3.1 · 그림 3-6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STT 작동 원리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3단계 작동 + ChatGPT Whisper의 5가지 글로벌 표준 특성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2159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73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73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81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73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음향 분석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73100" y="3048000"/>
            <a:ext cx="190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음성 → 음향 특징
노이즈 제거 · 잡음 분리</a:t>
            </a:r>
          </a:p>
        </p:txBody>
      </p:sp>
      <p:sp>
        <p:nvSpPr>
          <p:cNvPr id="116" name="S116"/>
          <p:cNvSpPr/>
          <p:nvPr/>
        </p:nvSpPr>
        <p:spPr>
          <a:xfrm>
            <a:off x="2705100" y="2768600"/>
            <a:ext cx="165100" cy="1778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2705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2705100" y="1968500"/>
            <a:ext cx="2159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2832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2832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340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832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음성 인식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832100" y="3048000"/>
            <a:ext cx="190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음향 → 음소 → 단어
언어 모델로 문장 구성</a:t>
            </a:r>
          </a:p>
        </p:txBody>
      </p:sp>
      <p:sp>
        <p:nvSpPr>
          <p:cNvPr id="124" name="S124"/>
          <p:cNvSpPr/>
          <p:nvPr/>
        </p:nvSpPr>
        <p:spPr>
          <a:xfrm>
            <a:off x="4864100" y="2768600"/>
            <a:ext cx="165100" cy="1778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4864100" y="1968500"/>
            <a:ext cx="2159000" cy="177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4864100" y="1968500"/>
            <a:ext cx="21590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4991100" y="20955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49911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5499100" y="2095500"/>
            <a:ext cx="1460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spc="2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991100" y="2730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구조화 출력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4991100" y="3048000"/>
            <a:ext cx="190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텍스트 + 시각 · 화자
회의록 형식 자동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4000500"/>
            <a:ext cx="6477000" cy="381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762000" y="4000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FFFFF"/>
                </a:solidFill>
              </a:rPr>
              <a:t>ChatGPT Whisper의 5가지 특성 (글로벌 표준)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4508500"/>
            <a:ext cx="1524000" cy="14605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4508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546100" y="4508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정확도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546100" y="5016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E8632C"/>
                </a:solidFill>
              </a:rPr>
              <a:t>99%+</a:t>
            </a:r>
          </a:p>
        </p:txBody>
      </p:sp>
      <p:sp>
        <p:nvSpPr>
          <p:cNvPr id="138" name="S138"/>
          <p:cNvSpPr/>
          <p:nvPr/>
        </p:nvSpPr>
        <p:spPr>
          <a:xfrm>
            <a:off x="673100" y="5486400"/>
            <a:ext cx="1270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609600" y="5588000"/>
            <a:ext cx="1397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스튜디오 환경</a:t>
            </a:r>
          </a:p>
        </p:txBody>
      </p:sp>
      <p:sp>
        <p:nvSpPr>
          <p:cNvPr id="140" name="S140"/>
          <p:cNvSpPr/>
          <p:nvPr/>
        </p:nvSpPr>
        <p:spPr>
          <a:xfrm>
            <a:off x="2197100" y="4508500"/>
            <a:ext cx="1524000" cy="14605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2197100" y="4508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2197100" y="4508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언어 지원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2197100" y="5016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4B400"/>
                </a:solidFill>
              </a:rPr>
              <a:t>100+</a:t>
            </a:r>
          </a:p>
        </p:txBody>
      </p:sp>
      <p:sp>
        <p:nvSpPr>
          <p:cNvPr id="144" name="S144"/>
          <p:cNvSpPr/>
          <p:nvPr/>
        </p:nvSpPr>
        <p:spPr>
          <a:xfrm>
            <a:off x="2324100" y="5486400"/>
            <a:ext cx="1270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2260600" y="5588000"/>
            <a:ext cx="1397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자동 언어 감지</a:t>
            </a:r>
          </a:p>
        </p:txBody>
      </p:sp>
      <p:sp>
        <p:nvSpPr>
          <p:cNvPr id="146" name="S146"/>
          <p:cNvSpPr/>
          <p:nvPr/>
        </p:nvSpPr>
        <p:spPr>
          <a:xfrm>
            <a:off x="3848100" y="4508500"/>
            <a:ext cx="1524000" cy="14605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3848100" y="4508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508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Diarization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3848100" y="5016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화자 분리</a:t>
            </a:r>
          </a:p>
        </p:txBody>
      </p:sp>
      <p:sp>
        <p:nvSpPr>
          <p:cNvPr id="150" name="S150"/>
          <p:cNvSpPr/>
          <p:nvPr/>
        </p:nvSpPr>
        <p:spPr>
          <a:xfrm>
            <a:off x="3975100" y="5486400"/>
            <a:ext cx="1270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3911600" y="5588000"/>
            <a:ext cx="1397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실시간 분리·시각</a:t>
            </a:r>
          </a:p>
        </p:txBody>
      </p:sp>
      <p:sp>
        <p:nvSpPr>
          <p:cNvPr id="152" name="S152"/>
          <p:cNvSpPr/>
          <p:nvPr/>
        </p:nvSpPr>
        <p:spPr>
          <a:xfrm>
            <a:off x="5499100" y="4508500"/>
            <a:ext cx="1524000" cy="14605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99100" y="4508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5499100" y="4508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Robust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499100" y="5016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노이즈 강함</a:t>
            </a:r>
          </a:p>
        </p:txBody>
      </p:sp>
      <p:sp>
        <p:nvSpPr>
          <p:cNvPr id="156" name="S156"/>
          <p:cNvSpPr/>
          <p:nvPr/>
        </p:nvSpPr>
        <p:spPr>
          <a:xfrm>
            <a:off x="5626100" y="5486400"/>
            <a:ext cx="1270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562600" y="5588000"/>
            <a:ext cx="1397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현장 녹음 가능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615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762000" y="615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대안 도구 — 상황별 추천</a:t>
            </a:r>
          </a:p>
        </p:txBody>
      </p:sp>
      <p:sp>
        <p:nvSpPr>
          <p:cNvPr id="160" name="S160"/>
          <p:cNvSpPr/>
          <p:nvPr/>
        </p:nvSpPr>
        <p:spPr>
          <a:xfrm>
            <a:off x="546100" y="6540500"/>
            <a:ext cx="1778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46100" y="6540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도구</a:t>
            </a:r>
          </a:p>
        </p:txBody>
      </p:sp>
      <p:sp>
        <p:nvSpPr>
          <p:cNvPr id="162" name="S162"/>
          <p:cNvSpPr/>
          <p:nvPr/>
        </p:nvSpPr>
        <p:spPr>
          <a:xfrm>
            <a:off x="2324100" y="6540500"/>
            <a:ext cx="2159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324100" y="6540500"/>
            <a:ext cx="2159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강점</a:t>
            </a:r>
          </a:p>
        </p:txBody>
      </p:sp>
      <p:sp>
        <p:nvSpPr>
          <p:cNvPr id="164" name="S164"/>
          <p:cNvSpPr/>
          <p:nvPr/>
        </p:nvSpPr>
        <p:spPr>
          <a:xfrm>
            <a:off x="4483100" y="6540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4483100" y="6540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적합 상황</a:t>
            </a:r>
          </a:p>
        </p:txBody>
      </p:sp>
      <p:sp>
        <p:nvSpPr>
          <p:cNvPr id="166" name="S166"/>
          <p:cNvSpPr/>
          <p:nvPr/>
        </p:nvSpPr>
        <p:spPr>
          <a:xfrm>
            <a:off x="546100" y="6845300"/>
            <a:ext cx="1778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546100" y="6845300"/>
            <a:ext cx="63500" cy="3302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698500" y="6845300"/>
            <a:ext cx="162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10A37F"/>
                </a:solidFill>
              </a:rPr>
              <a:t>Whisper API</a:t>
            </a:r>
          </a:p>
        </p:txBody>
      </p:sp>
      <p:sp>
        <p:nvSpPr>
          <p:cNvPr id="169" name="S169"/>
          <p:cNvSpPr/>
          <p:nvPr/>
        </p:nvSpPr>
        <p:spPr>
          <a:xfrm>
            <a:off x="2324100" y="6845300"/>
            <a:ext cx="2159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2387600" y="6845300"/>
            <a:ext cx="2095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가장 우수</a:t>
            </a:r>
          </a:p>
        </p:txBody>
      </p:sp>
      <p:sp>
        <p:nvSpPr>
          <p:cNvPr id="171" name="S171"/>
          <p:cNvSpPr/>
          <p:nvPr/>
        </p:nvSpPr>
        <p:spPr>
          <a:xfrm>
            <a:off x="4483100" y="68453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4546600" y="68453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10A37F"/>
                </a:solidFill>
              </a:rPr>
              <a:t>모든 STT (★ 추천)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7175500"/>
            <a:ext cx="1778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7175500"/>
            <a:ext cx="63500" cy="330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698500" y="7175500"/>
            <a:ext cx="162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Otter.ai</a:t>
            </a:r>
          </a:p>
        </p:txBody>
      </p:sp>
      <p:sp>
        <p:nvSpPr>
          <p:cNvPr id="176" name="S176"/>
          <p:cNvSpPr/>
          <p:nvPr/>
        </p:nvSpPr>
        <p:spPr>
          <a:xfrm>
            <a:off x="2324100" y="7175500"/>
            <a:ext cx="2159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387600" y="7175500"/>
            <a:ext cx="2095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회의 특화</a:t>
            </a:r>
          </a:p>
        </p:txBody>
      </p:sp>
      <p:sp>
        <p:nvSpPr>
          <p:cNvPr id="178" name="S178"/>
          <p:cNvSpPr/>
          <p:nvPr/>
        </p:nvSpPr>
        <p:spPr>
          <a:xfrm>
            <a:off x="4483100" y="7175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4546600" y="71755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영문 회의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505700"/>
            <a:ext cx="1778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505700"/>
            <a:ext cx="63500" cy="330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698500" y="7505700"/>
            <a:ext cx="162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Notta</a:t>
            </a:r>
          </a:p>
        </p:txBody>
      </p:sp>
      <p:sp>
        <p:nvSpPr>
          <p:cNvPr id="183" name="S183"/>
          <p:cNvSpPr/>
          <p:nvPr/>
        </p:nvSpPr>
        <p:spPr>
          <a:xfrm>
            <a:off x="2324100" y="7505700"/>
            <a:ext cx="2159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2387600" y="7505700"/>
            <a:ext cx="2095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한국어 강점</a:t>
            </a:r>
          </a:p>
        </p:txBody>
      </p:sp>
      <p:sp>
        <p:nvSpPr>
          <p:cNvPr id="185" name="S185"/>
          <p:cNvSpPr/>
          <p:nvPr/>
        </p:nvSpPr>
        <p:spPr>
          <a:xfrm>
            <a:off x="4483100" y="7505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4546600" y="75057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한국어 회의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7835900"/>
            <a:ext cx="1778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546100" y="7835900"/>
            <a:ext cx="63500" cy="330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698500" y="7835900"/>
            <a:ext cx="162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Google Recorder</a:t>
            </a:r>
          </a:p>
        </p:txBody>
      </p:sp>
      <p:sp>
        <p:nvSpPr>
          <p:cNvPr id="190" name="S190"/>
          <p:cNvSpPr/>
          <p:nvPr/>
        </p:nvSpPr>
        <p:spPr>
          <a:xfrm>
            <a:off x="2324100" y="7835900"/>
            <a:ext cx="2159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1" name="T191"/>
          <p:cNvSpPr txBox="1"/>
          <p:nvPr/>
        </p:nvSpPr>
        <p:spPr>
          <a:xfrm>
            <a:off x="2387600" y="7835900"/>
            <a:ext cx="2095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Android 무료</a:t>
            </a:r>
          </a:p>
        </p:txBody>
      </p:sp>
      <p:sp>
        <p:nvSpPr>
          <p:cNvPr id="192" name="S192"/>
          <p:cNvSpPr/>
          <p:nvPr/>
        </p:nvSpPr>
        <p:spPr>
          <a:xfrm>
            <a:off x="4483100" y="78359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3" name="T193"/>
          <p:cNvSpPr txBox="1"/>
          <p:nvPr/>
        </p:nvSpPr>
        <p:spPr>
          <a:xfrm>
            <a:off x="4546600" y="78359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일상 녹음</a:t>
            </a:r>
          </a:p>
        </p:txBody>
      </p:sp>
      <p:sp>
        <p:nvSpPr>
          <p:cNvPr id="194" name="S194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S195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927100" y="8534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927100" y="8826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Whisper 1개로 </a:t>
            </a:r>
            <a:r>
              <a:rPr lang="en-US" sz="1300" b="1" dirty="0">
                <a:solidFill>
                  <a:srgbClr val="F4B400"/>
                </a:solidFill>
              </a:rPr>
              <a:t>99% STT 작업 커버</a:t>
            </a:r>
            <a:r>
              <a:rPr lang="en-US" sz="1100" dirty="0">
                <a:solidFill>
                  <a:srgbClr val="DDDDDD"/>
                </a:solidFill>
              </a:rPr>
              <a:t> — 한국어 강점 시 Notta 추가</a:t>
            </a:r>
          </a:p>
        </p:txBody>
      </p:sp>
      <p:sp>
        <p:nvSpPr>
          <p:cNvPr id="198" name="S198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9" name="T199"/>
          <p:cNvSpPr txBox="1"/>
          <p:nvPr/>
        </p:nvSpPr>
        <p:spPr>
          <a:xfrm>
            <a:off x="762000" y="9550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실무 팁 </a:t>
            </a:r>
            <a:r>
              <a:rPr lang="en-US" sz="1100" dirty="0">
                <a:solidFill>
                  <a:srgbClr val="2C2C2C"/>
                </a:solidFill>
              </a:rPr>
              <a:t> — 100MB 이내 분할 · MP3/M4A/WAV 모두 지원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762000" y="9779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녹음 후 즉시 업로드 → 5분 안에 텍스트화 완료</a:t>
            </a:r>
          </a:p>
        </p:txBody>
      </p:sp>
      <p:sp>
        <p:nvSpPr>
          <p:cNvPr id="201" name="S20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108 —</a:t>
            </a:r>
          </a:p>
        </p:txBody>
      </p:sp>
      <p:sp>
        <p:nvSpPr>
          <p:cNvPr id="204" name="S20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S20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S20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S20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0177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3-4 · 회의 STT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3-4 · 그림 3-7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3-4] 회의 STT — 자동 회의록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1시간 정비팀 회의 → 회의록 + 액션 아이템 (30분 → 5분)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3단계 절차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6035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603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S115"/>
          <p:cNvSpPr/>
          <p:nvPr/>
        </p:nvSpPr>
        <p:spPr>
          <a:xfrm>
            <a:off x="1270000" y="26035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270000" y="2603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1분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2032000" y="2578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음성 파일 업로드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2032000" y="2857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.mp3 / .m4a / .wav · 권장 100MB 이내 (분할 가능)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3149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546100" y="31496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762000" y="32766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762000" y="3276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3" name="S123"/>
          <p:cNvSpPr/>
          <p:nvPr/>
        </p:nvSpPr>
        <p:spPr>
          <a:xfrm>
            <a:off x="1270000" y="32766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270000" y="3276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3분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032000" y="3251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ChatGPT 자연어 요청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2032000" y="3530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5가지 산출물 한번에: 회의록 + 액션 + 의사결정 + 후속안 + 영문 요약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3822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3822700"/>
            <a:ext cx="762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39497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3949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S131"/>
          <p:cNvSpPr/>
          <p:nvPr/>
        </p:nvSpPr>
        <p:spPr>
          <a:xfrm>
            <a:off x="1270000" y="3949700"/>
            <a:ext cx="635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1270000" y="3949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1분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032000" y="3924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검수 + 즉시 발송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2032000" y="4203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화자별 색깔 구분 → Slack/이메일로 액션 아이템 발송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4635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4635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5가지 산출물 — 한 요청에 한꺼번에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1435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1435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698500" y="52578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98500" y="52578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1079500" y="52832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5270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회의록 (마크다운)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3556000" y="52832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화자 분리 4명 · 발언 시각 표시 · 안건별 정리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6642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56642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698500" y="57785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698500" y="57785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079500" y="58039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60500" y="57912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액션 아이템 표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3556000" y="58039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누가 / 무엇을 / 언제까지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61849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61849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698500" y="62992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698500" y="62992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079500" y="6324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⚖️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460500" y="6311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의사결정 사항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3556000" y="63246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별도 정리 — 추후 검색 가능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67056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67056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698500" y="68199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698500" y="68199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079500" y="68453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📅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460500" y="68326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후속 회의 제안 안건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3556000" y="68453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미해결 이슈 자동 추출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72263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546100" y="72263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698500" y="73406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698500" y="7340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079500" y="73660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4605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영문 1쪽 요약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3556000" y="73660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글로벌 본사용 — Executive Summary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7747000"/>
            <a:ext cx="64770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7747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927100" y="789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시간·품질 동시 향상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8191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1시간 음성 → </a:t>
            </a:r>
            <a:r>
              <a:rPr lang="en-US" sz="1500" b="1" dirty="0">
                <a:solidFill>
                  <a:srgbClr val="F4B400"/>
                </a:solidFill>
              </a:rPr>
              <a:t>5분 회의록</a:t>
            </a:r>
            <a:r>
              <a:rPr lang="en-US" sz="1300" dirty="0">
                <a:solidFill>
                  <a:srgbClr val="FFFFFF"/>
                </a:solidFill>
              </a:rPr>
              <a:t> · 회의록 작성 </a:t>
            </a:r>
            <a:r>
              <a:rPr lang="en-US" sz="1500" b="1" dirty="0">
                <a:solidFill>
                  <a:srgbClr val="F4B400"/>
                </a:solidFill>
              </a:rPr>
              <a:t>30분 → 5분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8763000"/>
            <a:ext cx="6477000" cy="1206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8763000"/>
            <a:ext cx="76200" cy="1206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927100" y="8928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즉시 가동 — 다음 회의부터 적용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927100" y="9207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녹음 동의 사전 안내 (회의 시작 전 30초)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927100" y="9436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녹음 시작 → 모두에게 "기록되고 있습니다" 알리기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9664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회의 종료 직후 STT 처리 → 30분 안에 회의록 발송</a:t>
            </a:r>
          </a:p>
        </p:txBody>
      </p:sp>
      <p:sp>
        <p:nvSpPr>
          <p:cNvPr id="182" name="S18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109 —</a:t>
            </a:r>
          </a:p>
        </p:txBody>
      </p:sp>
      <p:sp>
        <p:nvSpPr>
          <p:cNvPr id="185" name="S18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59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6E19-5E23-7FC7-5B3D-9B7FE020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>
            <a:extLst>
              <a:ext uri="{FF2B5EF4-FFF2-40B4-BE49-F238E27FC236}">
                <a16:creationId xmlns:a16="http://schemas.microsoft.com/office/drawing/2014/main" id="{AE2D76E2-7B31-F8CC-0E93-A04A09C73F76}"/>
              </a:ext>
            </a:extLst>
          </p:cNvPr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>
            <a:extLst>
              <a:ext uri="{FF2B5EF4-FFF2-40B4-BE49-F238E27FC236}">
                <a16:creationId xmlns:a16="http://schemas.microsoft.com/office/drawing/2014/main" id="{D3A3D25C-E6E1-6AD3-6840-910F922FB14C}"/>
              </a:ext>
            </a:extLst>
          </p:cNvPr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>
            <a:extLst>
              <a:ext uri="{FF2B5EF4-FFF2-40B4-BE49-F238E27FC236}">
                <a16:creationId xmlns:a16="http://schemas.microsoft.com/office/drawing/2014/main" id="{7D6459E1-A1B9-A10E-BFC6-BFEAC260719D}"/>
              </a:ext>
            </a:extLst>
          </p:cNvPr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3-4 · 회의 STT</a:t>
            </a:r>
          </a:p>
        </p:txBody>
      </p:sp>
      <p:sp>
        <p:nvSpPr>
          <p:cNvPr id="104" name="T104">
            <a:extLst>
              <a:ext uri="{FF2B5EF4-FFF2-40B4-BE49-F238E27FC236}">
                <a16:creationId xmlns:a16="http://schemas.microsoft.com/office/drawing/2014/main" id="{534CCF1F-20C8-EF92-EC54-AA3A434EA641}"/>
              </a:ext>
            </a:extLst>
          </p:cNvPr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>
            <a:extLst>
              <a:ext uri="{FF2B5EF4-FFF2-40B4-BE49-F238E27FC236}">
                <a16:creationId xmlns:a16="http://schemas.microsoft.com/office/drawing/2014/main" id="{9872BD5C-4F90-2479-02B5-8D52DFCA4B88}"/>
              </a:ext>
            </a:extLst>
          </p:cNvPr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3-4 · 그림 3-7</a:t>
            </a:r>
          </a:p>
        </p:txBody>
      </p:sp>
      <p:sp>
        <p:nvSpPr>
          <p:cNvPr id="106" name="S106">
            <a:extLst>
              <a:ext uri="{FF2B5EF4-FFF2-40B4-BE49-F238E27FC236}">
                <a16:creationId xmlns:a16="http://schemas.microsoft.com/office/drawing/2014/main" id="{AC5079AD-A608-9F96-5F57-AC123E96641C}"/>
              </a:ext>
            </a:extLst>
          </p:cNvPr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>
            <a:extLst>
              <a:ext uri="{FF2B5EF4-FFF2-40B4-BE49-F238E27FC236}">
                <a16:creationId xmlns:a16="http://schemas.microsoft.com/office/drawing/2014/main" id="{9BE68D06-6A60-2C3B-F174-84F01E8D59A9}"/>
              </a:ext>
            </a:extLst>
          </p:cNvPr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3-4] 회의 STT — 자동 회의록</a:t>
            </a:r>
          </a:p>
        </p:txBody>
      </p:sp>
      <p:sp>
        <p:nvSpPr>
          <p:cNvPr id="108" name="T108">
            <a:extLst>
              <a:ext uri="{FF2B5EF4-FFF2-40B4-BE49-F238E27FC236}">
                <a16:creationId xmlns:a16="http://schemas.microsoft.com/office/drawing/2014/main" id="{E8E1C479-B3A5-CA1E-E5CD-E909BEAA369C}"/>
              </a:ext>
            </a:extLst>
          </p:cNvPr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1시간 정비팀 회의 → 회의록 + 액션 아이템 (30분 → 5분)</a:t>
            </a:r>
          </a:p>
        </p:txBody>
      </p:sp>
      <p:sp>
        <p:nvSpPr>
          <p:cNvPr id="182" name="S182">
            <a:extLst>
              <a:ext uri="{FF2B5EF4-FFF2-40B4-BE49-F238E27FC236}">
                <a16:creationId xmlns:a16="http://schemas.microsoft.com/office/drawing/2014/main" id="{E53A81EC-7764-0922-1A5A-D5690F5FE18F}"/>
              </a:ext>
            </a:extLst>
          </p:cNvPr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>
            <a:extLst>
              <a:ext uri="{FF2B5EF4-FFF2-40B4-BE49-F238E27FC236}">
                <a16:creationId xmlns:a16="http://schemas.microsoft.com/office/drawing/2014/main" id="{EBB6169E-D072-56E5-2816-5990D8ACA9A4}"/>
              </a:ext>
            </a:extLst>
          </p:cNvPr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84" name="T184">
            <a:extLst>
              <a:ext uri="{FF2B5EF4-FFF2-40B4-BE49-F238E27FC236}">
                <a16:creationId xmlns:a16="http://schemas.microsoft.com/office/drawing/2014/main" id="{7FDDD7DE-F322-EE9F-46B3-FDDD7399D3A3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109 —</a:t>
            </a:r>
          </a:p>
        </p:txBody>
      </p:sp>
      <p:sp>
        <p:nvSpPr>
          <p:cNvPr id="185" name="S185">
            <a:extLst>
              <a:ext uri="{FF2B5EF4-FFF2-40B4-BE49-F238E27FC236}">
                <a16:creationId xmlns:a16="http://schemas.microsoft.com/office/drawing/2014/main" id="{97E93ECB-4CEC-CC7C-AF20-FC8C570BC7CC}"/>
              </a:ext>
            </a:extLst>
          </p:cNvPr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186">
            <a:extLst>
              <a:ext uri="{FF2B5EF4-FFF2-40B4-BE49-F238E27FC236}">
                <a16:creationId xmlns:a16="http://schemas.microsoft.com/office/drawing/2014/main" id="{510D6A23-63DC-1AE1-3102-BD097CA4EA78}"/>
              </a:ext>
            </a:extLst>
          </p:cNvPr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S187">
            <a:extLst>
              <a:ext uri="{FF2B5EF4-FFF2-40B4-BE49-F238E27FC236}">
                <a16:creationId xmlns:a16="http://schemas.microsoft.com/office/drawing/2014/main" id="{09647CCB-6DB1-3480-EC4F-85AD552103E1}"/>
              </a:ext>
            </a:extLst>
          </p:cNvPr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>
            <a:extLst>
              <a:ext uri="{FF2B5EF4-FFF2-40B4-BE49-F238E27FC236}">
                <a16:creationId xmlns:a16="http://schemas.microsoft.com/office/drawing/2014/main" id="{6820B6B4-F418-33BC-6DA5-147FE2E0CF7B}"/>
              </a:ext>
            </a:extLst>
          </p:cNvPr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D6EDEB-F4C2-3567-49F0-9DE05AC15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65300"/>
            <a:ext cx="6710536" cy="382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754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3-5 · 베테랑 STT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3-5] 베테랑 인터뷰 STT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30년 베테랑 1시간 인터뷰 → 노하우 데이터셋 (1주 → 1일)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Step 1. 인터뷰 음성 + 컨텍스트 정보 입력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베테랑: 김베테랑 (경력 30년, 굴삭기 정비 전문)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인터뷰어: 이매니저 (A/S 1팀장)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주제: 유압 시스템 진단·정비 노하우 / 시간: 60분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첨부: 베테랑 노트 사진 5장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4가지 산출물 — 한 요청에 통합 처리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📝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인터뷰 전체 텍스트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화자 분리 (인터뷰어 vs 베테랑) · 시각 표시 (15분마다) · 강조 단어 ★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💎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노하우 데이터셋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5영역 분류(진단·정비·예방·도구·고객) · 베테랑 팁 ★ · 노트 사진 인용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🎴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신입 학습 카드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Q&amp;A 형식 10~20개 · 우선순위 표시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🎧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Audio Overview 추천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출퇴근 학습용 핵심 5분 요약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Step 2. 결과 검수 + 사내 등록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베테랑 본인 검수 (30분) — 정확도·빠진 부분 확인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Custom GPT "정비 어시스턴트"의 Knowledge에 추가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사내 LMS 등록 — 전 사원 검색·학습 가능한 영구 자산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</a:t>
            </a:r>
            <a:r>
              <a:rPr lang="en-US" sz="1300" dirty="0">
                <a:solidFill>
                  <a:srgbClr val="FFFFFF"/>
                </a:solidFill>
              </a:rPr>
              <a:t>베테랑 노하우 자산화 </a:t>
            </a:r>
            <a:r>
              <a:rPr lang="en-US" sz="1500" b="1" dirty="0">
                <a:solidFill>
                  <a:srgbClr val="F4B400"/>
                </a:solidFill>
              </a:rPr>
              <a:t>1주 → 1일</a:t>
            </a:r>
            <a:r>
              <a:rPr lang="en-US" sz="1100" dirty="0">
                <a:solidFill>
                  <a:srgbClr val="DDDDDD"/>
                </a:solidFill>
              </a:rPr>
              <a:t>  (85% 단축)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핵심 — </a:t>
            </a:r>
            <a:r>
              <a:rPr lang="en-US" sz="1100" dirty="0">
                <a:solidFill>
                  <a:srgbClr val="2C2C2C"/>
                </a:solidFill>
              </a:rPr>
              <a:t>베테랑 1명 + 60분 인터뷰 = </a:t>
            </a:r>
            <a:r>
              <a:rPr lang="en-US" sz="1100" b="1" dirty="0">
                <a:solidFill>
                  <a:srgbClr val="E8632C"/>
                </a:solidFill>
              </a:rPr>
              <a:t>4가지 영구 자산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한번 자산화하면 신입 100명·향후 10년 동안 학습 가능 — 회사 가치 폭발적 증대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110 —</a:t>
            </a: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119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3.3 · 화자분리·시각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Ch.3.3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화자 분리·시각 표시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누가 언제 말했는지 자동 식별 — 인터뷰·회의의 핵심 기능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화자 분리 (Speaker Diarization) — 출력 예시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40000"/>
            <a:ext cx="952500" cy="228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400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화자 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5400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00:00 - 00:35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62000" y="2819400"/>
            <a:ext cx="615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오늘은 유압 시스템 정비 노하우에 대해 여쭤보고 싶습니다.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6477000" cy="635000"/>
          </a:xfrm>
          <a:prstGeom prst="rect">
            <a:avLst/>
          </a:prstGeom>
          <a:solidFill>
            <a:srgbClr val="FFF8E8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31496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3213100"/>
            <a:ext cx="9525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32131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베테랑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778000" y="32131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00:35 - 02:15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762000" y="3492500"/>
            <a:ext cx="615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유압 시스템에서 가장 중요한 건 펌프 상태 모니터링입니다. 제가 30년 동안 봐온 패턴은...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822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822700"/>
            <a:ext cx="762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62000" y="3886200"/>
            <a:ext cx="952500" cy="2286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62000" y="38862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화자 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778000" y="388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02:15 - 02:30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762000" y="4165600"/>
            <a:ext cx="615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구체적인 사례가 있다면 말씀해 주세요.</a:t>
            </a:r>
          </a:p>
        </p:txBody>
      </p:sp>
      <p:sp>
        <p:nvSpPr>
          <p:cNvPr id="129" name="S129"/>
          <p:cNvSpPr/>
          <p:nvPr/>
        </p:nvSpPr>
        <p:spPr>
          <a:xfrm>
            <a:off x="546100" y="4495800"/>
            <a:ext cx="6477000" cy="635000"/>
          </a:xfrm>
          <a:prstGeom prst="rect">
            <a:avLst/>
          </a:prstGeom>
          <a:solidFill>
            <a:srgbClr val="FFF8E8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546100" y="44958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762000" y="4559300"/>
            <a:ext cx="9525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45593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베테랑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1778000" y="45593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02:30 - 04:45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62000" y="4838700"/>
            <a:ext cx="6159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가장 인상 깊었던 사례는 2018년 PC200-8 모델...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5270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270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활용 가치 — 단순 텍스트가 아닌 "발언 자산"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778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778500"/>
            <a:ext cx="762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762000" y="5880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206500" y="58801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인터뷰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2857500" y="58928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베테랑 발언만 자동 추출 가능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6261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6261100"/>
            <a:ext cx="762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63627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206500" y="63627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회의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857500" y="63754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발언별 액션 아이템 자동 매핑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6743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6743700"/>
            <a:ext cx="762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68453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📞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06500" y="68453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고객 상담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2857500" y="68580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고객 발언 패턴 분석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366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366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53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시각 표시 (Timestamps) — 추가 가치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7810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⏰ 각 발언에 시각 자동 부여 — 영상·음성 재생 즉시 점프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🔍 인터뷰 → 핵심 부분만 빠른 검토 (전체 듣기 X)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509000"/>
            <a:ext cx="64770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762000" y="8636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화자 분리 도구 비교 — 1순위 추천</a:t>
            </a:r>
          </a:p>
        </p:txBody>
      </p:sp>
      <p:sp>
        <p:nvSpPr>
          <p:cNvPr id="159" name="S159"/>
          <p:cNvSpPr/>
          <p:nvPr/>
        </p:nvSpPr>
        <p:spPr>
          <a:xfrm>
            <a:off x="762000" y="8953500"/>
            <a:ext cx="17780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762000" y="89535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ChatGPT Whisper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2667000" y="89916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★★★★★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3873500" y="90043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가장 우수 · 글로벌 표준</a:t>
            </a:r>
          </a:p>
        </p:txBody>
      </p:sp>
      <p:sp>
        <p:nvSpPr>
          <p:cNvPr id="163" name="S163"/>
          <p:cNvSpPr/>
          <p:nvPr/>
        </p:nvSpPr>
        <p:spPr>
          <a:xfrm>
            <a:off x="762000" y="9258300"/>
            <a:ext cx="1778000" cy="279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92583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Otter.ai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2667000" y="9296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★★★★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3873500" y="93091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회의 특화 · 요약 자동</a:t>
            </a:r>
          </a:p>
        </p:txBody>
      </p:sp>
      <p:sp>
        <p:nvSpPr>
          <p:cNvPr id="167" name="S167"/>
          <p:cNvSpPr/>
          <p:nvPr/>
        </p:nvSpPr>
        <p:spPr>
          <a:xfrm>
            <a:off x="762000" y="9563100"/>
            <a:ext cx="1778000" cy="279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762000" y="9563100"/>
            <a:ext cx="177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Notta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2667000" y="9601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★★★★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3873500" y="96139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한국어 화자 분리 강점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111 —</a:t>
            </a:r>
          </a:p>
        </p:txBody>
      </p:sp>
      <p:sp>
        <p:nvSpPr>
          <p:cNvPr id="174" name="S17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1801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3.4 · 다국어 음성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Ch.3.4 · 그림 3-8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다국어 음성 처리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한·영·동남아 동시 처리 — 글로벌 협업 즉시 가동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입력 — 5개 언어 동시 가능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12954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546100" y="2476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한국어 음성</a:t>
            </a:r>
          </a:p>
        </p:txBody>
      </p:sp>
      <p:sp>
        <p:nvSpPr>
          <p:cNvPr id="113" name="S113"/>
          <p:cNvSpPr/>
          <p:nvPr/>
        </p:nvSpPr>
        <p:spPr>
          <a:xfrm>
            <a:off x="1841500" y="2476500"/>
            <a:ext cx="12954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841500" y="2476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인니어 음성</a:t>
            </a:r>
          </a:p>
        </p:txBody>
      </p:sp>
      <p:sp>
        <p:nvSpPr>
          <p:cNvPr id="115" name="S115"/>
          <p:cNvSpPr/>
          <p:nvPr/>
        </p:nvSpPr>
        <p:spPr>
          <a:xfrm>
            <a:off x="3136900" y="2476500"/>
            <a:ext cx="1295400" cy="635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3136900" y="2476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영문 매뉴얼</a:t>
            </a:r>
          </a:p>
        </p:txBody>
      </p:sp>
      <p:sp>
        <p:nvSpPr>
          <p:cNvPr id="117" name="S117"/>
          <p:cNvSpPr/>
          <p:nvPr/>
        </p:nvSpPr>
        <p:spPr>
          <a:xfrm>
            <a:off x="4432300" y="2476500"/>
            <a:ext cx="1295400" cy="635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4432300" y="2476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일문 카탈로그</a:t>
            </a:r>
          </a:p>
        </p:txBody>
      </p:sp>
      <p:sp>
        <p:nvSpPr>
          <p:cNvPr id="119" name="S119"/>
          <p:cNvSpPr/>
          <p:nvPr/>
        </p:nvSpPr>
        <p:spPr>
          <a:xfrm>
            <a:off x="5727700" y="2476500"/>
            <a:ext cx="12954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727700" y="2476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베트남어 회의</a:t>
            </a:r>
          </a:p>
        </p:txBody>
      </p:sp>
      <p:sp>
        <p:nvSpPr>
          <p:cNvPr id="121" name="S121"/>
          <p:cNvSpPr/>
          <p:nvPr/>
        </p:nvSpPr>
        <p:spPr>
          <a:xfrm>
            <a:off x="3365500" y="3238500"/>
            <a:ext cx="825500" cy="177800"/>
          </a:xfrm>
          <a:prstGeom prst="down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5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546100" y="355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927100" y="372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AI 통합 처리 — 다국어 통합 AI 처리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927100" y="4013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ChatGPT Whisper + Vision + Claude 조합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927100" y="42545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• 자동 언어 감지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927100" y="44577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• 다국어 번역 자동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3975100" y="4254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• OCR/STT 동시 처리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3975100" y="44577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• 통합 출력 (5개 언어 병렬)</a:t>
            </a:r>
          </a:p>
        </p:txBody>
      </p:sp>
      <p:sp>
        <p:nvSpPr>
          <p:cNvPr id="130" name="S130"/>
          <p:cNvSpPr/>
          <p:nvPr/>
        </p:nvSpPr>
        <p:spPr>
          <a:xfrm>
            <a:off x="3365500" y="4826000"/>
            <a:ext cx="825500" cy="177800"/>
          </a:xfrm>
          <a:prstGeom prst="downArrow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143500"/>
            <a:ext cx="6477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143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FFFFF"/>
                </a:solidFill>
              </a:rPr>
              <a:t>[출력] 5개 언어 병렬 산출 — 글로벌 동시 발행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651500"/>
            <a:ext cx="12954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546100" y="5651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한국어 원본</a:t>
            </a:r>
          </a:p>
        </p:txBody>
      </p:sp>
      <p:sp>
        <p:nvSpPr>
          <p:cNvPr id="135" name="S135"/>
          <p:cNvSpPr/>
          <p:nvPr/>
        </p:nvSpPr>
        <p:spPr>
          <a:xfrm>
            <a:off x="1841500" y="5651500"/>
            <a:ext cx="12954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3D7B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1841500" y="5651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영어 번역</a:t>
            </a:r>
          </a:p>
        </p:txBody>
      </p:sp>
      <p:sp>
        <p:nvSpPr>
          <p:cNvPr id="137" name="S137"/>
          <p:cNvSpPr/>
          <p:nvPr/>
        </p:nvSpPr>
        <p:spPr>
          <a:xfrm>
            <a:off x="3136900" y="5651500"/>
            <a:ext cx="12954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3136900" y="5651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인니 번역</a:t>
            </a:r>
          </a:p>
        </p:txBody>
      </p:sp>
      <p:sp>
        <p:nvSpPr>
          <p:cNvPr id="139" name="S139"/>
          <p:cNvSpPr/>
          <p:nvPr/>
        </p:nvSpPr>
        <p:spPr>
          <a:xfrm>
            <a:off x="4432300" y="5651500"/>
            <a:ext cx="12954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E91E6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4432300" y="5651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91E63"/>
                </a:solidFill>
              </a:rPr>
              <a:t>일본어 번역</a:t>
            </a:r>
          </a:p>
        </p:txBody>
      </p:sp>
      <p:sp>
        <p:nvSpPr>
          <p:cNvPr id="141" name="S141"/>
          <p:cNvSpPr/>
          <p:nvPr/>
        </p:nvSpPr>
        <p:spPr>
          <a:xfrm>
            <a:off x="5727700" y="5651500"/>
            <a:ext cx="1295400" cy="635000"/>
          </a:xfrm>
          <a:prstGeom prst="rect">
            <a:avLst/>
          </a:prstGeom>
          <a:solidFill>
            <a:srgbClr val="FAFAFA"/>
          </a:solidFill>
          <a:ln w="9525">
            <a:solidFill>
              <a:srgbClr val="7E3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727700" y="5651500"/>
            <a:ext cx="12954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베트남어 번역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6540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6540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4가지 활용 시나리오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7048500"/>
            <a:ext cx="6477000" cy="4191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7048500"/>
            <a:ext cx="63500" cy="4191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698500" y="7137400"/>
            <a:ext cx="2794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698500" y="7137400"/>
            <a:ext cx="279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079500" y="71120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다국가 화상 회의 (혼합 언어)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079500" y="7289800"/>
            <a:ext cx="584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한·인니 혼합 → 양쪽 회의록 + 영어 1쪽 요약 + 합의/미해결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7505700"/>
            <a:ext cx="6477000" cy="4191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546100" y="7505700"/>
            <a:ext cx="63500" cy="4191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698500" y="7594600"/>
            <a:ext cx="2794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698500" y="7594600"/>
            <a:ext cx="279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079500" y="75692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다국가 베테랑 인터뷰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079500" y="7747000"/>
            <a:ext cx="584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베트남 베테랑 → 한국어 번역 + 노하우 데이터셋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7962900"/>
            <a:ext cx="6477000" cy="4191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7962900"/>
            <a:ext cx="63500" cy="4191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698500" y="8051800"/>
            <a:ext cx="2794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698500" y="8051800"/>
            <a:ext cx="279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079500" y="80264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고객 상담 다국어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079500" y="8204200"/>
            <a:ext cx="584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동남아 고객 음성 → 한국어 텍스트 + 핵심 이슈 추출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8420100"/>
            <a:ext cx="6477000" cy="4191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546100" y="8420100"/>
            <a:ext cx="63500" cy="4191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698500" y="8509000"/>
            <a:ext cx="279400" cy="228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698500" y="8509000"/>
            <a:ext cx="279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079500" y="84836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2C2C2C"/>
                </a:solidFill>
              </a:rPr>
              <a:t>글로벌 본사 보고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079500" y="8661400"/>
            <a:ext cx="584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한국 회의 → 영문 Executive Summary 자동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9017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효과 — 글로벌 협업 자동화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9461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글로벌 동시 발행 + 다국가 협업 즉시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715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EEDD"/>
                </a:solidFill>
              </a:rPr>
              <a:t>정확도: 영·한 95%+, 동남아 85~92% — 검수 워크플로우 추가 시 99%+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112 —</a:t>
            </a:r>
          </a:p>
        </p:txBody>
      </p:sp>
      <p:sp>
        <p:nvSpPr>
          <p:cNvPr id="177" name="S17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407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3.5 · STT 정확도 팁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Ch.3.5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STT 정확도 향상 7가지 팁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녹음 품질 4 + 처리 단계 3 — 정확도 5~10%↑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 dirty="0">
                <a:solidFill>
                  <a:srgbClr val="6B6B6B"/>
                </a:solidFill>
              </a:rPr>
              <a:t>— 113 —</a:t>
            </a:r>
          </a:p>
        </p:txBody>
      </p:sp>
      <p:sp>
        <p:nvSpPr>
          <p:cNvPr id="177" name="S17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S_sec1bar"/>
          <p:cNvSpPr/>
          <p:nvPr/>
        </p:nvSpPr>
        <p:spPr>
          <a:xfrm>
            <a:off x="546100" y="1968500"/>
            <a:ext cx="6477000" cy="3556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wrap="square" lIns="203200" tIns="76200" rIns="101600" bIns="5080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녹음 품질 4가지 — Recording Quality</a:t>
            </a:r>
          </a:p>
        </p:txBody>
      </p:sp>
      <p:sp>
        <p:nvSpPr>
          <p:cNvPr id="201" name="S_card1"/>
          <p:cNvSpPr/>
          <p:nvPr/>
        </p:nvSpPr>
        <p:spPr>
          <a:xfrm>
            <a:off x="546100" y="2476500"/>
            <a:ext cx="32004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02" name="S_badge1"/>
          <p:cNvSpPr/>
          <p:nvPr/>
        </p:nvSpPr>
        <p:spPr>
          <a:xfrm>
            <a:off x="698500" y="2603500"/>
            <a:ext cx="330200" cy="330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T_title1"/>
          <p:cNvSpPr txBox="1"/>
          <p:nvPr/>
        </p:nvSpPr>
        <p:spPr>
          <a:xfrm>
            <a:off x="1130300" y="2628900"/>
            <a:ext cx="24892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마이크 거리</a:t>
            </a:r>
          </a:p>
        </p:txBody>
      </p:sp>
      <p:sp>
        <p:nvSpPr>
          <p:cNvPr id="204" name="T_body1"/>
          <p:cNvSpPr txBox="1"/>
          <p:nvPr/>
        </p:nvSpPr>
        <p:spPr>
          <a:xfrm>
            <a:off x="698500" y="3060700"/>
            <a:ext cx="28956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30cm 이내 권장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1m 이상은 정확도 급락</a:t>
            </a:r>
          </a:p>
        </p:txBody>
      </p:sp>
      <p:sp>
        <p:nvSpPr>
          <p:cNvPr id="205" name="S_card2"/>
          <p:cNvSpPr/>
          <p:nvPr/>
        </p:nvSpPr>
        <p:spPr>
          <a:xfrm>
            <a:off x="3822700" y="2476500"/>
            <a:ext cx="32004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06" name="S_badge2"/>
          <p:cNvSpPr/>
          <p:nvPr/>
        </p:nvSpPr>
        <p:spPr>
          <a:xfrm>
            <a:off x="3975100" y="2603500"/>
            <a:ext cx="330200" cy="330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7" name="T_title2"/>
          <p:cNvSpPr txBox="1"/>
          <p:nvPr/>
        </p:nvSpPr>
        <p:spPr>
          <a:xfrm>
            <a:off x="4406900" y="2628900"/>
            <a:ext cx="24892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노이즈 환경</a:t>
            </a:r>
          </a:p>
        </p:txBody>
      </p:sp>
      <p:sp>
        <p:nvSpPr>
          <p:cNvPr id="208" name="T_body2"/>
          <p:cNvSpPr txBox="1"/>
          <p:nvPr/>
        </p:nvSpPr>
        <p:spPr>
          <a:xfrm>
            <a:off x="3975100" y="3060700"/>
            <a:ext cx="28956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조용한 회의실·녹음 부스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현장: 노이즈 캔슬링 마이크</a:t>
            </a:r>
          </a:p>
        </p:txBody>
      </p:sp>
      <p:sp>
        <p:nvSpPr>
          <p:cNvPr id="209" name="S_card3"/>
          <p:cNvSpPr/>
          <p:nvPr/>
        </p:nvSpPr>
        <p:spPr>
          <a:xfrm>
            <a:off x="546100" y="4254500"/>
            <a:ext cx="32004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10" name="S_badge3"/>
          <p:cNvSpPr/>
          <p:nvPr/>
        </p:nvSpPr>
        <p:spPr>
          <a:xfrm>
            <a:off x="698500" y="4381500"/>
            <a:ext cx="330200" cy="330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1" name="T_title3"/>
          <p:cNvSpPr txBox="1"/>
          <p:nvPr/>
        </p:nvSpPr>
        <p:spPr>
          <a:xfrm>
            <a:off x="1130300" y="4406900"/>
            <a:ext cx="24892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발음 명확도</a:t>
            </a:r>
          </a:p>
        </p:txBody>
      </p:sp>
      <p:sp>
        <p:nvSpPr>
          <p:cNvPr id="212" name="T_body3"/>
          <p:cNvSpPr txBox="1"/>
          <p:nvPr/>
        </p:nvSpPr>
        <p:spPr>
          <a:xfrm>
            <a:off x="698500" y="4838700"/>
            <a:ext cx="28956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평소보다 또렷하게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끝맺음 분명하게</a:t>
            </a:r>
          </a:p>
        </p:txBody>
      </p:sp>
      <p:sp>
        <p:nvSpPr>
          <p:cNvPr id="213" name="S_card4"/>
          <p:cNvSpPr/>
          <p:nvPr/>
        </p:nvSpPr>
        <p:spPr>
          <a:xfrm>
            <a:off x="3822700" y="4254500"/>
            <a:ext cx="32004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14" name="S_badge4"/>
          <p:cNvSpPr/>
          <p:nvPr/>
        </p:nvSpPr>
        <p:spPr>
          <a:xfrm>
            <a:off x="3975100" y="4381500"/>
            <a:ext cx="330200" cy="3302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5" name="T_title4"/>
          <p:cNvSpPr txBox="1"/>
          <p:nvPr/>
        </p:nvSpPr>
        <p:spPr>
          <a:xfrm>
            <a:off x="4406900" y="4406900"/>
            <a:ext cx="24892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분량 관리</a:t>
            </a:r>
          </a:p>
        </p:txBody>
      </p:sp>
      <p:sp>
        <p:nvSpPr>
          <p:cNvPr id="216" name="T_body4"/>
          <p:cNvSpPr txBox="1"/>
          <p:nvPr/>
        </p:nvSpPr>
        <p:spPr>
          <a:xfrm>
            <a:off x="3975100" y="4838700"/>
            <a:ext cx="28956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1시간 이상은 분할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• 30분 단위 권장</a:t>
            </a:r>
          </a:p>
        </p:txBody>
      </p:sp>
      <p:sp>
        <p:nvSpPr>
          <p:cNvPr id="217" name="S_sec2bar"/>
          <p:cNvSpPr/>
          <p:nvPr/>
        </p:nvSpPr>
        <p:spPr>
          <a:xfrm>
            <a:off x="546100" y="6096000"/>
            <a:ext cx="6477000" cy="3556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wrap="square" lIns="203200" tIns="76200" rIns="101600" bIns="5080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처리 단계 3가지 — Processing Steps</a:t>
            </a:r>
          </a:p>
        </p:txBody>
      </p:sp>
      <p:sp>
        <p:nvSpPr>
          <p:cNvPr id="218" name="S_card2_1"/>
          <p:cNvSpPr/>
          <p:nvPr/>
        </p:nvSpPr>
        <p:spPr>
          <a:xfrm>
            <a:off x="546100" y="6604000"/>
            <a:ext cx="21336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19" name="S_badge2_1"/>
          <p:cNvSpPr/>
          <p:nvPr/>
        </p:nvSpPr>
        <p:spPr>
          <a:xfrm>
            <a:off x="698500" y="6731000"/>
            <a:ext cx="330200" cy="3302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0" name="T_title2_1"/>
          <p:cNvSpPr txBox="1"/>
          <p:nvPr/>
        </p:nvSpPr>
        <p:spPr>
          <a:xfrm>
            <a:off x="1130300" y="6756400"/>
            <a:ext cx="14224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컨텍스트 정보</a:t>
            </a:r>
          </a:p>
        </p:txBody>
      </p:sp>
      <p:sp>
        <p:nvSpPr>
          <p:cNvPr id="221" name="T_body2_1"/>
          <p:cNvSpPr txBox="1"/>
          <p:nvPr/>
        </p:nvSpPr>
        <p:spPr>
          <a:xfrm>
            <a:off x="698500" y="7188200"/>
            <a:ext cx="18288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"이 녹음은 정비팀 회의입니다"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도메인 용어·고유명사 미리 안내</a:t>
            </a:r>
          </a:p>
        </p:txBody>
      </p:sp>
      <p:sp>
        <p:nvSpPr>
          <p:cNvPr id="222" name="S_card2_2"/>
          <p:cNvSpPr/>
          <p:nvPr/>
        </p:nvSpPr>
        <p:spPr>
          <a:xfrm>
            <a:off x="2730500" y="6604000"/>
            <a:ext cx="21336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23" name="S_badge2_2"/>
          <p:cNvSpPr/>
          <p:nvPr/>
        </p:nvSpPr>
        <p:spPr>
          <a:xfrm>
            <a:off x="2882900" y="6731000"/>
            <a:ext cx="330200" cy="3302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4" name="T_title2_2"/>
          <p:cNvSpPr txBox="1"/>
          <p:nvPr/>
        </p:nvSpPr>
        <p:spPr>
          <a:xfrm>
            <a:off x="3314700" y="6756400"/>
            <a:ext cx="14224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도메인 용어집</a:t>
            </a:r>
          </a:p>
        </p:txBody>
      </p:sp>
      <p:sp>
        <p:nvSpPr>
          <p:cNvPr id="225" name="T_body2_2"/>
          <p:cNvSpPr txBox="1"/>
          <p:nvPr/>
        </p:nvSpPr>
        <p:spPr>
          <a:xfrm>
            <a:off x="2882900" y="7188200"/>
            <a:ext cx="18288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자사 부품번호·약어 미리 등록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"PC200-8 = 굴삭기 모델명"</a:t>
            </a:r>
          </a:p>
        </p:txBody>
      </p:sp>
      <p:sp>
        <p:nvSpPr>
          <p:cNvPr id="226" name="S_card2_3"/>
          <p:cNvSpPr/>
          <p:nvPr/>
        </p:nvSpPr>
        <p:spPr>
          <a:xfrm>
            <a:off x="4914900" y="6604000"/>
            <a:ext cx="21336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27" name="S_badge2_3"/>
          <p:cNvSpPr/>
          <p:nvPr/>
        </p:nvSpPr>
        <p:spPr>
          <a:xfrm>
            <a:off x="5067300" y="6731000"/>
            <a:ext cx="330200" cy="3302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8" name="T_title2_3"/>
          <p:cNvSpPr txBox="1"/>
          <p:nvPr/>
        </p:nvSpPr>
        <p:spPr>
          <a:xfrm>
            <a:off x="5499100" y="6756400"/>
            <a:ext cx="1422400" cy="2794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검수 워크플로우</a:t>
            </a:r>
          </a:p>
        </p:txBody>
      </p:sp>
      <p:sp>
        <p:nvSpPr>
          <p:cNvPr id="229" name="T_body2_3"/>
          <p:cNvSpPr txBox="1"/>
          <p:nvPr/>
        </p:nvSpPr>
        <p:spPr>
          <a:xfrm>
            <a:off x="5067300" y="7188200"/>
            <a:ext cx="1828800" cy="939800"/>
          </a:xfrm>
          <a:prstGeom prst="rect">
            <a:avLst/>
          </a:prstGeom>
          <a:noFill/>
        </p:spPr>
        <p:txBody>
          <a:bodyPr wrap="square" lIns="50800" tIns="25400" rIns="50800" bIns="2540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1차 STT → 핵심 부분 검수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• 누락·오인식 부분 재처리</a:t>
            </a:r>
          </a:p>
        </p:txBody>
      </p:sp>
      <p:sp>
        <p:nvSpPr>
          <p:cNvPr id="230" name="S_recBox"/>
          <p:cNvSpPr/>
          <p:nvPr/>
        </p:nvSpPr>
        <p:spPr>
          <a:xfrm>
            <a:off x="546100" y="8509000"/>
            <a:ext cx="6477000" cy="1270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9525">
            <a:solidFill>
              <a:srgbClr val="E07B39"/>
            </a:solidFill>
          </a:ln>
        </p:spPr>
        <p:txBody>
          <a:bodyPr wrap="square" anchor="t"/>
          <a:lstStyle/>
          <a:p>
            <a:endParaRPr lang="en-US"/>
          </a:p>
        </p:txBody>
      </p:sp>
      <p:sp>
        <p:nvSpPr>
          <p:cNvPr id="231" name="T_recTitle"/>
          <p:cNvSpPr txBox="1"/>
          <p:nvPr/>
        </p:nvSpPr>
        <p:spPr>
          <a:xfrm>
            <a:off x="762000" y="8636000"/>
            <a:ext cx="6096000" cy="2540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algn="l">
              <a:buNone/>
            </a:pPr>
            <a:r>
              <a:rPr lang="en-US" sz="1300" b="1" dirty="0">
                <a:solidFill>
                  <a:srgbClr val="E07B39"/>
                </a:solidFill>
              </a:rPr>
              <a:t>★ 도구 조합 추천 — 3단계 파이프라인</a:t>
            </a:r>
          </a:p>
        </p:txBody>
      </p:sp>
      <p:sp>
        <p:nvSpPr>
          <p:cNvPr id="232" name="T_recBody"/>
          <p:cNvSpPr txBox="1"/>
          <p:nvPr/>
        </p:nvSpPr>
        <p:spPr>
          <a:xfrm>
            <a:off x="762000" y="8953500"/>
            <a:ext cx="6096000" cy="762000"/>
          </a:xfrm>
          <a:prstGeom prst="rect">
            <a:avLst/>
          </a:prstGeom>
          <a:noFill/>
        </p:spPr>
        <p:txBody>
          <a:bodyPr wrap="square" lIns="0" tIns="25400" rIns="50800" bIns="254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39"/>
                </a:solidFill>
              </a:rPr>
              <a:t>1차 </a:t>
            </a:r>
            <a:r>
              <a:rPr lang="en-US" sz="1100" b="1" dirty="0">
                <a:solidFill>
                  <a:srgbClr val="2C2C2C"/>
                </a:solidFill>
              </a:rPr>
              <a:t>Whisper</a:t>
            </a:r>
            <a:r>
              <a:rPr lang="en-US" sz="1100" dirty="0">
                <a:solidFill>
                  <a:srgbClr val="555555"/>
                </a:solidFill>
              </a:rPr>
              <a:t> — 정확도 높은 STT 변환 (다국어 대응)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07B39"/>
                </a:solidFill>
              </a:rPr>
              <a:t>2차 </a:t>
            </a:r>
            <a:r>
              <a:rPr lang="en-US" sz="1100" b="1" dirty="0">
                <a:solidFill>
                  <a:srgbClr val="2C2C2C"/>
                </a:solidFill>
              </a:rPr>
              <a:t>Claude</a:t>
            </a:r>
            <a:r>
              <a:rPr lang="en-US" sz="1100" dirty="0">
                <a:solidFill>
                  <a:srgbClr val="555555"/>
                </a:solidFill>
              </a:rPr>
              <a:t> — 구조화·요약·화자 분리·액션 아이템 추출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07B39"/>
                </a:solidFill>
              </a:rPr>
              <a:t>3차 </a:t>
            </a:r>
            <a:r>
              <a:rPr lang="en-US" sz="1100" b="1" dirty="0">
                <a:solidFill>
                  <a:srgbClr val="2C2C2C"/>
                </a:solidFill>
              </a:rPr>
              <a:t>인간 검수</a:t>
            </a:r>
            <a:r>
              <a:rPr lang="en-US" sz="1100" dirty="0">
                <a:solidFill>
                  <a:srgbClr val="555555"/>
                </a:solidFill>
              </a:rPr>
              <a:t> — 고유명사·전문용어 정확성 최종 확인</a:t>
            </a:r>
          </a:p>
        </p:txBody>
      </p:sp>
    </p:spTree>
    <p:extLst>
      <p:ext uri="{BB962C8B-B14F-4D97-AF65-F5344CB8AC3E}">
        <p14:creationId xmlns:p14="http://schemas.microsoft.com/office/powerpoint/2010/main" val="6687491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Ch.3 정리 · STT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Ch.3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Chapter 3 핵심 정리 — STT 마스터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음성을 분석 가능한 자산으로 — 활용도 가장 낮은 영역의 자산화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회의 STT — 자동 회의록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화자 분리 + 시각 + 액션 아이템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1시간 음성 → 5분 회의록 (회의록 작성 30분 → 5분)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베테랑 인터뷰 STT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노하우 데이터셋 + 학습 카드 + Audio Overview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베테랑 자산화 1주 → 1일 (★ 본 과정 핵심)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화자 분리 + 다국어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8B9A3F"/>
                </a:solidFill>
              </a:rPr>
              <a:t>누가 언제 말했는지 + 5개 언어 동시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Whisper 99%+ 정확도 · 100+ 언어 지원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023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산출물 — STT 결과물 3종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340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회의 STT 회의록 (마크다운 + 액션 아이템 표 + 영문 요약)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569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💎 베테랑 인터뷰 노하우 데이터셋 (Q&amp;A 카드 10~20개)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🎧 Audio Overview (출퇴근 학습용 5분 요약)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8255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8255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927100" y="8420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927100" y="8712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음성 = 활용도 가장 낮은 자산</a:t>
            </a:r>
            <a:r>
              <a:rPr lang="en-US" sz="1300" dirty="0">
                <a:solidFill>
                  <a:srgbClr val="F4B400"/>
                </a:solidFill>
              </a:rPr>
              <a:t>  →  </a:t>
            </a:r>
            <a:r>
              <a:rPr lang="en-US" sz="1300" b="1" dirty="0">
                <a:solidFill>
                  <a:srgbClr val="F4B400"/>
                </a:solidFill>
              </a:rPr>
              <a:t>가장 큰 자산화 기회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0424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Whisper 1개로 99% STT 작업 커버 — 즉시 가동 가능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9271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다음 챕터 — </a:t>
            </a:r>
            <a:r>
              <a:rPr lang="en-US" sz="1500" b="1" dirty="0">
                <a:solidFill>
                  <a:srgbClr val="F4B400"/>
                </a:solidFill>
              </a:rPr>
              <a:t>Chapter 4 영상 분석 + 자동 분류·태깅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4" name="S144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5175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03 · DAY 3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4 · VIDEO + AUTO TAG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영상 · 자동 분류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Video Analysis + Auto Classification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"영상 = 시각+음성 다중 정보 자산 · 자동 분류 = 검색·분석의 기반"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영상 매뉴얼화 (Gemini Veo)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실습 3-6 — 정비 영상 → 매뉴얼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자동 분류·태깅 활용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496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559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디지털화 워크플로우 통합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9017000"/>
            <a:ext cx="57658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889000" y="9017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143000" y="91821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 — 통합 자산화의 마지막 조각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15분 영상 → 17단계 매뉴얼 (1주 → 1시간)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143000" y="9715500"/>
            <a:ext cx="5511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Gemini Veo 영상 분석 + Claude 자동 분류 = 통합 파이프라인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115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8131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4.1 · 영상 매뉴얼화 · 그림 3-9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Ch.4.1 · 그림 3-9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영상 매뉴얼화 — Gemini Veo 활용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15분 정비 영상 → 17단계 매뉴얼 (1주 → 1시간 단축)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영상 매뉴얼화 1순위 도구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Gemini Veo</a:t>
            </a:r>
            <a:r>
              <a:rPr lang="en-US" sz="1100" dirty="0">
                <a:solidFill>
                  <a:srgbClr val="FFFFFF"/>
                </a:solidFill>
              </a:rPr>
              <a:t>  ·  영상 단계 자동 인식 + 시각 표시 + 음성 동시 처리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[입력] 정비 시연 영상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굴삭기 유압 호스 교체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15:00 (15분)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Gemini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Veo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[출력] 17단계 매뉴얼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00:30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안전 장비 착용·환경 확인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01:15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2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굴삭기 안전 정지·시동 차단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02:15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Step 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⚠️ 유압 압력 해제 (필수)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03:30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4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교체 호스 위치 확인·접근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...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(13단계 더)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추가 산출물 — 1번 처리에 동시 생성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📸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영상 캡처 추천 5장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핵심 단계 자동 추출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영문 매뉴얼 동시 작성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글로벌 기술 문서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⭐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핵심 스킬 포인트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베테랑 노하우만 별도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영상 자산화의 폭발적 단축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영상 매뉴얼화 </a:t>
            </a:r>
            <a:r>
              <a:rPr lang="en-US" sz="1500" b="1" dirty="0">
                <a:solidFill>
                  <a:srgbClr val="F4B400"/>
                </a:solidFill>
              </a:rPr>
              <a:t>1주 → 1시간</a:t>
            </a:r>
            <a:r>
              <a:rPr lang="en-US" sz="1100" dirty="0">
                <a:solidFill>
                  <a:srgbClr val="FFFFFF"/>
                </a:solidFill>
              </a:rPr>
              <a:t>  · 단계 시각 클릭으로 즉시 영상 재생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실무 활용 — 영상 매뉴얼화의 4가지 이점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정비 시연 영상 → 신입 학습용 단계별 매뉴얼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안전 교육 영상 → 체크리스트 + 핵심 포인트 카드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베테랑 작업 영상 → 노하우 단계 + 시각 클릭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글로벌 본사용 → 한·영 동시 매뉴얼 자동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영상 촬영 가이드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카메라 안정 + 음성 명료 + 단계별 멘트 = Veo 정확도 95%+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5~15분 단위로 분할 — 너무 긴 영상은 오히려 정확도 저하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전형적 결과 — </a:t>
            </a:r>
            <a:r>
              <a:rPr lang="en-US" sz="1100" dirty="0">
                <a:solidFill>
                  <a:srgbClr val="2C2C2C"/>
                </a:solidFill>
              </a:rPr>
              <a:t>15분 영상 → </a:t>
            </a:r>
            <a:r>
              <a:rPr lang="en-US" sz="1100" b="1" dirty="0">
                <a:solidFill>
                  <a:srgbClr val="2C2C2C"/>
                </a:solidFill>
              </a:rPr>
              <a:t>17단계 매뉴얼 + 영문 매뉴얼 + 캡처 5장</a:t>
            </a:r>
            <a:r>
              <a:rPr lang="en-US" sz="1100" dirty="0">
                <a:solidFill>
                  <a:srgbClr val="6B6B6B"/>
                </a:solidFill>
              </a:rPr>
              <a:t> (1시간 처리)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456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실습 3-6 · 영상 매뉴얼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3-6] 정비 영상 → 단계별 매뉴얼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베테랑 시연 영상 15분 → 17단계 매뉴얼 (1주 → 1시간)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3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95500"/>
            <a:ext cx="381000" cy="3810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9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270000" y="20955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32000" y="20701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Gemini Veo로 영상 업로드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2032000" y="23495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굴삭기 유압 호스 교체 15분 영상 (.mp4 / .mov)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6416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641600"/>
            <a:ext cx="762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2768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2768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1" name="S121"/>
          <p:cNvSpPr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270000" y="27686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032000" y="2743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자연어 요청 — 4가지 산출물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032000" y="30226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단계별 매뉴얼 + 핵심 스킬 + 캡처 추천 + 영문 매뉴얼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4417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4417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9" name="S129"/>
          <p:cNvSpPr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270000" y="34417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30분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2032000" y="3416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자동 처리 + 결과 검토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2032000" y="36957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17단계 매뉴얼 + 시각 클릭 영상 재생 + 영문 동시 작성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39878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3987800"/>
            <a:ext cx="762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41148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4114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S137"/>
          <p:cNvSpPr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1270000" y="41148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15분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2032000" y="4089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검수 + 사내 LMS 등재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2032000" y="4368800"/>
            <a:ext cx="482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영상 + 매뉴얼 영구 자산 → 신입 정비사 학습 자료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4762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762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4가지 산출물 — 한 요청에 동시 생성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5270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546100" y="52705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698500" y="54102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698500" y="54102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079500" y="5435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460500" y="5397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단계별 매뉴얼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3556000" y="54356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15~20단계 · 각 단계 시각 표시 · 도구·부품 · 안전주의 ⚠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5842000"/>
            <a:ext cx="6477000" cy="5334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6100" y="58420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152"/>
          <p:cNvSpPr/>
          <p:nvPr/>
        </p:nvSpPr>
        <p:spPr>
          <a:xfrm>
            <a:off x="698500" y="59817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698500" y="5981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1079500" y="60071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⭐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460500" y="5969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핵심 스킬 포인트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3556000" y="60071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베테랑이 강조하는 디테일 · 흔한 실수·주의 사항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6413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64135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698500" y="65532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698500" y="65532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079500" y="65786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📸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1460500" y="6540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영상 캡처 추천 시점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3556000" y="65786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5장 추천 (매뉴얼 일러스트용)</a:t>
            </a:r>
          </a:p>
        </p:txBody>
      </p:sp>
      <p:sp>
        <p:nvSpPr>
          <p:cNvPr id="164" name="S164"/>
          <p:cNvSpPr/>
          <p:nvPr/>
        </p:nvSpPr>
        <p:spPr>
          <a:xfrm>
            <a:off x="546100" y="69850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S165"/>
          <p:cNvSpPr/>
          <p:nvPr/>
        </p:nvSpPr>
        <p:spPr>
          <a:xfrm>
            <a:off x="546100" y="69850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698500" y="71247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698500" y="7124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1079500" y="71501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460500" y="7112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영문 매뉴얼 동시 작성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3556000" y="7150100"/>
            <a:ext cx="3365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다국가 딜러 교육용 — 한·영 페어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76200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76200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영상 자산화의 결정적 도약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80391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15분 영상 → 17단계 매뉴얼  ·  </a:t>
            </a:r>
            <a:r>
              <a:rPr lang="en-US" sz="1300" b="1" dirty="0">
                <a:solidFill>
                  <a:srgbClr val="F4B400"/>
                </a:solidFill>
              </a:rPr>
              <a:t>1주 → 1시간 (98% 단축)</a:t>
            </a:r>
          </a:p>
        </p:txBody>
      </p:sp>
      <p:sp>
        <p:nvSpPr>
          <p:cNvPr id="175" name="S175"/>
          <p:cNvSpPr/>
          <p:nvPr/>
        </p:nvSpPr>
        <p:spPr>
          <a:xfrm>
            <a:off x="546100" y="8509000"/>
            <a:ext cx="6477000" cy="1460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762000" y="8636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예시 산출물 — 17단계 중 핵심 4단계</a:t>
            </a:r>
          </a:p>
        </p:txBody>
      </p:sp>
      <p:sp>
        <p:nvSpPr>
          <p:cNvPr id="177" name="S177"/>
          <p:cNvSpPr/>
          <p:nvPr/>
        </p:nvSpPr>
        <p:spPr>
          <a:xfrm>
            <a:off x="762000" y="8953500"/>
            <a:ext cx="762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89535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00:30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1651000" y="89535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4285F4"/>
                </a:solidFill>
              </a:rPr>
              <a:t>Step 1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2540000" y="89535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안전 장비 착용·작업 환경 확인</a:t>
            </a:r>
          </a:p>
        </p:txBody>
      </p:sp>
      <p:sp>
        <p:nvSpPr>
          <p:cNvPr id="181" name="S181"/>
          <p:cNvSpPr/>
          <p:nvPr/>
        </p:nvSpPr>
        <p:spPr>
          <a:xfrm>
            <a:off x="762000" y="9194800"/>
            <a:ext cx="762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9194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02:15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1651000" y="9194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C73E1D"/>
                </a:solidFill>
              </a:rPr>
              <a:t>Step 3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2540000" y="91948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C73E1D"/>
                </a:solidFill>
              </a:rPr>
              <a:t>⚠️ 유압 압력 해제 (필수 안전)</a:t>
            </a:r>
          </a:p>
        </p:txBody>
      </p:sp>
      <p:sp>
        <p:nvSpPr>
          <p:cNvPr id="185" name="S185"/>
          <p:cNvSpPr/>
          <p:nvPr/>
        </p:nvSpPr>
        <p:spPr>
          <a:xfrm>
            <a:off x="762000" y="9436100"/>
            <a:ext cx="762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94361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04:45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1651000" y="94361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4285F4"/>
                </a:solidFill>
              </a:rPr>
              <a:t>Step 5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2540000" y="94361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기존 호스 분리 (역순 작업)</a:t>
            </a:r>
          </a:p>
        </p:txBody>
      </p:sp>
      <p:sp>
        <p:nvSpPr>
          <p:cNvPr id="189" name="S189"/>
          <p:cNvSpPr/>
          <p:nvPr/>
        </p:nvSpPr>
        <p:spPr>
          <a:xfrm>
            <a:off x="762000" y="9677400"/>
            <a:ext cx="762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762000" y="96774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14:30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1651000" y="96774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50" b="1" dirty="0">
                <a:solidFill>
                  <a:srgbClr val="4285F4"/>
                </a:solidFill>
              </a:rPr>
              <a:t>Step 17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2540000" y="9677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시운전·누유 점검·기록</a:t>
            </a:r>
          </a:p>
        </p:txBody>
      </p:sp>
      <p:sp>
        <p:nvSpPr>
          <p:cNvPr id="193" name="S19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6" name="S19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S19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S19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S19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451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4.3 · 자동 분류 태깅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Ch.4.3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자동 분류·태깅 — 디지털화의 마무리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검색·활용을 극대화하는 5차원 자동 분류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FF8E8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⚠️ 왜 자동 분류가 중요한가 — 3가지 문제 상황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762000" y="24765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디지털화 데이터 누적 → 검색 어려움 (월 100건+ 폭증)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6543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부서간 공유 시 분류 기준 다름 → 통합 검색 X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8321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데이터 폭증 시 수작업 분류 불가능 — 자동화 필수</a:t>
            </a:r>
          </a:p>
        </p:txBody>
      </p:sp>
      <p:sp>
        <p:nvSpPr>
          <p:cNvPr id="114" name="S114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자동 분류 5가지 차원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6830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683000"/>
            <a:ext cx="762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698500" y="3797300"/>
            <a:ext cx="279400" cy="2794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98500" y="37973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079500" y="37465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카테고리 자동 분류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3175000" y="38100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정비/영업/마케팅/해외영업/기술문서/DX 자동 추정</a:t>
            </a:r>
          </a:p>
        </p:txBody>
      </p:sp>
      <p:sp>
        <p:nvSpPr>
          <p:cNvPr id="122" name="S122"/>
          <p:cNvSpPr/>
          <p:nvPr/>
        </p:nvSpPr>
        <p:spPr>
          <a:xfrm>
            <a:off x="546100" y="42037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546100" y="4203700"/>
            <a:ext cx="762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698500" y="4318000"/>
            <a:ext cx="279400" cy="2794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698500" y="43180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079500" y="42672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키워드·태그 자동 추출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3175000" y="43307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핵심 키워드 5~10개 — 검색·필터 활용</a:t>
            </a:r>
          </a:p>
        </p:txBody>
      </p:sp>
      <p:sp>
        <p:nvSpPr>
          <p:cNvPr id="128" name="S128"/>
          <p:cNvSpPr/>
          <p:nvPr/>
        </p:nvSpPr>
        <p:spPr>
          <a:xfrm>
            <a:off x="546100" y="47244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546100" y="4724400"/>
            <a:ext cx="762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698500" y="4838700"/>
            <a:ext cx="279400" cy="2794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698500" y="4838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079500" y="4787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우선순위·중요도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175000" y="48514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AI 자체 판단 또는 규칙 기반 (1~5)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52451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5245100"/>
            <a:ext cx="76200" cy="482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136"/>
          <p:cNvSpPr/>
          <p:nvPr/>
        </p:nvSpPr>
        <p:spPr>
          <a:xfrm>
            <a:off x="698500" y="5359400"/>
            <a:ext cx="279400" cy="279400"/>
          </a:xfrm>
          <a:prstGeom prst="ellipse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698500" y="53594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079500" y="53086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보안 등급 자동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3175000" y="53721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공개·내부·기밀·민감 4단계 자동 추정</a:t>
            </a:r>
          </a:p>
        </p:txBody>
      </p:sp>
      <p:sp>
        <p:nvSpPr>
          <p:cNvPr id="140" name="S140"/>
          <p:cNvSpPr/>
          <p:nvPr/>
        </p:nvSpPr>
        <p:spPr>
          <a:xfrm>
            <a:off x="546100" y="5765800"/>
            <a:ext cx="6477000" cy="482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46100" y="5765800"/>
            <a:ext cx="76200" cy="4826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698500" y="5880100"/>
            <a:ext cx="279400" cy="2794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698500" y="58801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079500" y="5829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2C2C2C"/>
                </a:solidFill>
              </a:rPr>
              <a:t>관련 자료 추천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3175000" y="589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"유사 사례 5건" 자동 연결 — 지식 그래프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6286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6286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645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활용 도구 — 부서별 추천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67945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▸ Claude Project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832100" y="6794500"/>
            <a:ext cx="412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일관된 분류 (Instructions에 분류 규칙 명시) — ★ 1순위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70104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▸ Custom GPT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832100" y="7010400"/>
            <a:ext cx="412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부서별 분류 어시스턴트 (Knowledge에 분류 사전 등록)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927100" y="7226300"/>
            <a:ext cx="177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▸ Genspark Sheets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2832100" y="7226300"/>
            <a:ext cx="412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태그·메타데이터 자동 채우기 (대량 처리)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76200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76200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💬 자연어 요청 템플릿 — 5차원 분류 한꺼번에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81026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이 PDF 100건을 다음 5차원으로 자동 분류해주세요: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927100" y="83058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1. 부서 (자동 추정)  2. 키워드 5개  3. 보안 등급 (4단계)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85090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4. 우선순위 (1~5)  5. 관련 자료 (3건 추천)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87122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응답: Excel 표 (107 컬럼)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762000" y="9436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💡 효과 — </a:t>
            </a:r>
            <a:r>
              <a:rPr lang="en-US" sz="1100" dirty="0">
                <a:solidFill>
                  <a:srgbClr val="2C2C2C"/>
                </a:solidFill>
              </a:rPr>
              <a:t>100건 데이터 → 5차원 자동 분류 = </a:t>
            </a:r>
            <a:r>
              <a:rPr lang="en-US" sz="1100" b="1" dirty="0">
                <a:solidFill>
                  <a:srgbClr val="E8632C"/>
                </a:solidFill>
              </a:rPr>
              <a:t>검색·통합 즉시 가능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수작업 분류 1주 → AI 자동 분류 30분 (95% 단축)</a:t>
            </a:r>
          </a:p>
        </p:txBody>
      </p:sp>
      <p:sp>
        <p:nvSpPr>
          <p:cNvPr id="165" name="S16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8" name="S16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S16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17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5169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Ch.4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Ch.4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Chapter 4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영상 매뉴얼화 + 자동 분류·태깅 = 통합 자산화 완성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영상 → 단계별 매뉴얼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15분 영상 → 17단계 (1주 → 1시간)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Gemini Veo + 영문 동시 작성 + 시각 클릭 영상 재생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자동 분류·태깅 5차원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카테고리 + 키워드 + 우선순위 + 보안 + 관련 자료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Claude Project로 100건 → 5차원 분류 (1주 → 30분)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통합 자산화 마무리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OCR → STT → 영상 → 분류 = 4단계 파이프라인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모든 비정형 데이터 → 분석 가능한 디지털 자산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023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산출물 — 영상·분류 결과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340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📋 정비 영상 매뉴얼 (17단계 + 영문 + 캡처 5장)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569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🏷️ 자동 분류 결과 (100건 → 5차원 분류 Excel)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8001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8001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927100" y="816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927100" y="8483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4가지 디지털화 기술 마스터 </a:t>
            </a:r>
            <a:r>
              <a:rPr lang="en-US" sz="1300" b="1" dirty="0">
                <a:solidFill>
                  <a:srgbClr val="F4B400"/>
                </a:solidFill>
              </a:rPr>
              <a:t>=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927100" y="8826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OCR + STT + 영상 + 자동 분류 </a:t>
            </a:r>
            <a:r>
              <a:rPr lang="en-US" sz="1300" b="1" dirty="0">
                <a:solidFill>
                  <a:srgbClr val="FFFFFF"/>
                </a:solidFill>
              </a:rPr>
              <a:t>= 통합 자산화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9334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94996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다음 챕터 — </a:t>
            </a:r>
            <a:r>
              <a:rPr lang="en-US" sz="1500" b="1" dirty="0">
                <a:solidFill>
                  <a:srgbClr val="F4B400"/>
                </a:solidFill>
              </a:rPr>
              <a:t>★ BIG WIN: 부서별 디지털화 자동 파이프라인</a:t>
            </a:r>
          </a:p>
        </p:txBody>
      </p:sp>
      <p:sp>
        <p:nvSpPr>
          <p:cNvPr id="140" name="S140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119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3" name="S143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60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4826000" y="444500"/>
            <a:ext cx="1016000" cy="1016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651500" y="825500"/>
            <a:ext cx="1143000" cy="1143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016500" y="1524000"/>
            <a:ext cx="762000" cy="762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104"/>
          <p:cNvSpPr/>
          <p:nvPr/>
        </p:nvSpPr>
        <p:spPr>
          <a:xfrm>
            <a:off x="6032500" y="1778000"/>
            <a:ext cx="444500" cy="44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105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03 · DAY 3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F4B400"/>
                </a:solidFill>
              </a:rPr>
              <a:t>CHAPTER 5 · ★ BIG WIN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952500" y="2540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400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952500" y="2984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600" dirty="0">
                <a:solidFill>
                  <a:srgbClr val="F4B400"/>
                </a:solidFill>
              </a:rPr>
              <a:t>CHAPTER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889000" y="3238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05</a:t>
            </a:r>
          </a:p>
        </p:txBody>
      </p:sp>
      <p:sp>
        <p:nvSpPr>
          <p:cNvPr id="110" name="S110"/>
          <p:cNvSpPr/>
          <p:nvPr/>
        </p:nvSpPr>
        <p:spPr>
          <a:xfrm>
            <a:off x="889000" y="5207000"/>
            <a:ext cx="1143000" cy="50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889000" y="53975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부서별 디지털화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60960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F4B400"/>
                </a:solidFill>
              </a:rPr>
              <a:t>자동 파이프라인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889000" y="6858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spc="100" dirty="0">
                <a:solidFill>
                  <a:srgbClr val="BBBBBB"/>
                </a:solidFill>
              </a:rPr>
              <a:t>Department-wide Auto Digitization Pipeline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889000" y="7239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"수집 → OCR/STT/영상 → 분류 → 등록까지 자동화"</a:t>
            </a:r>
          </a:p>
        </p:txBody>
      </p:sp>
      <p:sp>
        <p:nvSpPr>
          <p:cNvPr id="115" name="S115"/>
          <p:cNvSpPr/>
          <p:nvPr/>
        </p:nvSpPr>
        <p:spPr>
          <a:xfrm>
            <a:off x="889000" y="7747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889000" y="7899400"/>
            <a:ext cx="5765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파이프라인 5단계 — 입력만 하면 자동 자산화</a:t>
            </a:r>
          </a:p>
        </p:txBody>
      </p:sp>
      <p:sp>
        <p:nvSpPr>
          <p:cNvPr id="117" name="S117"/>
          <p:cNvSpPr/>
          <p:nvPr/>
        </p:nvSpPr>
        <p:spPr>
          <a:xfrm>
            <a:off x="889000" y="82296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889000" y="82296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19200" y="82423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입력 (수집 데이터)</a:t>
            </a:r>
          </a:p>
        </p:txBody>
      </p:sp>
      <p:sp>
        <p:nvSpPr>
          <p:cNvPr id="120" name="S120"/>
          <p:cNvSpPr/>
          <p:nvPr/>
        </p:nvSpPr>
        <p:spPr>
          <a:xfrm>
            <a:off x="889000" y="85090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889000" y="8509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19200" y="85217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디지털화 (OCR/STT/영상)</a:t>
            </a:r>
          </a:p>
        </p:txBody>
      </p:sp>
      <p:sp>
        <p:nvSpPr>
          <p:cNvPr id="123" name="S123"/>
          <p:cNvSpPr/>
          <p:nvPr/>
        </p:nvSpPr>
        <p:spPr>
          <a:xfrm>
            <a:off x="889000" y="87884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889000" y="87884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19200" y="88011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분류·태깅 (5차원)</a:t>
            </a:r>
          </a:p>
        </p:txBody>
      </p:sp>
      <p:sp>
        <p:nvSpPr>
          <p:cNvPr id="126" name="S126"/>
          <p:cNvSpPr/>
          <p:nvPr/>
        </p:nvSpPr>
        <p:spPr>
          <a:xfrm>
            <a:off x="889000" y="90678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889000" y="90678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219200" y="908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검수 (AI + 인간)</a:t>
            </a:r>
          </a:p>
        </p:txBody>
      </p:sp>
      <p:sp>
        <p:nvSpPr>
          <p:cNvPr id="129" name="S129"/>
          <p:cNvSpPr/>
          <p:nvPr/>
        </p:nvSpPr>
        <p:spPr>
          <a:xfrm>
            <a:off x="889000" y="9347200"/>
            <a:ext cx="2540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889000" y="93472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19200" y="93599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활용 (DB·GPT·Project Knowledge)</a:t>
            </a:r>
          </a:p>
        </p:txBody>
      </p:sp>
      <p:sp>
        <p:nvSpPr>
          <p:cNvPr id="132" name="S132"/>
          <p:cNvSpPr/>
          <p:nvPr/>
        </p:nvSpPr>
        <p:spPr>
          <a:xfrm>
            <a:off x="889000" y="9715500"/>
            <a:ext cx="5765800" cy="279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889000" y="9715500"/>
            <a:ext cx="57658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4B400"/>
                </a:solidFill>
              </a:rPr>
              <a:t>6직무 모두 동일 파이프라인 적용 — 부서별 입력 데이터만 다름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120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6162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5.1 · 자동 파이프라인 · 그림 3-10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★ BIG WIN · 그림 3-10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디지털화 자동 파이프라인 개관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수집된 데이터 → 자동으로 디지털 자산이 되는 시스템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입력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Input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수집 데이터
사진·음성·영상·문서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Digitize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OCR/STT/영상
AI 자동 라우팅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분류·태깅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Classify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5차원 자동
메타데이터 표준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검수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Verify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AI 1차 + 인간
신뢰도 표시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활용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Use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DB·GPT·Project
Knowledge 등록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파이프라인의 3가지 핵심 가치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자동성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수집 → 디지털화 → 분류 자동 흐름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일관성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표준화된 결과물 (모든 부서 동일)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확장성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데이터 양 증가해도 같은 시스템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파이프라인 운영 자동화 도구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Claude Project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표준화된 처리 워크플로우 — Instructions에 분류 규칙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Custom GPT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부서별 디지털화 어시스턴트 — 6개 부서 각자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Genspark AI Agent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다단계 자동 처리 — 입력 → 산출 한번에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Forms·Notion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입력·산출 양식 — 양식이 곧 시스템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6직무 모두 동일 파이프라인 — 입력 데이터만 다름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1. 기술문서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2. A/S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3. 영업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4. 해외영업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5. 마케팅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6. DX·IT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핵심 — </a:t>
            </a:r>
            <a:r>
              <a:rPr lang="en-US" sz="1200" dirty="0">
                <a:solidFill>
                  <a:srgbClr val="FFFFFF"/>
                </a:solidFill>
              </a:rPr>
              <a:t>일회성 디지털화 X · </a:t>
            </a:r>
            <a:r>
              <a:rPr lang="en-US" sz="1300" b="1" dirty="0">
                <a:solidFill>
                  <a:srgbClr val="FFFFFF"/>
                </a:solidFill>
              </a:rPr>
              <a:t>지속적으로 작동하는 시스템 구축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6271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5.2 · 6직무별 파이프라인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6직무별 디지털화 파이프라인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동일 파이프라인 + 부서별 입력·도구·산출물 차이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651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직무</a:t>
            </a:r>
          </a:p>
        </p:txBody>
      </p:sp>
      <p:sp>
        <p:nvSpPr>
          <p:cNvPr id="111" name="S111"/>
          <p:cNvSpPr/>
          <p:nvPr/>
        </p:nvSpPr>
        <p:spPr>
          <a:xfrm>
            <a:off x="2197100" y="1968500"/>
            <a:ext cx="1651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2197100" y="1968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입력</a:t>
            </a:r>
          </a:p>
        </p:txBody>
      </p:sp>
      <p:sp>
        <p:nvSpPr>
          <p:cNvPr id="113" name="S113"/>
          <p:cNvSpPr/>
          <p:nvPr/>
        </p:nvSpPr>
        <p:spPr>
          <a:xfrm>
            <a:off x="3848100" y="1968500"/>
            <a:ext cx="1524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3848100" y="19685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디지털화 도구</a:t>
            </a:r>
          </a:p>
        </p:txBody>
      </p:sp>
      <p:sp>
        <p:nvSpPr>
          <p:cNvPr id="115" name="S115"/>
          <p:cNvSpPr/>
          <p:nvPr/>
        </p:nvSpPr>
        <p:spPr>
          <a:xfrm>
            <a:off x="5372100" y="1968500"/>
            <a:ext cx="1651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5372100" y="1968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273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273300"/>
            <a:ext cx="63500" cy="825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98500" y="22733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F3A2E"/>
                </a:solidFill>
              </a:rPr>
              <a:t>1. 기술문서·매뉴얼</a:t>
            </a:r>
          </a:p>
        </p:txBody>
      </p:sp>
      <p:sp>
        <p:nvSpPr>
          <p:cNvPr id="120" name="S120"/>
          <p:cNvSpPr/>
          <p:nvPr/>
        </p:nvSpPr>
        <p:spPr>
          <a:xfrm>
            <a:off x="2197100" y="2273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2260600" y="2273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도면·매뉴얼 PDF·영상</a:t>
            </a:r>
          </a:p>
        </p:txBody>
      </p:sp>
      <p:sp>
        <p:nvSpPr>
          <p:cNvPr id="122" name="S122"/>
          <p:cNvSpPr/>
          <p:nvPr/>
        </p:nvSpPr>
        <p:spPr>
          <a:xfrm>
            <a:off x="3848100" y="2273300"/>
            <a:ext cx="1524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3911600" y="22733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0F3A2E"/>
                </a:solidFill>
              </a:rPr>
              <a:t>Vision OCR + 다국어</a:t>
            </a:r>
          </a:p>
        </p:txBody>
      </p:sp>
      <p:sp>
        <p:nvSpPr>
          <p:cNvPr id="124" name="S124"/>
          <p:cNvSpPr/>
          <p:nvPr/>
        </p:nvSpPr>
        <p:spPr>
          <a:xfrm>
            <a:off x="5372100" y="2273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5435600" y="2273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검색 매뉴얼 + Audio Overview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3098800"/>
            <a:ext cx="1651000" cy="8255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6100" y="3098800"/>
            <a:ext cx="635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30988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2. A/S 엔지니어</a:t>
            </a:r>
          </a:p>
        </p:txBody>
      </p:sp>
      <p:sp>
        <p:nvSpPr>
          <p:cNvPr id="129" name="S129"/>
          <p:cNvSpPr/>
          <p:nvPr/>
        </p:nvSpPr>
        <p:spPr>
          <a:xfrm>
            <a:off x="2197100" y="3098800"/>
            <a:ext cx="1651000" cy="8255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2260600" y="3098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점검표·결함·인터뷰 음성</a:t>
            </a:r>
          </a:p>
        </p:txBody>
      </p:sp>
      <p:sp>
        <p:nvSpPr>
          <p:cNvPr id="131" name="S131"/>
          <p:cNvSpPr/>
          <p:nvPr/>
        </p:nvSpPr>
        <p:spPr>
          <a:xfrm>
            <a:off x="3848100" y="3098800"/>
            <a:ext cx="1524000" cy="8255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911600" y="30988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E8632C"/>
                </a:solidFill>
              </a:rPr>
              <a:t>OCR + STT + Vision 진단</a:t>
            </a:r>
          </a:p>
        </p:txBody>
      </p:sp>
      <p:sp>
        <p:nvSpPr>
          <p:cNvPr id="133" name="S133"/>
          <p:cNvSpPr/>
          <p:nvPr/>
        </p:nvSpPr>
        <p:spPr>
          <a:xfrm>
            <a:off x="5372100" y="3098800"/>
            <a:ext cx="1651000" cy="8255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5435600" y="3098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정비 이력 DB + 노하우 데이터셋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32000" y="3162300"/>
            <a:ext cx="165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</a:t>
            </a:r>
          </a:p>
        </p:txBody>
      </p:sp>
      <p:sp>
        <p:nvSpPr>
          <p:cNvPr id="136" name="S136"/>
          <p:cNvSpPr/>
          <p:nvPr/>
        </p:nvSpPr>
        <p:spPr>
          <a:xfrm>
            <a:off x="546100" y="3924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546100" y="3924300"/>
            <a:ext cx="635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698500" y="39243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3. 영업·견적</a:t>
            </a:r>
          </a:p>
        </p:txBody>
      </p:sp>
      <p:sp>
        <p:nvSpPr>
          <p:cNvPr id="139" name="S139"/>
          <p:cNvSpPr/>
          <p:nvPr/>
        </p:nvSpPr>
        <p:spPr>
          <a:xfrm>
            <a:off x="2197100" y="3924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2260600" y="3924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미팅·명함·견적 사진</a:t>
            </a:r>
          </a:p>
        </p:txBody>
      </p:sp>
      <p:sp>
        <p:nvSpPr>
          <p:cNvPr id="141" name="S141"/>
          <p:cNvSpPr/>
          <p:nvPr/>
        </p:nvSpPr>
        <p:spPr>
          <a:xfrm>
            <a:off x="3848100" y="3924300"/>
            <a:ext cx="1524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911600" y="39243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F4B400"/>
                </a:solidFill>
              </a:rPr>
              <a:t>STT + OCR</a:t>
            </a:r>
          </a:p>
        </p:txBody>
      </p:sp>
      <p:sp>
        <p:nvSpPr>
          <p:cNvPr id="143" name="S143"/>
          <p:cNvSpPr/>
          <p:nvPr/>
        </p:nvSpPr>
        <p:spPr>
          <a:xfrm>
            <a:off x="5372100" y="3924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35600" y="3924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고객 응대 패턴 + 견적 자동화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4749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4749800"/>
            <a:ext cx="635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698500" y="47498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8B9A3F"/>
                </a:solidFill>
              </a:rPr>
              <a:t>4. 해외영업</a:t>
            </a:r>
          </a:p>
        </p:txBody>
      </p:sp>
      <p:sp>
        <p:nvSpPr>
          <p:cNvPr id="148" name="S148"/>
          <p:cNvSpPr/>
          <p:nvPr/>
        </p:nvSpPr>
        <p:spPr>
          <a:xfrm>
            <a:off x="2197100" y="4749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2260600" y="4749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다국어 회의·계약서</a:t>
            </a:r>
          </a:p>
        </p:txBody>
      </p:sp>
      <p:sp>
        <p:nvSpPr>
          <p:cNvPr id="150" name="S150"/>
          <p:cNvSpPr/>
          <p:nvPr/>
        </p:nvSpPr>
        <p:spPr>
          <a:xfrm>
            <a:off x="3848100" y="4749800"/>
            <a:ext cx="1524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3911600" y="47498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8B9A3F"/>
                </a:solidFill>
              </a:rPr>
              <a:t>다국어 STT + OCR</a:t>
            </a:r>
          </a:p>
        </p:txBody>
      </p:sp>
      <p:sp>
        <p:nvSpPr>
          <p:cNvPr id="152" name="S152"/>
          <p:cNvSpPr/>
          <p:nvPr/>
        </p:nvSpPr>
        <p:spPr>
          <a:xfrm>
            <a:off x="5372100" y="4749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5435600" y="4749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ITB 검토 패턴 + 다국어 응답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5575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S155"/>
          <p:cNvSpPr/>
          <p:nvPr/>
        </p:nvSpPr>
        <p:spPr>
          <a:xfrm>
            <a:off x="546100" y="5575300"/>
            <a:ext cx="63500" cy="825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698500" y="55753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3D7BC8"/>
                </a:solidFill>
              </a:rPr>
              <a:t>5. 마케팅·PM</a:t>
            </a:r>
          </a:p>
        </p:txBody>
      </p:sp>
      <p:sp>
        <p:nvSpPr>
          <p:cNvPr id="157" name="S157"/>
          <p:cNvSpPr/>
          <p:nvPr/>
        </p:nvSpPr>
        <p:spPr>
          <a:xfrm>
            <a:off x="2197100" y="5575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2260600" y="5575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고객 인터뷰·시장 보고서</a:t>
            </a:r>
          </a:p>
        </p:txBody>
      </p:sp>
      <p:sp>
        <p:nvSpPr>
          <p:cNvPr id="159" name="S159"/>
          <p:cNvSpPr/>
          <p:nvPr/>
        </p:nvSpPr>
        <p:spPr>
          <a:xfrm>
            <a:off x="3848100" y="5575300"/>
            <a:ext cx="1524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3911600" y="55753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3D7BC8"/>
                </a:solidFill>
              </a:rPr>
              <a:t>STT + OCR + 영상 분석</a:t>
            </a:r>
          </a:p>
        </p:txBody>
      </p:sp>
      <p:sp>
        <p:nvSpPr>
          <p:cNvPr id="161" name="S161"/>
          <p:cNvSpPr/>
          <p:nvPr/>
        </p:nvSpPr>
        <p:spPr>
          <a:xfrm>
            <a:off x="5372100" y="5575300"/>
            <a:ext cx="1651000" cy="8255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5435600" y="55753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캠페인 인사이트 DB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6400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546100" y="6400800"/>
            <a:ext cx="635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698500" y="6400800"/>
            <a:ext cx="14986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7E3FBF"/>
                </a:solidFill>
              </a:rPr>
              <a:t>6. DX·IT</a:t>
            </a:r>
          </a:p>
        </p:txBody>
      </p:sp>
      <p:sp>
        <p:nvSpPr>
          <p:cNvPr id="166" name="S166"/>
          <p:cNvSpPr/>
          <p:nvPr/>
        </p:nvSpPr>
        <p:spPr>
          <a:xfrm>
            <a:off x="2197100" y="6400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2260600" y="6400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부서간 회의·시스템 로그</a:t>
            </a:r>
          </a:p>
        </p:txBody>
      </p:sp>
      <p:sp>
        <p:nvSpPr>
          <p:cNvPr id="168" name="S168"/>
          <p:cNvSpPr/>
          <p:nvPr/>
        </p:nvSpPr>
        <p:spPr>
          <a:xfrm>
            <a:off x="3848100" y="6400800"/>
            <a:ext cx="1524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3911600" y="6400800"/>
            <a:ext cx="1460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dirty="0">
                <a:solidFill>
                  <a:srgbClr val="7E3FBF"/>
                </a:solidFill>
              </a:rPr>
              <a:t>STT + 자동 분류</a:t>
            </a:r>
          </a:p>
        </p:txBody>
      </p:sp>
      <p:sp>
        <p:nvSpPr>
          <p:cNvPr id="170" name="S170"/>
          <p:cNvSpPr/>
          <p:nvPr/>
        </p:nvSpPr>
        <p:spPr>
          <a:xfrm>
            <a:off x="5372100" y="6400800"/>
            <a:ext cx="1651000" cy="8255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35600" y="6400800"/>
            <a:ext cx="15875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dirty="0">
                <a:solidFill>
                  <a:srgbClr val="6B6B6B"/>
                </a:solidFill>
              </a:rPr>
              <a:t>전사 KPI 대시보드 + 자동 보고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73660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7366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927100" y="753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공통 패턴 — 모든 직무 동일 4단계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7810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수집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F4B400"/>
                </a:solidFill>
              </a:rPr>
              <a:t>디지털화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8B9A3F"/>
                </a:solidFill>
              </a:rPr>
              <a:t>분류 </a:t>
            </a:r>
            <a:r>
              <a:rPr lang="en-US" sz="1300" dirty="0">
                <a:solidFill>
                  <a:srgbClr val="FFFFFF"/>
                </a:solidFill>
              </a:rPr>
              <a:t>→ </a:t>
            </a:r>
            <a:r>
              <a:rPr lang="en-US" sz="1300" b="1" dirty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8166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입력 데이터만 부서별로 다름 — 파이프라인 자체는 100% 재사용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8572500"/>
            <a:ext cx="6477000" cy="1397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546100" y="8572500"/>
            <a:ext cx="76200" cy="1397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179"/>
          <p:cNvSpPr txBox="1"/>
          <p:nvPr/>
        </p:nvSpPr>
        <p:spPr>
          <a:xfrm>
            <a:off x="927100" y="8737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자기 부서 파이프라인 시작 가이드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927100" y="90424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1. 위 표에서 자기 부서 행 찾기 → 입력·도구·산출물 확인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9271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2. 입력 데이터 1종 선택 (가장 자주 발생하는 것) → PoC 시작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99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3. 도구 1개 정착 후 → 추가 입력 데이터 확장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28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4. 1개월 PoC → 부서 표준 → 3개월 ROI 측정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7925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</a:t>
            </a:r>
            <a:r>
              <a:rPr lang="en-US" sz="900" b="1" spc="300" dirty="0" err="1">
                <a:solidFill>
                  <a:srgbClr val="FFFFFF"/>
                </a:solidFill>
              </a:rPr>
              <a:t>실습</a:t>
            </a:r>
            <a:r>
              <a:rPr lang="en-US" sz="900" b="1" spc="300" dirty="0">
                <a:solidFill>
                  <a:srgbClr val="FFFFFF"/>
                </a:solidFill>
              </a:rPr>
              <a:t> 3-7 · </a:t>
            </a:r>
            <a:r>
              <a:rPr lang="en-US" sz="900" b="1" spc="300" dirty="0" err="1">
                <a:solidFill>
                  <a:srgbClr val="FFFFFF"/>
                </a:solidFill>
              </a:rPr>
              <a:t>파이프라인</a:t>
            </a:r>
            <a:r>
              <a:rPr lang="en-US" sz="900" b="1" spc="300" dirty="0">
                <a:solidFill>
                  <a:srgbClr val="FFFFFF"/>
                </a:solidFill>
              </a:rPr>
              <a:t> </a:t>
            </a:r>
            <a:r>
              <a:rPr lang="en-US" sz="900" b="1" spc="300" dirty="0" err="1">
                <a:solidFill>
                  <a:srgbClr val="FFFFFF"/>
                </a:solidFill>
              </a:rPr>
              <a:t>구축</a:t>
            </a:r>
            <a:endParaRPr lang="en-US" sz="900" b="1" spc="300" dirty="0">
              <a:solidFill>
                <a:srgbClr val="FFFFFF"/>
              </a:solidFill>
            </a:endParaRP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실습 3-7 (60분)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3-7] 자기 부서 디지털화 파이프라인 구축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— BIG WIN 산출물: 부서 파이프라인 설계도 1장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533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0828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082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S113"/>
          <p:cNvSpPr/>
          <p:nvPr/>
        </p:nvSpPr>
        <p:spPr>
          <a:xfrm>
            <a:off x="1143000" y="2082800"/>
            <a:ext cx="635000" cy="304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1143000" y="20828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905000" y="20320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입력 데이터 정의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905000" y="22733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VOL.02 PART 02 수집 데이터 활용 — 1주일간 발생할 종류 예측</a:t>
            </a:r>
          </a:p>
        </p:txBody>
      </p:sp>
      <p:sp>
        <p:nvSpPr>
          <p:cNvPr id="117" name="S117"/>
          <p:cNvSpPr/>
          <p:nvPr/>
        </p:nvSpPr>
        <p:spPr>
          <a:xfrm>
            <a:off x="546100" y="25400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546100" y="2540000"/>
            <a:ext cx="76200" cy="533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762000" y="26543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762000" y="26543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1" name="S121"/>
          <p:cNvSpPr/>
          <p:nvPr/>
        </p:nvSpPr>
        <p:spPr>
          <a:xfrm>
            <a:off x="1143000" y="2654300"/>
            <a:ext cx="635000" cy="3048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143000" y="26543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4B400"/>
                </a:solidFill>
              </a:rPr>
              <a:t>15분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905000" y="2603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디지털화 단계 설계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8448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입력 데이터 3~5종 × 도구 + 자연어 요청 템플릿 작성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111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111500"/>
            <a:ext cx="76200" cy="533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22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22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9" name="S129"/>
          <p:cNvSpPr/>
          <p:nvPr/>
        </p:nvSpPr>
        <p:spPr>
          <a:xfrm>
            <a:off x="1143000" y="3225800"/>
            <a:ext cx="6350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32258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905000" y="31750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분류 체계 정의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905000" y="34163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카테고리 3~5개 + 태그 표준 10~20개 + 보안 등급 매핑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36830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3683000"/>
            <a:ext cx="76200" cy="533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3797300"/>
            <a:ext cx="304800" cy="3048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37973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7" name="S137"/>
          <p:cNvSpPr/>
          <p:nvPr/>
        </p:nvSpPr>
        <p:spPr>
          <a:xfrm>
            <a:off x="1143000" y="3797300"/>
            <a:ext cx="635000" cy="3048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1143000" y="37973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905000" y="3746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검수 워크플로우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905000" y="39878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신뢰도 ★3 이하 → 인간 검수 + 정기 검수 일정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42545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4254500"/>
            <a:ext cx="76200" cy="533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762000" y="4368800"/>
            <a:ext cx="304800" cy="3048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762000" y="4368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S145"/>
          <p:cNvSpPr/>
          <p:nvPr/>
        </p:nvSpPr>
        <p:spPr>
          <a:xfrm>
            <a:off x="1143000" y="4368800"/>
            <a:ext cx="635000" cy="3048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143000" y="43688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10분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905000" y="43180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사내 등록 시스템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1905000" y="45593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Custom GPT/Project/위키 + 접근 권한 + 활용 가이드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826000"/>
            <a:ext cx="6477000" cy="533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46100" y="4826000"/>
            <a:ext cx="76200" cy="533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762000" y="4940300"/>
            <a:ext cx="304800" cy="3048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762000" y="49403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" name="S153"/>
          <p:cNvSpPr/>
          <p:nvPr/>
        </p:nvSpPr>
        <p:spPr>
          <a:xfrm>
            <a:off x="1143000" y="4940300"/>
            <a:ext cx="635000" cy="3048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1143000" y="4940300"/>
            <a:ext cx="635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1905000" y="48895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동료와 검토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1905000" y="5130800"/>
            <a:ext cx="5016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1분 발표 + 4분 피드백 — 즉시 보완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524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524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568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산출물 — 한 페이지로 완성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59563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📄 </a:t>
            </a:r>
            <a:r>
              <a:rPr lang="en-US" sz="1300" b="1" dirty="0">
                <a:solidFill>
                  <a:srgbClr val="FFFFFF"/>
                </a:solidFill>
              </a:rPr>
              <a:t>자기 부서 디지털화 파이프라인 설계도 (1장)</a:t>
            </a:r>
          </a:p>
        </p:txBody>
      </p:sp>
      <p:sp>
        <p:nvSpPr>
          <p:cNvPr id="161" name="S161"/>
          <p:cNvSpPr/>
          <p:nvPr/>
        </p:nvSpPr>
        <p:spPr>
          <a:xfrm>
            <a:off x="546100" y="6477000"/>
            <a:ext cx="6477000" cy="196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6477000"/>
            <a:ext cx="76200" cy="196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664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💬 Step 2 양식 템플릿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927100" y="69596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F4B400"/>
                </a:solidFill>
              </a:rPr>
              <a:t>[자기 부서 디지털화 파이프라인]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927100" y="71374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/>
          </a:p>
        </p:txBody>
      </p:sp>
      <p:sp>
        <p:nvSpPr>
          <p:cNvPr id="166" name="T166"/>
          <p:cNvSpPr txBox="1"/>
          <p:nvPr/>
        </p:nvSpPr>
        <p:spPr>
          <a:xfrm>
            <a:off x="927100" y="73152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F4B400"/>
                </a:solidFill>
              </a:rPr>
              <a:t>입력 데이터 1: ___________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27100" y="74930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  • 디지털화 도구: ___________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927100" y="76708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FFFFFF"/>
                </a:solidFill>
              </a:rPr>
              <a:t>  • 자연어 요청 템플릿: ___________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27100" y="78486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/>
          </a:p>
        </p:txBody>
      </p:sp>
      <p:sp>
        <p:nvSpPr>
          <p:cNvPr id="170" name="T170"/>
          <p:cNvSpPr txBox="1"/>
          <p:nvPr/>
        </p:nvSpPr>
        <p:spPr>
          <a:xfrm>
            <a:off x="927100" y="8026400"/>
            <a:ext cx="6032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F4B400"/>
                </a:solidFill>
              </a:rPr>
              <a:t>입력 데이터 2: ___________  (3~5개 정의)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8636000"/>
            <a:ext cx="6477000" cy="1333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762000" y="880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다음 주부터 즉시 가동 — PoC 체크리스트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762000" y="9080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☐  1주일 내 자기 부서 파이프라인 PoC 시작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762000" y="9309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2C2C2C"/>
                </a:solidFill>
              </a:rPr>
              <a:t>☐  1개월 내 부서 표준 정착 (전 부서원 적용)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762000" y="9537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E8632C"/>
                </a:solidFill>
              </a:rPr>
              <a:t>☐  3개월 내 ROI 측정·임원 보고 (시간 절약 데이터)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762000" y="97663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부서장 사전 동의 — 다음 주 가동 위한 합의 확보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0" name="S18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S18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07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ROI · 시간 절약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ROI 측정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파이프라인 ROI · 시간 절약 측정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디지털화 자동 파이프라인 = 회사 ROI의 핵심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디지털화 작업별 시간 절약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349500"/>
            <a:ext cx="2921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546100" y="2349500"/>
            <a:ext cx="2921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작업</a:t>
            </a:r>
          </a:p>
        </p:txBody>
      </p:sp>
      <p:sp>
        <p:nvSpPr>
          <p:cNvPr id="113" name="S113"/>
          <p:cNvSpPr/>
          <p:nvPr/>
        </p:nvSpPr>
        <p:spPr>
          <a:xfrm>
            <a:off x="3467100" y="2349500"/>
            <a:ext cx="11430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3467100" y="23495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15" name="S115"/>
          <p:cNvSpPr/>
          <p:nvPr/>
        </p:nvSpPr>
        <p:spPr>
          <a:xfrm>
            <a:off x="4610100" y="2349500"/>
            <a:ext cx="11430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4610100" y="23495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17" name="S117"/>
          <p:cNvSpPr/>
          <p:nvPr/>
        </p:nvSpPr>
        <p:spPr>
          <a:xfrm>
            <a:off x="5753100" y="2349500"/>
            <a:ext cx="1270000" cy="304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5753100" y="23495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절약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54300"/>
            <a:ext cx="2921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635000" y="26543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도면 디지털화</a:t>
            </a:r>
          </a:p>
        </p:txBody>
      </p:sp>
      <p:sp>
        <p:nvSpPr>
          <p:cNvPr id="121" name="S121"/>
          <p:cNvSpPr/>
          <p:nvPr/>
        </p:nvSpPr>
        <p:spPr>
          <a:xfrm>
            <a:off x="3467100" y="26543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3467100" y="26543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1일</a:t>
            </a:r>
          </a:p>
        </p:txBody>
      </p:sp>
      <p:sp>
        <p:nvSpPr>
          <p:cNvPr id="123" name="S123"/>
          <p:cNvSpPr/>
          <p:nvPr/>
        </p:nvSpPr>
        <p:spPr>
          <a:xfrm>
            <a:off x="4610100" y="26543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4610100" y="26543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30분</a:t>
            </a:r>
          </a:p>
        </p:txBody>
      </p:sp>
      <p:sp>
        <p:nvSpPr>
          <p:cNvPr id="125" name="S125"/>
          <p:cNvSpPr/>
          <p:nvPr/>
        </p:nvSpPr>
        <p:spPr>
          <a:xfrm>
            <a:off x="5753100" y="2654300"/>
            <a:ext cx="1270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753100" y="26543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94%↓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2959100"/>
            <a:ext cx="2921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35000" y="29591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점검표 30장</a:t>
            </a:r>
          </a:p>
        </p:txBody>
      </p:sp>
      <p:sp>
        <p:nvSpPr>
          <p:cNvPr id="129" name="S129"/>
          <p:cNvSpPr/>
          <p:nvPr/>
        </p:nvSpPr>
        <p:spPr>
          <a:xfrm>
            <a:off x="3467100" y="2959100"/>
            <a:ext cx="1143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467100" y="29591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4시간</a:t>
            </a:r>
          </a:p>
        </p:txBody>
      </p:sp>
      <p:sp>
        <p:nvSpPr>
          <p:cNvPr id="131" name="S131"/>
          <p:cNvSpPr/>
          <p:nvPr/>
        </p:nvSpPr>
        <p:spPr>
          <a:xfrm>
            <a:off x="4610100" y="2959100"/>
            <a:ext cx="1143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610100" y="29591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5분</a:t>
            </a:r>
          </a:p>
        </p:txBody>
      </p:sp>
      <p:sp>
        <p:nvSpPr>
          <p:cNvPr id="133" name="S133"/>
          <p:cNvSpPr/>
          <p:nvPr/>
        </p:nvSpPr>
        <p:spPr>
          <a:xfrm>
            <a:off x="5753100" y="2959100"/>
            <a:ext cx="1270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5753100" y="29591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98%↓</a:t>
            </a:r>
          </a:p>
        </p:txBody>
      </p:sp>
      <p:sp>
        <p:nvSpPr>
          <p:cNvPr id="135" name="S135"/>
          <p:cNvSpPr/>
          <p:nvPr/>
        </p:nvSpPr>
        <p:spPr>
          <a:xfrm>
            <a:off x="546100" y="3263900"/>
            <a:ext cx="2921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635000" y="32639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손글씨 노트 100쪽</a:t>
            </a:r>
          </a:p>
        </p:txBody>
      </p:sp>
      <p:sp>
        <p:nvSpPr>
          <p:cNvPr id="137" name="S137"/>
          <p:cNvSpPr/>
          <p:nvPr/>
        </p:nvSpPr>
        <p:spPr>
          <a:xfrm>
            <a:off x="3467100" y="32639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3467100" y="32639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1주</a:t>
            </a:r>
          </a:p>
        </p:txBody>
      </p:sp>
      <p:sp>
        <p:nvSpPr>
          <p:cNvPr id="139" name="S139"/>
          <p:cNvSpPr/>
          <p:nvPr/>
        </p:nvSpPr>
        <p:spPr>
          <a:xfrm>
            <a:off x="4610100" y="32639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4610100" y="32639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1일</a:t>
            </a:r>
          </a:p>
        </p:txBody>
      </p:sp>
      <p:sp>
        <p:nvSpPr>
          <p:cNvPr id="141" name="S141"/>
          <p:cNvSpPr/>
          <p:nvPr/>
        </p:nvSpPr>
        <p:spPr>
          <a:xfrm>
            <a:off x="5753100" y="3263900"/>
            <a:ext cx="1270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753100" y="32639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86%↓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3568700"/>
            <a:ext cx="2921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635000" y="35687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회의록 작성</a:t>
            </a:r>
          </a:p>
        </p:txBody>
      </p:sp>
      <p:sp>
        <p:nvSpPr>
          <p:cNvPr id="145" name="S145"/>
          <p:cNvSpPr/>
          <p:nvPr/>
        </p:nvSpPr>
        <p:spPr>
          <a:xfrm>
            <a:off x="3467100" y="3568700"/>
            <a:ext cx="114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3467100" y="356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30분</a:t>
            </a:r>
          </a:p>
        </p:txBody>
      </p:sp>
      <p:sp>
        <p:nvSpPr>
          <p:cNvPr id="147" name="S147"/>
          <p:cNvSpPr/>
          <p:nvPr/>
        </p:nvSpPr>
        <p:spPr>
          <a:xfrm>
            <a:off x="4610100" y="3568700"/>
            <a:ext cx="114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4610100" y="356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5분</a:t>
            </a:r>
          </a:p>
        </p:txBody>
      </p:sp>
      <p:sp>
        <p:nvSpPr>
          <p:cNvPr id="149" name="S149"/>
          <p:cNvSpPr/>
          <p:nvPr/>
        </p:nvSpPr>
        <p:spPr>
          <a:xfrm>
            <a:off x="5753100" y="3568700"/>
            <a:ext cx="1270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753100" y="35687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83%↓</a:t>
            </a:r>
          </a:p>
        </p:txBody>
      </p:sp>
      <p:sp>
        <p:nvSpPr>
          <p:cNvPr id="151" name="S151"/>
          <p:cNvSpPr/>
          <p:nvPr/>
        </p:nvSpPr>
        <p:spPr>
          <a:xfrm>
            <a:off x="546100" y="3873500"/>
            <a:ext cx="2921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635000" y="38735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베테랑 인터뷰 정리</a:t>
            </a:r>
          </a:p>
        </p:txBody>
      </p:sp>
      <p:sp>
        <p:nvSpPr>
          <p:cNvPr id="153" name="S153"/>
          <p:cNvSpPr/>
          <p:nvPr/>
        </p:nvSpPr>
        <p:spPr>
          <a:xfrm>
            <a:off x="3467100" y="38735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467100" y="38735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1주</a:t>
            </a:r>
          </a:p>
        </p:txBody>
      </p:sp>
      <p:sp>
        <p:nvSpPr>
          <p:cNvPr id="155" name="S155"/>
          <p:cNvSpPr/>
          <p:nvPr/>
        </p:nvSpPr>
        <p:spPr>
          <a:xfrm>
            <a:off x="4610100" y="3873500"/>
            <a:ext cx="1143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4610100" y="38735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1일</a:t>
            </a:r>
          </a:p>
        </p:txBody>
      </p:sp>
      <p:sp>
        <p:nvSpPr>
          <p:cNvPr id="157" name="S157"/>
          <p:cNvSpPr/>
          <p:nvPr/>
        </p:nvSpPr>
        <p:spPr>
          <a:xfrm>
            <a:off x="5753100" y="3873500"/>
            <a:ext cx="1270000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5753100" y="38735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86%↓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4178300"/>
            <a:ext cx="2921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635000" y="41783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다국어 매뉴얼 번역</a:t>
            </a:r>
          </a:p>
        </p:txBody>
      </p:sp>
      <p:sp>
        <p:nvSpPr>
          <p:cNvPr id="161" name="S161"/>
          <p:cNvSpPr/>
          <p:nvPr/>
        </p:nvSpPr>
        <p:spPr>
          <a:xfrm>
            <a:off x="3467100" y="4178300"/>
            <a:ext cx="114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3467100" y="41783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1주</a:t>
            </a:r>
          </a:p>
        </p:txBody>
      </p:sp>
      <p:sp>
        <p:nvSpPr>
          <p:cNvPr id="163" name="S163"/>
          <p:cNvSpPr/>
          <p:nvPr/>
        </p:nvSpPr>
        <p:spPr>
          <a:xfrm>
            <a:off x="4610100" y="4178300"/>
            <a:ext cx="1143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4610100" y="41783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1일</a:t>
            </a:r>
          </a:p>
        </p:txBody>
      </p:sp>
      <p:sp>
        <p:nvSpPr>
          <p:cNvPr id="165" name="S165"/>
          <p:cNvSpPr/>
          <p:nvPr/>
        </p:nvSpPr>
        <p:spPr>
          <a:xfrm>
            <a:off x="5753100" y="4178300"/>
            <a:ext cx="1270000" cy="3048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5753100" y="41783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86%↓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4483100"/>
            <a:ext cx="2921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635000" y="4483100"/>
            <a:ext cx="2832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영상 매뉴얼화</a:t>
            </a:r>
          </a:p>
        </p:txBody>
      </p:sp>
      <p:sp>
        <p:nvSpPr>
          <p:cNvPr id="169" name="S169"/>
          <p:cNvSpPr/>
          <p:nvPr/>
        </p:nvSpPr>
        <p:spPr>
          <a:xfrm>
            <a:off x="3467100" y="4483100"/>
            <a:ext cx="1143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T170"/>
          <p:cNvSpPr txBox="1"/>
          <p:nvPr/>
        </p:nvSpPr>
        <p:spPr>
          <a:xfrm>
            <a:off x="3467100" y="44831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C73E1D"/>
                </a:solidFill>
              </a:rPr>
              <a:t>1주</a:t>
            </a:r>
          </a:p>
        </p:txBody>
      </p:sp>
      <p:sp>
        <p:nvSpPr>
          <p:cNvPr id="171" name="S171"/>
          <p:cNvSpPr/>
          <p:nvPr/>
        </p:nvSpPr>
        <p:spPr>
          <a:xfrm>
            <a:off x="4610100" y="4483100"/>
            <a:ext cx="1143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172"/>
          <p:cNvSpPr txBox="1"/>
          <p:nvPr/>
        </p:nvSpPr>
        <p:spPr>
          <a:xfrm>
            <a:off x="4610100" y="44831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1시간</a:t>
            </a:r>
          </a:p>
        </p:txBody>
      </p:sp>
      <p:sp>
        <p:nvSpPr>
          <p:cNvPr id="173" name="S173"/>
          <p:cNvSpPr/>
          <p:nvPr/>
        </p:nvSpPr>
        <p:spPr>
          <a:xfrm>
            <a:off x="5753100" y="4483100"/>
            <a:ext cx="1270000" cy="3048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5753100" y="44831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632C"/>
                </a:solidFill>
              </a:rPr>
              <a:t>97%↓</a:t>
            </a:r>
          </a:p>
        </p:txBody>
      </p:sp>
      <p:sp>
        <p:nvSpPr>
          <p:cNvPr id="175" name="S175"/>
          <p:cNvSpPr/>
          <p:nvPr/>
        </p:nvSpPr>
        <p:spPr>
          <a:xfrm>
            <a:off x="546100" y="4953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176"/>
          <p:cNvSpPr/>
          <p:nvPr/>
        </p:nvSpPr>
        <p:spPr>
          <a:xfrm>
            <a:off x="546100" y="4953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927100" y="5118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연간 절약 시간 추정 (1명 기준)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53975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매주 5건 × 4시간 절약 = </a:t>
            </a:r>
            <a:r>
              <a:rPr lang="en-US" sz="1500" b="1" dirty="0">
                <a:solidFill>
                  <a:srgbClr val="F4B400"/>
                </a:solidFill>
              </a:rPr>
              <a:t>20시간/주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927100" y="568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연간 </a:t>
            </a:r>
            <a:r>
              <a:rPr lang="en-US" sz="1500" b="1" dirty="0">
                <a:solidFill>
                  <a:srgbClr val="F4B400"/>
                </a:solidFill>
              </a:rPr>
              <a:t>1,000시간+</a:t>
            </a:r>
            <a:r>
              <a:rPr lang="en-US" sz="1200" dirty="0">
                <a:solidFill>
                  <a:srgbClr val="FFFFFF"/>
                </a:solidFill>
              </a:rPr>
              <a:t> 절약  ·  인건비 환산 </a:t>
            </a:r>
            <a:r>
              <a:rPr lang="en-US" sz="1300" b="1" dirty="0">
                <a:solidFill>
                  <a:srgbClr val="F4B400"/>
                </a:solidFill>
              </a:rPr>
              <a:t>약 5,000만 원/년/명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6286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6286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927100" y="645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전사 확산 시 — 30명 직원 적용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6731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30명 × 5,000만 원 = </a:t>
            </a:r>
            <a:r>
              <a:rPr lang="en-US" sz="1500" b="1" dirty="0">
                <a:solidFill>
                  <a:srgbClr val="F4B400"/>
                </a:solidFill>
              </a:rPr>
              <a:t>연간 15억 원 절약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175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762000" y="734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부수 효과 — 시간 절약 외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7683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🛡️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1143000" y="76835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데이터 자산 영구 보존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1143000" y="79121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베테랑 은퇴 대비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2857500" y="7683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3238500" y="76835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검색·활용 데이터 100배+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3238500" y="79121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이전 비정형 → 정형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4953000" y="76835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🎓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5334000" y="76835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E8632C"/>
                </a:solidFill>
              </a:rPr>
              <a:t>신입 학습 효율 30%↑</a:t>
            </a:r>
          </a:p>
        </p:txBody>
      </p:sp>
      <p:sp>
        <p:nvSpPr>
          <p:cNvPr id="194" name="T194"/>
          <p:cNvSpPr txBox="1"/>
          <p:nvPr/>
        </p:nvSpPr>
        <p:spPr>
          <a:xfrm>
            <a:off x="5334000" y="79121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체계적 자료 + 검색</a:t>
            </a:r>
          </a:p>
        </p:txBody>
      </p:sp>
      <p:sp>
        <p:nvSpPr>
          <p:cNvPr id="195" name="S195"/>
          <p:cNvSpPr/>
          <p:nvPr/>
        </p:nvSpPr>
        <p:spPr>
          <a:xfrm>
            <a:off x="546100" y="8509000"/>
            <a:ext cx="64770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S196"/>
          <p:cNvSpPr/>
          <p:nvPr/>
        </p:nvSpPr>
        <p:spPr>
          <a:xfrm>
            <a:off x="546100" y="85090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T197"/>
          <p:cNvSpPr txBox="1"/>
          <p:nvPr/>
        </p:nvSpPr>
        <p:spPr>
          <a:xfrm>
            <a:off x="927100" y="8661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927100" y="89408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디지털화 자동 파이프라인 = </a:t>
            </a:r>
            <a:r>
              <a:rPr lang="en-US" sz="1300" b="1" dirty="0">
                <a:solidFill>
                  <a:srgbClr val="F4B400"/>
                </a:solidFill>
              </a:rPr>
              <a:t>회사 ROI의 핵심</a:t>
            </a:r>
          </a:p>
        </p:txBody>
      </p:sp>
      <p:sp>
        <p:nvSpPr>
          <p:cNvPr id="199" name="S199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S200"/>
          <p:cNvSpPr/>
          <p:nvPr/>
        </p:nvSpPr>
        <p:spPr>
          <a:xfrm>
            <a:off x="546100" y="9398000"/>
            <a:ext cx="76200" cy="571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201"/>
          <p:cNvSpPr txBox="1"/>
          <p:nvPr/>
        </p:nvSpPr>
        <p:spPr>
          <a:xfrm>
            <a:off x="9271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3개월 PoC → 임원 보고 — </a:t>
            </a:r>
            <a:r>
              <a:rPr lang="en-US" sz="1100" dirty="0">
                <a:solidFill>
                  <a:srgbClr val="FFFFFF"/>
                </a:solidFill>
              </a:rPr>
              <a:t>"우리 부서 1년 절약 1억 원" 데이터로 전사 확산 추진</a:t>
            </a:r>
          </a:p>
        </p:txBody>
      </p:sp>
      <p:sp>
        <p:nvSpPr>
          <p:cNvPr id="202" name="S20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5" name="S20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S20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S20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S20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7271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Ch.5 정리 · ★ BIG WIN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Ch.5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E8632C"/>
                </a:solidFill>
              </a:rPr>
              <a:t>💡 Chapter 5 — ★ BIG WIN 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 손에 들고 가는 4가지 산출물 — 다음 주부터 즉시 가동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87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336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33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371600" y="21209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📄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1209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부서별 디지털화 자동 파이프라인 설계도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5단계 흐름 + 입력·도구·산출물·등록 위치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27940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2794000"/>
            <a:ext cx="76200" cy="787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762000" y="29591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62000" y="2959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0F3A2E"/>
                </a:solidFill>
              </a:rPr>
              <a:t>✅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371600" y="2946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⚙️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778000" y="2946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5단계 자동 처리 흐름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778000" y="3276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입력 → 디지털화 → 분류 → 검수 → 활용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36195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3619500"/>
            <a:ext cx="76200" cy="787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5"/>
          <p:cNvSpPr/>
          <p:nvPr/>
        </p:nvSpPr>
        <p:spPr>
          <a:xfrm>
            <a:off x="762000" y="3784600"/>
            <a:ext cx="457200" cy="4572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762000" y="378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37719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🎯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7719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6직무별 파이프라인 매트릭스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778000" y="41021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기술문서·A/S·영업·해외영업·마케팅·DX 모두 동일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4445000"/>
            <a:ext cx="6477000" cy="787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4445000"/>
            <a:ext cx="76200" cy="787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762000" y="46101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762000" y="4610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1371600" y="4597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💰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778000" y="45974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ROI · 시간 절약 측정 프레임워크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7780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연간 1,000시간+ · 5,000만 원/명 · 전사 15억 원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5397500"/>
            <a:ext cx="6477000" cy="1460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53975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558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927100" y="59690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일회성이 아닌 </a:t>
            </a:r>
            <a:r>
              <a:rPr lang="en-US" sz="1500" b="1" dirty="0">
                <a:solidFill>
                  <a:srgbClr val="F4B400"/>
                </a:solidFill>
              </a:rPr>
              <a:t>지속 작동 시스템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927100" y="6413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매주 데이터가 </a:t>
            </a:r>
            <a:r>
              <a:rPr lang="en-US" sz="1300" b="1" dirty="0">
                <a:solidFill>
                  <a:srgbClr val="F4B400"/>
                </a:solidFill>
              </a:rPr>
              <a:t>자동으로 자산이 됨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7048500"/>
            <a:ext cx="6477000" cy="2159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546100" y="7048500"/>
            <a:ext cx="76200" cy="2159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927100" y="7239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다음 단계 — 1주 → 1개월 → 3개월 로드맵</a:t>
            </a:r>
          </a:p>
        </p:txBody>
      </p:sp>
      <p:sp>
        <p:nvSpPr>
          <p:cNvPr id="145" name="S145"/>
          <p:cNvSpPr/>
          <p:nvPr/>
        </p:nvSpPr>
        <p:spPr>
          <a:xfrm>
            <a:off x="927100" y="7620000"/>
            <a:ext cx="1016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76200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1주일 내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2070100" y="7721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자기 부서 파이프라인 PoC 시작 (입력 1종 + 도구 1개)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102600"/>
            <a:ext cx="1016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1026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1개월 내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2070100" y="8204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EEDD"/>
                </a:solidFill>
              </a:rPr>
              <a:t>부서 표준 정착 — 전 부서원 동일 워크플로우 적용</a:t>
            </a:r>
          </a:p>
        </p:txBody>
      </p:sp>
      <p:sp>
        <p:nvSpPr>
          <p:cNvPr id="151" name="S151"/>
          <p:cNvSpPr/>
          <p:nvPr/>
        </p:nvSpPr>
        <p:spPr>
          <a:xfrm>
            <a:off x="927100" y="8585200"/>
            <a:ext cx="1016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927100" y="85852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3개월 내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2070100" y="86868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F4B400"/>
                </a:solidFill>
              </a:rPr>
              <a:t>ROI 측정 + 임원 보고 — 절약 시간 데이터로 전사 확산</a:t>
            </a:r>
          </a:p>
        </p:txBody>
      </p:sp>
      <p:sp>
        <p:nvSpPr>
          <p:cNvPr id="154" name="S15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PART 03 끝 → </a:t>
            </a:r>
            <a:r>
              <a:rPr lang="en-US" sz="1300" b="1" dirty="0">
                <a:solidFill>
                  <a:srgbClr val="E8632C"/>
                </a:solidFill>
              </a:rPr>
              <a:t>PART 04 데이터 구조화·표준화</a:t>
            </a:r>
            <a:r>
              <a:rPr lang="en-US" sz="1100" dirty="0">
                <a:solidFill>
                  <a:srgbClr val="6B6B6B"/>
                </a:solidFill>
              </a:rPr>
              <a:t> 진입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9" name="S15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8146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자가진단 · PART 04 예고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자가진단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PART 03 자가진단 + PART 04 예고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6항목 체크 → 다음 PART 진입 + 다음 PART 핵심 주제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자가진단 체크리스트 (6가지)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15" name="S115"/>
          <p:cNvSpPr/>
          <p:nvPr/>
        </p:nvSpPr>
        <p:spPr>
          <a:xfrm>
            <a:off x="1079500" y="25400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079500" y="2540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498600" y="25654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OCR · STT · 영상 4가지 디지털화 기술을 이해한다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28956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28956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2" name="S122"/>
          <p:cNvSpPr/>
          <p:nvPr/>
        </p:nvSpPr>
        <p:spPr>
          <a:xfrm>
            <a:off x="1079500" y="29591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079500" y="29591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98600" y="29845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도면 · 점검표 · 손글씨를 OCR로 디지털화할 수 있다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9" name="S129"/>
          <p:cNvSpPr/>
          <p:nvPr/>
        </p:nvSpPr>
        <p:spPr>
          <a:xfrm>
            <a:off x="1079500" y="33782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079500" y="33782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498600" y="34036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회의 · 인터뷰 음성을 STT로 화자 분리하여 변환할 수 있다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37338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37338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36" name="S136"/>
          <p:cNvSpPr/>
          <p:nvPr/>
        </p:nvSpPr>
        <p:spPr>
          <a:xfrm>
            <a:off x="1079500" y="37973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1079500" y="37973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98600" y="38227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다국어 OCR · STT를 적절히 활용할 수 있다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1529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1529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43" name="S143"/>
          <p:cNvSpPr/>
          <p:nvPr/>
        </p:nvSpPr>
        <p:spPr>
          <a:xfrm>
            <a:off x="1079500" y="42164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079500" y="42164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498600" y="42418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영상을 단계별 매뉴얼로 변환할 수 있다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45720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45720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50" name="S150"/>
          <p:cNvSpPr/>
          <p:nvPr/>
        </p:nvSpPr>
        <p:spPr>
          <a:xfrm>
            <a:off x="1079500" y="46355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1079500" y="46355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498600" y="46609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자기 부서 디지털화 자동 파이프라인을 설계할 수 있다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5143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5143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PART 04 예고 — 데이터 구조화·표준화 (DAY 4)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5524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5524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568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5단계 워크플로우의 Step 4 — 구조화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5969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비정형 데이터 → </a:t>
            </a:r>
            <a:r>
              <a:rPr lang="en-US" sz="1300" b="1" dirty="0">
                <a:solidFill>
                  <a:srgbClr val="F4B400"/>
                </a:solidFill>
              </a:rPr>
              <a:t>검색·분석 가능한 정형 데이터</a:t>
            </a:r>
          </a:p>
        </p:txBody>
      </p:sp>
      <p:sp>
        <p:nvSpPr>
          <p:cNvPr id="159" name="S159"/>
          <p:cNvSpPr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31900" y="6375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비정형 → 정형 데이터 변환 (4단계 워크플로우)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231900" y="65786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메타데이터 표준 (15요소: 표준 9 + 건설기계 6)</a:t>
            </a:r>
          </a:p>
        </p:txBody>
      </p:sp>
      <p:sp>
        <p:nvSpPr>
          <p:cNvPr id="165" name="S165"/>
          <p:cNvSpPr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231900" y="67818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데이터 라벨링·분류 체계 (5 Layer 거버넌스)</a:t>
            </a:r>
          </a:p>
        </p:txBody>
      </p:sp>
      <p:sp>
        <p:nvSpPr>
          <p:cNvPr id="168" name="S168"/>
          <p:cNvSpPr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231900" y="6985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★ BIG WIN — 자사 데이터 표준 분류 체계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7429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7429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759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 밤 미션 — DAY 4 준비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7874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오늘 디지털화한 데이터 정리 — DAY 4 구조화 실습 데이터로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8102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자기 부서 분류 체계 후보 5개 메모 (대분류·중분류)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8331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부서장과 PoC 가동 일정 사전 합의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8826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899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💡 체크 결과 해석</a:t>
            </a:r>
          </a:p>
        </p:txBody>
      </p:sp>
      <p:sp>
        <p:nvSpPr>
          <p:cNvPr id="179" name="S179"/>
          <p:cNvSpPr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1524000" y="92710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PART 04 진입 — 다음 주 1주일 시스템 가동 가능</a:t>
            </a:r>
          </a:p>
        </p:txBody>
      </p:sp>
      <p:sp>
        <p:nvSpPr>
          <p:cNvPr id="182" name="S182"/>
          <p:cNvSpPr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F3A2E"/>
                </a:solidFill>
              </a:rPr>
              <a:t>4-5/6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524000" y="94996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부족한 항목 복습 — 영상 매뉴얼화·다국어 재검토</a:t>
            </a:r>
          </a:p>
        </p:txBody>
      </p:sp>
      <p:sp>
        <p:nvSpPr>
          <p:cNvPr id="185" name="S185"/>
          <p:cNvSpPr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0-3/6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1524000" y="97282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오늘 자료 다시 학습 권장 — 강사 질문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1" name="S19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1886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03 · 마무리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03 · DAY 3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PART 03 마무리 — 오늘의 여정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3 — OCR · STT 디지털화 기술을 마치며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spc="200" dirty="0">
                <a:solidFill>
                  <a:srgbClr val="F4B400"/>
                </a:solidFill>
              </a:rPr>
              <a:t>오늘 배운 것 — 6가지 핵심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65400"/>
            <a:ext cx="228600" cy="2286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65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143000" y="257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디지털화 4가지 기술 (OCR · STT · 영상 · 자동분류)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29210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2921000"/>
            <a:ext cx="76200" cy="406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118"/>
          <p:cNvSpPr/>
          <p:nvPr/>
        </p:nvSpPr>
        <p:spPr>
          <a:xfrm>
            <a:off x="762000" y="3009900"/>
            <a:ext cx="228600" cy="2286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762000" y="3009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143000" y="3022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도면 · 점검표 · 손글씨 OCR 실습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3655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365500"/>
            <a:ext cx="762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454400"/>
            <a:ext cx="228600" cy="2286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454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3467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회의 · 인터뷰 STT 실습 (화자 분리)</a:t>
            </a:r>
          </a:p>
        </p:txBody>
      </p:sp>
      <p:sp>
        <p:nvSpPr>
          <p:cNvPr id="126" name="S126"/>
          <p:cNvSpPr/>
          <p:nvPr/>
        </p:nvSpPr>
        <p:spPr>
          <a:xfrm>
            <a:off x="546100" y="38100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546100" y="3810000"/>
            <a:ext cx="76200" cy="4064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762000" y="3898900"/>
            <a:ext cx="228600" cy="2286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62000" y="3898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143000" y="3911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다국어 음성 · 이미지 동시 처리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254500"/>
            <a:ext cx="6477000" cy="406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254500"/>
            <a:ext cx="76200" cy="406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343400"/>
            <a:ext cx="228600" cy="2286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343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143000" y="4356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영상 → 단계별 매뉴얼 자동 변환</a:t>
            </a:r>
          </a:p>
        </p:txBody>
      </p:sp>
      <p:sp>
        <p:nvSpPr>
          <p:cNvPr id="136" name="S136"/>
          <p:cNvSpPr/>
          <p:nvPr/>
        </p:nvSpPr>
        <p:spPr>
          <a:xfrm>
            <a:off x="546100" y="4699000"/>
            <a:ext cx="6477000" cy="406400"/>
          </a:xfrm>
          <a:prstGeom prst="rect">
            <a:avLst/>
          </a:prstGeom>
          <a:solidFill>
            <a:srgbClr val="FFF8E8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546100" y="4699000"/>
            <a:ext cx="762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762000" y="4787900"/>
            <a:ext cx="228600" cy="2286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762000" y="4787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1143000" y="4800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부서별 디지털화 자동 파이프라인 (BIG WIN)</a:t>
            </a:r>
          </a:p>
        </p:txBody>
      </p:sp>
      <p:sp>
        <p:nvSpPr>
          <p:cNvPr id="141" name="S141"/>
          <p:cNvSpPr/>
          <p:nvPr/>
        </p:nvSpPr>
        <p:spPr>
          <a:xfrm>
            <a:off x="546100" y="5016500"/>
            <a:ext cx="6477000" cy="1460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546100" y="5016500"/>
            <a:ext cx="76200" cy="1460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927100" y="518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자기 약속 — 다음 주 행동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927100" y="5562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다음 주 베테랑 인터뷰 1건 STT 실행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927100" y="5842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점검표 30장 OCR 실행 → 디지털 정비 이력 DB 구축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927100" y="61214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☐  자기 부서 파이프라인 PoC 가동 (입력 1종 + 도구 1개)</a:t>
            </a:r>
          </a:p>
        </p:txBody>
      </p:sp>
      <p:sp>
        <p:nvSpPr>
          <p:cNvPr id="147" name="S147"/>
          <p:cNvSpPr/>
          <p:nvPr/>
        </p:nvSpPr>
        <p:spPr>
          <a:xfrm>
            <a:off x="546100" y="67310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546100" y="67310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695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3406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"수집"한 데이터가 </a:t>
            </a:r>
            <a:r>
              <a:rPr lang="en-US" sz="1500" b="1" dirty="0">
                <a:solidFill>
                  <a:srgbClr val="F4B400"/>
                </a:solidFill>
              </a:rPr>
              <a:t>"디지털 자산"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77851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이 되는 순간 — </a:t>
            </a:r>
            <a:r>
              <a:rPr lang="en-US" sz="1500" b="1" dirty="0">
                <a:solidFill>
                  <a:srgbClr val="F4B400"/>
                </a:solidFill>
              </a:rPr>
              <a:t>이제 진짜 자산화 시작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572500"/>
            <a:ext cx="64770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572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724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단계 (DAY 4)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9789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04 — </a:t>
            </a:r>
            <a:r>
              <a:rPr lang="en-US" sz="1500" b="1" dirty="0">
                <a:solidFill>
                  <a:srgbClr val="FFFFFF"/>
                </a:solidFill>
              </a:rPr>
              <a:t>데이터 구조화·표준화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9461500"/>
            <a:ext cx="6477000" cy="508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762000" y="96012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632C"/>
                </a:solidFill>
              </a:rPr>
              <a:t>수고하셨습니다 — 내일 DAY 4에서 만나뵙겠습니다 🙌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03 · DAY 3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3286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— 현장 데이터 수집 및 디지털화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DAY 4 · 8H (이론 3H + 실습 5H)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857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spc="600" dirty="0">
                <a:solidFill>
                  <a:srgbClr val="E8632C"/>
                </a:solidFill>
              </a:rPr>
              <a:t>PART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3111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5461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57785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데이터 구조화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6477000"/>
            <a:ext cx="57785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500" b="1" dirty="0">
                <a:solidFill>
                  <a:srgbClr val="FFFFFF"/>
                </a:solidFill>
              </a:rPr>
              <a:t>표준화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73660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spc="100" dirty="0">
                <a:solidFill>
                  <a:srgbClr val="BBBBBB"/>
                </a:solidFill>
              </a:rPr>
              <a:t>Data Structuring &amp; Standardization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889000" y="7810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DDDDD"/>
                </a:solidFill>
              </a:rPr>
              <a:t>— 디지털 데이터를 진짜 자산으로 만드는 단계 —</a:t>
            </a:r>
          </a:p>
        </p:txBody>
      </p:sp>
      <p:sp>
        <p:nvSpPr>
          <p:cNvPr id="113" name="S113"/>
          <p:cNvSpPr/>
          <p:nvPr/>
        </p:nvSpPr>
        <p:spPr>
          <a:xfrm>
            <a:off x="889000" y="8509000"/>
            <a:ext cx="57785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114"/>
          <p:cNvSpPr/>
          <p:nvPr/>
        </p:nvSpPr>
        <p:spPr>
          <a:xfrm>
            <a:off x="889000" y="8509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115"/>
          <p:cNvSpPr txBox="1"/>
          <p:nvPr/>
        </p:nvSpPr>
        <p:spPr>
          <a:xfrm>
            <a:off x="1143000" y="86741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그날의 BIG WIN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143000" y="8978900"/>
            <a:ext cx="5524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자사 데이터 표준 분류 체계 수립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143000" y="9309100"/>
            <a:ext cx="5524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이론 3H + 실습 5H = 5 Layer 거버넌스 문서 1개 완성</a:t>
            </a:r>
          </a:p>
        </p:txBody>
      </p:sp>
      <p:sp>
        <p:nvSpPr>
          <p:cNvPr id="118" name="S118"/>
          <p:cNvSpPr/>
          <p:nvPr/>
        </p:nvSpPr>
        <p:spPr>
          <a:xfrm>
            <a:off x="889000" y="9906000"/>
            <a:ext cx="482600" cy="482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460500" y="9906000"/>
            <a:ext cx="482600" cy="482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032000" y="9906000"/>
            <a:ext cx="482600" cy="482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603500" y="9906000"/>
            <a:ext cx="4826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128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83544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구조화·표준화 · 학습 목표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데이터 구조화·표준화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학습 목표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4 — 디지털 데이터를 진짜 자산으로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20320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2032000"/>
            <a:ext cx="76200" cy="990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1336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E8632C"/>
                </a:solidFill>
              </a:rPr>
              <a:t>01</a:t>
            </a:r>
          </a:p>
        </p:txBody>
      </p:sp>
      <p:sp>
        <p:nvSpPr>
          <p:cNvPr id="112" name="S112"/>
          <p:cNvSpPr/>
          <p:nvPr/>
        </p:nvSpPr>
        <p:spPr>
          <a:xfrm>
            <a:off x="1651000" y="2260600"/>
            <a:ext cx="304800" cy="3048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1651000" y="22606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2095500" y="22225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정형·비정형 구분 + 4단계 적용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095500" y="25654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정형·비정형 데이터를 구분하고 구조화 4단계를 적용할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496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546100" y="3149600"/>
            <a:ext cx="76200" cy="990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3251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19" name="S119"/>
          <p:cNvSpPr/>
          <p:nvPr/>
        </p:nvSpPr>
        <p:spPr>
          <a:xfrm>
            <a:off x="1651000" y="3378200"/>
            <a:ext cx="304800" cy="3048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1651000" y="33782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2095500" y="33401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자사 메타데이터 표준 양식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2095500" y="36830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메타데이터 표준 양식을 설계하고 자동 부여할 수 있다 (15요소)</a:t>
            </a:r>
          </a:p>
        </p:txBody>
      </p:sp>
      <p:sp>
        <p:nvSpPr>
          <p:cNvPr id="123" name="S123"/>
          <p:cNvSpPr/>
          <p:nvPr/>
        </p:nvSpPr>
        <p:spPr>
          <a:xfrm>
            <a:off x="546100" y="42672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S124"/>
          <p:cNvSpPr/>
          <p:nvPr/>
        </p:nvSpPr>
        <p:spPr>
          <a:xfrm>
            <a:off x="546100" y="4267200"/>
            <a:ext cx="76200" cy="990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762000" y="43688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8B9A3F"/>
                </a:solidFill>
              </a:rPr>
              <a:t>03</a:t>
            </a:r>
          </a:p>
        </p:txBody>
      </p:sp>
      <p:sp>
        <p:nvSpPr>
          <p:cNvPr id="126" name="S126"/>
          <p:cNvSpPr/>
          <p:nvPr/>
        </p:nvSpPr>
        <p:spPr>
          <a:xfrm>
            <a:off x="1651000" y="4495800"/>
            <a:ext cx="304800" cy="3048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651000" y="44958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2095500" y="44577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분류 체계 (Taxonomy) 적용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2095500" y="48006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데이터 분류 체계를 자기 부서에 적용할 수 있다</a:t>
            </a:r>
          </a:p>
        </p:txBody>
      </p:sp>
      <p:sp>
        <p:nvSpPr>
          <p:cNvPr id="130" name="S130"/>
          <p:cNvSpPr/>
          <p:nvPr/>
        </p:nvSpPr>
        <p:spPr>
          <a:xfrm>
            <a:off x="546100" y="5384800"/>
            <a:ext cx="6477000" cy="9906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546100" y="5384800"/>
            <a:ext cx="76200" cy="990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762000" y="5486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0F3A2E"/>
                </a:solidFill>
              </a:rPr>
              <a:t>04</a:t>
            </a:r>
          </a:p>
        </p:txBody>
      </p:sp>
      <p:sp>
        <p:nvSpPr>
          <p:cNvPr id="133" name="S133"/>
          <p:cNvSpPr/>
          <p:nvPr/>
        </p:nvSpPr>
        <p:spPr>
          <a:xfrm>
            <a:off x="1651000" y="5613400"/>
            <a:ext cx="304800" cy="3048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51000" y="56134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2095500" y="55753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거버넌스 문서 작성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2095500" y="5918200"/>
            <a:ext cx="482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자사 데이터 표준 분류 체계 거버넌스 문서를 작성할 수 있다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6604000"/>
            <a:ext cx="6477000" cy="254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S138"/>
          <p:cNvSpPr/>
          <p:nvPr/>
        </p:nvSpPr>
        <p:spPr>
          <a:xfrm>
            <a:off x="546100" y="6604000"/>
            <a:ext cx="76200" cy="254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927100" y="679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핵심 산출물 — DAY 4 종료 시 손에 든 것</a:t>
            </a:r>
          </a:p>
        </p:txBody>
      </p:sp>
      <p:sp>
        <p:nvSpPr>
          <p:cNvPr id="140" name="S140"/>
          <p:cNvSpPr/>
          <p:nvPr/>
        </p:nvSpPr>
        <p:spPr>
          <a:xfrm>
            <a:off x="927100" y="717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927100" y="717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1460500" y="717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메타데이터 표준 양식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460500" y="742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15요소 표준 (자동 + 수동) — 모든 부서 공통 적용</a:t>
            </a:r>
          </a:p>
        </p:txBody>
      </p:sp>
      <p:sp>
        <p:nvSpPr>
          <p:cNvPr id="144" name="S144"/>
          <p:cNvSpPr/>
          <p:nvPr/>
        </p:nvSpPr>
        <p:spPr>
          <a:xfrm>
            <a:off x="927100" y="7810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927100" y="7810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1460500" y="7810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부서별 분류 체계 매트릭스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1460500" y="8064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6직무별 대분류 5~7개 + 중·소분류 가이드</a:t>
            </a:r>
          </a:p>
        </p:txBody>
      </p:sp>
      <p:sp>
        <p:nvSpPr>
          <p:cNvPr id="148" name="S148"/>
          <p:cNvSpPr/>
          <p:nvPr/>
        </p:nvSpPr>
        <p:spPr>
          <a:xfrm>
            <a:off x="927100" y="84455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927100" y="8445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60500" y="8445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데이터 거버넌스 가이드라인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460500" y="8699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 Layer 구조 — 메타·분류·태그·라벨·거버넌스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9334500"/>
            <a:ext cx="6477000" cy="63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</a:t>
            </a:r>
            <a:r>
              <a:rPr lang="en-US" sz="1100" b="1" dirty="0">
                <a:solidFill>
                  <a:srgbClr val="E8632C"/>
                </a:solidFill>
              </a:rPr>
              <a:t>BIG WIN </a:t>
            </a:r>
            <a:r>
              <a:rPr lang="en-US" sz="1100" dirty="0">
                <a:solidFill>
                  <a:srgbClr val="2C2C2C"/>
                </a:solidFill>
              </a:rPr>
              <a:t> — 8H 후 자사 </a:t>
            </a:r>
            <a:r>
              <a:rPr lang="en-US" sz="1100" b="1" dirty="0">
                <a:solidFill>
                  <a:srgbClr val="E8632C"/>
                </a:solidFill>
              </a:rPr>
              <a:t>"5 Layer 거버넌스 헌법"</a:t>
            </a:r>
            <a:r>
              <a:rPr lang="en-US" sz="1100" dirty="0">
                <a:solidFill>
                  <a:srgbClr val="2C2C2C"/>
                </a:solidFill>
              </a:rPr>
              <a:t> 손에 들고 퇴근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62000" y="9715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이론 3H로 원칙 익히고, 실습 5H로 자기 부서 분류 체계 직접 설계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129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58" name="S158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S161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7991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구조화·표준화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데이터 구조화·표준화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PART 04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5개 Chapter — 개관 → 메타 → 분류 → 라벨링 → ★ BIG WIN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3213100" cy="457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36600" y="2070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112" name="S112"/>
          <p:cNvSpPr/>
          <p:nvPr/>
        </p:nvSpPr>
        <p:spPr>
          <a:xfrm>
            <a:off x="3086100" y="20701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 txBox="1"/>
          <p:nvPr/>
        </p:nvSpPr>
        <p:spPr>
          <a:xfrm>
            <a:off x="3086100" y="2070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1H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36600" y="25400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E8632C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2705100" y="26035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736600" y="33401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데이터 구조화 개관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736600" y="35941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왜 구조화가 필요한가</a:t>
            </a:r>
          </a:p>
        </p:txBody>
      </p:sp>
      <p:sp>
        <p:nvSpPr>
          <p:cNvPr id="118" name="S118"/>
          <p:cNvSpPr/>
          <p:nvPr/>
        </p:nvSpPr>
        <p:spPr>
          <a:xfrm>
            <a:off x="3810000" y="19685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3810000" y="1968500"/>
            <a:ext cx="3213100" cy="457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4000500" y="2070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0F3A2E"/>
                </a:solidFill>
              </a:rPr>
              <a:t>Chapter 2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070100"/>
            <a:ext cx="533400" cy="254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6350000" y="2070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4B400"/>
                </a:solidFill>
              </a:rPr>
              <a:t>1.5H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4000500" y="25400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F4B400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5969000" y="26035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🏷️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4000500" y="33401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메타데이터 설계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000500" y="35941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표준·자동·거버넌스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0640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064000"/>
            <a:ext cx="3213100" cy="457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736600" y="41656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3</a:t>
            </a:r>
          </a:p>
        </p:txBody>
      </p:sp>
      <p:sp>
        <p:nvSpPr>
          <p:cNvPr id="130" name="S130"/>
          <p:cNvSpPr/>
          <p:nvPr/>
        </p:nvSpPr>
        <p:spPr>
          <a:xfrm>
            <a:off x="3086100" y="41656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/>
          <p:nvPr/>
        </p:nvSpPr>
        <p:spPr>
          <a:xfrm>
            <a:off x="3086100" y="4165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8B9A3F"/>
                </a:solidFill>
              </a:rPr>
              <a:t>1.5H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736600" y="46355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2705100" y="46990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📂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736600" y="54356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분류 체계 (Taxonomy)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736600" y="56896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부서별·계층·다중</a:t>
            </a:r>
          </a:p>
        </p:txBody>
      </p:sp>
      <p:sp>
        <p:nvSpPr>
          <p:cNvPr id="136" name="S136"/>
          <p:cNvSpPr/>
          <p:nvPr/>
        </p:nvSpPr>
        <p:spPr>
          <a:xfrm>
            <a:off x="3810000" y="4064000"/>
            <a:ext cx="3213100" cy="1905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7" name="S137"/>
          <p:cNvSpPr/>
          <p:nvPr/>
        </p:nvSpPr>
        <p:spPr>
          <a:xfrm>
            <a:off x="3810000" y="4064000"/>
            <a:ext cx="3213100" cy="4572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4000500" y="41656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FFFFF"/>
                </a:solidFill>
              </a:rPr>
              <a:t>Chapter 4</a:t>
            </a:r>
          </a:p>
        </p:txBody>
      </p:sp>
      <p:sp>
        <p:nvSpPr>
          <p:cNvPr id="139" name="S139"/>
          <p:cNvSpPr/>
          <p:nvPr/>
        </p:nvSpPr>
        <p:spPr>
          <a:xfrm>
            <a:off x="6350000" y="4165600"/>
            <a:ext cx="5334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6350000" y="4165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3D7BC8"/>
                </a:solidFill>
              </a:rPr>
              <a:t>1H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000500" y="4635500"/>
            <a:ext cx="1016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5500" b="1" dirty="0">
                <a:solidFill>
                  <a:srgbClr val="3D7BC8"/>
                </a:solidFill>
              </a:rPr>
              <a:t>4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5969000" y="4699000"/>
            <a:ext cx="889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🎯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000500" y="5435600"/>
            <a:ext cx="2857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2C2C2C"/>
                </a:solidFill>
              </a:rPr>
              <a:t>AI 학습용 라벨링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000500" y="56896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종류·워크플로우·품질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159500"/>
            <a:ext cx="6477000" cy="1524000"/>
          </a:xfrm>
          <a:prstGeom prst="rect">
            <a:avLst/>
          </a:prstGeom>
          <a:solidFill>
            <a:srgbClr val="FFF8E8"/>
          </a:solidFill>
          <a:ln w="1270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159500"/>
            <a:ext cx="6477000" cy="457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736600" y="62611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F4B400"/>
                </a:solidFill>
              </a:rPr>
              <a:t>Chapter 5 ★</a:t>
            </a:r>
          </a:p>
        </p:txBody>
      </p:sp>
      <p:sp>
        <p:nvSpPr>
          <p:cNvPr id="148" name="S148"/>
          <p:cNvSpPr/>
          <p:nvPr/>
        </p:nvSpPr>
        <p:spPr>
          <a:xfrm>
            <a:off x="6286500" y="6261100"/>
            <a:ext cx="533400" cy="254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6286500" y="6261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3H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736600" y="67310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500" b="1" dirty="0">
                <a:solidFill>
                  <a:srgbClr val="E8632C"/>
                </a:solidFill>
              </a:rPr>
              <a:t>5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1651000" y="6794500"/>
            <a:ext cx="762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500" dirty="0">
                <a:solidFill>
                  <a:srgbClr val="2C2C2C"/>
                </a:solidFill>
              </a:rPr>
              <a:t>🏆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540000" y="68580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E8632C"/>
                </a:solidFill>
              </a:rPr>
              <a:t>★ BIG WIN — 표준 분류 체계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2540000" y="71755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5 Layer 거버넌스 — 자사 데이터 헌법</a:t>
            </a:r>
          </a:p>
        </p:txBody>
      </p:sp>
      <p:sp>
        <p:nvSpPr>
          <p:cNvPr id="154" name="S154"/>
          <p:cNvSpPr/>
          <p:nvPr/>
        </p:nvSpPr>
        <p:spPr>
          <a:xfrm>
            <a:off x="2540000" y="7429500"/>
            <a:ext cx="4318000" cy="1778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2540000" y="74295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4B400"/>
                </a:solidFill>
              </a:rPr>
              <a:t>메타·분류·태그·라벨·거버넌스 통합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7937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762000" y="8102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DAY 4 시간 배분 (8H)</a:t>
            </a:r>
          </a:p>
        </p:txBody>
      </p:sp>
      <p:sp>
        <p:nvSpPr>
          <p:cNvPr id="158" name="S158"/>
          <p:cNvSpPr/>
          <p:nvPr/>
        </p:nvSpPr>
        <p:spPr>
          <a:xfrm>
            <a:off x="762000" y="8445500"/>
            <a:ext cx="762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762000" y="8445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Ch.1·1H</a:t>
            </a:r>
          </a:p>
        </p:txBody>
      </p:sp>
      <p:sp>
        <p:nvSpPr>
          <p:cNvPr id="160" name="S160"/>
          <p:cNvSpPr/>
          <p:nvPr/>
        </p:nvSpPr>
        <p:spPr>
          <a:xfrm>
            <a:off x="1524000" y="8445500"/>
            <a:ext cx="1143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1524000" y="8445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Ch.2·1.5H</a:t>
            </a:r>
          </a:p>
        </p:txBody>
      </p:sp>
      <p:sp>
        <p:nvSpPr>
          <p:cNvPr id="162" name="S162"/>
          <p:cNvSpPr/>
          <p:nvPr/>
        </p:nvSpPr>
        <p:spPr>
          <a:xfrm>
            <a:off x="2667000" y="8445500"/>
            <a:ext cx="1143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667000" y="8445500"/>
            <a:ext cx="114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Ch.3·1.5H</a:t>
            </a:r>
          </a:p>
        </p:txBody>
      </p:sp>
      <p:sp>
        <p:nvSpPr>
          <p:cNvPr id="164" name="S164"/>
          <p:cNvSpPr/>
          <p:nvPr/>
        </p:nvSpPr>
        <p:spPr>
          <a:xfrm>
            <a:off x="3810000" y="8445500"/>
            <a:ext cx="7620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810000" y="8445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Ch.4·1H</a:t>
            </a:r>
          </a:p>
        </p:txBody>
      </p:sp>
      <p:sp>
        <p:nvSpPr>
          <p:cNvPr id="166" name="S166"/>
          <p:cNvSpPr/>
          <p:nvPr/>
        </p:nvSpPr>
        <p:spPr>
          <a:xfrm>
            <a:off x="4572000" y="8445500"/>
            <a:ext cx="2286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4572000" y="844550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Ch.5·3H ★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890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이론 3H + 실습 5H — 직접 분류 체계 설계하며 익힌다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9207500"/>
            <a:ext cx="64770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92075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9334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학습 흐름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9626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개관 → </a:t>
            </a:r>
            <a:r>
              <a:rPr lang="en-US" sz="1100" b="1" dirty="0">
                <a:solidFill>
                  <a:srgbClr val="F4B400"/>
                </a:solidFill>
              </a:rPr>
              <a:t>메타 → 분류 → 라벨링 → </a:t>
            </a:r>
            <a:r>
              <a:rPr lang="en-US" sz="1100" b="1" dirty="0">
                <a:solidFill>
                  <a:srgbClr val="E8632C"/>
                </a:solidFill>
              </a:rPr>
              <a:t>★ 5 Layer 거버넌스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6" name="S176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S178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8983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04 · DAY 4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OVERVIEW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 구조화 개관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Structuring Overview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"PART 03에서 디지털화한 데이터 → 분석 가능한 정형 데이터"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정형 vs 비정형 데이터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531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94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구조화의 가치 (검색·분석·자동화)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8013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8077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구조화 4단계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636000"/>
            <a:ext cx="5765800" cy="1270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889000" y="8636000"/>
            <a:ext cx="76200" cy="1270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1143000" y="87884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 — 회사 데이터의 80%는 비정형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143000" y="9093200"/>
            <a:ext cx="5511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비정형 80% → 정형으로 변환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143000" y="94996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검색·분석·자동화 모두 가능 — 1년 1,200H 절약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131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26032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1.1 · 정형vs비정형 · 그림 4-1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Ch.1.1 · 그림 4-1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정형 vs 비정형 데이터 — 결정적 차이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회사 데이터의 80%는 비정형 (숨겨진 자산)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비정형 (Unstructured)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★ 정형 (Structured)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형태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자유 텍스트·이미지·음성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표·DB·구조화 텍스트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예시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매뉴얼·이메일·인터뷰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Excel 표·정비 이력 DB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검색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키워드 검색만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다차원 필터링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분석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어려움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즉시 통계·집계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자동화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제한적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완전 자동화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AI 활용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도구 의존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다양한 기법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저장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파일 시스템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DB · Spreadsheet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구조화의 효과 (1년 누적, 1명 기준)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검색 시간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200H → 5H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분석 시간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300H → 30H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자동화 가능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0% → 70%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연간 절약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★ 1,200H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구조화는 데이터의 </a:t>
            </a:r>
            <a:r>
              <a:rPr lang="en-US" sz="1300" b="1" dirty="0">
                <a:solidFill>
                  <a:srgbClr val="F4B400"/>
                </a:solidFill>
              </a:rPr>
              <a:t>ROI를 결정하는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단일 가장 중요한 작업 — 비정형 → 정형 전환이 ROI 80%를 만든다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숨겨진 자산 — 회사 데이터의 80%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매뉴얼·이메일·인터뷰·사진 = </a:t>
            </a:r>
            <a:r>
              <a:rPr lang="en-US" sz="1300" b="1" dirty="0">
                <a:solidFill>
                  <a:srgbClr val="F4B400"/>
                </a:solidFill>
              </a:rPr>
              <a:t>80%가 비정형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이 80%를 정형으로 바꾸면 — 검색·분석·AI 학습 모두 가능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자기 부서 정형화 시작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자주 검색하는 비정형 데이터 1종 식별 (정비 이력·고객 응대 등)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Step 1 메타데이터 부여부터 시작 — Step 2~4는 다음 챕터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8973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1.2 · 구조화 3대 가치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Ch.1.2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구조화의 3대 가치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검색·분석·자동화 — 회사 데이터 ROI를 결정하는 단일 작업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검색 가능성 (Searchability)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"정비 이력 어디 있더라?" → 30분 검색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다차원 필터 (장비·일자·증상) → 5초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360배 ↑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분석 가능성 (Analyzability)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"유압 펌프 고장 빈도" → 수동 집계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즉시 차트·통계·인사이트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100배 ↑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자동화 가능성 (Automatability)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매번 사람이 처리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AI Agent·스크립트로 완전 자동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0% → 70%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ROI 비교 (1년 누적, 1명 기준)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작업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비구조화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구조화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검색 시간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200H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5H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분석 시간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300H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30H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자동화 가능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0%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70%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연간 절약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—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1,200시간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연간 절약 효과 — 1명 기준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1,200시간 / 년 </a:t>
            </a:r>
            <a:r>
              <a:rPr lang="en-US" sz="1100" dirty="0">
                <a:solidFill>
                  <a:srgbClr val="FFFFFF"/>
                </a:solidFill>
              </a:rPr>
              <a:t>= 인건비 환산 </a:t>
            </a:r>
            <a:r>
              <a:rPr lang="en-US" sz="1300" b="1" dirty="0">
                <a:solidFill>
                  <a:srgbClr val="F4B400"/>
                </a:solidFill>
              </a:rPr>
              <a:t>6,000만 원/년/명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전사 30명 적용 시 — 연간 18억 원 절약 + 데이터 자산화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구조화는 데이터의 </a:t>
            </a:r>
            <a:r>
              <a:rPr lang="en-US" sz="1300" b="1" dirty="0">
                <a:solidFill>
                  <a:srgbClr val="F4B400"/>
                </a:solidFill>
              </a:rPr>
              <a:t>ROI를 결정하는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단일 가장 중요한 작업 — 디지털화 투자가 의미있어지는 순간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664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1.3 · 4단계 워크플로우 · 그림 4-2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Ch.1.3 · 그림 4-2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구조화 4단계 워크플로우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메타데이터 → 분류·태깅 → 표준화 → 라벨링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4478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477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477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176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메타데이터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Metadata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일자·작성자·
부서·태그
9요소 표준</a:t>
            </a:r>
          </a:p>
        </p:txBody>
      </p:sp>
      <p:sp>
        <p:nvSpPr>
          <p:cNvPr id="118" name="S118"/>
          <p:cNvSpPr/>
          <p:nvPr/>
        </p:nvSpPr>
        <p:spPr>
          <a:xfrm>
            <a:off x="19939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22225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222500" y="1968500"/>
            <a:ext cx="14478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3241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3241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7940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2860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분류·태깅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2860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Classification</a:t>
            </a:r>
          </a:p>
        </p:txBody>
      </p:sp>
      <p:sp>
        <p:nvSpPr>
          <p:cNvPr id="126" name="S126"/>
          <p:cNvSpPr/>
          <p:nvPr/>
        </p:nvSpPr>
        <p:spPr>
          <a:xfrm>
            <a:off x="24130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22860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카테고리 자동
다중 태그 부여</a:t>
            </a:r>
          </a:p>
        </p:txBody>
      </p:sp>
      <p:sp>
        <p:nvSpPr>
          <p:cNvPr id="128" name="S128"/>
          <p:cNvSpPr/>
          <p:nvPr/>
        </p:nvSpPr>
        <p:spPr>
          <a:xfrm>
            <a:off x="36703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8989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898900" y="1968500"/>
            <a:ext cx="14478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40005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0005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44704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9624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표준화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9624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Normalization</a:t>
            </a:r>
          </a:p>
        </p:txBody>
      </p:sp>
      <p:sp>
        <p:nvSpPr>
          <p:cNvPr id="136" name="S136"/>
          <p:cNvSpPr/>
          <p:nvPr/>
        </p:nvSpPr>
        <p:spPr>
          <a:xfrm>
            <a:off x="40894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9624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양식·용어 통일
다국어 매핑</a:t>
            </a:r>
          </a:p>
        </p:txBody>
      </p:sp>
      <p:sp>
        <p:nvSpPr>
          <p:cNvPr id="138" name="S138"/>
          <p:cNvSpPr/>
          <p:nvPr/>
        </p:nvSpPr>
        <p:spPr>
          <a:xfrm>
            <a:off x="53467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5753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575300" y="1968500"/>
            <a:ext cx="14478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6769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6769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7E3FB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61468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56388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라벨링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56388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Labeling</a:t>
            </a:r>
          </a:p>
        </p:txBody>
      </p:sp>
      <p:sp>
        <p:nvSpPr>
          <p:cNvPr id="146" name="S146"/>
          <p:cNvSpPr/>
          <p:nvPr/>
        </p:nvSpPr>
        <p:spPr>
          <a:xfrm>
            <a:off x="57658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56388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AI 학습용 라벨
인간 검수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4254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25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변환 예시 — 정비 이력 (Before → After)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4762500"/>
            <a:ext cx="3048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6100" y="4762500"/>
            <a:ext cx="30480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46100" y="47625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[Before] 비정형 텍스트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98500" y="5130800"/>
            <a:ext cx="273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"오늘 PC200 굴삭기 유압 펌프 고장 났음. 김정비가 P-456 부품으로 교체"</a:t>
            </a:r>
          </a:p>
        </p:txBody>
      </p:sp>
      <p:sp>
        <p:nvSpPr>
          <p:cNvPr id="154" name="S154"/>
          <p:cNvSpPr/>
          <p:nvPr/>
        </p:nvSpPr>
        <p:spPr>
          <a:xfrm>
            <a:off x="3657600" y="5130800"/>
            <a:ext cx="190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3657600" y="48514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E8632C"/>
                </a:solidFill>
              </a:rPr>
              <a:t>4단계</a:t>
            </a:r>
          </a:p>
        </p:txBody>
      </p:sp>
      <p:sp>
        <p:nvSpPr>
          <p:cNvPr id="156" name="S156"/>
          <p:cNvSpPr/>
          <p:nvPr/>
        </p:nvSpPr>
        <p:spPr>
          <a:xfrm>
            <a:off x="3911600" y="4762500"/>
            <a:ext cx="3111500" cy="2159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3911600" y="4762500"/>
            <a:ext cx="3111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3911600" y="4762500"/>
            <a:ext cx="3111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[After] 정형 데이터 (12+ 필드)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038600" y="51308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일자: 2026-05-09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4038600" y="53340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정비사: 김정비 (사번 12345)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4038600" y="55372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장비: PC200-8 (#ABC-123)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4038600" y="57404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증상: 유압 펌프 고장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4038600" y="59436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조치: 부품 교체 (P-456)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4038600" y="61468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카테고리: 정비/유압/부품교체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038600" y="63500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태그: 굴삭기·유압펌프·교체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4038600" y="65532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보안: 내부 / 라벨: 패턴 학습용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71755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546100" y="71755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927100" y="734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Step 1 메타데이터 = 자산화의 시작점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27100" y="7620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PART 02에서 학습한 9요소를 모든 데이터에 적용 (자동 + 수동)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927100" y="7874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메타데이터 없이 다음 단계 X — Step 1이 부실하면 모두 무너짐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8382000"/>
            <a:ext cx="6477000" cy="1587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7620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실무 적용 — 4단계 모두 완성해야 자산화 완료</a:t>
            </a:r>
          </a:p>
        </p:txBody>
      </p:sp>
      <p:sp>
        <p:nvSpPr>
          <p:cNvPr id="174" name="S174"/>
          <p:cNvSpPr/>
          <p:nvPr/>
        </p:nvSpPr>
        <p:spPr>
          <a:xfrm>
            <a:off x="762000" y="8953500"/>
            <a:ext cx="14605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7620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검색 가능</a:t>
            </a:r>
          </a:p>
        </p:txBody>
      </p:sp>
      <p:sp>
        <p:nvSpPr>
          <p:cNvPr id="177" name="S177"/>
          <p:cNvSpPr/>
          <p:nvPr/>
        </p:nvSpPr>
        <p:spPr>
          <a:xfrm>
            <a:off x="2311400" y="8953500"/>
            <a:ext cx="14605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23114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3114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필터·집계</a:t>
            </a:r>
          </a:p>
        </p:txBody>
      </p:sp>
      <p:sp>
        <p:nvSpPr>
          <p:cNvPr id="180" name="S180"/>
          <p:cNvSpPr/>
          <p:nvPr/>
        </p:nvSpPr>
        <p:spPr>
          <a:xfrm>
            <a:off x="3860800" y="8953500"/>
            <a:ext cx="14605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38608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38608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부서간 통합</a:t>
            </a:r>
          </a:p>
        </p:txBody>
      </p:sp>
      <p:sp>
        <p:nvSpPr>
          <p:cNvPr id="183" name="S183"/>
          <p:cNvSpPr/>
          <p:nvPr/>
        </p:nvSpPr>
        <p:spPr>
          <a:xfrm>
            <a:off x="5410200" y="8953500"/>
            <a:ext cx="1460500" cy="406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54102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54102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AI 학습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525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★ 4단계가 완성되어야 진짜 자산화 완료 — 검색·분석·자동화 모두 가능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762000" y="9753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Step 1만으로는 "태그된 비정형" 수준 — Step 4까지 가야 "AI 자산"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1" name="S19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7570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Ch.1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Ch.1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데이터 구조화 개관 — 80% 비정형 → 정형 변환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회사 데이터 80%는 비정형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숨겨진 자산 — 매뉴얼·이메일·인터뷰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이 80%를 정형으로 변환 = 회사 자산화의 핵심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구조화 = 검색·분석·자동화 ROI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단일 가장 중요한 작업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1년 1,200H 절약 (1명) · 인건비 환산 6,000만 원/년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4단계 워크플로우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메타데이터 → 분류 → 표준화 → 라벨링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4단계 모두 완성해야 진짜 자산화 — Step 1 메타데이터부터 시작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"디지털화"가 끝이 아니다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"구조화"가 진짜 자산화의 완성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PART 03(디지털화) → PART 04(구조화) → 진짜 자산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</a:t>
            </a:r>
            <a:r>
              <a:rPr lang="en-US" sz="1500" b="1" dirty="0">
                <a:solidFill>
                  <a:srgbClr val="FFFFFF"/>
                </a:solidFill>
              </a:rPr>
              <a:t>메타데이터 설계 (Step 1 깊이)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010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04 · DAY 4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METADATA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메타데이터 설계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Metadata Design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"데이터에 대한 데이터 — 자산화의 핵심"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메타데이터란?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표준 모델 (Dublin Core 등)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자사 표준 양식 설계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AI로 자동 부여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메타데이터 거버넌스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표준 양식 자사화 + 자동 부여 + 거버넌스 = 메타데이터 시스템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136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89957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2.1 · 메타데이터란? · 그림 4-3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메타데이터(Metadata)란?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데이터에 대한 데이터 — 정체·맥락·속성·거버넌스의 기반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4478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477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477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1176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VALUE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검색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Searchability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키워드·태그 즉시 필터링</a:t>
            </a:r>
          </a:p>
        </p:txBody>
      </p:sp>
      <p:sp>
        <p:nvSpPr>
          <p:cNvPr id="118" name="S118"/>
          <p:cNvSpPr/>
          <p:nvPr/>
        </p:nvSpPr>
        <p:spPr>
          <a:xfrm>
            <a:off x="19939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22225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2222500" y="1968500"/>
            <a:ext cx="1447800" cy="635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23241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23241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7940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VALUE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22860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분류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22860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Classification</a:t>
            </a:r>
          </a:p>
        </p:txBody>
      </p:sp>
      <p:sp>
        <p:nvSpPr>
          <p:cNvPr id="126" name="S126"/>
          <p:cNvSpPr/>
          <p:nvPr/>
        </p:nvSpPr>
        <p:spPr>
          <a:xfrm>
            <a:off x="24130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22860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자동 분류·카테고리 부여</a:t>
            </a:r>
          </a:p>
        </p:txBody>
      </p:sp>
      <p:sp>
        <p:nvSpPr>
          <p:cNvPr id="128" name="S128"/>
          <p:cNvSpPr/>
          <p:nvPr/>
        </p:nvSpPr>
        <p:spPr>
          <a:xfrm>
            <a:off x="36703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8989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898900" y="1968500"/>
            <a:ext cx="1447800" cy="635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40005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40005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8B9A3F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44704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VALUE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9624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컨텍스트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9624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Context</a:t>
            </a:r>
          </a:p>
        </p:txBody>
      </p:sp>
      <p:sp>
        <p:nvSpPr>
          <p:cNvPr id="136" name="S136"/>
          <p:cNvSpPr/>
          <p:nvPr/>
        </p:nvSpPr>
        <p:spPr>
          <a:xfrm>
            <a:off x="40894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9624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시간·장소·맥락 보존</a:t>
            </a:r>
          </a:p>
        </p:txBody>
      </p:sp>
      <p:sp>
        <p:nvSpPr>
          <p:cNvPr id="138" name="S138"/>
          <p:cNvSpPr/>
          <p:nvPr/>
        </p:nvSpPr>
        <p:spPr>
          <a:xfrm>
            <a:off x="5346700" y="2870200"/>
            <a:ext cx="2286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5575300" y="1968500"/>
            <a:ext cx="1447800" cy="203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575300" y="1968500"/>
            <a:ext cx="1447800" cy="635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5676900" y="20701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5676900" y="2070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7E3FB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6146800" y="2159000"/>
            <a:ext cx="825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b="1" spc="100" dirty="0">
                <a:solidFill>
                  <a:srgbClr val="FFFFFF"/>
                </a:solidFill>
              </a:rPr>
              <a:t>VALUE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5638800" y="27305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2C2C2C"/>
                </a:solidFill>
              </a:rPr>
              <a:t>거버넌스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5638800" y="2984500"/>
            <a:ext cx="132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Governance</a:t>
            </a:r>
          </a:p>
        </p:txBody>
      </p:sp>
      <p:sp>
        <p:nvSpPr>
          <p:cNvPr id="146" name="S146"/>
          <p:cNvSpPr/>
          <p:nvPr/>
        </p:nvSpPr>
        <p:spPr>
          <a:xfrm>
            <a:off x="5765800" y="3238500"/>
            <a:ext cx="10668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5638800" y="3327400"/>
            <a:ext cx="1320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6B6B6B"/>
                </a:solidFill>
              </a:rPr>
              <a:t>보안 등급·접근 권한 관리</a:t>
            </a:r>
          </a:p>
        </p:txBody>
      </p:sp>
      <p:sp>
        <p:nvSpPr>
          <p:cNvPr id="148" name="S148"/>
          <p:cNvSpPr/>
          <p:nvPr/>
        </p:nvSpPr>
        <p:spPr>
          <a:xfrm>
            <a:off x="546100" y="4254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25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변환 예시 — 정비 사진 1장 (Before → After)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4762500"/>
            <a:ext cx="3048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C73E1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46100" y="4762500"/>
            <a:ext cx="30480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46100" y="47625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[Before] 사진 데이터만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98500" y="5130800"/>
            <a:ext cx="273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2C2C2C"/>
                </a:solidFill>
              </a:rPr>
              <a:t>사진 한 장 = 단순 픽셀
수만 장 사진에서 "균열 사진" 찾기 불가</a:t>
            </a:r>
          </a:p>
        </p:txBody>
      </p:sp>
      <p:sp>
        <p:nvSpPr>
          <p:cNvPr id="154" name="S154"/>
          <p:cNvSpPr/>
          <p:nvPr/>
        </p:nvSpPr>
        <p:spPr>
          <a:xfrm>
            <a:off x="3657600" y="5130800"/>
            <a:ext cx="190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3657600" y="48514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E8632C"/>
                </a:solidFill>
              </a:rPr>
              <a:t>4단계</a:t>
            </a:r>
          </a:p>
        </p:txBody>
      </p:sp>
      <p:sp>
        <p:nvSpPr>
          <p:cNvPr id="156" name="S156"/>
          <p:cNvSpPr/>
          <p:nvPr/>
        </p:nvSpPr>
        <p:spPr>
          <a:xfrm>
            <a:off x="3911600" y="4762500"/>
            <a:ext cx="3111500" cy="2159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S157"/>
          <p:cNvSpPr/>
          <p:nvPr/>
        </p:nvSpPr>
        <p:spPr>
          <a:xfrm>
            <a:off x="3911600" y="4762500"/>
            <a:ext cx="3111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 txBox="1"/>
          <p:nvPr/>
        </p:nvSpPr>
        <p:spPr>
          <a:xfrm>
            <a:off x="3911600" y="4762500"/>
            <a:ext cx="3111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[After] 사진 + 메타데이터 (9요소)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038600" y="51308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촬영자: 김정비 (사번 12345)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4038600" y="53340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일시: 2026-05-09 14:30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4038600" y="55372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위치 (GPS): 송파구 (37.5N)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4038600" y="57404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카메라: iPhone 15 Pro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4038600" y="59436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장비: PC200-8 (ABC-123)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4038600" y="61468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부품: 유압 호스 P-678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038600" y="63500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결함: 표면 균열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4038600" y="6553200"/>
            <a:ext cx="292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00" dirty="0">
                <a:solidFill>
                  <a:srgbClr val="2C2C2C"/>
                </a:solidFill>
              </a:rPr>
              <a:t>• 태그: 정비·유압·균열·교체대상</a:t>
            </a:r>
          </a:p>
        </p:txBody>
      </p:sp>
      <p:sp>
        <p:nvSpPr>
          <p:cNvPr id="167" name="S167"/>
          <p:cNvSpPr/>
          <p:nvPr/>
        </p:nvSpPr>
        <p:spPr>
          <a:xfrm>
            <a:off x="546100" y="71755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546100" y="71755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927100" y="7340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메타데이터 = 자산화의 시작점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27100" y="7620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본문(데이터) + 메타데이터 = 검색·분류·분석 가능한 자산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927100" y="7874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DDDDDD"/>
                </a:solidFill>
              </a:rPr>
              <a:t>메타데이터 없는 데이터 = 창고에 묻힌 박스 — 찾을 수도, 쓸 수도 없음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8382000"/>
            <a:ext cx="6477000" cy="1587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7620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실무 활용 — 메타데이터 4가지 영역</a:t>
            </a:r>
          </a:p>
        </p:txBody>
      </p:sp>
      <p:sp>
        <p:nvSpPr>
          <p:cNvPr id="174" name="S174"/>
          <p:cNvSpPr/>
          <p:nvPr/>
        </p:nvSpPr>
        <p:spPr>
          <a:xfrm>
            <a:off x="762000" y="8953500"/>
            <a:ext cx="1460500" cy="406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7620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검색 가능</a:t>
            </a:r>
          </a:p>
        </p:txBody>
      </p:sp>
      <p:sp>
        <p:nvSpPr>
          <p:cNvPr id="177" name="S177"/>
          <p:cNvSpPr/>
          <p:nvPr/>
        </p:nvSpPr>
        <p:spPr>
          <a:xfrm>
            <a:off x="2311400" y="8953500"/>
            <a:ext cx="1460500" cy="4064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23114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3114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자동 분류</a:t>
            </a:r>
          </a:p>
        </p:txBody>
      </p:sp>
      <p:sp>
        <p:nvSpPr>
          <p:cNvPr id="180" name="S180"/>
          <p:cNvSpPr/>
          <p:nvPr/>
        </p:nvSpPr>
        <p:spPr>
          <a:xfrm>
            <a:off x="3860800" y="8953500"/>
            <a:ext cx="1460500" cy="4064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38608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38608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맥락 보존</a:t>
            </a:r>
          </a:p>
        </p:txBody>
      </p:sp>
      <p:sp>
        <p:nvSpPr>
          <p:cNvPr id="183" name="S183"/>
          <p:cNvSpPr/>
          <p:nvPr/>
        </p:nvSpPr>
        <p:spPr>
          <a:xfrm>
            <a:off x="5410200" y="8953500"/>
            <a:ext cx="1460500" cy="4064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5410200" y="89535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5410200" y="9156700"/>
            <a:ext cx="14605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보안 관리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5250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★ 4가지가 모두 작동해야 진짜 자산화 — 메타데이터는 자산화의 1단계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762000" y="97536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Step 1만으로는 "검색만 되는 데이터" 수준 — Step 4까지 가야 "진짜 자산"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1" name="S19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7212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2.2 · 메타데이터 표준 모델 · 그림 4-3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메타데이터 표준 모델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Dublin Core · EXIF · ID3 · JSON-LD + 자사 모델 — 글로벌 표준 4종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STD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Dublin Core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ISO 15836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15요소 표준
일반 문서·자료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STD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EXIF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Image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사진 자동 부여
카메라·시간·GPS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STD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ID3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Audio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MP3·음성 표준
제목·저자·길이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STD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JSON-LD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Web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웹·SEO·검색엔진
시스템 간 호환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★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OURS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자사 모델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Hybrid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표준 9 + 특화 6
= 15요소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표준 채택의 3가지 효과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호환성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ISO 호환 — 글로벌 협업·시스템 간 데이터 교환 가능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자동화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EXIF 자동 활용 — 촬영 즉시 GPS·시각 0초 부여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확장성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Dublin Core 15요소 → 자사 특화 필드 추가만 하면 됨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자사 메타데이터 = Dublin Core + 건설기계 특화 (4 영역)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Title · Type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정체 (장비 모델·부품번호) — 무엇에 대한 데이터인가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Creator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주체 (정비사 사번·부서 코드) — 누가 만들었나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Date · Subject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맥락 (정비 일자·결함 유형·작업 유형) — 언제·어떤 상황에서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Rights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거버넌스 (보안 등급·접근 권한) — 누가 볼 수 있나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6 데이터 타입 — 자사 메타데이터로 통합 관리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1. 사진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2. 음성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3. 영상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4. 문서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5. 로그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6. CRM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핵심 — 표준을 따르되 자사 특수성 반영 (Dublin Core 15 + 건설기계 5 = 자사 표준)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04 · DAY 4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9707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2.3 · 자사 표준 양식 · 그림 4-4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자사 메타데이터 표준 양식 (15요소)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표준 9요소 (Dublin Core 기반) + 건설기계 특화 6요소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표준 영역 (9요소)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건설기계 특화 영역 (6요소)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1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일자 / 시각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10. 장비 모델·번호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2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작성자 (사번)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11. 부품번호 (해당 시)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3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부서 · 직무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12. 작업 유형 (정비/영업/상담)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4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데이터 형태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13. 우선순위 (1~5)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5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주제 · 태그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14. 관련 매뉴얼·자료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6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보안 등급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15. 다음 액션 (옵션)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7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관련 장비 · 고객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표준 + 특화 = 15요소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자동 부여 vs 수동 입력 — 4 카테고리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100% 자동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일자·시각·GPS·작성자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✓ 매핑 자동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데이터 형태·부서·직무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△ AI + 검수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장비·부품·태그·보안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100% 수동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우선순위·맥락 메모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양식 채택 효과 (1명 / 1건 기준)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수동 입력 5분 → 자동 부여 후 30초 (90% 단축)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전사 30명 × 월 100건 적용 시 — 월 225시간 절약 + 일관된 품질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자동화 가능한 것은 자동, 인간 판단은 수동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표준 9요소 = 전사 공통 + 특화 6요소 = 부서 도메인 적합성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자기 부서 양식 작성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표준 9요소는 그대로 사용 — 부서별 변경 금지 (전사 일관성 확보)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특화 6요소는 부서 도메인 반영 — 모델·고객·국가·캠페인·시스템 등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139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731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실습 4-1 · 메타데이터 양식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실습 4-1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[실습 4-1] 자기 부서 메타데이터 표준 양식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45분 실습 — 부서 데이터 식별 → 양식 작성 → 자동·수동 분류 → 동료 검토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Step 1. 자기 부서 데이터 종류 식별 (10분)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VOL.02 PART 02 인벤토리 활용 — 발생 빈도 높은 데이터 우선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1~3종 선정 (정비 사진 / 견적서 / 회의 음성 등)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부서 도메인에서 가장 중요한 비정형 데이터부터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주의: 1종부터 — 모든 종류 한꺼번에 X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4가지 작업 단계 — 한 실습에 통합 진행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표준 영역 작성 (10분)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9요소: 일자·작성자·부서·데이터 형태·주제 태그·보안·관련 장비·위치·맥락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🎯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특화 영역 작성 (10분)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5~10요소: 부서 도메인 반영 — 모델·고객·국가·캠페인·시스템 등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⚙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자동·수동 분류 (10분)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각 요소를 자동 / AI 추정 + 검수 / 100% 수동 으로 분류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👥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동료 검토 (5분)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동료 1명과 교환 — 누락·중복 요소·표준 일관성 점검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부서별 특화 영역 예시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기술문서 / A/S — 모델·매뉴얼 종류·버전·정비사 (자동: EXIF·로그인)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영업 / 견적 / 해외영업 — 고객·계약·금액·통화·국가·인코텀즈 (자동: CRM 매핑)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마케팅 / DX·IT — 캠페인·채널·시스템·로그 종류·심각도 (자동: UTM·로그)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산출물 — 자기 부서 메타데이터 표준 양식 (10~15요소)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양식이 곧 자산 (Notion·Forms 즉시 적용 가능)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오늘의 산출물 = 자기 부서 입력 표준 → PART 06 BIG WIN (전사 표준 분류 체계)에 통합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8518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2.5 · 자동 메타데이터 부여 · AI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자동 메타데이터 부여 — AI 활용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텍스트 → 메타데이터 9요소 자동 추출 (5분 → 30초 단축)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AI 메타데이터 부여 1순위 도구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Claude · ChatGPT · Custom GPT  ·  텍스트·이미지·음성 메타데이터 동시 처리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[입력] 정비 메모 1건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굴삭기 유압 호스 교체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60자 메모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Claude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추출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[출력] 메타데이터 9요소 + 신뢰도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장비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PC200-8 (자동 추출) ★★★★★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부품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2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P-456 유압 호스 ★★★★★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증상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유압 펌프 고장 ★★★★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조치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4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부품 교체 (자동 분류) ★★★★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...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(태그·카테고리·보안 5요소 더)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AI 자동 부여 — 3 데이터 타입별 처리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📝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텍스트 (Claude)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키워드·태그·카테고리 자동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📸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이미지 (Vision)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객체 인식 + EXIF 활용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🎙️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음성 (Whisper)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화자 분리·요약·키워드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메타데이터 부여 시간의 폭발적 단축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수동 입력 5분 / 1건 → AI 자동 30초 / 1건  ·  90% 시간 단축 + 일관된 품질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실무 활용 — AI 자동 메타데이터 부여 4가지 이점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Custom GPT "메타데이터 어시스턴트" — 사내 표준 양식 학습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Project Knowledge에 추출 결과 자동 등록 — 검색·분류 즉시 가능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Slack/Forms 워크플로우 — 메모 입력 → AI 추출 → 검수 → 등록 자동화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신뢰도 ★★★ 이상은 자동 등록 / ★★ 이하만 인간 검수 (효율 + 정확성)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AI 자동 + 인간 검수의 황금 비율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100% 자동: 시각·GPS·작성자·로그인 (오류 가능성 0%)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AI 추정 + 검수: 장비·부품·태그·보안 (정확도 90% → 검수로 99% 보장)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전형적 결과 — 메모 1건 (60자) → 메타데이터 9요소 자동 부여 (30초 처리)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311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2.6 · 메타데이터 거버넌스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Ch.2.6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메타데이터 거버넌스 — 일관성 유지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표준 + 책임자 + 도구 + 감사 + 개선 사이클 — 5가지 핵심 원칙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표준 양식 단일화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부서별 다른 양식 금지 → 전사 1개 표준 — 부서별 특화 영역만 추가 허용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책임자 지정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전사 메타데이터 책임자 1명 + 부서별 메타데이터 챔피언 1명씩 (총 7명)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입력 도구 표준화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Forms·Notion 등 표준 도구 — 직접 입력 가능한 인터페이스 통일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정기 감사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월간 1회 메타데이터 품질 점검 — 누락·오류 발견·수정 (책임자 주관)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개선 사이클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분기 1회 표준 양식 검토 — 사용자 피드백 반영, 양식 진화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RACI 매트릭스 — 양식 표준 수립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책임자: 전사 책임자  ·  협의: 부서 챔피언  ·  정보: 전 직원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RACI 매트릭스 — 운영·검수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입력 책임: 작성자  ·  검수: 부서 챔피언  ·  개선 제안: 전 직원 (위로 보고)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🛡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거버넌스 = 시스템 + 사람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표준 → 책임자 → 도구 → 감사 → 개선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5 단계가 모두 작동해야 메타데이터가 진화함 — 1단계만으론 1년 후 무너짐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거버넌스 시작 체크리스트 — 즉시 적용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전사 책임자 1명 지정  ☐  부서별 챔피언 6명 지정  ☐  표준 도구 1종 채택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월간 감사 일정 확정  ☐  분기 검토 회의 등록 (캘린더에 사전 예약)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2412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Ch.2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Ch.2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2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메타데이터 설계 — 표준 + 특화 + 자동·검수 + 거버넌스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메타데이터 = 데이터의 컨텍스트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검색·분류·거버넌스의 기반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본문 + 메타데이터 = 자산  ·  메타데이터 없는 데이터 = 검색 불가능한 죽은 데이터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표준 + 특화 = 자사 모델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Dublin Core 9 + 건설기계 6 = 15요소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ISO 호환 + 도메인 적합성 — 글로벌 협업 + 자사 특수성 동시 확보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AI 자동 + 인간 검수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효율 + 정확성의 황금 비율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100% 자동 (시각·GPS) + AI 추정 + 검수 (장비·태그) + 100% 수동 (우선순위)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메타데이터 없는 데이터 = 검색 불가능한 죽은 데이터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메타데이터는 시스템 + 거버넌스가 함께해야 작동 — 양식 1장이면 충분 X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메타데이터 표준 양식 (10~15요소)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3 — 분류 체계 (Taxonomy) · 부서별·계층·다중 분류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4564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04 · DAY 4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3 · TAXONOMY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분류 체계 (Taxonomy)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Classification System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"체계가 좋아야 데이터 자산이 살아 움직인다"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분류 체계란? — Taxonomy 개념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자사 분류 체계 5원칙 (MECE)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부서별 분류 체계 작성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다중 분류 · 계층 분류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일관성 검증 — 5 체크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MECE 5원칙 + 다중 분류 + 태그 표준화 + 정기 검증 = Taxonomy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144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48286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3.1 · Taxonomy 개념 · 그림 4-5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분류 체계 (Taxonomy) — 개념과 예시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그리스어 "taxis(정렬) + nomos(법칙)" — 위계·관계가 있는 분류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[건설기계 정비 분류 예시] — 5단계 위계 구조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대분류: 정비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중분류: 유압 → 소분류: 유압 펌프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세부: 유압 펌프 누유 → 세세부: P-456 누유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검색 효과: 대분류부터 좁혀가는 드릴다운 (Drill-down) 검색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Taxonomy의 4가지 효과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검색 효율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대분류부터 좁혀가는 드릴다운 검색 — 5초 안에 정확한 자료 도달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통계 분석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분류별 빈도·트렌드 — 부서·분류 교차 분석으로 의사결정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학습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분류 체계 = 라벨 체계 — AI 모델 학습 정확도 95%+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🛡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거버넌스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분류별 권한·책임 관리 — 보안 등급별 접근 제어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비교 — 식물 분류와 데이터 분류의 공통점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식물: 계 → 문 → 강 → 목 → 과 → 속 → 종 (7단계 위계)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데이터: 대분류 → 중분류 → 소분류 → 세부 → 세세부 (3~5단계 권장)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공통점: MECE (중복 없음 + 누락 없음) + 단일 위계 + 사전 정의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분류 체계가 좋으면 데이터 자산이 살아 움직인다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분류 체계가 자산화의 "뼈대"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메타데이터(Ch.2)는 "속성" — Taxonomy(Ch.3)는 "구조" — 둘 다 있어야 검색 가능한 자산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1295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3.2 · 자사 분류 5원칙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자사 분류 체계 설계 5원칙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MECE · 적절한 깊이 · 사용자 친화 · 확장 가능 · 다국어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MECE — 상호 배타적 · 전체 망라적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Mutually Exclusive (중복 X) + Collectively Exhaustive (누락 X) — 모든 데이터 1곳에만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적절한 깊이 (3~5단계)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10단계+ → 사용자 혼란 / 1~2단계 → 분류 의미 X — 권장: 3~5단계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사용자 친화적 명명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약어·코드 X → 자연어 사용. "유압시스템정비" 대신 "유압 정비" — 부서 언어로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확장 가능성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새로운 분류 쉽게 추가 가능 구조 — 빈 슬롯 활용 + 미래 변화 대응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다국어 지원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글로벌 회사: 한·영 병기 표준 — "유압 (hydraulic)" — 다국가 사용자 고려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자주 하는 실수 — 통합 검색 불가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부서별로 다른 체계 → 통합 검색 불가  ·  분류 100개+ → 어디 분류할지 모름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자주 하는 실수 — 사용자 진입 어려움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약어·내부 코드 → 신입 진입 어려움  ·  한 번 만들고 안 바꿈 → 시간이 흐를수록 부적합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5원칙 모두 동시 적용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MECE → 깊이 → 명명 → 확장 → 다국어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5가지가 모두 작동해야 진짜 분류 체계 — 1~2개만 적용한 "유사 분류"는 1년 후 무너짐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분류 체계 설계 체크리스트 — 즉시 적용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대분류 5~7개 (전사 통일)  ☐  깊이 3~5단계  ☐  부서 언어 사용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한·영 병기 표준  ☐  미래 확장 슬롯 (빈 카테고리 1~2개) 미리 준비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2838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3.2 · 자사 분류 5원칙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EAE1D-B370-495F-B0A0-E7962A6AB035}"/>
              </a:ext>
            </a:extLst>
          </p:cNvPr>
          <p:cNvSpPr txBox="1"/>
          <p:nvPr/>
        </p:nvSpPr>
        <p:spPr>
          <a:xfrm>
            <a:off x="546100" y="952500"/>
            <a:ext cx="647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1F2937"/>
                </a:solidFill>
              </a:rPr>
              <a:t>[</a:t>
            </a:r>
            <a:r>
              <a:rPr lang="ko-KR" altLang="en-US" sz="1600" b="1">
                <a:solidFill>
                  <a:srgbClr val="1F2937"/>
                </a:solidFill>
              </a:rPr>
              <a:t>그림 </a:t>
            </a:r>
            <a:r>
              <a:rPr lang="en-US" altLang="ko-KR" sz="1600" b="1">
                <a:solidFill>
                  <a:srgbClr val="1F2937"/>
                </a:solidFill>
              </a:rPr>
              <a:t>4-6] </a:t>
            </a:r>
            <a:r>
              <a:rPr lang="ko-KR" altLang="en-US" sz="1600" b="1">
                <a:solidFill>
                  <a:srgbClr val="1F2937"/>
                </a:solidFill>
              </a:rPr>
              <a:t>부서별 분류 체계 매트릭스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9F9E9-9F37-4615-9EF1-813436CBDC81}"/>
              </a:ext>
            </a:extLst>
          </p:cNvPr>
          <p:cNvSpPr txBox="1"/>
          <p:nvPr/>
        </p:nvSpPr>
        <p:spPr>
          <a:xfrm>
            <a:off x="546100" y="1371600"/>
            <a:ext cx="647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6B6B6B"/>
                </a:solidFill>
              </a:rPr>
              <a:t>— 6</a:t>
            </a:r>
            <a:r>
              <a:rPr lang="ko-KR" altLang="en-US" sz="1000">
                <a:solidFill>
                  <a:srgbClr val="6B6B6B"/>
                </a:solidFill>
              </a:rPr>
              <a:t>직무별 대분류 </a:t>
            </a:r>
            <a:r>
              <a:rPr lang="en-US" altLang="ko-KR" sz="1000">
                <a:solidFill>
                  <a:srgbClr val="6B6B6B"/>
                </a:solidFill>
              </a:rPr>
              <a:t>5~7</a:t>
            </a:r>
            <a:r>
              <a:rPr lang="ko-KR" altLang="en-US" sz="1000">
                <a:solidFill>
                  <a:srgbClr val="6B6B6B"/>
                </a:solidFill>
              </a:rPr>
              <a:t>개 </a:t>
            </a:r>
            <a:r>
              <a:rPr lang="en-US" altLang="ko-KR" sz="1000">
                <a:solidFill>
                  <a:srgbClr val="6B6B6B"/>
                </a:solidFill>
              </a:rPr>
              <a:t>+ </a:t>
            </a:r>
            <a:r>
              <a:rPr lang="ko-KR" altLang="en-US" sz="1000">
                <a:solidFill>
                  <a:srgbClr val="6B6B6B"/>
                </a:solidFill>
              </a:rPr>
              <a:t>중</a:t>
            </a:r>
            <a:r>
              <a:rPr lang="en-US" altLang="ko-KR" sz="1000">
                <a:solidFill>
                  <a:srgbClr val="6B6B6B"/>
                </a:solidFill>
              </a:rPr>
              <a:t>·</a:t>
            </a:r>
            <a:r>
              <a:rPr lang="ko-KR" altLang="en-US" sz="1000">
                <a:solidFill>
                  <a:srgbClr val="6B6B6B"/>
                </a:solidFill>
              </a:rPr>
              <a:t>소분류 가이드 </a:t>
            </a:r>
            <a:r>
              <a:rPr lang="en-US" altLang="ko-KR" sz="1000">
                <a:solidFill>
                  <a:srgbClr val="6B6B6B"/>
                </a:solidFill>
              </a:rPr>
              <a:t>—</a:t>
            </a:r>
            <a:endParaRPr lang="ko-KR" altLang="en-US" sz="1000">
              <a:solidFill>
                <a:srgbClr val="6B6B6B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8F756B5-0513-4A9F-BE08-1D029ED2BC3A}"/>
              </a:ext>
            </a:extLst>
          </p:cNvPr>
          <p:cNvSpPr/>
          <p:nvPr/>
        </p:nvSpPr>
        <p:spPr>
          <a:xfrm>
            <a:off x="549275" y="1733550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1F3A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8C67D05-9C99-4F33-85E9-4DA79F1775D5}"/>
              </a:ext>
            </a:extLst>
          </p:cNvPr>
          <p:cNvSpPr/>
          <p:nvPr/>
        </p:nvSpPr>
        <p:spPr>
          <a:xfrm>
            <a:off x="650875" y="1835150"/>
            <a:ext cx="2908300" cy="406400"/>
          </a:xfrm>
          <a:prstGeom prst="rect">
            <a:avLst/>
          </a:prstGeom>
          <a:solidFill>
            <a:srgbClr val="1F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A/S </a:t>
            </a:r>
            <a:r>
              <a:rPr lang="ko-KR" altLang="en-US" sz="1300" b="1">
                <a:solidFill>
                  <a:srgbClr val="FFFFFF"/>
                </a:solidFill>
              </a:rPr>
              <a:t>엔지니어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545CC91-72FE-4DC7-B32C-6A654C552CFD}"/>
              </a:ext>
            </a:extLst>
          </p:cNvPr>
          <p:cNvSpPr/>
          <p:nvPr/>
        </p:nvSpPr>
        <p:spPr>
          <a:xfrm>
            <a:off x="650875" y="23685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정비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엔진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4C8DE38-2ED9-4A46-9682-6871B3616802}"/>
              </a:ext>
            </a:extLst>
          </p:cNvPr>
          <p:cNvSpPr/>
          <p:nvPr/>
        </p:nvSpPr>
        <p:spPr>
          <a:xfrm>
            <a:off x="2155825" y="23685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정비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유압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FC16D64-C4A1-4913-8FDD-50820074487E}"/>
              </a:ext>
            </a:extLst>
          </p:cNvPr>
          <p:cNvSpPr/>
          <p:nvPr/>
        </p:nvSpPr>
        <p:spPr>
          <a:xfrm>
            <a:off x="650875" y="28003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정비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전기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C9281BF-1D69-41AF-BD5A-CABA8A040996}"/>
              </a:ext>
            </a:extLst>
          </p:cNvPr>
          <p:cNvSpPr/>
          <p:nvPr/>
        </p:nvSpPr>
        <p:spPr>
          <a:xfrm>
            <a:off x="2155825" y="28003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정비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주행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95A3BA0-1574-44A4-A1ED-8736F81D050C}"/>
              </a:ext>
            </a:extLst>
          </p:cNvPr>
          <p:cNvSpPr/>
          <p:nvPr/>
        </p:nvSpPr>
        <p:spPr>
          <a:xfrm>
            <a:off x="650875" y="32321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안전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점검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0E1D7AB-4F9B-45C7-B4EB-5CF46382AAAE}"/>
              </a:ext>
            </a:extLst>
          </p:cNvPr>
          <p:cNvSpPr/>
          <p:nvPr/>
        </p:nvSpPr>
        <p:spPr>
          <a:xfrm>
            <a:off x="2155825" y="3232150"/>
            <a:ext cx="1403350" cy="355600"/>
          </a:xfrm>
          <a:prstGeom prst="roundRect">
            <a:avLst/>
          </a:prstGeom>
          <a:solidFill>
            <a:srgbClr val="E8ED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부품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자재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8300C50-941F-4842-B99F-6A584AEC4529}"/>
              </a:ext>
            </a:extLst>
          </p:cNvPr>
          <p:cNvSpPr/>
          <p:nvPr/>
        </p:nvSpPr>
        <p:spPr>
          <a:xfrm>
            <a:off x="3914775" y="1733550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E07A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A5BD445-2B07-4A2B-B747-AF91B6AAA882}"/>
              </a:ext>
            </a:extLst>
          </p:cNvPr>
          <p:cNvSpPr/>
          <p:nvPr/>
        </p:nvSpPr>
        <p:spPr>
          <a:xfrm>
            <a:off x="4016375" y="1835150"/>
            <a:ext cx="2908300" cy="406400"/>
          </a:xfrm>
          <a:prstGeom prst="rect">
            <a:avLst/>
          </a:prstGeom>
          <a:solidFill>
            <a:srgbClr val="E07A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영업</a:t>
            </a:r>
            <a:r>
              <a:rPr lang="en-US" altLang="ko-KR" sz="1300" b="1">
                <a:solidFill>
                  <a:srgbClr val="FFFFFF"/>
                </a:solidFill>
              </a:rPr>
              <a:t>·</a:t>
            </a:r>
            <a:r>
              <a:rPr lang="ko-KR" altLang="en-US" sz="1300" b="1">
                <a:solidFill>
                  <a:srgbClr val="FFFFFF"/>
                </a:solidFill>
              </a:rPr>
              <a:t>견적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F33F793C-1CD5-484F-A395-08A59F90E274}"/>
              </a:ext>
            </a:extLst>
          </p:cNvPr>
          <p:cNvSpPr/>
          <p:nvPr/>
        </p:nvSpPr>
        <p:spPr>
          <a:xfrm>
            <a:off x="4016375" y="23685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견적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표준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3573CF3-E297-48BA-BA62-539418D28351}"/>
              </a:ext>
            </a:extLst>
          </p:cNvPr>
          <p:cNvSpPr/>
          <p:nvPr/>
        </p:nvSpPr>
        <p:spPr>
          <a:xfrm>
            <a:off x="5521325" y="23685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견적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특별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2A672EE-4868-4F48-9422-89768D283A53}"/>
              </a:ext>
            </a:extLst>
          </p:cNvPr>
          <p:cNvSpPr/>
          <p:nvPr/>
        </p:nvSpPr>
        <p:spPr>
          <a:xfrm>
            <a:off x="4016375" y="28003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고객</a:t>
            </a:r>
            <a:r>
              <a:rPr lang="en-US" altLang="ko-KR" sz="1000">
                <a:solidFill>
                  <a:srgbClr val="1F2937"/>
                </a:solidFill>
              </a:rPr>
              <a:t>·CRM</a:t>
            </a:r>
            <a:endParaRPr lang="ko-KR" altLang="en-US" sz="1000">
              <a:solidFill>
                <a:srgbClr val="1F2937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9E2CB18-D6F1-4048-B011-B4951D98E296}"/>
              </a:ext>
            </a:extLst>
          </p:cNvPr>
          <p:cNvSpPr/>
          <p:nvPr/>
        </p:nvSpPr>
        <p:spPr>
          <a:xfrm>
            <a:off x="5521325" y="28003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응대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문의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3EE7426-9075-48F8-9181-708714ABF161}"/>
              </a:ext>
            </a:extLst>
          </p:cNvPr>
          <p:cNvSpPr/>
          <p:nvPr/>
        </p:nvSpPr>
        <p:spPr>
          <a:xfrm>
            <a:off x="4016375" y="32321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계약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법무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35C2A8C-4977-4D69-BF7B-A92CEEE5027B}"/>
              </a:ext>
            </a:extLst>
          </p:cNvPr>
          <p:cNvSpPr/>
          <p:nvPr/>
        </p:nvSpPr>
        <p:spPr>
          <a:xfrm>
            <a:off x="5521325" y="3232150"/>
            <a:ext cx="1403350" cy="355600"/>
          </a:xfrm>
          <a:prstGeom prst="roundRect">
            <a:avLst/>
          </a:prstGeom>
          <a:solidFill>
            <a:srgbClr val="FBEAD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시장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경쟁사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8A3B95F-912D-4AF2-A1AB-3B9015273266}"/>
              </a:ext>
            </a:extLst>
          </p:cNvPr>
          <p:cNvSpPr/>
          <p:nvPr/>
        </p:nvSpPr>
        <p:spPr>
          <a:xfrm>
            <a:off x="549275" y="3890309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3FA95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7AB926C-367B-47BB-8C4C-65A43E134C5F}"/>
              </a:ext>
            </a:extLst>
          </p:cNvPr>
          <p:cNvSpPr/>
          <p:nvPr/>
        </p:nvSpPr>
        <p:spPr>
          <a:xfrm>
            <a:off x="650875" y="3991909"/>
            <a:ext cx="2908300" cy="406400"/>
          </a:xfrm>
          <a:prstGeom prst="rect">
            <a:avLst/>
          </a:prstGeom>
          <a:solidFill>
            <a:srgbClr val="3FA95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해외영업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277F2D8-B7F6-4E4A-A8CB-C80290E78F8B}"/>
              </a:ext>
            </a:extLst>
          </p:cNvPr>
          <p:cNvSpPr/>
          <p:nvPr/>
        </p:nvSpPr>
        <p:spPr>
          <a:xfrm>
            <a:off x="650875" y="45253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</a:rPr>
              <a:t>ITB·</a:t>
            </a:r>
            <a:r>
              <a:rPr lang="ko-KR" altLang="en-US" sz="1000">
                <a:solidFill>
                  <a:srgbClr val="1F2937"/>
                </a:solidFill>
              </a:rPr>
              <a:t>입찰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571A1E1-6033-4FDA-AA88-4DBEB758D29F}"/>
              </a:ext>
            </a:extLst>
          </p:cNvPr>
          <p:cNvSpPr/>
          <p:nvPr/>
        </p:nvSpPr>
        <p:spPr>
          <a:xfrm>
            <a:off x="2155825" y="45253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계약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협상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8F10FCB-64FA-4AE2-8878-266457DCE2A5}"/>
              </a:ext>
            </a:extLst>
          </p:cNvPr>
          <p:cNvSpPr/>
          <p:nvPr/>
        </p:nvSpPr>
        <p:spPr>
          <a:xfrm>
            <a:off x="650875" y="49571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다국가</a:t>
            </a:r>
            <a:r>
              <a:rPr lang="en-US" altLang="ko-KR" sz="1000">
                <a:solidFill>
                  <a:srgbClr val="1F2937"/>
                </a:solidFill>
              </a:rPr>
              <a:t>/</a:t>
            </a:r>
            <a:r>
              <a:rPr lang="ko-KR" altLang="en-US" sz="1000">
                <a:solidFill>
                  <a:srgbClr val="1F2937"/>
                </a:solidFill>
              </a:rPr>
              <a:t>규제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0509A9C-4222-4E5C-9933-55213E695262}"/>
              </a:ext>
            </a:extLst>
          </p:cNvPr>
          <p:cNvSpPr/>
          <p:nvPr/>
        </p:nvSpPr>
        <p:spPr>
          <a:xfrm>
            <a:off x="2155825" y="49571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해외 시장 조사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5C9EE2D-9AF0-4F8E-BFA6-468C6C1B97FF}"/>
              </a:ext>
            </a:extLst>
          </p:cNvPr>
          <p:cNvSpPr/>
          <p:nvPr/>
        </p:nvSpPr>
        <p:spPr>
          <a:xfrm>
            <a:off x="650875" y="53889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환율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관세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004FDF1-6241-4DFE-96DA-C45F3B4E1C34}"/>
              </a:ext>
            </a:extLst>
          </p:cNvPr>
          <p:cNvSpPr/>
          <p:nvPr/>
        </p:nvSpPr>
        <p:spPr>
          <a:xfrm>
            <a:off x="2155825" y="5388909"/>
            <a:ext cx="1403350" cy="355600"/>
          </a:xfrm>
          <a:prstGeom prst="roundRect">
            <a:avLst/>
          </a:prstGeom>
          <a:solidFill>
            <a:srgbClr val="DDF0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글로벌 협력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44293E1A-CFDB-46FA-8EF7-3C868A9377E2}"/>
              </a:ext>
            </a:extLst>
          </p:cNvPr>
          <p:cNvSpPr/>
          <p:nvPr/>
        </p:nvSpPr>
        <p:spPr>
          <a:xfrm>
            <a:off x="3914775" y="3890309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3D7C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F243DA5-2E2E-4E8C-AAF3-A848D434E412}"/>
              </a:ext>
            </a:extLst>
          </p:cNvPr>
          <p:cNvSpPr/>
          <p:nvPr/>
        </p:nvSpPr>
        <p:spPr>
          <a:xfrm>
            <a:off x="4016375" y="3991909"/>
            <a:ext cx="2908300" cy="406400"/>
          </a:xfrm>
          <a:prstGeom prst="rect">
            <a:avLst/>
          </a:prstGeom>
          <a:solidFill>
            <a:srgbClr val="3D7C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마케팅</a:t>
            </a:r>
            <a:r>
              <a:rPr lang="en-US" altLang="ko-KR" sz="1300" b="1">
                <a:solidFill>
                  <a:srgbClr val="FFFFFF"/>
                </a:solidFill>
              </a:rPr>
              <a:t>·PM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EE57441-46F8-41E7-90DA-46D1271C7B76}"/>
              </a:ext>
            </a:extLst>
          </p:cNvPr>
          <p:cNvSpPr/>
          <p:nvPr/>
        </p:nvSpPr>
        <p:spPr>
          <a:xfrm>
            <a:off x="4016375" y="45253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신모델 출시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81881F1-F362-43AD-87E5-86E463598E80}"/>
              </a:ext>
            </a:extLst>
          </p:cNvPr>
          <p:cNvSpPr/>
          <p:nvPr/>
        </p:nvSpPr>
        <p:spPr>
          <a:xfrm>
            <a:off x="5521325" y="45253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캠페인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587F8DB-5913-4D7E-B523-586FDD884054}"/>
              </a:ext>
            </a:extLst>
          </p:cNvPr>
          <p:cNvSpPr/>
          <p:nvPr/>
        </p:nvSpPr>
        <p:spPr>
          <a:xfrm>
            <a:off x="4016375" y="49571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콘텐츠 제작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08025925-0A50-4D57-9176-9B565CB56300}"/>
              </a:ext>
            </a:extLst>
          </p:cNvPr>
          <p:cNvSpPr/>
          <p:nvPr/>
        </p:nvSpPr>
        <p:spPr>
          <a:xfrm>
            <a:off x="5521325" y="49571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시장 조사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374F3C3-B6CC-4F4A-B706-44E3CD7E7118}"/>
              </a:ext>
            </a:extLst>
          </p:cNvPr>
          <p:cNvSpPr/>
          <p:nvPr/>
        </p:nvSpPr>
        <p:spPr>
          <a:xfrm>
            <a:off x="4016375" y="53889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</a:rPr>
              <a:t>SNS·</a:t>
            </a:r>
            <a:r>
              <a:rPr lang="ko-KR" altLang="en-US" sz="1000">
                <a:solidFill>
                  <a:srgbClr val="1F2937"/>
                </a:solidFill>
              </a:rPr>
              <a:t>디지털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100F4976-EEED-491D-A8F6-1CF64CB1AA9A}"/>
              </a:ext>
            </a:extLst>
          </p:cNvPr>
          <p:cNvSpPr/>
          <p:nvPr/>
        </p:nvSpPr>
        <p:spPr>
          <a:xfrm>
            <a:off x="5521325" y="5388909"/>
            <a:ext cx="1403350" cy="355600"/>
          </a:xfrm>
          <a:prstGeom prst="roundRect">
            <a:avLst/>
          </a:prstGeom>
          <a:solidFill>
            <a:srgbClr val="E0EA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브랜드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080E3EC1-ACEF-4414-96B4-8499BA4CD039}"/>
              </a:ext>
            </a:extLst>
          </p:cNvPr>
          <p:cNvSpPr/>
          <p:nvPr/>
        </p:nvSpPr>
        <p:spPr>
          <a:xfrm>
            <a:off x="549275" y="6023909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2B4A7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B7D8C07-6FEA-41F2-9F78-7085C6E3B8DD}"/>
              </a:ext>
            </a:extLst>
          </p:cNvPr>
          <p:cNvSpPr/>
          <p:nvPr/>
        </p:nvSpPr>
        <p:spPr>
          <a:xfrm>
            <a:off x="650875" y="6125509"/>
            <a:ext cx="2908300" cy="406400"/>
          </a:xfrm>
          <a:prstGeom prst="rect">
            <a:avLst/>
          </a:prstGeom>
          <a:solidFill>
            <a:srgbClr val="2B4A7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기술문서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319933F2-6FDE-4591-96BE-3216D8FE91DC}"/>
              </a:ext>
            </a:extLst>
          </p:cNvPr>
          <p:cNvSpPr/>
          <p:nvPr/>
        </p:nvSpPr>
        <p:spPr>
          <a:xfrm>
            <a:off x="650875" y="66589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매뉴얼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가이드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FE97ECE2-94AB-4E9C-A1CF-CC8DADD41671}"/>
              </a:ext>
            </a:extLst>
          </p:cNvPr>
          <p:cNvSpPr/>
          <p:nvPr/>
        </p:nvSpPr>
        <p:spPr>
          <a:xfrm>
            <a:off x="2155825" y="66589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도면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카탈로그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CFD91FB4-DD12-4348-B35A-6F14A31678B6}"/>
              </a:ext>
            </a:extLst>
          </p:cNvPr>
          <p:cNvSpPr/>
          <p:nvPr/>
        </p:nvSpPr>
        <p:spPr>
          <a:xfrm>
            <a:off x="650875" y="70907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안전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법규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60DFBB0-CB13-435A-93E7-8D9DC7EDBFAA}"/>
              </a:ext>
            </a:extLst>
          </p:cNvPr>
          <p:cNvSpPr/>
          <p:nvPr/>
        </p:nvSpPr>
        <p:spPr>
          <a:xfrm>
            <a:off x="2155825" y="70907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교육 자료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85C5E961-FD48-4D29-AD81-02EB747EFF2C}"/>
              </a:ext>
            </a:extLst>
          </p:cNvPr>
          <p:cNvSpPr/>
          <p:nvPr/>
        </p:nvSpPr>
        <p:spPr>
          <a:xfrm>
            <a:off x="650875" y="75225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다국어 자료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6AF2727-5687-46CA-92F9-255868CBEEA8}"/>
              </a:ext>
            </a:extLst>
          </p:cNvPr>
          <p:cNvSpPr/>
          <p:nvPr/>
        </p:nvSpPr>
        <p:spPr>
          <a:xfrm>
            <a:off x="2155825" y="7522509"/>
            <a:ext cx="1403350" cy="355600"/>
          </a:xfrm>
          <a:prstGeom prst="round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베테랑 노하우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12AE7EE-0E86-43AD-B03A-2BBB3CD2AEF0}"/>
              </a:ext>
            </a:extLst>
          </p:cNvPr>
          <p:cNvSpPr/>
          <p:nvPr/>
        </p:nvSpPr>
        <p:spPr>
          <a:xfrm>
            <a:off x="3914775" y="6023909"/>
            <a:ext cx="3111500" cy="1993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54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7A65F3-4FBA-4EE0-A906-9C423FCE9761}"/>
              </a:ext>
            </a:extLst>
          </p:cNvPr>
          <p:cNvSpPr/>
          <p:nvPr/>
        </p:nvSpPr>
        <p:spPr>
          <a:xfrm>
            <a:off x="4016375" y="6125509"/>
            <a:ext cx="2908300" cy="4064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DX·IT </a:t>
            </a:r>
            <a:r>
              <a:rPr lang="ko-KR" altLang="en-US" sz="1300" b="1">
                <a:solidFill>
                  <a:srgbClr val="FFFFFF"/>
                </a:solidFill>
              </a:rPr>
              <a:t>혁신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30EFD9BD-2D6A-4D83-90DD-8E4E48392844}"/>
              </a:ext>
            </a:extLst>
          </p:cNvPr>
          <p:cNvSpPr/>
          <p:nvPr/>
        </p:nvSpPr>
        <p:spPr>
          <a:xfrm>
            <a:off x="4016375" y="66589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시스템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인프라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2CEC810-D0FE-46D6-A127-93D68650D18F}"/>
              </a:ext>
            </a:extLst>
          </p:cNvPr>
          <p:cNvSpPr/>
          <p:nvPr/>
        </p:nvSpPr>
        <p:spPr>
          <a:xfrm>
            <a:off x="5521325" y="66589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</a:rPr>
              <a:t>KPI·</a:t>
            </a:r>
            <a:r>
              <a:rPr lang="ko-KR" altLang="en-US" sz="1000">
                <a:solidFill>
                  <a:srgbClr val="1F2937"/>
                </a:solidFill>
              </a:rPr>
              <a:t>대시보드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4C1132A8-AA88-4CEC-957A-04857421E2D4}"/>
              </a:ext>
            </a:extLst>
          </p:cNvPr>
          <p:cNvSpPr/>
          <p:nvPr/>
        </p:nvSpPr>
        <p:spPr>
          <a:xfrm>
            <a:off x="4016375" y="70907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데이터 거버넌스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C4EC2416-9A7C-473F-AA8D-D821A7320D1B}"/>
              </a:ext>
            </a:extLst>
          </p:cNvPr>
          <p:cNvSpPr/>
          <p:nvPr/>
        </p:nvSpPr>
        <p:spPr>
          <a:xfrm>
            <a:off x="5521325" y="70907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</a:rPr>
              <a:t>AI·</a:t>
            </a:r>
            <a:r>
              <a:rPr lang="ko-KR" altLang="en-US" sz="1000">
                <a:solidFill>
                  <a:srgbClr val="1F2937"/>
                </a:solidFill>
              </a:rPr>
              <a:t>자동화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C589A6C-EEBA-4F6F-9168-A6F53DC11FA4}"/>
              </a:ext>
            </a:extLst>
          </p:cNvPr>
          <p:cNvSpPr/>
          <p:nvPr/>
        </p:nvSpPr>
        <p:spPr>
          <a:xfrm>
            <a:off x="4016375" y="75225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보안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정책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693126DA-52EB-49DB-BF06-07A181F3CFCA}"/>
              </a:ext>
            </a:extLst>
          </p:cNvPr>
          <p:cNvSpPr/>
          <p:nvPr/>
        </p:nvSpPr>
        <p:spPr>
          <a:xfrm>
            <a:off x="5521325" y="7522509"/>
            <a:ext cx="1403350" cy="355600"/>
          </a:xfrm>
          <a:prstGeom prst="roundRect">
            <a:avLst/>
          </a:prstGeom>
          <a:solidFill>
            <a:srgbClr val="EBE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1F2937"/>
                </a:solidFill>
              </a:rPr>
              <a:t>교육</a:t>
            </a:r>
            <a:r>
              <a:rPr lang="en-US" altLang="ko-KR" sz="1000">
                <a:solidFill>
                  <a:srgbClr val="1F2937"/>
                </a:solidFill>
              </a:rPr>
              <a:t>·</a:t>
            </a:r>
            <a:r>
              <a:rPr lang="ko-KR" altLang="en-US" sz="1000">
                <a:solidFill>
                  <a:srgbClr val="1F2937"/>
                </a:solidFill>
              </a:rPr>
              <a:t>확산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F284CB1-867B-407D-A611-F21F92E435A8}"/>
              </a:ext>
            </a:extLst>
          </p:cNvPr>
          <p:cNvSpPr/>
          <p:nvPr/>
        </p:nvSpPr>
        <p:spPr>
          <a:xfrm>
            <a:off x="546100" y="8182909"/>
            <a:ext cx="6477000" cy="660400"/>
          </a:xfrm>
          <a:prstGeom prst="roundRect">
            <a:avLst/>
          </a:prstGeom>
          <a:solidFill>
            <a:srgbClr val="FFF7E6"/>
          </a:solidFill>
          <a:ln w="19050" cap="flat" cmpd="sng" algn="ctr">
            <a:solidFill>
              <a:srgbClr val="E07A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lnSpc>
                <a:spcPts val="1400"/>
              </a:lnSpc>
              <a:buNone/>
            </a:pPr>
            <a:r>
              <a:rPr lang="ko-KR" sz="1100" b="1" dirty="0">
                <a:solidFill>
                  <a:srgbClr val="E07A1F"/>
                </a:solidFill>
              </a:rPr>
              <a:t>5원칙</a:t>
            </a:r>
          </a:p>
          <a:p>
            <a:pPr algn="ctr">
              <a:lnSpc>
                <a:spcPts val="1400"/>
              </a:lnSpc>
              <a:buNone/>
            </a:pPr>
            <a:r>
              <a:rPr lang="ko-KR" sz="1000" dirty="0">
                <a:solidFill>
                  <a:srgbClr val="1F2937"/>
                </a:solidFill>
              </a:rPr>
              <a:t>MECE  ·  적절한 깊이 (3~5단계)  ·  사용자 친화 명명  ·  확장 가능  ·  다국어 지원</a:t>
            </a:r>
          </a:p>
        </p:txBody>
      </p:sp>
    </p:spTree>
    <p:extLst>
      <p:ext uri="{BB962C8B-B14F-4D97-AF65-F5344CB8AC3E}">
        <p14:creationId xmlns:p14="http://schemas.microsoft.com/office/powerpoint/2010/main" val="119015079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실습 4-2 · 부서별 분류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실습 4-2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4-2] 자기 부서 분류 체계 작성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45분 — 데이터 검토 → 대분류 → 중·소분류 → 동료 검토 (3~5단계, 50~100항목)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분류 체계 설계 - MECE 5원칙 적용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MECE · 적절한 깊이(3~5단계) · 사용자 친화 · 확장 가능 · 다국어 — 모두 적용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+ 2 (20분)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데이터 검토 + 대분류 5~7개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MECE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→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3,4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부서별 대분류 예시 — 5~7개 (사용자 친화 명명)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A/S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정비/엔진·유압·전기·주행·안전·부품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영업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2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견적/표준·특별·고객·계약·시장·경쟁사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해외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ITB·계약·다국가·시장·환율·글로벌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마케팅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4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캠페인·콘텐츠·채널·고객·경쟁·성과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DX·IT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5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(시스템·로그·인프라·보안·데이터·운영)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Step 3 + 4 (25분) — 중·소분류 작성 + 동료 검토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🌳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Step 3 — 중·소분류 (15분)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대분류 1 → 중분류 → 소분류 (3단계 위계)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👥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Step 4 — 동료 검토 (10분)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MECE 위반·깊이·명명 점검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📦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산출물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분류 체계 (3~5단계, 50~100항목)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자기 부서 분류 체계 1장 = 1년치 검색·통계의 기반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분류 5~7개 X 깊이 3~5단계 = 평균 50~100 항목 — 1주일 작업 → 45분 완성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분류 체계 적용 영역 — 4가지 즉시 활용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자료 폴더 구조 — 부서 폴더가 곧 분류 체계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Notion·Forms 카테고리 옵션 — 입력 시 분류 자동 선택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Custom GPT 분류 어시스턴트 — Knowledge에 분류 체계 등록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검색·통계 대시보드 — 분류별 빈도·트렌드 자동 시각화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좋은 분류 체계의 신호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신입 사원이 30분 보고도 "어디 분류해야 하는지" 알 수 있으면 OK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베테랑만 알 수 있는 분류 = 실패한 분류 (재설계 필요)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산출물 — 자기 부서 분류 체계 (3~5단계, 50~100항목) → BIG WIN 통합 자료로 활용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2114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3.4 · 다중 분류 · 계층 분류 · 그림 4-7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다중 분류 · 계층 분류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한 데이터에 5차원 분류 적용 — 정비 보고서 1건의 다차원 라벨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계층 분류 (Hierarchy)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태그 (Tags)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구조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단일 위계 (트리 구조)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자유로운 추가 (그래프)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엄격성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엄격한 구조 (사전 정의)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유연한 구조 (동적 생성)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MECE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MECE 필요 (중복 X)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중복 가능 (다관점)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예시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정비/유압/펌프/누유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[유압펌프, 교체, 긴급]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수정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체계 변경 어려움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추가·삭제 자유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수량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1건당 1 위치만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1건당 5~10개 추천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용도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공식 분류·검색·통계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관점별 검색·자유 라벨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권장: 둘 다 활용 — 계층 (3~5단계) + 자유 태그 (5~10개/건)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1차원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정비/유압 시스템
(카테고리)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2차원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굴삭기/PC200-8
(장비 모델)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3차원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부품 교체
(작업 유형)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긴급 (5)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4·5차원
우선순위·기간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다차원 분석 효과 — 5차원 교차 통계 즉시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"굴삭기 PC200-8 + 유압 + 2026-Q2 + 우선순위 ★★★+" — 4초 안에 결과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다양한 검색 관점 (정비·장비·시간·학습) → 같은 데이터 다양하게 활용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AI 학습 효과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다중 라벨 = AI 모델 학습 다양성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분류 1차원으로 학습 → 정확도 70% / 5차원 학습 → 정확도 90%+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다중 분류 적용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계층 분류는 "어디에 속하는가" — 자유 태그는 "어떤 특성이 있는가"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자유 태그는 사용 빈도 분석으로 정리 — 빈도 높은 태그는 분류 체계로 승격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149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1057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3.5 · 태깅 표준화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태깅 표준화 — 일관성의 핵심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문제: 태그 폭증·일관성 부족 → 해결: 표준 태그 사전 (Vocabulary)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표준 사전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Vocabulary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부서별 50~100개
표준 태그 정의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자동 추천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AI Suggest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입력 시 표준 태그
자동 제안 + 검수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빈도 관리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Frequency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낮은 태그 정리
높은 태그 → 분류 승격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다국어 매핑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i18n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한·영 병기 표준
"유압 (hydraulic)"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기여 시스템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Contribution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직원 누구나 제안
챔피언 검수 후 승인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표준 태그의 3가지 효과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검색력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동의어 통합 (유압 = hydraulic) — 검색 누락 0%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일관성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전사 통일된 태그 — 부서·시간 무관 동일 라벨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진화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사용 빈도 분석으로 자동 정리·승격 (살아있는 사전)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정비 표준 태그 사전 예시 — 4 카테고리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[장비]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굴삭기 (excavator) · 로더 (loader) · 휠로더 (wheel loader)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[시스템]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유압 (hydraulic) · 엔진 (engine) · 전기 (electrical)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[작업]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점검 (inspection) · 교체 (replacement) · 수리 (repair)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[부품]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유압 펌프 (hydraulic pump) · 호스 (hose) · 시일 (seal)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6 부서별 표준 태그 사전 — 50~100개씩 구축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기술문서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A/S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영업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해외영업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마케팅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DX·IT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핵심 — "같은 의미는 같은 태그" — 1년 운영 후 검색 누락률 5% → 0%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485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3.6 · 분류 일관성 검증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Ch.3.6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분류 일관성 검증 — 5가지 체크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분류는 "만들고 끝"이 아니다 — 지속적 검증·개선이 자산을 살린다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무작위 샘플 검토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✓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매월 100건 무작위 추출 — 분류 정확도 측정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목표: 정확도 95%+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월간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동료 교차 검토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✓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같은 데이터를 두 명이 분류 — 일치율 분석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목표: 일치율 90%+ → 가이드 보강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교차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자동 검증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✓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AI에게 분류 일관성 검토 요청 — 의심 사례 자동 식별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검색 시뮬레이션 + 정기 감사 (분기 1회)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월간 분류 품질 보고서 예시 — 5,000건 / 샘플 100건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수치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조치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분류 정확도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92% (정확 92건)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→ 95% 목표 (3%↑)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오분류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5건 (유압→엔진 3, 교체→점검 2)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→ 가이드 보강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누락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3건 (분류 어려운 경계 케이스)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→ 직원 교육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AI 룰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오분류 패턴 학습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자동 분류 룰 업데이트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검증 사이클 — 월간 + 분기 + 연간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월간 100건 샘플 + 분기 분류 체계 검토 + 연간 전면 재설계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지속적 검증 = 정확도 92% → 95% → 98% (1년 누적 효과)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분류는 만들고 끝이 아니다 — 지속적 검증·개선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월간 100건 샘플로 충분 — 5,000건 전수 검토 X (효율적 표본 검증)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7303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Ch.3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Ch.3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3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분류 체계 — Taxonomy 5원칙 + 다중 분류 + 태깅 표준 + 일관성 검증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Taxonomy 5원칙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MECE · 깊이 · 명명 · 확장 · 다국어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5원칙 모두 적용해야 진짜 분류 — 1~2개만 적용한 "유사 분류"는 1년 후 무너짐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다중 분류 + 태그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계층 (3~5) + 자유 태그 (5~10/건)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5차원 교차 통계 즉시 — 다양한 검색 관점 + AI 학습 정확도 90%+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태깅 표준 + 검증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표준 사전 + 5 검증 체크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월간 100건 샘플로 정확도 92% → 95% → 98% (지속적 개선)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분류 체계가 좋아야 데이터 자산이 살아 움직인다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메타데이터(Ch.2) = 속성 / Taxonomy(Ch.3) = 구조 / 라벨(Ch.4) = AI 학습용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분류 체계 (3~5단계) + 표준 태그 사전 초안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4 — AI 학습용 라벨링 (분류 + 라벨링의 차이)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9636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04 · DAY 4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4 · LABELING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AI 학습용 데이터 라벨링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Labeling for AI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"라벨링이 AI 모델 정확도의 80%를 결정한다"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라벨링이란? — 분류 vs 라벨링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3대 영역 — 텍스트 · 이미지 · 음성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5단계 워크플로우 — Active Learning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품질 관리 — 5가지 지표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양보다 질 — Quality &gt; Quantity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정의 → 인간 샘플 → AI 자동 → 검수 → 확장 + 5 품질 지표 = AI Ready 데이터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153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39146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4.2 · 라벨링 종류 3대 영역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Ch.4.2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라벨링 종류 (3대 영역)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텍스트·이미지·음성 — 각 4~5종 기법으로 AI 학습용 데이터 가공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텍스트 라벨링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▶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감정 분석 (긍/부/중립) · 카테고리 분류 (정비 영역)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개체명 인식 NER · 의도 분류 (견적/문의/불만)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4종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이미지 라벨링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▶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바운딩 박스 (결함 부위) · 세그멘테이션 (픽셀 단위)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분류 라벨 (정상/주의/불량)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3종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음성 라벨링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▶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화자 분리·식별 (베테랑/신입) · 감정 인식 (긍정/불만)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키워드 시각 (회의 핵심 시간대 표시)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3종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라벨링 적용 사례 — 4 데이터 타입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라벨링 기법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활용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고객 리뷰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감정 분석 (긍/부/중립)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VoC 분석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정비 보고서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카테고리 + NER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자동 라우팅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부품 사진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바운딩 박스 + 분류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결함 검출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베테랑 인터뷰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화자 분리 + 키워드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노하우 추출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라벨링 vs 분류 — 차이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분류(Taxonomy) = 사람을 위한 구조 / 라벨링 = AI 학습을 위한 데이터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분류는 1~2개 적용 / 라벨링은 5~50개 라벨 (AI 모델별 다름)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라벨링은 AI 모델 정확도의 80%를 결정한다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잘못된 라벨 1,000개보다 정확한 라벨 100개 — Quality &gt; Quantity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6891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4.3 · 라벨링 워크플로우 · 그림 4-8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Ch.4.3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라벨링 워크플로우 5단계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정의 → 인간 샘플 → AI 자동 → 검수 → 운영·확장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라벨 정의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Define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분류 체계 활용
라벨 가이드 작성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인간 샘플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Human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100~500건 인간
일관성 기준 명확화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AI 자동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Auto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샘플로 AI 학습
나머지 자동 라벨링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인간 검수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Verify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AI 신뢰도 낮은 케이스
무작위 5~10% 검토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운영·확장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Scale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AI 도구 학습
신규 데이터 자동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효율 극대화 3 팁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Active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AI가 "어렵다"고 판단한 케이스만 인간 라벨링 — 효율 5~10배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Pre-trained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기존 모델 활용 → 자사 도메인만 추가 학습 (시간 단축)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Crowd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부서 전체 참여형 라벨링 — 일관성 가이드라인 필수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라벨링 효율화 도구·기법 — 1년 후 ROI 비교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Active Learning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효율 5~10배  ·  AI가 어려운 케이스만 인간이 학습 → 적은 데이터로 높은 정확도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Pre-trained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시간 단축 80%  ·  자사 도메인만 추가 학습 → 처음부터 학습 X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Quality &gt; Quantity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정확한 라벨 100개 &gt; 잘못된 라벨 1,000개 — 잘못된 라벨이 모델을 망친다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Crowdsourcing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부서 전체 참여 — 1인당 1주일 X 50명 = 1년치 데이터 1주일에 완성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라벨링 도구 6종 — 영역별 1순위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Label Studio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CVAT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Doccano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Prodigy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Roboflow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 GPT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핵심 — 라벨링은 AI 모델 정확도의 80% 결정 (단계별 정성스러운 검수가 핵심)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2213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4.4 · 라벨링 품질 5지표 · 그림 4-9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Ch.4.4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라벨링 품질 관리 — 5가지 지표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정확도 · 일관성 · 완성도 · 균형성 · 신선도 — DMAIC 4단계 사이클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정확도 (Accuracy) — 목표 95%+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정답 비율  ·  측정: 골든 데이터셋과 비교 — 라벨이 "맞느냐"의 기본 지표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일관성 (Consistency) — 목표 90%+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Inter-Annotator Agreement — 같은 데이터를 다른 사람이 라벨링했을 때 일치율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완성도 (Completeness)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라벨링 누락 비율 (빈 라벨 / 전체) — 모든 데이터에 라벨이 있어야 학습 가능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균형성 (Balance) — 목표 0.3+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라벨 클래스 간 균형 — 가장 적은 클래스 / 가장 많은 클래스 (편향 방지)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신선도 (Freshness)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라벨링 데이터의 최신성 — 최근 3개월 비율 (옛 데이터만 학습 X)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DMAIC 4단계 품질 사이클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Define (정의) → Measure (월간 측정) → Analyze (패턴) → Improve (가이드·교육·도구)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문제 해결 사례 — 일관성 80% → 92%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유압/엔진 경계 사례 5가지 가이드 보강 + 부서 1H 교육 + AI 신뢰도 표시 → 다음달 92%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✓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DMAIC 사이클 = 살아있는 라벨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정의 → 측정 → 분석 → 개선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정기 측정 + 패턴 분석 = 분기마다 5%↑ 개선 (1년 누적 95% → 100%)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라벨링 품질 시작 체크리스트 — 즉시 적용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골든 데이터셋 100건 준비  ☐  월간 측정 일정 확정  ☐  IAA 목표 90%+ 설정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부서 챔피언 라벨링 가이드 작성 (경계 사례 5가지 명시)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20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Ch.4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Ch.4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4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AI 학습용 라벨링 — 3대 영역 + 5단계 워크플로우 + 5 품질 지표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3대 영역 라벨링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텍스트 · 이미지 · 음성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각 4~5종 기법 — 감정 / NER / 바운딩 박스 / 화자 분리 등 → AI 학습용 데이터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5단계 워크플로우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정의 → 인간 → AI → 검수 → 확장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Active Learning + Pre-trained 활용으로 효율 5~10배 — 적은 데이터로 높은 정확도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5가지 품질 지표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정확 · 일관 · 완성 · 균형 · 신선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DMAIC 사이클 (정의·측정·분석·개선) → 분기별 5%↑ 누적 개선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라벨링은 AI 모델 정확도의 80%를 결정 — 양보다 질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잘못된 라벨 1,000개보다 정확한 라벨 100개 — Quality &gt; Quantity 원칙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라벨링 가이드라인 + 골든 데이터셋 100건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★ Chapter 5 BIG WIN — 자사 데이터 표준 분류 체계 (5 Layer 통합)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732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04 · DAY 4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★ CHAPTER 5 · BIG WIN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05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자사 데이터 표준 분류 체계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Corporate Data Standard Classification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"오늘의 BIG WIN — 회사 데이터 자산 운영의 헌법"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메타데이터 표준 양식 (15요소)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분류 체계 (Taxonomy 3~5단계)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표준 태그 사전 (50~100개)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라벨링 가이드라인 (3대 영역)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운영·거버넌스 정책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★ BIG WIN 산출물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데이터 거버넌스 가이드라인 (5~10쪽) — PoC → 부서간 → 전사 → 지속개선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158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74454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5.1 · 자사 표준 분류 체계 · ★ BIG WIN · 그림 4-10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자사 데이터 표준 분류 체계 개관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 Layer 통합 시스템 — 메타데이터 + 분류 + 태그 + 라벨 + 거버넌스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[적용 예시] 정비 보고서 1건이 5 Layer를 통과하는 흐름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Layer 1 메타데이터: 일자·작성자·장비 PC200-8·부품 P-456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Layer 2 분류: 정비 → 유압 → 부품 교체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Layer 3·4 태그·라벨: [굴삭기·유압펌프·교체·긴급] / 우선순위 5 / 학습가치 높음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Layer 5 거버넌스: 보안 내부 / 책임 A/S 1팀장 / 검수 부서 챔피언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 Layer 시스템 — 통합 적용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1 — 메타데이터 표준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표준 9 + 자사 특화 6 = 15요소 — 자동 부여 + 인간 검수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🌳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Layer 2 — 분류 체계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전사 공통 대분류 5~7개 + 부서별 중·소·세부 분류 (3~5단계)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🏷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3 — 표준 태그 사전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표준 50~100개 태그 + 동의어·다국어 매핑 (한·영 병기)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4 — 라벨링 가이드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영역별 라벨링 규칙 + 품질 기준 + 검수 워크플로우 (5 지표)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Layer 5 — 거버넌스 (전체 통합 운영)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책임자·역할 — 전사 책임자 + 부서 챔피언 6명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감사·개선 사이클 — 월간 감사 + 분기 검토 + 연간 재설계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보안·접근 권한 정책 — 등급별 접근 제어 (외부/내부/기밀)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5 Layer 통합 = 회사 데이터 자산 운영의 헌법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5 Layer 모두 작동해야 "진짜 자산화"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Layer 1~4 = 시스템 (구조)  ·  Layer 5 = 사람 (운영) — 둘 다 있어야 1년 후도 작동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159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9386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실습 4-3 · 거버넌스 문서 · ★ BIG WIN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실습 4-3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4-3] 자사 데이터 거버넌스 문서 작성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— 구조 정의 → 1~3장 작성 → 4~5장 작성 → 통합 검토 (산출물: 5~10쪽)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BIG WIN — 자사 데이터 거버넌스 가이드라인 (5~10쪽)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회사 데이터 자산 운영의 헌법  ·  사내 위키·LMS 등록 + 신규 직원 온보딩 자료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(10분)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구조 정의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6 챕터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→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2,3,4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거버넌스 가이드라인 — 6 챕터 구조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Ch.1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목적·범위 (전사·6직무·1년)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2-3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Ch.2~3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메타데이터 표준 (15요소) + 분류 체계 (Taxonomy)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Ch.4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표준 태그 사전 (50~100개)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Ch.5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라벨링 가이드 (3대 영역)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Ch.6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★ 운영·거버넌스 정책 (책임·감사·보안·개선)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Step 2~4 (50분) — 본문 작성 + 통합 검토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📝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Step 2 — 1~3장 작성 (20분)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메타데이터·분류·태그 (Slide 138·146·148 활용)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Step 3 — 4~5장 작성 (20분)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라벨링·운영 (Slide 153·154 활용)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✅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Step 4 — 통합 검토 (10분)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일관성·빠진 부분 보완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60분 작성 → 1년 운영 효과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사내 위키·LMS 등록 → 신규 직원 온보딩 자료 + 분기 1회 검토·개선 → 살아있는 헌법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거버넌스 문서 활용 — 4가지 즉시 적용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사내 위키·LMS 등록 — 검색 가능한 영구 자산화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신규 직원 온보딩 — 입사 1주 내 필수 학습 자료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분기 1회 검토·개선 — 사용자 피드백 반영, 표준 진화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외부 모범사례 통합 — Dublin Core / ISO 표준 업데이트 반영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거버넌스 문서 성공 비결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처음부터 완벽 X → 5~10쪽 초안 → 1주일 부서 검토 → 보강 (반복)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임원 스폰서십 1명 + 부서 챔피언 6명 = 1년 후 살아있는 표준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산출물 — 자사 데이터 거버넌스 가이드라인 (5~10쪽) — PART 04 BIG WIN 완성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2449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5.3 · 사내 보급·운영 가이드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Ch.5.3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사내 보급·운영 가이드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보급 4단계 (1~6개월+) — 부서 PoC → 부서간 → 전사 → 지속 개선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보급 단계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기간 · 활동 · 성공 지표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1단계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PoC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1~2개월 — 자기 부서 우선 적용 / 일주일 단위 검토·개선 / 핵심 지표 측정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2단계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확산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2~3개월 — 인접 부서로 확산 / 부서 챔피언 그룹 형성 / 표준 양식 통일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3단계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표준화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3~6개월 — 전사 표준 가이드 발행 / 신규 직원 교육 통합 / 정기 감사·보고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4단계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지속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6개월+ — 분기 1회 표준 검토 / 사용자 피드백 반영 / 외부 모범사례 통합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5단계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측정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월간 KPI 측정 — 데이터 품질·검색 효율·자동화율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6단계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확장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타사 모범사례 도입 + 외부 컨설팅 — 살아있는 표준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헌법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회사 데이터 운영의 헌법 — 1년 후 무너지지 않는 시스템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단계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보급 4단계 + 측정·확장 — 6 단계 로드맵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임원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스폰서십
전사 확산 필수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챔피언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부서별 1명
6명 챔피언 그룹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도구 통합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ERP·CRM·LMS
시스템 연동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인센티브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KPI 반영
성과 평가 통합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성공 요소 #5 — 지속적 교육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신규 직원 필수 교육 (입사 1주 내) + 분기 리프레시 교육 (전 직원)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교육 없이 표준만 발행 = 실패 — 사람이 알아야 시스템이 작동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좋은 가이드라인은 운영이 시작될 때 비로소 가치를 만든다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문서 1장 작성 X 1년 운영 = 살아있는 회사 자산 — 운영이 가치의 90%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보급 시작 1주일 체크리스트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임원 스폰서 1명 확정  ·  2. 부서 챔피언 6명 후보 추천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3. PoC 부서 1개 선정 (최우선 적용)  ·  4. 1개월 PoC 일정·KPI 사전 확정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5454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Ch.5 정리 · ★ BIG WIN 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★ BIG WIN 달성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5 핵심 정리 (★ BIG WIN 달성)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오늘의 BIG WIN 완성 — 자사 데이터 표준 분류 체계 5 Layer + 거버넌스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 Layer 통합 시스템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메타데이터·분류·태그·라벨·거버넌스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Layer 1~4 = 시스템(구조)  ·  Layer 5 = 사람(운영) — 둘 다 있어야 1년 후 작동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거버넌스 가이드라인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5~10쪽 문서 (6 챕터 구조)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사내 위키·LMS 등록 + 신규 온보딩 자료 + 분기 검토 = 살아있는 헌법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사내 보급 4단계 로드맵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PoC → 확산 → 표준 → 지속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1~2개월 PoC + 2~3개월 확산 + 3~6개월 전사 + 6개월+ 지속 개선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오늘의 BIG WIN 달성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자사 데이터 표준 분류 체계 = 회사 자산 운영의 헌법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디지털화된 데이터가 표준화된 자산이 되는 순간 — 진짜 자산화 완성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다음 단계 (1주일 내) — ☐ 부서장 검토  ☐ PoC 일정  ☐ 챔피언 후보 추천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PART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05 — 데이터 품질 관리 (정확성·완성도·일관성·신선도·고유성·유효성)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064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자가진단 · PART 05 예고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자가진단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PART 04 자가진단 + PART 05 예고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6항목 체크 → 다음 PART 진입 + 다음 PART 핵심 주제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자가진단 체크리스트 (6가지)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15" name="S115"/>
          <p:cNvSpPr/>
          <p:nvPr/>
        </p:nvSpPr>
        <p:spPr>
          <a:xfrm>
            <a:off x="1079500" y="25400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079500" y="2540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498600" y="25654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정형·비정형 데이터를 구분하고 구조화 가치를 설명할 수 있다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28956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28956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2" name="S122"/>
          <p:cNvSpPr/>
          <p:nvPr/>
        </p:nvSpPr>
        <p:spPr>
          <a:xfrm>
            <a:off x="1079500" y="29591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079500" y="29591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98600" y="29845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자사 메타데이터 표준 양식을 설계할 수 있다 (15요소)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9" name="S129"/>
          <p:cNvSpPr/>
          <p:nvPr/>
        </p:nvSpPr>
        <p:spPr>
          <a:xfrm>
            <a:off x="1079500" y="33782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079500" y="33782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498600" y="34036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MECE 원칙으로 분류 체계 (Taxonomy)를 작성할 수 있다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37338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37338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36" name="S136"/>
          <p:cNvSpPr/>
          <p:nvPr/>
        </p:nvSpPr>
        <p:spPr>
          <a:xfrm>
            <a:off x="1079500" y="37973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1079500" y="37973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98600" y="38227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다중 분류·계층 분류·태그를 구분하고 적용할 수 있다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1529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1529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43" name="S143"/>
          <p:cNvSpPr/>
          <p:nvPr/>
        </p:nvSpPr>
        <p:spPr>
          <a:xfrm>
            <a:off x="1079500" y="42164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079500" y="42164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498600" y="42418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AI 라벨링 워크플로우 5단계를 이해하고 품질을 관리할 수 있다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45720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45720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50" name="S150"/>
          <p:cNvSpPr/>
          <p:nvPr/>
        </p:nvSpPr>
        <p:spPr>
          <a:xfrm>
            <a:off x="1079500" y="46355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1079500" y="46355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498600" y="46609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자사 데이터 거버넌스 가이드라인을 작성할 수 있다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5143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5143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PART 05 예고 — 데이터 품질 관리 (DAY 5)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5524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5524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568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5단계 워크플로우의 Step 5 일부 — 품질 관리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5969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구조화된 데이터를 신뢰할 수 있는 자산으로 만들기</a:t>
            </a:r>
          </a:p>
        </p:txBody>
      </p:sp>
      <p:sp>
        <p:nvSpPr>
          <p:cNvPr id="159" name="S159"/>
          <p:cNvSpPr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31900" y="6375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데이터 품질 6대 차원 (정확·완성·일관·신선·고유·유효)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231900" y="65786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데이터 클린징·정제 기법</a:t>
            </a:r>
          </a:p>
        </p:txBody>
      </p:sp>
      <p:sp>
        <p:nvSpPr>
          <p:cNvPr id="165" name="S165"/>
          <p:cNvSpPr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231900" y="67818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검수 워크플로우 자동화</a:t>
            </a:r>
          </a:p>
        </p:txBody>
      </p:sp>
      <p:sp>
        <p:nvSpPr>
          <p:cNvPr id="168" name="S168"/>
          <p:cNvSpPr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231900" y="6985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★ BIG WIN — 자사 데이터 품질 관리 시스템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7429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7429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759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 밤 미션 — DAY 5 준비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7874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오늘 작성한 거버넌스 문서 부서장 검토 일정 잡기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8102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PoC 부서 1개 선정 후보 메모 (1개월 내 가동 가능 부서)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8331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부서 챔피언 후보 추천 — 데이터 자산화 의지 + 일관성 있는 사람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8826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899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💡 체크 결과 해석</a:t>
            </a:r>
          </a:p>
        </p:txBody>
      </p:sp>
      <p:sp>
        <p:nvSpPr>
          <p:cNvPr id="179" name="S179"/>
          <p:cNvSpPr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1524000" y="92710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PART 05 진입 — 거버넌스 PoC 1주일 내 가동 가능</a:t>
            </a:r>
          </a:p>
        </p:txBody>
      </p:sp>
      <p:sp>
        <p:nvSpPr>
          <p:cNvPr id="182" name="S182"/>
          <p:cNvSpPr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F3A2E"/>
                </a:solidFill>
              </a:rPr>
              <a:t>4-5/6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524000" y="94996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부족한 항목 복습 — 라벨링·태깅 표준 재검토 권장</a:t>
            </a:r>
          </a:p>
        </p:txBody>
      </p:sp>
      <p:sp>
        <p:nvSpPr>
          <p:cNvPr id="185" name="S185"/>
          <p:cNvSpPr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0-3/6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1524000" y="97282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오늘 자료 다시 학습 권장 — 강사 질문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1" name="S19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5539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04 · 마무리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04 · DAY 4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🎯 PART 04 마무리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 배운 것 + 자기 약속 + 다음 PART 진입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오늘 배운 것 — 5 핵심 영역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정형·비정형 / 메타데이터 / 분류 / 라벨링 / 거버넌스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정형·비정형 데이터 구분 + 메타데이터 표준 (15요소) + Taxonomy 5원칙 + AI 라벨링 + ★ BIG WIN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오늘의 자기 약속 — 1주일 / 1개월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거버넌스 보고 · 챔피언 추천 · PoC 일정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1주일 내 부서장 보고 + 챔피언 후보 추천 + 1개월 내 PoC 가동 일정 확정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BIG WIN 산출물 (총 4종)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양식 + 분류 + 태그 + 거버넌스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메타데이터 양식 (15요소) + 분류 체계 (3~5단계) + 태그 사전 (50~100개) + 거버넌스 (5~10쪽)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디지털화된 데이터가 표준화된 자산이 되는 순간 — 진짜 자산화 완성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03 (디지털화) → PART 04 (구조화) → PART 05 (품질) — 3단계 자산화 여정의 핵심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 4시간 학습 결과 — 1주일치 결정 + 1년치 운영 시스템 = 회사 자산 운영의 헌법 완성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PART (DAY 5)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05 — 데이터 품질 관리 (6대 차원·클린징·검수 자동화·★ 품질 관리 시스템)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04 · DAY 4 — 끝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0494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PART 05 · QUALITY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PART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05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 품질 관리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Quality Management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"Garbage In, Garbage Out — 좋은 데이터가 곧 좋은 AI"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품질 개관 — GIGO + ROI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6대 품질 차원 — 정확·완성·일관·신선·고유·유효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클린징·정제 5단계 워크플로우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검수 워크플로우 + 정기 감사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BIG WIN — 자사 데이터 품질 관리 시스템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PART 05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8H (이론 3H + 실습 5H) — 6차원 측정 + 클린징 + 검수 + ★ 품질 관리 시스템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165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10351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학습 목표 + 산출물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학습 목표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🎯 PART 05 학습 목표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8H (이론 3H + 실습 5H) — 4가지 능력 + 3개 산출물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[학습 목표] 4가지 능력 마스터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데이터 품질 6대 차원을 이해하고 자기 부서 데이터에 측정할 수 있다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결측값·중복·이상치를 식별하고 클린징 기법을 적용할 수 있다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AI를 활용한 자동 검수·정기 감사 워크플로우를 설계할 수 있다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자사 데이터 품질 관리 시스템을 구축·운영할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핵심 산출물 (3종) — 오늘 결과로 만들어 가는 것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품질 측정 결과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자기 부서 데이터 6차원 점수 (정확·완성·일관·신선·고유·유효)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🧹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클린징 자동화 워크플로우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결측·중복·이상치 처리 + AI 도구 4종 활용 (1,000건 → 5분)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🛡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자사 품질 관리 시스템 설계도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측정·클린징·검수·감사·거버넌스 5대 구성 (★ BIG WIN)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607671" y="1733550"/>
            <a:ext cx="5059829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8시간 학습 결과 — 1주일치 결정 + 1년치 운영 시스템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PART 03 (디지털화) → 04 (구조화) → 05 (품질) — 자산화 3단계 완성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출퇴근 학습용 핵심 5분 요약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오늘의 BIG WIN 미리보기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6차원 품질 점수표 — 회사 데이터 신뢰성의 "건강 검진표"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클린징 워크플로우 — 1,000건 처리 시간 1주 → 5분 (99% 단축)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품질 관리 시스템 — 5대 구성 + 거버넌스 = 회사 데이터 자산의 보장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품질 보장이 자산화의 마무리 (디지털화·구조화 + 품질 = 진짜 자산)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좋은 도구도 나쁜 데이터로는 작동 X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AI 정확도 = 데이터 품질의 함수 — 품질 90% → 95% 만으로 AI 정확도 5%↑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120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구성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📋 PART 05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 Chapter — 개관 → 6차원 → 클린징 → 검수 → ★ BIG WIN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01·02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기초 — 품질 개관 + 6대 차원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Ch.1 GIGO·ROI / Ch.2 6차원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데이터 품질 정의 + ROI 4배 + 6차원 (정확·완성·일관·신선·고유·유효) — 측정 가능 자산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03·04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실행 — 클린징 + 검수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Ch.3 5단계 클린징 / Ch.4 검수·감사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결측·중복·이상치 처리 + AI 자동 클린징 + 3 Layer 검수 + 5단계 정기 감사 사이클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★ 05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BIG WIN — 자사 품질 관리 시스템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5대 구성 + 거버넌스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측정 + 클린징 + 검수 + 정기 감사 + 거버넌스 = 회사 데이터 자산의 신뢰성 인프라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DAY 5 시간 배분 (8H)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Ch.1 1H / Ch.2 1.5H / Ch.3 1.5H / Ch.4 1H / ★ Ch.5 3H (이론 3H + 실습 5H)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5에 별표(★) — 그날의 BIG WIN — 자사 데이터 품질 관리 시스템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학습 흐름 — 개관 → 6차원 → 클린징 → 검수 → ★ 시스템 설계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슬라이드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1 — 데이터 품질 개관 (GIGO + ROI)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7556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OVERVIEW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 품질 개관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Quality Overview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"좋은 도구도 나쁜 데이터로는 작동하지 않는다"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품질이란? — Fit for Purpose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Garbage In, Garbage Out — 품질 부실의 비용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품질 관리의 ROI — 1원 투자 = 4원 절감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1:10:100 법칙 — 빨리 발견할수록 비용↓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💡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AI 정확도 = 데이터 품질의 함수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구조화된 데이터 → 신뢰 가능한 자산 — 품질 관리는 비용이 아닌 투자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168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71906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1.1·1.2 · GIGO · 그림 5-1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Ch.1.1·1.2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품질이란? — Garbage In, Garbage Out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"Fit for Purpose" — 의도한 용도에 적합한 데이터인가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1. AI 정비 어시스턴트 실패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입력: 부품번호 표기 불일치 (P-456 vs P456)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결과: 50% 케이스에서 잘못된 부품 추천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50%↓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2. 견적 시스템 오류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입력: 고객명 중복 (3가지 표기로 같은 고객)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결과: 동일 고객에 다른 가격 제시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신뢰↓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3. 시장 분석 왜곡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입력: 신선도 낮음 (2년 전 데이터)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결과: 현재 시장과 동떨어진 결론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왜곡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GIGO 흐름 — Bad Input → AI 도구 → Garbage Output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Bad Input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도구 (좋은 도구)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Garbage Output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틀린 데이터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GPT·Claude·Gemini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틀린 진단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결측 누락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+ Genspark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잘못된 의사결정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중복·이상치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AI 학습/분석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실패한 자동화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표기 오류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→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신뢰 손실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현장 사례 — 품질 부실의 실제 비용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AI 정비 어시스턴트 정확도 50%↓ + 견적 시스템 신뢰↓ + 시장 분석 왜곡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좋은 도구(GPT·Claude)도 나쁜 데이터로는 작동 X — 품질이 도구의 정확도를 결정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 도구의 정확도는 데이터 품질의 함수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좋은 도구도 나쁜 데이터로는 작동 X — 품질 관리가 AI 활용의 전제 조건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169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86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1.3 · 품질 관리 ROI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Ch.1.3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품질 관리의 ROI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1년 기준, 100명 규모 — 1원 투자 → 4원 절감 (4배 ROI)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품질 관리 비용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품질 부실 비용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검수 인력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1명 × 50% × 6,000만 = 3,000만 원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—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자동화 도구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200만 원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—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잘못된 의사결정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5,000만 원+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AI 모델 재학습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3,000만 원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재작업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4,000만 원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고객 신뢰 손실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측정 불가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합계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3,200만 원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12,000만 원+ (4배)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1:10:100 법칙 — 빨리 발견할수록 비용↓ (현장 1 / 디지털화 후 10 / 운영 100)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정확도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품질 90% → 95% 
AI 정확도 5%↑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의사결정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신뢰 데이터
검토 시간 50%↓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자동화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품질 95%+
70% 자동화 가능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ROI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1원 투자
→ 4원 절감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ROI 4배 — 1원 투자 → 4원 절감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품질 관리 비용 3,200만 원 → 부실 비용 12,000만 원 절감 = 8,800만 원 순이익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전사 100명 1년 = 8,800만 원 / 5년 누적 = 4.4억 원 (복리 효과 더 큼)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품질 관리는 비용이 아닌 투자 — ROI 4배+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1:10:100 법칙 — 현장 발견 1원 = 디지털화 후 10원 = 운영 단계 100원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우선순위 — 어디서부터 시작?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가장 많이 쓰이는 데이터 (정비 이력·견적·고객 정보) → 품질 측정 우선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AI 도구 입력 데이터 → 품질 95%+ 보장 (그렇지 않으면 GIGO)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8746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Ch.1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Ch.1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데이터 품질 개관 — Fit for Purpose + GIGO + ROI 4배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품질 = Fit for Purpose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의도한 용도에 적합한가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데이터 자체가 "좋다·나쁘다"가 아닌 — 의도한 용도에 맞느냐가 품질 기준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GIGO 원리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좋은 도구도 나쁜 데이터로는 작동 X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정확도 = 데이터 품질의 함수 — 도구가 아무리 좋아도 입력 품질이 결과를 결정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ROI 4배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1원 투자 → 4원 절감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1:10:100 법칙 — 현장 1 / 디지털화 후 10 / 운영 100 (빨리 발견할수록 비용↓)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디지털화·구조화가 끝이 아니다 — 품질 보장이 자산화의 마무리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03 (디지털화) → 04 (구조화) → 05 (품질) — 자산화 3단계 완성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부서 데이터 품질 측정 결과 + 클린징 워크플로우 + ★ 품질 시스템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6대 품질 차원 (정확·완성·일관·신선·고유·유효)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9610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6 DIMENSIONS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6대 품질 차원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Six Dimensions of Data Quality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"6차원 모두 충족할 때 진짜 품질 좋은 데이터"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정확성 (Accuracy) — 사실과 일치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완성도 (Completeness) — 필수 정보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일관성 (Consistency) — 같은 의미 같은 형식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신선도 (Freshness) — 현재 상황 반영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5·6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고유성·유효성 (Uniqueness·Validity)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6차원 측정 + 차원별 도구 + 통합 점검 사이클 = 신뢰 가능한 데이터 자산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172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93407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2.1 · 6대 품질 차원 · 그림 5-2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6대 데이터 품질 차원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정확·완성·일관·신선·고유·유효 — 6차원 모두 충족할 때 진짜 품질 좋은 데이터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정확성 (Accuracy) — 사실과 일치하는가?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"PC200-8" → 실제 PC200-8?  ·  AI 검증 + 교차 확인 — 월간 측정 (목표 95%+)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완성도 (Completeness) — 필수 정보 채워졌는가?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12필드 중 12개 모두?  ·  자동 측정 (채워진 필드 / 전체) — 주간 (목표 95%+)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일관성 (Consistency) — 같은 의미 같은 형식?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"P-456" vs "P456" 통일?  ·  정규식·AI 매칭 — 월간 (목표 90%+)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신선도 (Freshness) — 현재 상황 반영?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2024 가격 → 2026 견적 X  ·  자동 측정 (최근 X개월 / 전체) — 월간 (목표 80%+)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고유성 (Uniqueness) — 중복 없는가?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같은 고객 3개 ID X  ·  AI 유사 매칭 — 월간 (목표 99%+)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유효성 (Validity) — 규칙·형식 준수?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예: "2026-13-45" 무효  ·  자동 검증 (규칙 준수 / 전체) — 일간 (목표 95%+)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월간 데이터 품질 보고서 예시 (5,000건 측정)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정확성 92%(⚠) · 완성도 96%(✓) · 일관성 88%(⚠) · 신선도 85%(✓) · 고유성 99%(✓) · 유효성 97%(✓)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📊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6차원 상호 보완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한 차원만 좋아도 품질 X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모두 충족할 때 신뢰 가능 자산 — 1차원만 95%+ 달성도 GIGO 위험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6차원 측정 시작 체크리스트 — 즉시 적용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정확성·완성도·일관성 — 1순위 (월간 측정 시작)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신선도·고유성·유효성 — 2순위 (자동화 도구 도입 후 일간 측정)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503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2.2 · 차원 1·2 · 정확·완성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차원 1·2 — 정확성·완성도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정확성: 사실과 일치 / 완성도: 필수 정보 채워짐 — 가장 기본 두 차원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Before (정확성·완성도 부실)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After (개선 후)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부품번호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P456 / P-456 / p456 (혼재)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P-456 통일 (정확성 100%)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고객명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김철수 / 김 철수 / Kim CS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김철수 통일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날짜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2026-5-9 / 26.5.9 / May 9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2026-05-09 (ISO 형식)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필수 필드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12개 중 8~10개만 입력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12개 모두 입력 (Forms 강제)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AI 검수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수동 검수만 (시간 부족)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Claude 자동 검증 + 인간 검수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교차 확인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외부 자료와 비교 안함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외부 데이터와 자동 매칭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결과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정확성 75% / 완성도 80%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정확성 95%+ / 완성도 95%+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필드 우선순위 — 필수(100%) / 권장(90%+) / 선택(50%+) 3단계 목표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필수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일자·작성자·장비
100% (누락=무효)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권장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부품번호·맥락
90%+ (분석 가능)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추가 메모
50%+ (영향 적음)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도구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Claude·ChatGPT
자동 검증·보완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개선 도구 — 정확성·완성도 자동화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 자동 검증 (Claude/ChatGPT) + 외부 데이터 교차 검증 + 정기 인간 샘플 검수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Forms 입력 시 필수 필드 강제 + AI 누락 자동 추정·보완 (검수 필요)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정확성·완성도는 "가장 기본 두 차원" — 둘 다 95%+ 가 시작점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둘 중 하나만 부실해도 GIGO 발생 — 검수 + 강제 입력으로 95%+ 확보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즉시 적용 — 정확성·완성도 측정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부서 데이터 100건 무작위 추출 → 정확성·완성도 수동 측정 (1시간)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결과 75% 미만 → 즉시 개선 (Forms 강제 + Claude 검증) → 다음 달 95%+ 목표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7371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2.3 · 차원 3·4 · 일관·신선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차원 3·4 — 일관성·신선도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일관성: 같은 의미 같은 형식 / 신선도: 현재 상황 반영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단위 일관성 — Unit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5mm vs 5미리 vs 5밀리 (혼재)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5mm 통일 (SI 단위)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통일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표기 일관성 — Notation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Caterpillar / 캐터필러 / CAT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표준 사전(Vocabulary) 매핑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사전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신선도 — Freshness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✗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2024 가격 → 2026 견적 사용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✓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최근 3개월 데이터 80%+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도메인별 권장 신선도 기준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도메인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권장 신선도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갱신 빈도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가격·견적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최근 3개월 80%+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월간 갱신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정비 이력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최근 12개월 70%+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분기 갱신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고객 정보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최근 6개월 90%+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월간 갱신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시장 분석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최근 1개월 95%+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주간 갱신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개선 도구 — 일관성·신선도 자동화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표준 사전(Vocabulary) + AI 자동 정규화 + 입력 시 자동 변환 (일관성)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신선도 자동 측정 (자동) + 만료 알림 + 정기 갱신 사이클 (도메인별)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일관성은 사전(Vocabulary) — 신선도는 갱신 사이클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둘은 자동화 가능 — AI 정규화 + 자동 측정으로 90%+ 달성 가능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6069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2.4 · 차원 5·6 · 고유·유효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차원 5·6 — 고유성·유효성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고유성: 중복 없음 / 유효성: 규칙·형식 준수 — 자동화 가능한 두 차원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고유성 (Uniqueness) — 한 데이터 = 한 레코드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같은 고객이 3개 ID로 등록 → 동일 고객에 다른 가격 제시 (오류)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측정: 1 - (중복 / 전체) — 목표 99%+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도구: AI 유사 매칭 (80%+ 유사도) → 인간 검수 후 통합·삭제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주의: 동명이인·유사 부품번호는 "중복 X" — 도메인 지식 필요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고유성 처리 — 중복 데이터 4 기법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🎯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정확 매칭 (SQL DISTINCT)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완전 동일 레코드 제거 (모든 필드 일치)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🔑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키 매칭 (핵심 컬럼만)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고객 ID·부품번호 등 핵심 컬럼 기준 — 부수 정보 차이는 무시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유사 매칭 (80%+)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표기 차이가 있는 동일 데이터 식별 (Caterpillar / 캐터필러 / CAT)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🗂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통합·삭제 (최신 보존)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중복 발견 시 가장 최신·완성도 높은 레코드 유지 + 변경 이력 기록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유효성 (Validity) — 규칙·형식 준수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날짜 형식 — 2026-13-45 무효 (월 1~12, 일 1~31) → 자동 검증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숫자 범위 — 우선순위 1~5 만 허용 (Forms 강제) → 입력 시 자동 검증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필수 형식 — 부품번호 P-NNN 패턴 (정규식 검증) → 일간 자동 검증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고유성 99%+ / 유효성 95%+ — 자동화 가능 가장 높은 차원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고유성·유효성은 자동화 가능 가장 큰 차원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AI 유사 매칭 + 정규식 검증 = 인간 개입 최소 (월간 검수 5%만 수동)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271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2.5 · 측정 방법 표 · 그림 5-3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차원별 측정 방법 표준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공식 + 도구 + 권장 빈도 + 자동화 — 6차원 측정 표준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차원 + 공식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도구 + 빈도 + 자동화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정확성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정확 레코드 / 전체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AI 검증·교차 확인 (월간) — AI 도움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완성도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채워진 필드 / 전체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자동 측정 (주간) — ★ 100% 자동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일관성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표준 준수 / 전체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정규식·AI (월간) — AI 도움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신선도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최근 X개월 / 전체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자동 측정 (월간) — ★ 100% 자동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고유성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1 - (중복 / 전체)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AI 유사 매칭 (월간) — AI 도움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유효성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규칙 준수 / 전체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자동 검증 (일간) — ★ 100% 자동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통합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6 차원 가중 평균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월간 KPI 대시보드 — 자동 + AI + 수동 검수 통합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월간 데이터 품질 보고서 예시 (5,000건 측정)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정확성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92%
⚠ 목표 95%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완성도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96%
✓ 목표 95%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일관성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88%
⚠ 목표 90%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신선도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85%
✓ 목표 80%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추가 차원 — 고유성 99% (✓) · 유효성 97% (✓)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5,000건 / 6차원 측정 = 평균 91% — 정확성·일관성 개선 필요 (가이드 보강)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자동화 3 차원 (완성도·신선도·유효성) = 인간 개입 0 — AI 도움 3 차원만 검수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6차원 표준 측정 = 매월 1H 작업 + 100% 자동화 영역 활용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결과는 KPI 대시보드 (BI 도구) → 월간 부서장 보고 + 분기 임원 보고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측정 시작 우선순위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자동화 가능 3 차원부터 (완성도·신선도·유효성) — 1주 내 즉시 측정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AI 도움 3 차원 (정확·일관·고유성) — Claude·Custom GPT 활용 → 월간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6055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Ch.2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Ch.2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2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6대 품질 차원 — 정확·완성·일관·신선·고유·유효 통합 측정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6 차원 상호 보완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정확·완성·일관·신선·고유·유효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한 차원만 좋아도 품질 X — 6차원 모두 충족할 때 신뢰 가능 자산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자동화 3 차원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완성도·신선도·유효성 (100% 자동)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도움 3 차원 (정확·일관·고유성) → 월간 측정 + 인간 검수 5%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측정 표준 KPI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차원별 공식 + 도구 + 빈도 + 자동화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월간 KPI 대시보드 → 부서장·임원 보고 → 개선 액션 (살아있는 측정)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6차원 통합 측정 = 데이터 자산의 "건강 검진표"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한 번 측정으로 끝 X — 월간 사이클 + 분기 검토 + 연간 재설계 (살아있는 KPI)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6차원 품질 측정 결과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3 — 클린징·정제 기법 (결측·중복·이상치 처리)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6888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3 · CLEANSING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데이터 클린징·정제 기법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Cleansing Techniques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"클린징은 삭제·수정이 아니라 변환·기록의 작업"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5단계 워크플로우 — 진단 → 규칙 → 자동 → 검수 → 기록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결측값 처리 (MCAR·MAR·MNAR)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중복 제거 (정확·키·유사 매칭)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이상치 탐지·처리 + 표준화·정규화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AI 자동 클린징 — 4 도구 활용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원본 절대 수정 X + 변경 이력 추적 + 검수자 책임 명확 = 안전한 클린징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179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5649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3.1 · 클린징 5단계 · 그림 5-4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클린징 5단계 워크플로우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진단 → 규칙 → 자동 → 검수 → 기록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진단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Diagnose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6차원 측정
우선순위 결정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규칙 정의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Define Rules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결측·중복·이상치
명확 규칙 적용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자동 클린징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Auto Clean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AI 도구 활용
명확 규칙 자동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인간 검수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Human Review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애매 케이스
샘플 검수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반영·기록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Apply &amp; Log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DB 업데이트
변경 이력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3대 원칙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원본 보존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원본 데이터 절대 수정 X — 별도 보관·아카이브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이력 추적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변경 이력 모두 기록 — 감사·롤백 가능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책임 명확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검수자 책임 명확화 — 품질 책임 명시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결정 기준 — 클린징 vs 보존 (4 도메인)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결측값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단순 제외 / 평균 보완 / AI 추정 / Unknown 명시 — 4 기법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중복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정확 매칭 / 키 매칭 / AI 유사 매칭 — 검수 후 통합·삭제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이상치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검증·수정 / 별도 분석 / 격리 / 보존 — 4 처리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표준화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단위·표기·숫자 형식 통일 — Vocabulary 활용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AI 자동 클린징 4 도구 — Claude / ChatGPT / Gemini / Genspark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Genspark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Workspace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핵심 — 클린징은 "삭제·수정"이 아니라 "변환·기록"의 작업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448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3.2 · 결측값 처리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결측값 처리 (Missing Data)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MCAR / MAR / MNAR — 3 유형 + 4 처리 방법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결측 3 유형 — 누락의 원인이 처리 방법을 결정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MCAR — Missing Completely At Random (입력 실수, 무작위 누락)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MAR — Missing At Random (특정 조건에 따른 누락, 부서별 차이)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MNAR — Missing Not At Random (누락 자체가 의미, 민감 정보 회피)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★ 처리 결정 = 유형 + 도메인 지식 + 영향도 (단순 평균 X)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처리 4 방법 — 결측 케이스별 적합 기법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✗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단순 제외 (Listwise)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결측 레코드 통째 제외 — 데이터 손실↑ / 단순·빠름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평균·중앙값 보완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같은 컬럼 평균값으로 채움 — 분산 감소 / 빠름·정확도 보통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🤖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AI 추정 보완 (★)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다른 필드 컨텍스트로 AI 추정 — 정확도↑ / 검수 필수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📌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명시 표시 ("Unknown")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의도적 결측 그대로 표시 — 정보 보존 / 분석 시 별도 처리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현장 사례 — 정비 이력 결측 처리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일자 누락 → 파일 수정일로 보완 (★ 자동 처리 가능)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부품번호 누락 → 증상·조치로 AI 추정 (★ Claude → 검수 권장)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비고 누락 → "정상" 자동 입력 X (사람 검수, 임의 채우기 금지)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결측 처리 후 완성도 80% → 95%+ (1주 작업 → 1시간 자동화)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결측 처리는 "채우기"가 아닌 "의미 보존"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MNAR(의도적 결측)은 보완 X — "Unknown" 명시가 정확한 분석 보장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5500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3.3 · 중복 제거 (Dedup)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중복 제거 (Deduplication)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 유형 (정확·키·유사) + 검출 방법 + 처리 워크플로우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정확 중복 (Exact)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🎯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모든 필드가 동일 — SQL DISTINCT / Excel 중복 제거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1개만 남기고 자동 삭제 (변경 이력 기록)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100%↓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키 중복 (Key)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🔑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핵심 키만 동일 (고객 ID·부품번호) — 부수 정보 차이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최신 또는 통합 (도메인 결정)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검토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유사 중복 (Fuzzy)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🤖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표기 차이 같은 의미 ("ABC Corp" vs "ABC 주식회사")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AI 유사 매칭 80%+ → 인간 검수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처리 워크플로우 — 4 단계 자동화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방법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산출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정확 매칭 자동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SQL DISTINCT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100% 자동 처리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2. 키 매칭 자동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고객 ID·부품번호 기준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최신 통합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3. AI 유사 검출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Claude/ChatGPT 80%+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그룹핑 + 검수 표시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4. 인간 검수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애매 케이스 확인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최종 통합 결정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현장 사례 — 데이터 정리 효과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고객 마스터: 5,000건 → 4,200건 (중복 800건 제거)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정비 이력: 10,000건 → 9,950건 (50건 중복) — 1주 작업 → 30분 자동화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 유사 매칭이 "같은 의미 다른 표기" 중복을 잡는다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정확 매칭만으로는 80% 누락 — AI 매칭 + 인간 검수 = 99%+ 통합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5491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3.4 · 이상치 · 그림 5-5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이상치 탐지·처리 (Outliers)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통계·도메인·시간·패턴 4 유형 + 4 처리 방법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통계적 이상치 — ±3σ 외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평균 정비 시간 60분, 그런데 600분?  ·  자동 검출 (자동) — 수치 데이터 1순위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도메인 이상치 — 지식상 이상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굴삭기 가격 1억인데 1만원으로 입력 — AI 추정 + 인간 검수 (도메인 사전 활용)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시간 이상치 — 시간 모순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정비 종료가 시작보다 빠름  ·  자동 검증 (날짜 비교) — 100% 자동 가능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패턴 이상치 — 일반과 다름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평소 5건/일, 갑자기 100건/일  ·  AI 이상 탐지 (Anomaly Detection)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검증·수정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처리 1 — 입력 오류 정정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600분 → 60분 (입력 실수) — 변경 이력 기록 (감사용)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별도 분석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처리 2 — 특이 사례 표시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600분 정비 (특수 사례) → "특수" 태그 추가, 분석 시 별도 그룹화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격리·보존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처리 3·4 — 분석 시 제외 / 극단값 유지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분석 시 ±3σ 외 제외 (격리) / 극단값 보존 (드문 케이스 학습 자원)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자동 삭제 X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반드시 검토 후 결정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이상치 = 잠재적 "진짜 사례" — 자동 삭제는 정보 손실 위험 (각 케이스 검토)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이상치 처리 가이드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통계·시간 이상치 — 자동 검출 (즉시) → 검증 후 정정 / 격리 결정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도메인·패턴 이상치 — AI + 인간 검수 (월간) → 별도 분석 / 보존 결정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1477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3.5 · 표준화·정규화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표준화·정규화 (Standardization)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단위·표기·날짜·숫자 형식 통일 — 일관성 차원의 기반 작업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Before (혼재)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After (표준)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단위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5mm / 5미리 / 5밀리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5mm (SI 표준)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약어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PC / Personal Computer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PC (정의 사전 명시)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표기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Caterpillar / 캐터필러 / CAT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Caterpillar (한·영 사전)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숫자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1,000 / 1000 / 1k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1,000 (천 단위 콤마)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날짜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2026-5-9 / 26.5.9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2026-05-09 (ISO 8601)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통화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100,000원 / 10만원 / KRW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100,000 KRW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결과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일관성 75%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일관성 95%+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도구 — 표준 사전(Vocabulary) + AI 정규화 + Forms 자동 변환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단위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SI 단위계
mm·kg·℃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표기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Vocabulary 사전
동의어 매핑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날짜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ISO 8601
2026-05-09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통화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ISO 4217
KRW·USD·JPY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표준화 후 일관성 차원 점수 80% → 95%+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Forms·Notion 입력 시 자동 변환 + AI 정규화로 1주 작업 → 1시간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표준 사전 (Vocabulary) 50~100개 항목으로 전사 일관성 확보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표준화는 "입력 시점"이 가장 효율적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Forms 자동 변환 = 입력 즉시 표준 — 사후 정제보다 10배 효율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표준화 시작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단위·날짜·통화 — 1주 내 즉시 (Forms 자동 변환 설정)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표기·약어 — Vocabulary 사전 구축 (1개월) → AI 정규화 설정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7285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3.6 · AI 자동 클린징 · 그림 5-6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Ch.3.6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AI 자동 클린징 — 4 도구 활용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Claude · ChatGPT · Gemini · Genspark — 도구별 특성 + 통합 워크플로우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4 도구 통합 - 1,000건 정비 이력 5분 처리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ChatGPT (Code) + Claude (지시 충실) + Gemini (Workspace) + Genspark (Sheets·Agent)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[입력]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디지털화된 데이터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정비 이력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→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1,000건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[산출물] 클린징 결과 — 4 도구별 강점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Excel·CSV 일괄 처리 / 통계 이상치 탐지 (Code Interpreter)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2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지시 충실 / 일관성 정규화 / 도메인 표준화 (지시 충실)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Workspace 통합 / Sheets 직접 처리 / 실시간 협업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Genspark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4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Sheets·Agent / 신규 데이터 통합 / 자동 정규화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통합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(4 도구 산출물 통합 → 발견·자동수정·검수권고·변경이력)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산출물 4 종 — 동시 생성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📋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발견 사항 표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결측·중복·이상치 (도구별 검출)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✏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자동 수정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명확 케이스 (정확 매칭)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🔍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검수 권고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애매 케이스 (AI 추정)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1,000건 처리 시간의 폭발적 단축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수동 클린징 1주 (40H) → AI 자동 클린징 5분 (99% 단축) + 일관된 결과 품질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실무 활용 — 4 도구 동시 활용 4가지 이점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ChatGPT — Excel 일괄 처리 (1,000행 → 5분)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Claude — 지시 충실로 일관성 정규화 (도메인 사전 활용)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Gemini — Sheets 직접 처리 (실시간 협업, 변경 이력 자동)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Genspark — Agent로 다단계 자동 (입력 → 검출 → 수정 한 번에)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4 도구 + 인간 검수 = 99% 자동 + 1% 검수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AI 자동 95% 처리 + 인간 검수 5% — 전체 5분 작업으로 1주일 효과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변경 이력 자동 기록 = 감사용 로그 (롤백 가능)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산출물 — 1,000건 클린징 + 4 종 자동 생성 + 변경 이력 (5분 처리)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4027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Ch.3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Ch.3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3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클린징·정제 — 5단계 워크플로우 + AI 자동 + 3대 원칙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5단계 워크플로우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진단 → 규칙 → 자동 → 검수 → 기록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결측·중복·이상치·표준화 4 영역 — 모두 5단계 동일 적용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AI 자동 4 도구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Claude / ChatGPT / Gemini / Genspark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1,000건 5분 처리 (1주 → 5분, 99% 단축) + 일관된 품질 보장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3대 원칙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원본 보존 + 이력 추적 + 책임 명확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클린징은 "삭제·수정"이 아니라 "변환·기록" — 롤백 가능 + 감사 가능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AI 자동 95% + 인간 검수 5% = 99% 정확도 + 1주 → 5분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원본 데이터 절대 수정 X — 변경 이력 모두 기록 (감사용 로그)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클린징 자동화 워크플로우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4 — 검수 워크플로우 (AI + 인간 + 정기 감사)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1356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4 · REVIEW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검수 워크플로우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Review Workflow — AI + Human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"AI 자동 90% + 챔피언 8% + 책임자 2% = 3 Layer 협업"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AI + 인간 협업 — 3 Layer 검수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Layer 1 (AI 자동 90%) — 6차원 자동 측정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Layer 2 (챔피언 8%) — 도메인 검수·승인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Layer 3 (책임자 2%) — 정책·표본 감사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정기 품질 감사 사이클 (일·주·월·분기·연)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 자동 + 챔피언 + 책임자 = 효율 + 정확성 + 거버넌스 (3 Layer)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187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78269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4.1 · 검수 3 Layer · 그림 5-7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Ch.4.1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검수 워크플로우 — AI + 인간 협업 (3 Layer)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Layer 1 AI 자동 90% / Layer 2 챔피언 8% / Layer 3 책임자 2%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1 — AI 자동 검수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🤖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90% — 모든 데이터 자동 처리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6차원 자동 측정 + 명확 위반 자동 거부/수정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즉시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2 — 부서 챔피언 검수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👤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8% — 도메인 검수·승인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AI "검수 필요" 케이스 · 신뢰도 ★★★ 이하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30분/일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Layer 3 — 전사 책임자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🛡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2% — 정책·표본 감사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부서간 영향·정책 변경·무작위 샘플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2시간/주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3 Layer 워크플로우 — 시간 투입 / 처리 비율 / 책임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비율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시간 투입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Layer 1 (AI)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90%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자동 (즉시)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Layer 2 (챔피언)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8%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30분/일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Layer 3 (책임자)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2%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2시간/주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★ 합계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100%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인간 30분/일·2H/주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효율 — AI 자동 90% = 인간 시간 절약 + 검수 책임 명확화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전사 인간 검수 시간: 1주 100H → 5H (95% 절감) — 검수자 1명으로 충분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챔피언 30분/일 + 책임자 2H/주 = 1주 5H — 다른 업무에 영향 X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AI 자동 90% + 챔피언 8% + 책임자 2% = 3 Layer 협업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각 Layer 책임 명확 — 어디서 막혔는지·왜 막혔는지 추적 가능 (RACI)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4119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4.2 · 정기 감사 사이클 · 그림 5-8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Ch.4.2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정기 품질 감사 사이클 (5단계)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일·주·월·분기·연 — 다층 감사로 지속 개선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DAILY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일일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Daily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AI 자동 측정
신규 데이터 검수
알림 발송 — 자동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WEEKLY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주간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Weekly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6차원 측정 검토
부서별 보고서
챔피언 미팅 — 자동+인간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MONTHLY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월간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Monthly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무작위 100건 검수
트렌드 분석
개선 액션 — 인간 주도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QUARTERLY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분기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Quarterly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거버넌스 검토
표준 업데이트
임원 보고 — 전사 차원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ANNUAL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연간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Annual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외부 검증·감사
벤치마킹
자산 보고 — 외부 협력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월간 감사 결과 → 액션 사례 (실제)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발견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일관성 88% (목표 90%) / "유압시스템" vs "유압 시스템" 표기 차이 300건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분석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Vocabulary 사전 미흡 + AI 정규화 룰 누락 — 직원 교육 부족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액션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표준 사전 보강 → AI 룰 업데이트 → 직원 교육 → 다음 달 92% 달성 ✓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감사 단계별 산출물 — 5종 자동 생성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일일 알림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AI 자동 측정 결과 + 신규 데이터 6차원 점수 + 위반 알림 (Slack)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주간 보고서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부서별 6차원 점수 표 + 트렌드 (지난 4주) + 챔피언 미팅 안건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월간 분석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무작위 100건 검수 결과 + 패턴 분석 + 개선 액션 plan + 부서장 보고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분기 보고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거버넌스 검토 + 표준 업데이트 결정 + 임원 보고서 + 정책 변경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감사 6 영역 — 부서별 평가 항목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정확성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완성도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일관성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신선도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고유성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유효성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핵심 — 품질은 만들고 끝이 아니다 — 지속적 감사·개선 (5단계 사이클)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189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1056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Ch.4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Ch.4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4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검수 워크플로우 — 3 Layer + 5단계 정기 감사 사이클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3 Layer 검수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AI 자동 90% / 챔피언 8% / 책임자 2%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각 Layer 책임 명확 — 시간 투입 (자동 / 30분일 / 2H주) 합리적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5단계 정기 감사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일·주·월·분기·연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다층 감사 — 자동 / 자동+인간 / 인간 주도 / 전사 차원 / 외부 협력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지속 개선 사이클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발견 → 분석 → 액션 → 다음 달 측정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월간 88% → 92% 달성 사례 — 표준 보강 + AI 룰 업데이트 + 교육 = 효과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품질은 만들고 끝이 아니다 — 지속적 감사·개선 사이클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AI 자동 90% + 인간 10% = 1주 5H 검수로 5,000건 품질 보장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검수 워크플로우 + 정기 감사 일정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★ Chapter 5 — BIG WIN — 자사 데이터 품질 관리 시스템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61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05 · DAY 5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★ CHAPTER 5 · BIG WIN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05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자사 데이터 품질 관리 시스템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Corporate Data Quality Management System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"PART 05의 BIG WIN — 회사 데이터 신뢰성의 인프라"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측정·모니터링 — 6차원 자동 + KPI 대시보드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클린징 자동 — AI 4 도구 + 표준 사전·정규화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3단계 검수 — AI + 챔피언 + 전사 책임자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정기 감사 — 일·주·월·분기·연 사이클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5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거버넌스 — 사내 가이드·교육·인증·분기 검토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★ BIG WIN 산출물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데이터 품질 관리 시스템 (5대 구성) — ROI 1원 → 4원 절감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191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19718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5.1 · 자사 품질 시스템 5대 구성 · ★ BIG WIN · 그림 5-9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자사 데이터 품질 관리 시스템 (★ BIG WIN)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5대 구성 요소 — 데이터 자산 신뢰성의 인프라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측정·모니터링 — 6차원 자동 측정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정확·완성·일관·신선·고유·유효 자동 측정 + KPI 대시보드 + 실시간 알림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클린징 자동 — AI 4 도구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Claude/ChatGPT/Gemini/Genspark 자동 클린징 + 표준 사전·정규화 + 변경 이력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3 Layer 검수 — AI + 인간 협업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자동 90% + 부서 챔피언 8% + 전사 책임자 2% — 품질 담보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정기 감사 — 5단계 사이클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일·주·월·분기·연 다층 감사 — 트렌드·개선·액션 추적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거버넌스 — 사내 인프라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사내 가이드 + 교육·인증 + 분기 검토 + 책임 명확 (RACI)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도구 매핑 — VOL.01에서 학습한 도구들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BI/대시보드 + Claude/ChatGPT 클린징 + Custom GPT 검수 + Forms·Notion + 사내 위키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5대 구성 통합 시스템 = 회사 데이터 자산 신뢰성의 인프라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한 번 설계 = 1년 이상 운영 = 회사 자산 운영의 헌법 (PART 04 + PART 05 통합)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🛡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5대 구성 통합 운영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한 구성 부재 = 시스템 X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측정만 + 클린징 X = 데이터 부실 / 검수만 + 측정 X = 무엇을 검수할지 모름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시스템 구축 시작 체크리스트 — 1주 내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측정 — 6차원 KPI 정의 (Notion·Sheets)  ☐  클린징 — AI 도구 1개 선정 (Claude)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검수 — 챔피언 1명 지정  ☐  감사 — 월간 일정 캘린더 등록  ☐  거버넌스 — 1쪽 문서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9451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실습 5-1 · 자사 적용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실습 5-1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5-1] 자사 데이터 품질 측정·관리 실습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— 자기 부서 데이터 6차원 측정 + 클린징 + 검수 워크플로우 설계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자사 적용 실습 — 측정 → 클린징 → 검수 → 시스템 설계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60분 / 4 Step / 산출물: 자기 부서 품질 시스템 설계도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(15분)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6차원 측정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샘플 100건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→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2,3,4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[Step 2~4] 클린징 → 검수 → 시스템 설계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15분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AI 자동 클린징 (Claude·ChatGPT) - 결측·중복·이상치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15분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검수 워크플로우 — 3 Layer 책임자 결정 (챔피언 1명·책임자 1명)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15분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★ 5대 구성 통합 시스템 설계 — 측정·클린징·검수·감사·거버넌스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도구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Notion·Sheets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Claude/ChatGPT 자동 클린징 + Forms 입력 강제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산출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1쪽 설계도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(자기 부서 5대 구성 + 챔피언 + 일정)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Step 결과 — 자기 부서 5대 구성 산출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측정 점수표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100건 6차원 측정 결과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🧹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클린징 결과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결측·중복·이상치 처리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🛡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거버넌스 1쪽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챔피언·일정·KPI 정의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60분 작업으로 자기 부서 품질 관리 시스템 1차 구축 완료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100건 측정 → 클린징 → 검수 워크플로우 설계 → 거버넌스 1쪽 = PoC 출발 가능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실무 활용 — 이번 실습 산출물 4가지 활용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부서장 보고 — 6차원 점수표 + 개선 액션 plan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Custom GPT "품질 어시스턴트" — Knowledge에 표준 등록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Slack 알림 — 일일 자동 측정 결과 챔피언에게 발송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분기 임원 보고 — 트렌드·개선·ROI 측정 결과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1주일 후 재측정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오늘 60분 작업 = PoC 시작 / 1주 후 재측정 = 실제 개선 효과 확인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1개월 후 부서간 확산 / 3개월 후 전사 표준 (PART 04 + 05 통합)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산출물 — 자기 부서 데이터 품질 관리 시스템 설계도 1쪽 (PoC 가동 가능)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1898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5.3 · ROI 측정·확산 · 그림 5-10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Ch.5.3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ROI 측정 + 확산 가이드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1원 투자 → 4원 절감 (4배 ROI) — 부서별 사례 + 전사 누적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부서별 ROI 실측치 (3개월, 100명 회사)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★ 효과 / ROI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A/S 부서 (10명)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정비 이력 60% → 92% 품질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검수 시간 40%↓ — ROI 약 8,000만 원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영업 부서 (15명)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견적 일관성 65% → 95%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작성 시간 30%↓ — ROI 약 1.2억 원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전사 (100명)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평균 품질 70% → 90%+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의사결정 신속화 — ROI ★ 분기 5억 원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1:10:100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현장 발견 1 / 디지털화 후 10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운영 단계 100 — 빨리 발견할수록 비용↓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연간 누적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전사 100명 기준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연간 약 20억 원 절감 (분기 5억 × 4)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확산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PoC → 부서간 → 전사 → 지속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Phase 1 PoC (1개월) → Phase 4 지속 (90일+)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투자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검수 인력 1명 + 도구 200만원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= 3,200만 원 / 년 — 4배 ROI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보고 — 임원 KPI 대시보드 + 분기 보고서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A/S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ROI
8,000만 원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영업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ROI
1.2억 원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전사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분기
5억 원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연간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★ 20억 원
절감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확산 단계 — Phase 1~4 (90일+)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PoC (1개월) — A/S 또는 영업 부서 1개 시작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Phase 2 부서간 (1개월) → Phase 3 전사 (1개월) → Phase 4 지속 (90일+)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1원 투자 = 4원 절감 (1년) → 5년 누적 = 100억 원 영향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ROI는 정성+정량 — "의사결정 신속화"·"AI 활용 확장" 등 정성 효과 더 큼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임원 보고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1~2달 내 부서 PoC → 측정 가능 ROI 확보 → 임원 신뢰 획득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분기 보고에 ROI + 정성 효과 + 향후 1년 계획 함께 제시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05 · DAY 5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151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자가진단 · PART 06 예고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자가진단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💡 PART 05 자가진단 + PART 06 예고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6항목 체크 → 다음 PART 진입 + 다음 PART 핵심 주제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762000" y="196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자가진단 체크리스트 (6가지)</a:t>
            </a:r>
          </a:p>
        </p:txBody>
      </p:sp>
      <p:sp>
        <p:nvSpPr>
          <p:cNvPr id="111" name="S111"/>
          <p:cNvSpPr/>
          <p:nvPr/>
        </p:nvSpPr>
        <p:spPr>
          <a:xfrm>
            <a:off x="546100" y="24765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S112"/>
          <p:cNvSpPr/>
          <p:nvPr/>
        </p:nvSpPr>
        <p:spPr>
          <a:xfrm>
            <a:off x="546100" y="24765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762000" y="2552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15" name="S115"/>
          <p:cNvSpPr/>
          <p:nvPr/>
        </p:nvSpPr>
        <p:spPr>
          <a:xfrm>
            <a:off x="1079500" y="25400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079500" y="2540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498600" y="25654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데이터 품질 6대 차원을 이해하고 자기 부서 데이터에 측정할 수 있다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28956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28956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762000" y="2971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2" name="S122"/>
          <p:cNvSpPr/>
          <p:nvPr/>
        </p:nvSpPr>
        <p:spPr>
          <a:xfrm>
            <a:off x="1079500" y="29591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1079500" y="29591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98600" y="29845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결측값·중복·이상치를 식별하고 클린징 5단계를 적용할 수 있다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3147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33147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762000" y="3390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29" name="S129"/>
          <p:cNvSpPr/>
          <p:nvPr/>
        </p:nvSpPr>
        <p:spPr>
          <a:xfrm>
            <a:off x="1079500" y="33782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079500" y="33782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498600" y="34036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AI 도구 4종을 활용한 자동 클린징을 진행할 수 있다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37338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37338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762000" y="3810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36" name="S136"/>
          <p:cNvSpPr/>
          <p:nvPr/>
        </p:nvSpPr>
        <p:spPr>
          <a:xfrm>
            <a:off x="1079500" y="37973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1079500" y="37973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98600" y="38227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3 Layer 검수 워크플로우 + 정기 감사 사이클을 설계할 수 있다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41529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41529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4229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43" name="S143"/>
          <p:cNvSpPr/>
          <p:nvPr/>
        </p:nvSpPr>
        <p:spPr>
          <a:xfrm>
            <a:off x="1079500" y="42164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1079500" y="42164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498600" y="42418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자사 데이터 품질 관리 시스템 5대 구성을 이해하고 적용할 수 있다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4572000"/>
            <a:ext cx="6477000" cy="381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4572000"/>
            <a:ext cx="762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148"/>
          <p:cNvSpPr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762000" y="4648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E8632C"/>
                </a:solidFill>
              </a:rPr>
              <a:t>☐</a:t>
            </a:r>
          </a:p>
        </p:txBody>
      </p:sp>
      <p:sp>
        <p:nvSpPr>
          <p:cNvPr id="150" name="S150"/>
          <p:cNvSpPr/>
          <p:nvPr/>
        </p:nvSpPr>
        <p:spPr>
          <a:xfrm>
            <a:off x="1079500" y="4635500"/>
            <a:ext cx="317500" cy="254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1079500" y="46355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1498600" y="4660900"/>
            <a:ext cx="539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ROI 4배+ 측정 + 임원 보고서 작성 + 부서 PoC 시작 일정 잡을 수 있다</a:t>
            </a:r>
          </a:p>
        </p:txBody>
      </p:sp>
      <p:sp>
        <p:nvSpPr>
          <p:cNvPr id="153" name="S153"/>
          <p:cNvSpPr/>
          <p:nvPr/>
        </p:nvSpPr>
        <p:spPr>
          <a:xfrm>
            <a:off x="546100" y="5143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762000" y="5143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PART 06 예고 — KPI·자사 적용 (DAY 6)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5524500"/>
            <a:ext cx="6477000" cy="165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156"/>
          <p:cNvSpPr/>
          <p:nvPr/>
        </p:nvSpPr>
        <p:spPr>
          <a:xfrm>
            <a:off x="546100" y="5524500"/>
            <a:ext cx="76200" cy="165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927100" y="5689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5단계 통합 + KPI 측정 + 자사 적용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927100" y="59690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데이터 자산화 5단계 회고 + 90일 자사 로드맵</a:t>
            </a:r>
          </a:p>
        </p:txBody>
      </p:sp>
      <p:sp>
        <p:nvSpPr>
          <p:cNvPr id="159" name="S159"/>
          <p:cNvSpPr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63754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1231900" y="63754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자산화 5단계 종합 회고 (Day 1~5 통합)</a:t>
            </a:r>
          </a:p>
        </p:txBody>
      </p:sp>
      <p:sp>
        <p:nvSpPr>
          <p:cNvPr id="162" name="S162"/>
          <p:cNvSpPr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927100" y="65786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1231900" y="65786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자사 KPI·ROI 측정 표준화</a:t>
            </a:r>
          </a:p>
        </p:txBody>
      </p:sp>
      <p:sp>
        <p:nvSpPr>
          <p:cNvPr id="165" name="S165"/>
          <p:cNvSpPr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166"/>
          <p:cNvSpPr txBox="1"/>
          <p:nvPr/>
        </p:nvSpPr>
        <p:spPr>
          <a:xfrm>
            <a:off x="927100" y="67818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1231900" y="67818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자사 90일 로드맵 (PoC → 확산 → 표준)</a:t>
            </a:r>
          </a:p>
        </p:txBody>
      </p:sp>
      <p:sp>
        <p:nvSpPr>
          <p:cNvPr id="168" name="S168"/>
          <p:cNvSpPr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927100" y="6985000"/>
            <a:ext cx="228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1231900" y="6985000"/>
            <a:ext cx="5651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dirty="0">
                <a:solidFill>
                  <a:srgbClr val="F4B400"/>
                </a:solidFill>
              </a:rPr>
              <a:t>★ BIG WIN — VOL.01 + VOL.02 통합 비전</a:t>
            </a:r>
          </a:p>
        </p:txBody>
      </p:sp>
      <p:sp>
        <p:nvSpPr>
          <p:cNvPr id="171" name="S171"/>
          <p:cNvSpPr/>
          <p:nvPr/>
        </p:nvSpPr>
        <p:spPr>
          <a:xfrm>
            <a:off x="546100" y="74295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S172"/>
          <p:cNvSpPr/>
          <p:nvPr/>
        </p:nvSpPr>
        <p:spPr>
          <a:xfrm>
            <a:off x="546100" y="74295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927100" y="7594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오늘 밤 미션 — DAY 6 준비</a:t>
            </a:r>
          </a:p>
        </p:txBody>
      </p:sp>
      <p:sp>
        <p:nvSpPr>
          <p:cNvPr id="174" name="T174"/>
          <p:cNvSpPr txBox="1"/>
          <p:nvPr/>
        </p:nvSpPr>
        <p:spPr>
          <a:xfrm>
            <a:off x="927100" y="7874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오늘 작성한 5대 구성 시스템 부서장 검토 일정 잡기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927100" y="81026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ROI 측정 데이터 정리 (1~3개월 PoC 효과 메모)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83312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90일 로드맵 후보 메모 (Phase 1~4 자기 부서 일정)</a:t>
            </a:r>
          </a:p>
        </p:txBody>
      </p:sp>
      <p:sp>
        <p:nvSpPr>
          <p:cNvPr id="177" name="S177"/>
          <p:cNvSpPr/>
          <p:nvPr/>
        </p:nvSpPr>
        <p:spPr>
          <a:xfrm>
            <a:off x="546100" y="8826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8991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💡 체크 결과 해석</a:t>
            </a:r>
          </a:p>
        </p:txBody>
      </p:sp>
      <p:sp>
        <p:nvSpPr>
          <p:cNvPr id="179" name="S179"/>
          <p:cNvSpPr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762000" y="92710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6/6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1524000" y="92710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PART 06 진입 — 자사 90일 로드맵 작성 가능</a:t>
            </a:r>
          </a:p>
        </p:txBody>
      </p:sp>
      <p:sp>
        <p:nvSpPr>
          <p:cNvPr id="182" name="S182"/>
          <p:cNvSpPr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T183"/>
          <p:cNvSpPr txBox="1"/>
          <p:nvPr/>
        </p:nvSpPr>
        <p:spPr>
          <a:xfrm>
            <a:off x="762000" y="94996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F3A2E"/>
                </a:solidFill>
              </a:rPr>
              <a:t>4-5/6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524000" y="94996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부족한 항목 복습 — 클린징·검수 워크플로우 재검토</a:t>
            </a:r>
          </a:p>
        </p:txBody>
      </p:sp>
      <p:sp>
        <p:nvSpPr>
          <p:cNvPr id="185" name="S185"/>
          <p:cNvSpPr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9728200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0-3/6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1524000" y="9728200"/>
            <a:ext cx="5397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오늘 자료 다시 학습 권장 — 강사 질문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18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1" name="S19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19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619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마무리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🎯 PART 05 마무리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 배운 것 + 자기 약속 + 다음 PART 진입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오늘 배운 것 — 5 핵심 영역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GIGO·6차원·클린징·검수·★ 시스템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Garbage In Garbage Out + 6대 차원 + 5단계 클린징 + 3 Layer 검수 + 5대 시스템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오늘의 자기 약속 — 1주일 / 1개월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PoC 시작 · 챔피언 지정 · KPI 측정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1주일 내 부서 PoC 가동 + 챔피언 1명 지정 + 1개월 후 ROI 측정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BIG WIN 산출물 (총 3종)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측정·클린징·시스템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6차원 측정 결과 + 클린징 자동화 + 5대 구성 시스템 설계도 (PoC 가동 가능)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디지털화·구조화 + 품질 보장 = 진짜 자산화 완성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03 → 04 → 05 = 자산화 3단계 + 다음 PART 06 = 자사 적용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 8시간 학습 결과 — 1주일 PoC + 1년 운영 시스템 = 회사 자산 신뢰성의 인프라 완성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PART (DAY 6)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06 — KPI·자사 적용 (5일 통합 회고 + 90일 로드맵 + ★ 통합 비전)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 — 끝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1032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★ Ch.5 정리 · BIG WIN 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★ BIG WIN 달성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★ Chapter 5 핵심 정리 (BIG WIN 달성)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오늘의 BIG WIN 완성 — 자사 데이터 품질 관리 시스템 5대 구성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5대 구성 통합 시스템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측정·클린징·검수·감사·거버넌스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각 구성 부재 = 시스템 X — 5대 모두 작동해야 회사 데이터 신뢰성 인프라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ROI 4배+ 검증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1원 투자 = 4원 절감 (1년)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A/S 8,000만 / 영업 1.2억 / 전사 분기 5억 → 연간 20억 원 절감 (100명)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확산 4 Phase 로드맵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PoC → 부서간 → 전사 → 지속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1개월 PoC + 1개월 부서간 + 1개월 전사 + 90일+ 지속 = 살아있는 시스템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오늘의 BIG WIN 달성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자사 데이터 품질 관리 시스템 = 회사 자산 신뢰성의 인프라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04 (분류 거버넌스) + PART 05 (품질 시스템) = 자산화 운영의 헌법 통합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다음 단계 (1주일 내) — ☐ 부서 PoC 시작  ☐ ROI 측정  ☐ 임원 보고서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06 — KPI·자사 적용 (5일 회고 + 90일 로드맵 + 통합 비전)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2043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자산화 5단계 회고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5단계 회고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데이터 자산화 5단계 회고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PART 01~05 통합 — 식별 → 수집 → 디지털화 → 구조화 → 품질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식별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Identify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DIKW + SECI
인벤토리 작성
4분면 진단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PART 02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수집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Collect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1주 시스템
Forms·인터뷰
정기 수집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PART 03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디지털화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Digitize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OCR·STT·영상
4 기술·다국어
자동 파이프라인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PART 04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구조화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Structure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메타데이터·분류
5 Layer 거버넌스
표준 분류 체계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PART 05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품질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Quality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6차원·클린징
3 Layer 검수
품질 시스템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5단계 통합 효과 — 회사 데이터 자산 운영의 헌법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출발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PART 01 식별 — 회사 데이터 자산 인벤토리 (4분면 진단)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전환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PART 02·03 수집·디지털화 — 비정형 → 정형 (1주 시스템)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도착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PART 04·05 구조화·품질 — 검색·분석·자동화 가능 자산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5단계 통합 산출물 매트릭스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1단계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데이터 자산 인벤토리 (4분면 진단표) — DIKW 위계별 식별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2~3단계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수집 시스템 + 디지털화 파이프라인 — 1주일 자동 가동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4단계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표준 분류 체계 (5 Layer 거버넌스) — 메타데이터·분류·태그·라벨·운영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5단계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품질 관리 시스템 (5대 구성) — 측정·클린징·검수·감사·거버넌스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통합 BIG WIN — 5일치 산출물 5종 통합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인벤토리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수집 시스템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디지털화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분류 체계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품질 시스템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통합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5단계 시너지 효과 = 1+1+1+1+1 = 10+ — 단계별 산출물의 통합 시너지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5920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자가진단 종합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자가진단 종합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PART 05 자가진단 종합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PART 05 5 챕터 학습 결과 종합 평가 — 다음 PART 진입 가능 여부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Ch.1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품질 개관 — GIGO + ROI 4배 이해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Fit for Purpose 정의 + 1:10:100 법칙 + 품질 부실의 실제 비용 (3 사례)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Ch.2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6대 품질 차원 측정 가능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정확·완성·일관·신선·고유·유효 — 차원별 공식·도구·자동화 정도 이해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Ch.3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클린징 5단계 + AI 4 도구 활용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결측·중복·이상치 4 처리 + Claude/ChatGPT/Gemini/Genspark 1,000건 5분 처리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Ch.4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검수 3 Layer + 5단계 정기 감사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90% + 챔피언 8% + 책임자 2% / 일·주·월·분기·연 사이클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 Ch.5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BIG WIN — 자사 품질 관리 시스템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5대 구성 + ROI 4배 검증 + 4 Phase 확산 로드맵 (PoC → 부서간 → 전사 → 지속)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오늘 BIG WIN 산출물 — 3 종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6차원 측정 결과 + 클린징 자동화 + 5대 구성 시스템 (PoC 가동 가능)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다음 PART 06 진입 — 5일 통합 회고 + 90일 자사 로드맵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PART 01~05 자산화 5단계 완성 → PART 06 = 자사 적용 (DAY 6)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🎯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PART 05 학습 결과 — 종합 평가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5 챕터 모두 통과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Ch.1~5 모두 학습 완료 + 산출물 3종 생성 = PART 06 진입 가능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PART 06 준비 체크리스트 — 오늘 밤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PART 03·04·05 산출물 정리 (디지털화·분류·품질)  ☐  부서장 PoC 일정 잡기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90일 자사 로드맵 후보 메모 (Phase 1 PoC 부서·일정·KPI)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199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9824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05 · 마무리 · 마지막 PART를 향해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05 · DAY 5 · 마무리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🎯 마무리 — 마지막 PART를 향해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5일간의 학습 + 마지막 PART 06 (DAY 6) — 자사 적용 비전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5일간의 변화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막연한 관심 → 데이터 자산화 전문가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DAY 1~5: 식별 → 수집 → 디지털화 → 구조화 → 품질 = 5 시스템 완성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산출물 0개 → 5개 시스템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인벤토리·수집·디지털화·분류·품질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5종 산출물 = 회사 자산 운영의 헌법 — 통합 시너지로 1+1+1+1+1 = 10+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★ 다음 PART 06 — 자사 적용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통합 회고 + 90일 로드맵 + 비전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VOL.01 + VOL.02 통합 = 12일 96시간의 종착점 — 산업 AI 변화의 주역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마지막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베테랑의 노하우 → 회사 자산 → 글로벌 경쟁력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그리고 여러분이 그 변화의 주역 — 12일 후 여러분은 건설기계 산업 AI 변화의 선두주자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 밤 미션 — DAY 6 준비 (마지막 학습일)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PART (DAY 6) — 마지막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PART 06 — KPI·자사 적용 + 90일 로드맵 + ★ VOL.01·02 통합 비전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05 · DAY 5 — 끝 / 다음 — DAY 6 (마지막 학습일)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1469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 · 마지막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PART 06 · KPI · 자사 적용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PART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06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KPI · 자사 적용 · 본 과정 최종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KPI · Corporate Application · Final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"베테랑의 노하우 → 회사 자산 → 글로벌 경쟁력"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5일 학습 회고 + 누적 산출물 통합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KPI 자산화 — 4대 영역 (효율·효과·혁신·지속)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ROI 계산 프레임워크 + 임원 보고 5단계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★ 자사 종합 실습 — 6직무별 프로토타입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BIG WIN — 자사 90일 데이터 자산화 로드맵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PART 06 핵심 — 마지막 학습일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5일 + 1일 = 6일 96시간의 종착점 — 산업 AI 변화의 주역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201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10258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학습 목표 (마지막)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학습 목표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🎯 PART 06 학습 목표 (본 과정 최종)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8H (이론 2H + 실습 6H) — 4 능력 + 4 산출물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[학습 목표] 4가지 능력 마스터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데이터 자산화 KPI 4대 영역을 이해하고 자기 부서에 측정·적용할 수 있다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ROI 계산 프레임워크로 임원 보고서를 작성할 수 있다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자기 직무에 맞춘 종합 프로토타입을 시연할 수 있다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자사 90일 데이터 자산화 로드맵을 설계·실행할 수 있다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최종 산출물 (4종) — 본 과정 최종 BIG WIN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📊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자산화 KPI 측정표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효율·효과·혁신·지속 4 영역 KPI + 부서별 적용 매트릭스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💼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임원 보고서 (ROI 분석)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ROI 계산 + 부서 사례 + 90일 로드맵 = 1쪽 임원 보고서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🚀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자기 직무 종합 프로토타입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PART 01~05 통합 적용 — 자기 직무에 맞춘 1쪽 시연 자료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★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자사 90일 로드맵 (BIG WIN)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Phase 1~4 (1개월 PoC + 1개월 부서간 + 1개월 전사 + 90일+ 지속)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본 과정 최종 산출물 — 4종 통합 시 회사 변화의 출발점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12일 96시간의 종착점 — 건설기계 산업 AI 전환의 주역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PART 06 = VOL.02 마무리 + VOL.01 + VOL.02 통합 비전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8시간 학습으로 회사 변화의 헌법 + 90일 가동 가능 로드맵 완성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본 과정 최종일 = 산업 AI 변화의 주역으로 변화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베테랑 → 데이터 → 회사 자산 → 글로벌 경쟁력 → 그리고 여러분이 그 변화의 주역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51046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구성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📋 PART 06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 Chapter — 회고 → KPI → ROI → 실습 → ★ 90일 로드맵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Ch.1+2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회고 + KPI 자산화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5일 학습 종합 + 4대 KPI 영역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DAY 1~5 자산화 5단계 회고 + 효율·효과·혁신·지속 4대 KPI 측정 표준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Ch.3+4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ROI + 자사 종합 실습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ROI 프레임워크·임원 보고 + 직무 프로토타입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ROI 계산 + 5단계 임원 보고서 + 6직무별 종합 프로토타입 시연·피드백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★ Ch.5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★ BIG WIN — 90일 로드맵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Phase 1~4 (PoC → 부서간 → 전사 → 지속)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1개월 PoC + 1개월 부서간 + 1개월 전사 + 90일+ 지속 = 회사 변화의 헌법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DAY 6 시간 배분 (8H)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Ch.1·2 회고+KPI 2H / Ch.3·4 ROI+실습 3H / ★ Ch.5 90일 로드맵 3H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5에 별표(★) — 본 과정 최종 BIG WIN — 자사 90일 로드맵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학습 흐름 — 회고 → KPI → ROI → 실습 → ★ 90일 로드맵 → 통합 비전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슬라이드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1 — 5일 학습 회고 (DAY 1~5 통합)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884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1 · 5일 회고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01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5일 학습 회고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5-Day Learning Review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"막연한 관심에서 데이터 자산화 리더로"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5일간 학습 종합 매트릭스 (DAY 1~5)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누적 산출물 5종 통합 (1+1+1+1+1 = 10+)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5일 전후 변화 — 이해 / 능력 / 산출물 / 영향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DAY 6 출발점 — 5일 자산화 → 자사 적용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💡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"산출물 0개 → 5개 시스템" → "전사 자산화 리더"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1~5 = 자산화 5단계 마스터 + 5종 시스템 = 회사 자산 운영의 헌법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204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8982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1.1 · 5일 학습 매트릭스 · 그림 6-1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Ch.1.1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5일간 학습 종합 매트릭스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DAY 1~5 통합 — 핵심 주제 + 마스터 능력 + BIG WIN 통합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DAY · 핵심 주제 + 능력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BIG WIN 산출물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1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데이터 자산화 개론 (DIKW·암묵지·SECI·5형태·진단)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4분면 매트릭스 (자산 인벤토리 진단표)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2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현장 데이터 수집 (스마트폰·5원칙·인터뷰)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1주일 수집 시스템 (Forms·인터뷰·정기 사이클)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3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OCR·STT 디지털화 (4기술·다국어·자동분류)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디지털화 자동 파이프라인 (5단계 + 6직무 적용)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4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구조화·표준화 (메타데이터·Taxonomy)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표준 분류 체계 (5 Layer 거버넌스)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5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데이터 품질 관리 (6차원·클린징·검수)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품질 관리 시스템 (5대 구성)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DAY 6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KPI·자사 적용 (오늘)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90일 로드맵 (★ 본 과정 최종 BIG WIN)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통합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5+1 = 6일 학습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회사 데이터 자산화의 운영 헌법 6 시스템 통합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5일간의 변화 — "막연한 관심" → "데이터 자산화 전문가" / "산출물 0개" → "5개 시스템"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이해
"데이터가 뭐지?"
→ DIKW 마스터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DAY 3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능력
"OCR이 뭐지?"
→ 4 기술 마스터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산출물
0개
→ 5종 시스템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DAY 6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영향
개인 학습
→ 전사 자산화 리더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통합 효과 — 1+1+1+1+1 = 10+ 시너지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5종 시스템 = 1종 통합 시스템 (회사 자산 운영의 헌법)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5일 학습 결과 = 1년 운영 영향 (1주 PoC + 1개월 부서간 + 90일+ 지속)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5일 학습 = 자산화 5단계 시스템 = 회사 변화의 출발점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DAY 6 = 자사 적용 + 90일 로드맵 = 변화의 첫 90일 가동 가능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5일 학습 핵심 정리 — 어디서 막혔는가?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막힌 단계가 자산화의 약점 — 그 단계가 PoC 우선 영역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5단계 모두 "체크" 가능하면 → DAY 6 90일 로드맵 진입 가능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5856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1.2 · 누적 산출물 5종 · 그림 6-2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Ch.1.2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5일간 누적 산출물 5종 통합도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1+1+1+1+1 = 10+ 시너지 — DAY 1~5 산출물의 통합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DAY 1 — 자산 인벤토리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4분면 진단표 (DIKW 위계별 식별) — 회사 자산의 출발점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DAY 2 — 1주일 수집 시스템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Forms·인터뷰·정기 사이클 — 비정형 데이터 자동 수집 인프라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DAY 3 — 디지털화 파이프라인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OCR·STT·영상·자동 분류 — 비정형 → 정형 자동 변환 시스템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DAY 4 — 표준 분류 체계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 Layer 거버넌스 (메타·분류·태그·라벨·운영) — 자산화 구조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DAY 5 — 품질 관리 시스템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6차원·검수·감사 — 자산 신뢰성의 인프라 (5대 구성)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DAY 6 — KPI·ROI 측정 + 90일 로드맵 (오늘)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5종 시스템 = 1개 통합 시스템 — 회사의 새로운 경쟁력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통합 효과 — 5개 시스템 = 1개 시너지 시스템 (1+1+1+1+1 = 10+)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DAY 6 = 통합 시스템 측정 + ROI 보고 + 90일 가동 로드맵 = 회사 변화의 출발점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🚀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통합 시너지 — 5단계 누적 산출물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한 산출물 부재 = 시너지 깨짐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5단계 모두 작동해야 진짜 자산화 — 단계 1개 빠지면 GIGO 또는 자동화 불가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통합 효과 점검 체크리스트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DAY 1 인벤토리 + DAY 2 수집 시스템 = 비정형 자료 매월 안정 입수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DAY 3+4+5 = 매월 수집 자료 → 5분 처리 → 검색 가능 자산 (운영 사이클)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5662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Ch.1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Ch.1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1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5일 학습 회고 — 이해·능력·산출물·영향 4 차원 변화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5일 학습 매트릭스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DAY 1~5 = 자산화 5단계 마스터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식별 → 수집 → 디지털화 → 구조화 → 품질 — 모든 단계 연결된 통합 사이클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5종 산출물 시너지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1+1+1+1+1 = 10+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5종 시스템 = 1개 통합 시스템 — 단일 산출물의 5배 이상 시너지 효과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5일 전후 변화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이해·능력·산출물·영향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막연한 관심 → 데이터 자산화 전문가 / 산출물 0개 → 5종 시스템 / 개인 학습 → 전사 리더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5일은 "학습 종착점"이 아니라 "자사 적용의 출발점"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DAY 6 = KPI 측정 + ROI 보고 + 90일 로드맵 = 자사 변화의 첫 가동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5일 회고 결과 + DAY 6 학습 준비 (4종 산출 목표)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2 — KPI 자산화 (4대 영역: 효율·효과·혁신·지속)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5764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2 · KPI ASSET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02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KPI 자산화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Data Asset KPI Framework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"측정할 수 없으면 관리할 수 없다 — 자산화 KPI 4대 영역"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KPI 자산화란? — 측정 = 관리 + 보고 + 진화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4대 KPI 영역 개관 — 효율·효과·혁신·지속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영역 1·2 — 효율성·효과성 (시간·정확도)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영역 3·4 — 혁신성·지속성 (신제품·생태계)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영역별 측정 방법 + KPI 대시보드 설계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측정 가능한 KPI = 임원 보고 가능 = 회사 자산 = 글로벌 경쟁력 측정 기준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208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1647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2.1 · KPI 자산화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KPI 자산화란? — 측정·관리·보고·진화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"측정할 수 없으면 관리할 수 없다" — Peter Drucker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측정 (Measure)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📊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정량화 가능한 KPI — 시간·비용·정확도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월간 자동 측정 + KPI 대시보드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정기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관리 (Manage)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🎯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목표 설정 + 미달 시 액션 — 트렌드 분석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Phase 1 PoC → KPI 측정 → 개선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사이클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보고 (Report)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💼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임원·부서장 보고 — 수치 + 정성 효과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분기 보고 + 연간 평가 + 외부 발표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표준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KPI 자산화 4 단계 — 측정 → 관리 → 보고 → 진화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활동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산출물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측정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월간 자동 측정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KPI 대시보드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2. 관리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목표 vs 실적 비교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개선 액션 plan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3. 보고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분기 임원 보고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1쪽 보고서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4. 진화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연간 KPI 재정의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회사 변화 측정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효과 — KPI 자산화 4 단계 = 회사 데이터 자산의 "건강 검진표"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측정 없는 자산화 = 검증 불가능 자산 = 임원 신뢰 X = 다음 투자 X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측정 가능 KPI = 임원 보고 가능 = 추가 투자 = 자산화 가속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측정할 수 없으면 관리할 수 없다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KPI = 자산화 진척의 객관 증거 — 회사 자산의 "GPS" 역할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209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0849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2.2 · 4대 KPI 영역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4대 KPI 영역 개관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효율성 · 효과성 · 혁신성 · 지속성 — 데이터 자산화의 4 차원 평가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효율성 (Efficiency) — 시간·비용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정비 이력 검색 30분 → 5초  ·  견적 작성 1시간 → 10분 — 시간·비용 절감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효과성 (Effectiveness) — 정확도·품질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정확도 70% → 95%  ·  의사결정 신속도 50%↑ — 결과 품질 향상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혁신성 (Innovation) — 신제품·서비스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 정비 어시스턴트 출시  ·  글로벌 다국어 매뉴얼 — 새로운 가치 창출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지속성 (Sustainability) — 생태계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베테랑 노하우 보존 (10년+)  ·  신입 학습 시간 50%↓ — 회사 영구 자산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4대 영역 통합 = 회사 데이터 자산의 종합 건강도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단일 영역만 좋으면 부분 자산화 — 4 영역 모두 충족 = 진짜 자산화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영역별 측정 빈도 — 매월 / 매월 / 분기 / 연간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효율·효과 = 매월 측정 (단기) / 혁신·지속 = 분기·연간 측정 (중장기)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측정 도구 — 자동 + 인간 + 외부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효율성 자동 / 효과성 자동+인간 / 혁신성 인간 / 지속성 인간+외부 검증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🌍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원칙 — 4 영역 균형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한 영역 부재 = 부분 자산화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효율만 추구 = 빠른 처리 → 정확도 X / 효과만 추구 = 느림 → 결국 부적합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KPI 영역 시작 우선순위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효율성 (시간 측정) — 가장 빠른 가시 효과 (1주 PoC)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효과성 (정확도) — AI 도구 활용 시 필수 (1개월 측정)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503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2.3 · 영역 1·2 · 효율·효과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KPI 영역 1·2 — 효율성·효과성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Before vs After — 시간·비용·정확도·품질 4 KPI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Before (자산화 전)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After (자산화 후)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정비 이력 검색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수동 검색 30분/건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5초 (자동 분류·태그) ★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견적 작성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유사 사례 찾기 1시간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10분 (Custom GPT)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회의록 작성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수동 정리 1시간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5분 (STT + 요약)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AI 정확도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70% (입력 품질 부실)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95% (품질 95%+ 보장)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의사결정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데이터 검증 1주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신속 결정 (즉시 자료)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신입 적응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베테랑 OJT 6개월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1~2개월 (학습 카드 자료)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합계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주간 30시간 비효율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5시간 처리 (83%↓)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효율성 = 시간·비용 / 효과성 = 정확도·품질 — 둘 다 중요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효율-시간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검색 30분 → 5초
견적 1H → 10분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효율-비용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1년 1,200H 절약
=인건비 6천만원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효과-AI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정확도 70%↑
→ 95%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효과-결정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검토 시간
50%↓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측정 빈도 — 효율성·효과성 = 매월 측정 (단기 KPI)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월간 자동 측정 → 트렌드 분석 → 부서별 비교 → 개선 액션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효율성은 자동 측정 가능 (시간 로그) / 효과성은 자동+인간 (정확도 검수)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효율 단독 추구 = 정확도 X / 효과 단독 추구 = 느림 — 둘 다 균형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효율 95% + 효과 95% = AI 정비 어시스턴트 = 시간 90%↓ + 정확도 95%+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측정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효율성 — 작업 1개당 시간 로그 (자동) → 평균 비교 (월 단위)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효과성 — 골든 데이터셋 100건과 AI 결과 비교 (월 단위)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1849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2.4 · 영역 3·4 · 혁신·지속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KPI 영역 3·4 — 혁신성·지속성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혁신: 신제품·서비스 / 지속: 회사 영구 자산 — 중장기 KPI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혁신성 (Innovation) — 데이터로 만든 새로운 가치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AI 정비 어시스턴트 출시 — 베테랑 노하우를 신입이 즉시 활용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글로벌 다국어 매뉴얼 — 한·영·인니·일·베트남어 동시 발행 (5개국)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Custom GPT 6 종 (부서별) — 부서별 도메인 어시스턴트 운영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★ 신제품·서비스 출시 = 혁신성 KPI (분기 1회 측정)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지속성 (Sustainability) — 회사 영구 자산 4 KPI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🌱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베테랑 노하우 보존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30년 베테랑 노하우 디지털화 — 10년+ 회사 자산화 (퇴직해도 보존)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👥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신입 학습 시간 단축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OJT 6개월 → 1~2개월 — 학습 카드·디지털 매뉴얼·AI 어시스턴트 활용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🌍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글로벌 협업 가속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다국어 매뉴얼·회의록 → 해외 법인 즉시 활용 (1주 → 즉시)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🔄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→ AI → 데이터 사이클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AI가 만든 데이터 → 다시 학습 자료 → AI 진화 (영구 자산 사이클)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측정 빈도 — 혁신성·지속성 = 분기·연간 측정 (중장기 KPI)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혁신성 — 분기마다 "신제품·서비스 출시" 카운트 + 가치 평가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지속성 — 연간 "베테랑 노하우 보존율" + "신입 적응 시간" 측정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외부 검증 — 연간 1회 외부 컨설팅·벤치마킹 (객관성 확보)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4 영역 통합 = 회사 데이터 자산 종합 평가 + 글로벌 경쟁력 측정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효율·효과 (단기) + 혁신·지속 (중장기) = 균형 잡힌 자산화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단기 KPI만 추구 = 빠른 보여주기 / 중장기 KPI 추가 = 회사 영구 자산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218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2.5 · 영역별 측정 방법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Ch.2.5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영역별 측정 방법 — 4대 KPI 측정 표준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공식 + 도구 + 빈도 + 자동화 — 측정 표준화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효율성 (자동 측정)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⏱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공식: 작업 시간 / 작업 횟수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도구: 시간 로그 자동 (BI 대시보드)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월간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효과성 (자동+인간)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🎯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공식: 정확 결과 / 전체 결과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도구: 골든 데이터셋 (100건 비교)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월간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혁신·지속 (인간·외부)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🌱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공식: 신규 산출물 카운트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도구: 임원 평가 + 외부 검증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분기·연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4대 영역 측정 표준 — 공식 + 도구 + 빈도 + 자동화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공식 + 도구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빈도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효율성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시간/횟수 — 시간 로그 자동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월간 (★ 자동)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효과성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정확/전체 — 골든 셋 비교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월간 (자동+인간)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혁신성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신규 산출물 — 임원 평가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분기 (인간 주도)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지속성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보존율·적응시간 — 외부 검증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연간 (외부)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월간 KPI 대시보드 예시 (PoC 1개월차)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효율성: 작업 시간 30분 → 5분 (83%↓) / 효과성: AI 정확도 70% → 92%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혁신성: 신규 Custom GPT 1종 출시 / 지속성: 베테랑 노하우 디지털 5건 보존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측정 표준화 = 매월 1H 작업 + 자동화 가능 영역 활용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효율·효과 자동 측정 + 혁신·지속 인간 평가 + 연간 외부 검증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82943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Ch.2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Ch.2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2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KPI 자산화 — 4대 영역 + 측정·관리·보고·진화 사이클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4대 KPI 영역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효율·효과·혁신·지속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단기(효율·효과 매월) + 중장기(혁신·지속 분기·연) — 균형 잡힌 측정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측정 표준화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공식·도구·빈도·자동화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효율 자동 / 효과 자동+인간 / 혁신 인간 / 지속 외부 검증 — 영역별 차등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관리·보고·진화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KPI 대시보드 → 임원 보고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월간 측정 + 분기 보고 + 연간 KPI 재정의 — 살아있는 자산화 사이클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측정할 수 없으면 관리할 수 없다 — Peter Drucker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KPI 자산화 = 회사 데이터 자산의 "GPS" — 객관 증거 + 임원 신뢰 + 추가 투자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부서 4대 KPI 측정표 + 월간 대시보드 설계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3 — ROI 계산 + 임원 보고 5단계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05719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3 · ROI · REPORT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03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ROI · 임원 보고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ROI Calculation · Executive Reporting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"수치는 임원의 언어 — ROI = 추가 투자의 열쇠"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ROI 계산 프레임워크 — 비용·효과·기간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부서별 ROI 사례 (A/S·영업·전사)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임원 보고 5단계 구성 — 1쪽 압축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발표 시연 가이드 — 임원 질문 대응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ROI 4배 검증 + 추가 투자 확보 = 자산화 가속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ROI 4배+ + 임원 1쪽 보고 = 추가 투자 확보 = 자산화 90일 → 2년 가속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215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09447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3.1 · ROI 프레임워크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ROI 계산 프레임워크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공식 + 비용 항목 + 효과 항목 + 기간 = ROI 4배+ 검증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비용 (Investment)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효과 (Return)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교육 비용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1명 × 6일 × 8H = 48H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—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도구 비용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GPT·Claude·Notion 연 240만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—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검수 인력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1명 × 50% = 3,000만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—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효율성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1년 1,200H 절약 (6,000만)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효과성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AI 정확도 95%+ → 의사결정 신속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혁신성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—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AI 어시스턴트·다국어 매뉴얼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합계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3,200만 원 / 년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12,000만 원+ / 년 (4배)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ROI 공식 — (효과 - 비용) / 비용 × 100% = (12,000-3,200)/3,200 × 100% = 275%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ROI 1년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275%
(약 4배)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Payback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3.2개월
(년 12개월 / 4)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5년 누적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100억 원
(연복리 효과)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정성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측정 불가
경쟁력 + 신뢰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1:10:100 법칙 + 효과 가속화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현장 발견 1원 / 디지털화 후 10원 / 운영 단계 100원 — 빨리 발견할수록 비용↓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PoC 1개월 → 부서간 1개월 → 전사 1개월 → 90일+ 지속 = 가속화 효과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ROI 4배+ = 임원 신뢰 확보 = 추가 투자 확보 = 자산화 가속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정량 ROI + 정성 효과(경쟁력·신뢰·문화) = 종합 평가 — 정성이 더 큼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ROI 계산 시작 가이드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비용 항목 — 교육·도구·인력 (1년 기준 합계)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효과 항목 — 효율(시간)·효과(정확도)·혁신(신제품) — 정량 가능 영역만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37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3.1 · KPI 자산화 4대 영역 · 그림 6-3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900" b="1" dirty="0">
                <a:solidFill>
                  <a:srgbClr val="2C2C2C"/>
                </a:solidFill>
              </a:rPr>
              <a:t>[그림 6-3] KPI 자산화 4대 영역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6B6B6B"/>
                </a:solidFill>
              </a:rPr>
              <a:t>— 단기 효과 (효율·효과) + 장기 효과 (혁신·지속) —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1" name="QuadBox1001"/>
          <p:cNvSpPr/>
          <p:nvPr/>
        </p:nvSpPr>
        <p:spPr>
          <a:xfrm>
            <a:off x="546100" y="2159000"/>
            <a:ext cx="3111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C52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2" name="Badge1001"/>
          <p:cNvSpPr/>
          <p:nvPr/>
        </p:nvSpPr>
        <p:spPr>
          <a:xfrm>
            <a:off x="698500" y="2311400"/>
            <a:ext cx="228600" cy="22860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03" name="Title1001"/>
          <p:cNvSpPr/>
          <p:nvPr/>
        </p:nvSpPr>
        <p:spPr>
          <a:xfrm>
            <a:off x="1028700" y="2286000"/>
            <a:ext cx="2476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500" b="1" dirty="0">
                <a:solidFill>
                  <a:srgbClr val="2C2C2C"/>
                </a:solidFill>
              </a:rPr>
              <a:t>효율성</a:t>
            </a:r>
          </a:p>
        </p:txBody>
      </p:sp>
      <p:sp>
        <p:nvSpPr>
          <p:cNvPr id="1004" name="EN1001"/>
          <p:cNvSpPr/>
          <p:nvPr/>
        </p:nvSpPr>
        <p:spPr>
          <a:xfrm>
            <a:off x="1028700" y="2565400"/>
            <a:ext cx="2476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100" dirty="0">
                <a:solidFill>
                  <a:srgbClr val="2C5282"/>
                </a:solidFill>
              </a:rPr>
              <a:t>Efficiency (단기)</a:t>
            </a:r>
          </a:p>
        </p:txBody>
      </p:sp>
      <p:sp>
        <p:nvSpPr>
          <p:cNvPr id="1005" name="Div1001"/>
          <p:cNvSpPr/>
          <p:nvPr/>
        </p:nvSpPr>
        <p:spPr>
          <a:xfrm>
            <a:off x="800100" y="2870200"/>
            <a:ext cx="26035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6" name="Body1001"/>
          <p:cNvSpPr/>
          <p:nvPr/>
        </p:nvSpPr>
        <p:spPr>
          <a:xfrm>
            <a:off x="673100" y="30480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시간 절약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(작업당 분/건)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환산: 시급 × 빈도</a:t>
            </a:r>
          </a:p>
        </p:txBody>
      </p:sp>
      <p:sp>
        <p:nvSpPr>
          <p:cNvPr id="1011" name="QuadBox1011"/>
          <p:cNvSpPr/>
          <p:nvPr/>
        </p:nvSpPr>
        <p:spPr>
          <a:xfrm>
            <a:off x="3911600" y="2159000"/>
            <a:ext cx="3111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7B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2" name="Badge1011"/>
          <p:cNvSpPr/>
          <p:nvPr/>
        </p:nvSpPr>
        <p:spPr>
          <a:xfrm>
            <a:off x="4064000" y="2311400"/>
            <a:ext cx="228600" cy="2286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13" name="Title1011"/>
          <p:cNvSpPr/>
          <p:nvPr/>
        </p:nvSpPr>
        <p:spPr>
          <a:xfrm>
            <a:off x="4394200" y="2286000"/>
            <a:ext cx="2476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500" b="1" dirty="0">
                <a:solidFill>
                  <a:srgbClr val="2C2C2C"/>
                </a:solidFill>
              </a:rPr>
              <a:t>효과성</a:t>
            </a:r>
          </a:p>
        </p:txBody>
      </p:sp>
      <p:sp>
        <p:nvSpPr>
          <p:cNvPr id="1014" name="EN1011"/>
          <p:cNvSpPr/>
          <p:nvPr/>
        </p:nvSpPr>
        <p:spPr>
          <a:xfrm>
            <a:off x="4394200" y="2565400"/>
            <a:ext cx="2476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100" dirty="0">
                <a:solidFill>
                  <a:srgbClr val="E07B39"/>
                </a:solidFill>
              </a:rPr>
              <a:t>Effectiveness (단기)</a:t>
            </a:r>
          </a:p>
        </p:txBody>
      </p:sp>
      <p:sp>
        <p:nvSpPr>
          <p:cNvPr id="1015" name="Div1011"/>
          <p:cNvSpPr/>
          <p:nvPr/>
        </p:nvSpPr>
        <p:spPr>
          <a:xfrm>
            <a:off x="4165600" y="2870200"/>
            <a:ext cx="26035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6" name="Body1011"/>
          <p:cNvSpPr/>
          <p:nvPr/>
        </p:nvSpPr>
        <p:spPr>
          <a:xfrm>
            <a:off x="4038600" y="30480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품질 향상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(정확도 · 일관성)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환산: 오류 회피</a:t>
            </a:r>
          </a:p>
        </p:txBody>
      </p:sp>
      <p:sp>
        <p:nvSpPr>
          <p:cNvPr id="1021" name="QuadBox1021"/>
          <p:cNvSpPr/>
          <p:nvPr/>
        </p:nvSpPr>
        <p:spPr>
          <a:xfrm>
            <a:off x="546100" y="4445000"/>
            <a:ext cx="3111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7C3A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2" name="Badge1021"/>
          <p:cNvSpPr/>
          <p:nvPr/>
        </p:nvSpPr>
        <p:spPr>
          <a:xfrm>
            <a:off x="698500" y="459740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23" name="Title1021"/>
          <p:cNvSpPr/>
          <p:nvPr/>
        </p:nvSpPr>
        <p:spPr>
          <a:xfrm>
            <a:off x="1028700" y="4572000"/>
            <a:ext cx="2476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500" b="1" dirty="0">
                <a:solidFill>
                  <a:srgbClr val="2C2C2C"/>
                </a:solidFill>
              </a:rPr>
              <a:t>지속성</a:t>
            </a:r>
          </a:p>
        </p:txBody>
      </p:sp>
      <p:sp>
        <p:nvSpPr>
          <p:cNvPr id="1024" name="EN1021"/>
          <p:cNvSpPr/>
          <p:nvPr/>
        </p:nvSpPr>
        <p:spPr>
          <a:xfrm>
            <a:off x="1028700" y="4851400"/>
            <a:ext cx="2476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Sustainability (장기)</a:t>
            </a:r>
          </a:p>
        </p:txBody>
      </p:sp>
      <p:sp>
        <p:nvSpPr>
          <p:cNvPr id="1025" name="Div1021"/>
          <p:cNvSpPr/>
          <p:nvPr/>
        </p:nvSpPr>
        <p:spPr>
          <a:xfrm>
            <a:off x="800100" y="5156200"/>
            <a:ext cx="26035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6" name="Body1021"/>
          <p:cNvSpPr/>
          <p:nvPr/>
        </p:nvSpPr>
        <p:spPr>
          <a:xfrm>
            <a:off x="673100" y="53340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직원 · 조직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(AI 활용 · 만족)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환산: 이직률 · 교육</a:t>
            </a:r>
          </a:p>
        </p:txBody>
      </p:sp>
      <p:sp>
        <p:nvSpPr>
          <p:cNvPr id="1031" name="QuadBox1031"/>
          <p:cNvSpPr/>
          <p:nvPr/>
        </p:nvSpPr>
        <p:spPr>
          <a:xfrm>
            <a:off x="3911600" y="4445000"/>
            <a:ext cx="3111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6A3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2" name="Badge1031"/>
          <p:cNvSpPr/>
          <p:nvPr/>
        </p:nvSpPr>
        <p:spPr>
          <a:xfrm>
            <a:off x="4064000" y="459740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33" name="Title1031"/>
          <p:cNvSpPr/>
          <p:nvPr/>
        </p:nvSpPr>
        <p:spPr>
          <a:xfrm>
            <a:off x="4394200" y="4572000"/>
            <a:ext cx="2476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500" b="1" dirty="0">
                <a:solidFill>
                  <a:srgbClr val="2C2C2C"/>
                </a:solidFill>
              </a:rPr>
              <a:t>혁신성</a:t>
            </a:r>
          </a:p>
        </p:txBody>
      </p:sp>
      <p:sp>
        <p:nvSpPr>
          <p:cNvPr id="1034" name="EN1031"/>
          <p:cNvSpPr/>
          <p:nvPr/>
        </p:nvSpPr>
        <p:spPr>
          <a:xfrm>
            <a:off x="4394200" y="4851400"/>
            <a:ext cx="24765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buNone/>
            </a:pPr>
            <a:r>
              <a:rPr lang="en-US" sz="1100" dirty="0">
                <a:solidFill>
                  <a:srgbClr val="16A34A"/>
                </a:solidFill>
              </a:rPr>
              <a:t>Innovation (장기)</a:t>
            </a:r>
          </a:p>
        </p:txBody>
      </p:sp>
      <p:sp>
        <p:nvSpPr>
          <p:cNvPr id="1035" name="Div1031"/>
          <p:cNvSpPr/>
          <p:nvPr/>
        </p:nvSpPr>
        <p:spPr>
          <a:xfrm>
            <a:off x="4165600" y="5156200"/>
            <a:ext cx="260350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6" name="Body1031"/>
          <p:cNvSpPr/>
          <p:nvPr/>
        </p:nvSpPr>
        <p:spPr>
          <a:xfrm>
            <a:off x="4038600" y="53340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신규 역량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(이전 불가)</a:t>
            </a:r>
          </a:p>
          <a:p>
            <a:pPr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환산: 신규 시장 · 고객</a:t>
            </a:r>
          </a:p>
        </p:txBody>
      </p:sp>
      <p:sp>
        <p:nvSpPr>
          <p:cNvPr id="1041" name="CenterCircle"/>
          <p:cNvSpPr/>
          <p:nvPr/>
        </p:nvSpPr>
        <p:spPr>
          <a:xfrm>
            <a:off x="3505200" y="4064000"/>
            <a:ext cx="558800" cy="558800"/>
          </a:xfrm>
          <a:prstGeom prst="ellipse">
            <a:avLst/>
          </a:prstGeom>
          <a:solidFill>
            <a:srgbClr val="E07B39"/>
          </a:solidFill>
          <a:ln w="22225">
            <a:solidFill>
              <a:srgbClr val="FFFFF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4대</a:t>
            </a:r>
          </a:p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1051" name="PrincipleBox"/>
          <p:cNvSpPr/>
          <p:nvPr/>
        </p:nvSpPr>
        <p:spPr>
          <a:xfrm>
            <a:off x="546100" y="6921500"/>
            <a:ext cx="6477000" cy="9525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5875">
            <a:solidFill>
              <a:srgbClr val="E07B3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2" name="PrincipleTitle"/>
          <p:cNvSpPr/>
          <p:nvPr/>
        </p:nvSpPr>
        <p:spPr>
          <a:xfrm>
            <a:off x="546100" y="7048500"/>
            <a:ext cx="6477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E07B39"/>
                </a:solidFill>
              </a:rPr>
              <a:t>핵심 원칙</a:t>
            </a:r>
          </a:p>
        </p:txBody>
      </p:sp>
      <p:sp>
        <p:nvSpPr>
          <p:cNvPr id="1053" name="PrincipleBody"/>
          <p:cNvSpPr/>
          <p:nvPr/>
        </p:nvSpPr>
        <p:spPr>
          <a:xfrm>
            <a:off x="546100" y="7429500"/>
            <a:ext cx="64770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400" b="1" dirty="0">
                <a:solidFill>
                  <a:srgbClr val="2C2C2C"/>
                </a:solidFill>
              </a:rPr>
              <a:t>단기 ROI만 보면 지속 X — 4대 영역 균형 측정 = 진짜 ROI</a:t>
            </a:r>
          </a:p>
        </p:txBody>
      </p:sp>
    </p:spTree>
    <p:extLst>
      <p:ext uri="{BB962C8B-B14F-4D97-AF65-F5344CB8AC3E}">
        <p14:creationId xmlns:p14="http://schemas.microsoft.com/office/powerpoint/2010/main" val="410806982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00" b="1" spc="300" dirty="0">
                <a:solidFill>
                  <a:srgbClr val="FFFFFF"/>
                </a:solidFill>
              </a:rPr>
              <a:t>PART 06 · 3.1 · ROI 계산 프레임워크 · 그림 6-4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900" b="1" dirty="0">
                <a:solidFill>
                  <a:srgbClr val="2C2C2C"/>
                </a:solidFill>
              </a:rPr>
              <a:t>[그림 6-4] ROI 계산 프레임워크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100" dirty="0">
                <a:solidFill>
                  <a:srgbClr val="6B6B6B"/>
                </a:solidFill>
              </a:rPr>
              <a:t>— ROI = (수익 - 투자) / 투자 × 100% —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S300"/>
          <p:cNvSpPr/>
          <p:nvPr/>
        </p:nvSpPr>
        <p:spPr>
          <a:xfrm>
            <a:off x="889000" y="1968500"/>
            <a:ext cx="5778500" cy="889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1" name="T301"/>
          <p:cNvSpPr txBox="1"/>
          <p:nvPr/>
        </p:nvSpPr>
        <p:spPr>
          <a:xfrm>
            <a:off x="1016000" y="2057400"/>
            <a:ext cx="5524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</a:rPr>
              <a:t>ROI = (수익 - 투자) / 투자 × 100%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1016000" y="2476500"/>
            <a:ext cx="5524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dirty="0">
                <a:solidFill>
                  <a:srgbClr val="D6E4F0"/>
                </a:solidFill>
              </a:rPr>
              <a:t>데이터 자산화 ROI: 수익(절약+회피+신규) ÷ 투자(도구+인력+시간)</a:t>
            </a:r>
          </a:p>
        </p:txBody>
      </p:sp>
      <p:sp>
        <p:nvSpPr>
          <p:cNvPr id="303" name="S303"/>
          <p:cNvSpPr/>
          <p:nvPr/>
        </p:nvSpPr>
        <p:spPr>
          <a:xfrm>
            <a:off x="889000" y="3111500"/>
            <a:ext cx="27940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4" name="S304"/>
          <p:cNvSpPr/>
          <p:nvPr/>
        </p:nvSpPr>
        <p:spPr>
          <a:xfrm>
            <a:off x="889000" y="3111500"/>
            <a:ext cx="2794000" cy="330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5" name="T305"/>
          <p:cNvSpPr txBox="1"/>
          <p:nvPr/>
        </p:nvSpPr>
        <p:spPr>
          <a:xfrm>
            <a:off x="889000" y="31369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</a:rPr>
              <a:t>수익 (Revenue)</a:t>
            </a:r>
          </a:p>
        </p:txBody>
      </p:sp>
      <p:sp>
        <p:nvSpPr>
          <p:cNvPr id="306" name="S306"/>
          <p:cNvSpPr/>
          <p:nvPr/>
        </p:nvSpPr>
        <p:spPr>
          <a:xfrm>
            <a:off x="3873500" y="3111500"/>
            <a:ext cx="27940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B39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7" name="S307"/>
          <p:cNvSpPr/>
          <p:nvPr/>
        </p:nvSpPr>
        <p:spPr>
          <a:xfrm>
            <a:off x="3873500" y="3111500"/>
            <a:ext cx="2794000" cy="330200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8" name="T308"/>
          <p:cNvSpPr txBox="1"/>
          <p:nvPr/>
        </p:nvSpPr>
        <p:spPr>
          <a:xfrm>
            <a:off x="3873500" y="31369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200" b="1" dirty="0">
                <a:solidFill>
                  <a:srgbClr val="FFFFFF"/>
                </a:solidFill>
              </a:rPr>
              <a:t>투자 (Investment)</a:t>
            </a:r>
          </a:p>
        </p:txBody>
      </p:sp>
      <p:sp>
        <p:nvSpPr>
          <p:cNvPr id="309" name="B309"/>
          <p:cNvSpPr/>
          <p:nvPr/>
        </p:nvSpPr>
        <p:spPr>
          <a:xfrm>
            <a:off x="1041400" y="3619500"/>
            <a:ext cx="203200" cy="203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1320800" y="3606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절약 비용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시간 절약 × 시급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인력 절감·자동화</a:t>
            </a:r>
          </a:p>
        </p:txBody>
      </p:sp>
      <p:sp>
        <p:nvSpPr>
          <p:cNvPr id="311" name="B311"/>
          <p:cNvSpPr/>
          <p:nvPr/>
        </p:nvSpPr>
        <p:spPr>
          <a:xfrm>
            <a:off x="1041400" y="4508500"/>
            <a:ext cx="203200" cy="203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1320800" y="4495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회피 비용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오류 회피·재작업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의사결정 실패 회피</a:t>
            </a:r>
          </a:p>
        </p:txBody>
      </p:sp>
      <p:sp>
        <p:nvSpPr>
          <p:cNvPr id="313" name="B313"/>
          <p:cNvSpPr/>
          <p:nvPr/>
        </p:nvSpPr>
        <p:spPr>
          <a:xfrm>
            <a:off x="1041400" y="5397500"/>
            <a:ext cx="203200" cy="2032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1320800" y="5384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신규 가치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신규 시장·고객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신사업·학습 효과</a:t>
            </a:r>
          </a:p>
        </p:txBody>
      </p:sp>
      <p:sp>
        <p:nvSpPr>
          <p:cNvPr id="315" name="B315"/>
          <p:cNvSpPr/>
          <p:nvPr/>
        </p:nvSpPr>
        <p:spPr>
          <a:xfrm>
            <a:off x="4025900" y="3619500"/>
            <a:ext cx="203200" cy="203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4305300" y="3606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도구 비용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AI 도구 (Plus·Pro)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인프라 (BI·DB)</a:t>
            </a:r>
          </a:p>
        </p:txBody>
      </p:sp>
      <p:sp>
        <p:nvSpPr>
          <p:cNvPr id="317" name="B317"/>
          <p:cNvSpPr/>
          <p:nvPr/>
        </p:nvSpPr>
        <p:spPr>
          <a:xfrm>
            <a:off x="4025900" y="4508500"/>
            <a:ext cx="203200" cy="203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4305300" y="4495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인력 비용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책임자·챔피언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검수 인력</a:t>
            </a:r>
          </a:p>
        </p:txBody>
      </p:sp>
      <p:sp>
        <p:nvSpPr>
          <p:cNvPr id="319" name="B319"/>
          <p:cNvSpPr/>
          <p:nvPr/>
        </p:nvSpPr>
        <p:spPr>
          <a:xfrm>
            <a:off x="4025900" y="5397500"/>
            <a:ext cx="203200" cy="20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4305300" y="5384800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ko-KR" sz="1100" b="1" dirty="0">
                <a:solidFill>
                  <a:srgbClr val="2C2C2C"/>
                </a:solidFill>
              </a:rPr>
              <a:t>시간 비용</a:t>
            </a:r>
          </a:p>
          <a:p>
            <a:pPr>
              <a:lnSpc>
                <a:spcPts val="1200"/>
              </a:lnSpc>
              <a:spcBef>
                <a:spcPts val="200"/>
              </a:spcBef>
              <a:buNone/>
            </a:pPr>
            <a:r>
              <a:rPr lang="ko-KR" sz="950" dirty="0">
                <a:solidFill>
                  <a:srgbClr val="4A4A4A"/>
                </a:solidFill>
              </a:rPr>
              <a:t>학습·교육 시간</a:t>
            </a:r>
          </a:p>
          <a:p>
            <a:pPr>
              <a:lnSpc>
                <a:spcPts val="1200"/>
              </a:lnSpc>
              <a:buNone/>
            </a:pPr>
            <a:r>
              <a:rPr lang="ko-KR" sz="950" dirty="0">
                <a:solidFill>
                  <a:srgbClr val="4A4A4A"/>
                </a:solidFill>
              </a:rPr>
              <a:t>시스템 구축</a:t>
            </a:r>
          </a:p>
        </p:txBody>
      </p:sp>
      <p:sp>
        <p:nvSpPr>
          <p:cNvPr id="321" name="S321"/>
          <p:cNvSpPr/>
          <p:nvPr/>
        </p:nvSpPr>
        <p:spPr>
          <a:xfrm>
            <a:off x="889000" y="6477000"/>
            <a:ext cx="5778500" cy="1524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07B39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2" name="T322"/>
          <p:cNvSpPr txBox="1"/>
          <p:nvPr/>
        </p:nvSpPr>
        <p:spPr>
          <a:xfrm>
            <a:off x="889000" y="66040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E07B39"/>
                </a:solidFill>
              </a:rPr>
              <a:t>ROI 계산 예시 (1년, 100명 회사)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1016000" y="69596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16A34A"/>
                </a:solidFill>
              </a:rPr>
              <a:t>수익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1016000" y="72136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dirty="0">
                <a:solidFill>
                  <a:srgbClr val="2C2C2C"/>
                </a:solidFill>
              </a:rPr>
              <a:t>시간 50억 + 회피 5억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1016000" y="74676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</a:rPr>
              <a:t>+ 신규 10억 = 65억</a:t>
            </a:r>
          </a:p>
        </p:txBody>
      </p:sp>
      <p:sp>
        <p:nvSpPr>
          <p:cNvPr id="326" name="T326"/>
          <p:cNvSpPr txBox="1"/>
          <p:nvPr/>
        </p:nvSpPr>
        <p:spPr>
          <a:xfrm>
            <a:off x="2857500" y="6959600"/>
            <a:ext cx="1841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E07B39"/>
                </a:solidFill>
              </a:rPr>
              <a:t>ROI</a:t>
            </a:r>
          </a:p>
        </p:txBody>
      </p:sp>
      <p:sp>
        <p:nvSpPr>
          <p:cNvPr id="327" name="T327"/>
          <p:cNvSpPr txBox="1"/>
          <p:nvPr/>
        </p:nvSpPr>
        <p:spPr>
          <a:xfrm>
            <a:off x="2857500" y="7213600"/>
            <a:ext cx="1841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400" b="1" dirty="0">
                <a:solidFill>
                  <a:srgbClr val="E07B39"/>
                </a:solidFill>
              </a:rPr>
              <a:t>★ 712%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4762500" y="6959600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E07B39"/>
                </a:solidFill>
              </a:rPr>
              <a:t>투자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4762500" y="72136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dirty="0">
                <a:solidFill>
                  <a:srgbClr val="2C2C2C"/>
                </a:solidFill>
              </a:rPr>
              <a:t>도구 1억 + 인력 5억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4762500" y="74676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2C2C2C"/>
                </a:solidFill>
              </a:rPr>
              <a:t>+ 시간 2억 = 8억</a:t>
            </a:r>
          </a:p>
        </p:txBody>
      </p:sp>
    </p:spTree>
    <p:extLst>
      <p:ext uri="{BB962C8B-B14F-4D97-AF65-F5344CB8AC3E}">
        <p14:creationId xmlns:p14="http://schemas.microsoft.com/office/powerpoint/2010/main" val="416163007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3.2 · 부서별 ROI 사례 · 그림 6-5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부서별 ROI 사례 (3개월 PoC)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A/S 8천만 / 영업 1.2억 / 전사 분기 5억 — 100명 회사 기준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A/S 부서 (10명)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🔧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정비 이력 60% → 92% 품질 / 검수 시간 40%↓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ROI 약 8,000만 원 (3개월) → 연환산 3.2억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8천만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영업 부서 (15명)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💼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견적 일관성 65% → 95% / 작성 시간 30%↓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ROI 약 1.2억 원 (3개월) → 연환산 4.8억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1.2억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전사 (100명)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🏢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평균 품질 70% → 90%+ / 의사결정 신속화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ROI 분기 5억 → 연간 약 20억 원 절감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5억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부서별 ROI 비교 (3개월 PoC)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부서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효과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ROI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A/S (10명)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정비 60% → 92%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8,000만 원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영업 (15명)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견적 65% → 95%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1.2억 원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기술문서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매뉴얼 1주 → 1H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약 1억 원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★ 전사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평균 70% → 90%+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분기 5억 원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연간 누적 ROI — 전사 100명 기준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분기 5억 × 4 = 연간 약 20억 원 절감 (1년 1차) / 5년 누적 = 약 100억 원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1원 투자 → 4원 절감 (1년) → 5년 누적 = 100억 원 영향 (복리 효과 더 큼)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ROI 검증 = PoC 부서 1개로 충분 (3개월) → 임원 보고 → 전사 확산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PoC 부서 = A/S 또는 영업 (KPI 측정 쉬운 부서) — 가장 빠른 ROI 검증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219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4680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3.3 · 임원 보고 5단계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임원 보고 5단계 구성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1쪽 보고서 — 문제 → 해결 → ROI → 로드맵 → 요청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문제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Problem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현재 상황·비효율
수치 + 비용
3 줄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해결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Solution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데이터 자산화
5단계 시스템
3 줄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ROI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Return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비용 vs 효과
4배 ROI 검증
표 1개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로드맵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Roadmap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90일 4 Phase
핵심 마일스톤
타임라인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요청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Ask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예산 + 인력
+ 임원 후원
3 줄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임원 보고 3 원칙 — 1쪽 + 수치 + 명확한 요청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1쪽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임원은 1쪽 이상 안 읽음 — 핵심만 압축 (5단계 1쪽 일치)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수치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정성 X 정량 — 시간·비용·ROI 수치 ("4배", "3.2개월 Payback")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요청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명확한 의사결정 요구 — "승인"·"예산"·"인력" 명시 (모호 X)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1쪽 보고서 본문 — 5 단계 구체 작성 가이드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1. 문제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현장: 정비 이력 검색 30분/건 × 100명 = 주간 50시간 비효율 = 2,500만/년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2. 해결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데이터 자산화 5단계 (식별·수집·디지털화·구조화·품질) — VOL.02 6일 학습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3. ROI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비용 3,200만 / 효과 12,000만 → ROI 275% (4배) / Payback 3.2개월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4·5. 로드맵·요청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90일 4 Phase + 임원 후원·1명 챔피언·예산 200만 도구 비용 — 의사결정 요청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보고 후 임원 5 질문 — 사전 준비 필수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비용?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ROI?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리스크?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타이밍?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예시?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확장?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핵심 — 임원 보고는 "승인 받기"가 아니라 "임원의 의사결정 지원"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220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9990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00" b="1" spc="300" dirty="0">
                <a:solidFill>
                  <a:srgbClr val="FFFFFF"/>
                </a:solidFill>
              </a:rPr>
              <a:t>PART 06 · 3.3 · 임원 보고 5단계 · 그림 6-6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900" b="1" dirty="0">
                <a:solidFill>
                  <a:srgbClr val="2C2C2C"/>
                </a:solidFill>
              </a:rPr>
              <a:t>[그림 6-6] 임원 보고 5단계 구성 (15분 발표)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100" dirty="0">
                <a:solidFill>
                  <a:srgbClr val="6B6B6B"/>
                </a:solidFill>
              </a:rPr>
              <a:t>— 15분 발표 = 임팩트 + 실행력 —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90일 4 Phase + 임원 후원·1명 챔피언·예산 200만 도구 비용 — 의사결정 요청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보고 후 임원 5 질문 — 사전 준비 필수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비용?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ROI?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리스크?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타이밍?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예시?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확장?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핵심 — 임원 보고는 "승인 받기"가 아니라 "임원의 의사결정 지원"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S300"/>
          <p:cNvSpPr/>
          <p:nvPr/>
        </p:nvSpPr>
        <p:spPr>
          <a:xfrm>
            <a:off x="1117600" y="2095500"/>
            <a:ext cx="711200" cy="279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1" name="T301"/>
          <p:cNvSpPr txBox="1"/>
          <p:nvPr/>
        </p:nvSpPr>
        <p:spPr>
          <a:xfrm>
            <a:off x="1117600" y="2095500"/>
            <a:ext cx="711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1분</a:t>
            </a:r>
          </a:p>
        </p:txBody>
      </p:sp>
      <p:sp>
        <p:nvSpPr>
          <p:cNvPr id="302" name="S302"/>
          <p:cNvSpPr/>
          <p:nvPr/>
        </p:nvSpPr>
        <p:spPr>
          <a:xfrm>
            <a:off x="1219200" y="2476500"/>
            <a:ext cx="508000" cy="508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3" name="T303"/>
          <p:cNvSpPr txBox="1"/>
          <p:nvPr/>
        </p:nvSpPr>
        <p:spPr>
          <a:xfrm>
            <a:off x="1219200" y="24765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889000" y="3175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1E3A5F"/>
                </a:solidFill>
              </a:rPr>
              <a:t>도전 과제</a:t>
            </a:r>
          </a:p>
        </p:txBody>
      </p:sp>
      <p:sp>
        <p:nvSpPr>
          <p:cNvPr id="305" name="S305"/>
          <p:cNvSpPr/>
          <p:nvPr/>
        </p:nvSpPr>
        <p:spPr>
          <a:xfrm>
            <a:off x="889000" y="3683000"/>
            <a:ext cx="1168400" cy="1651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6" name="T306"/>
          <p:cNvSpPr txBox="1"/>
          <p:nvPr/>
        </p:nvSpPr>
        <p:spPr>
          <a:xfrm>
            <a:off x="952500" y="3810000"/>
            <a:ext cx="1041400" cy="139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"데이터 자산 70%가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사용 X"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베테랑 은퇴·경쟁사 격차</a:t>
            </a:r>
          </a:p>
        </p:txBody>
      </p:sp>
      <p:sp>
        <p:nvSpPr>
          <p:cNvPr id="307" name="S307"/>
          <p:cNvSpPr/>
          <p:nvPr/>
        </p:nvSpPr>
        <p:spPr>
          <a:xfrm>
            <a:off x="2438400" y="2095500"/>
            <a:ext cx="711200" cy="279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8" name="T308"/>
          <p:cNvSpPr txBox="1"/>
          <p:nvPr/>
        </p:nvSpPr>
        <p:spPr>
          <a:xfrm>
            <a:off x="2438400" y="2095500"/>
            <a:ext cx="711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2분</a:t>
            </a:r>
          </a:p>
        </p:txBody>
      </p:sp>
      <p:sp>
        <p:nvSpPr>
          <p:cNvPr id="309" name="S309"/>
          <p:cNvSpPr/>
          <p:nvPr/>
        </p:nvSpPr>
        <p:spPr>
          <a:xfrm>
            <a:off x="2540000" y="2476500"/>
            <a:ext cx="508000" cy="508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0" name="T310"/>
          <p:cNvSpPr txBox="1"/>
          <p:nvPr/>
        </p:nvSpPr>
        <p:spPr>
          <a:xfrm>
            <a:off x="2540000" y="24765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2209800" y="3175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3B82F6"/>
                </a:solidFill>
              </a:rPr>
              <a:t>솔루션</a:t>
            </a:r>
          </a:p>
        </p:txBody>
      </p:sp>
      <p:sp>
        <p:nvSpPr>
          <p:cNvPr id="312" name="S312"/>
          <p:cNvSpPr/>
          <p:nvPr/>
        </p:nvSpPr>
        <p:spPr>
          <a:xfrm>
            <a:off x="2209800" y="3683000"/>
            <a:ext cx="1168400" cy="1651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3" name="T313"/>
          <p:cNvSpPr txBox="1"/>
          <p:nvPr/>
        </p:nvSpPr>
        <p:spPr>
          <a:xfrm>
            <a:off x="2273300" y="3810000"/>
            <a:ext cx="1041400" cy="139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6일 학습 결과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5단계 시스템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6직무 프로토타입</a:t>
            </a:r>
          </a:p>
        </p:txBody>
      </p:sp>
      <p:sp>
        <p:nvSpPr>
          <p:cNvPr id="314" name="S314"/>
          <p:cNvSpPr/>
          <p:nvPr/>
        </p:nvSpPr>
        <p:spPr>
          <a:xfrm>
            <a:off x="3759200" y="2095500"/>
            <a:ext cx="711200" cy="279400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5" name="T315"/>
          <p:cNvSpPr txBox="1"/>
          <p:nvPr/>
        </p:nvSpPr>
        <p:spPr>
          <a:xfrm>
            <a:off x="3759200" y="2095500"/>
            <a:ext cx="711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5분</a:t>
            </a:r>
          </a:p>
        </p:txBody>
      </p:sp>
      <p:sp>
        <p:nvSpPr>
          <p:cNvPr id="316" name="S316"/>
          <p:cNvSpPr/>
          <p:nvPr/>
        </p:nvSpPr>
        <p:spPr>
          <a:xfrm>
            <a:off x="3860800" y="2476500"/>
            <a:ext cx="508000" cy="50800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7" name="T317"/>
          <p:cNvSpPr txBox="1"/>
          <p:nvPr/>
        </p:nvSpPr>
        <p:spPr>
          <a:xfrm>
            <a:off x="3860800" y="24765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3530600" y="3175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정량 효과</a:t>
            </a:r>
          </a:p>
        </p:txBody>
      </p:sp>
      <p:sp>
        <p:nvSpPr>
          <p:cNvPr id="319" name="S319"/>
          <p:cNvSpPr/>
          <p:nvPr/>
        </p:nvSpPr>
        <p:spPr>
          <a:xfrm>
            <a:off x="3530600" y="3683000"/>
            <a:ext cx="1168400" cy="1651000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0" name="T320"/>
          <p:cNvSpPr txBox="1"/>
          <p:nvPr/>
        </p:nvSpPr>
        <p:spPr>
          <a:xfrm>
            <a:off x="3594100" y="3810000"/>
            <a:ext cx="1041400" cy="139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4대 영역 KPI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부서별 ROI 표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분기·연간 절감액</a:t>
            </a:r>
          </a:p>
        </p:txBody>
      </p:sp>
      <p:sp>
        <p:nvSpPr>
          <p:cNvPr id="321" name="S321"/>
          <p:cNvSpPr/>
          <p:nvPr/>
        </p:nvSpPr>
        <p:spPr>
          <a:xfrm>
            <a:off x="5080000" y="2095500"/>
            <a:ext cx="711200" cy="279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2" name="T322"/>
          <p:cNvSpPr txBox="1"/>
          <p:nvPr/>
        </p:nvSpPr>
        <p:spPr>
          <a:xfrm>
            <a:off x="5080000" y="2095500"/>
            <a:ext cx="711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3분</a:t>
            </a:r>
          </a:p>
        </p:txBody>
      </p:sp>
      <p:sp>
        <p:nvSpPr>
          <p:cNvPr id="323" name="S323"/>
          <p:cNvSpPr/>
          <p:nvPr/>
        </p:nvSpPr>
        <p:spPr>
          <a:xfrm>
            <a:off x="5181600" y="2476500"/>
            <a:ext cx="508000" cy="508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4" name="T324"/>
          <p:cNvSpPr txBox="1"/>
          <p:nvPr/>
        </p:nvSpPr>
        <p:spPr>
          <a:xfrm>
            <a:off x="5181600" y="24765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4851400" y="3175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16A34A"/>
                </a:solidFill>
              </a:rPr>
              <a:t>라이브 시연</a:t>
            </a:r>
          </a:p>
        </p:txBody>
      </p:sp>
      <p:sp>
        <p:nvSpPr>
          <p:cNvPr id="326" name="S326"/>
          <p:cNvSpPr/>
          <p:nvPr/>
        </p:nvSpPr>
        <p:spPr>
          <a:xfrm>
            <a:off x="4851400" y="3683000"/>
            <a:ext cx="1168400" cy="1651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7" name="T327"/>
          <p:cNvSpPr txBox="1"/>
          <p:nvPr/>
        </p:nvSpPr>
        <p:spPr>
          <a:xfrm>
            <a:off x="4914900" y="3810000"/>
            <a:ext cx="1041400" cy="139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자기 직무 프로토타입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즉석 시연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★ 가장 강력</a:t>
            </a:r>
          </a:p>
        </p:txBody>
      </p:sp>
      <p:sp>
        <p:nvSpPr>
          <p:cNvPr id="328" name="S328"/>
          <p:cNvSpPr/>
          <p:nvPr/>
        </p:nvSpPr>
        <p:spPr>
          <a:xfrm>
            <a:off x="6400800" y="2095500"/>
            <a:ext cx="711200" cy="279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9" name="T329"/>
          <p:cNvSpPr txBox="1"/>
          <p:nvPr/>
        </p:nvSpPr>
        <p:spPr>
          <a:xfrm>
            <a:off x="6400800" y="2095500"/>
            <a:ext cx="711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4분</a:t>
            </a:r>
          </a:p>
        </p:txBody>
      </p:sp>
      <p:sp>
        <p:nvSpPr>
          <p:cNvPr id="330" name="S330"/>
          <p:cNvSpPr/>
          <p:nvPr/>
        </p:nvSpPr>
        <p:spPr>
          <a:xfrm>
            <a:off x="6502400" y="2476500"/>
            <a:ext cx="508000" cy="50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1" name="T331"/>
          <p:cNvSpPr txBox="1"/>
          <p:nvPr/>
        </p:nvSpPr>
        <p:spPr>
          <a:xfrm>
            <a:off x="6502400" y="2476500"/>
            <a:ext cx="50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20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6172200" y="3175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7C3AED"/>
                </a:solidFill>
              </a:rPr>
              <a:t>90일 로드맵</a:t>
            </a:r>
          </a:p>
        </p:txBody>
      </p:sp>
      <p:sp>
        <p:nvSpPr>
          <p:cNvPr id="333" name="S333"/>
          <p:cNvSpPr/>
          <p:nvPr/>
        </p:nvSpPr>
        <p:spPr>
          <a:xfrm>
            <a:off x="6172200" y="3683000"/>
            <a:ext cx="1168400" cy="1651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4" name="T334"/>
          <p:cNvSpPr txBox="1"/>
          <p:nvPr/>
        </p:nvSpPr>
        <p:spPr>
          <a:xfrm>
            <a:off x="6235700" y="3810000"/>
            <a:ext cx="1041400" cy="139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4단계 계획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임원 스폰서 요청</a:t>
            </a:r>
          </a:p>
          <a:p>
            <a:pPr algn="ctr">
              <a:lnSpc>
                <a:spcPts val="1300"/>
              </a:lnSpc>
              <a:spcBef>
                <a:spcPts val="250"/>
              </a:spcBef>
              <a:buNone/>
            </a:pPr>
            <a:r>
              <a:rPr lang="ko-KR" sz="950" dirty="0">
                <a:solidFill>
                  <a:srgbClr val="FFFFFF"/>
                </a:solidFill>
              </a:rPr>
              <a:t>예산·인력</a:t>
            </a:r>
          </a:p>
        </p:txBody>
      </p:sp>
      <p:sp>
        <p:nvSpPr>
          <p:cNvPr id="335" name="S335"/>
          <p:cNvSpPr/>
          <p:nvPr/>
        </p:nvSpPr>
        <p:spPr>
          <a:xfrm>
            <a:off x="889000" y="5562600"/>
            <a:ext cx="5778500" cy="22225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07B39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6" name="T336"/>
          <p:cNvSpPr txBox="1"/>
          <p:nvPr/>
        </p:nvSpPr>
        <p:spPr>
          <a:xfrm>
            <a:off x="889000" y="56896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200" b="1" dirty="0">
                <a:solidFill>
                  <a:srgbClr val="E07B39"/>
                </a:solidFill>
              </a:rPr>
              <a:t>5가지 임원 설득 팁</a:t>
            </a:r>
          </a:p>
        </p:txBody>
      </p:sp>
      <p:sp>
        <p:nvSpPr>
          <p:cNvPr id="337" name="S337"/>
          <p:cNvSpPr/>
          <p:nvPr/>
        </p:nvSpPr>
        <p:spPr>
          <a:xfrm>
            <a:off x="952500" y="6070600"/>
            <a:ext cx="10414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8" name="T338"/>
          <p:cNvSpPr txBox="1"/>
          <p:nvPr/>
        </p:nvSpPr>
        <p:spPr>
          <a:xfrm>
            <a:off x="952500" y="6070600"/>
            <a:ext cx="1041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1E3A5F"/>
                </a:solidFill>
              </a:rPr>
              <a:t>✓ 숫자로 시작</a:t>
            </a:r>
          </a:p>
        </p:txBody>
      </p:sp>
      <p:sp>
        <p:nvSpPr>
          <p:cNvPr id="339" name="T339"/>
          <p:cNvSpPr txBox="1"/>
          <p:nvPr/>
        </p:nvSpPr>
        <p:spPr>
          <a:xfrm>
            <a:off x="889000" y="6477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dirty="0">
                <a:solidFill>
                  <a:srgbClr val="4A4A4A"/>
                </a:solidFill>
              </a:rPr>
              <a:t>"분기 5억"</a:t>
            </a:r>
          </a:p>
        </p:txBody>
      </p:sp>
      <p:sp>
        <p:nvSpPr>
          <p:cNvPr id="340" name="S340"/>
          <p:cNvSpPr/>
          <p:nvPr/>
        </p:nvSpPr>
        <p:spPr>
          <a:xfrm>
            <a:off x="2273300" y="6070600"/>
            <a:ext cx="10414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7B39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1" name="T341"/>
          <p:cNvSpPr txBox="1"/>
          <p:nvPr/>
        </p:nvSpPr>
        <p:spPr>
          <a:xfrm>
            <a:off x="2273300" y="6070600"/>
            <a:ext cx="1041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E07B39"/>
                </a:solidFill>
              </a:rPr>
              <a:t>✓ 라이브 시연</a:t>
            </a:r>
          </a:p>
        </p:txBody>
      </p:sp>
      <p:sp>
        <p:nvSpPr>
          <p:cNvPr id="342" name="T342"/>
          <p:cNvSpPr txBox="1"/>
          <p:nvPr/>
        </p:nvSpPr>
        <p:spPr>
          <a:xfrm>
            <a:off x="2209800" y="6477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dirty="0">
                <a:solidFill>
                  <a:srgbClr val="4A4A4A"/>
                </a:solidFill>
              </a:rPr>
              <a:t>텍스트X 보여주기</a:t>
            </a:r>
          </a:p>
        </p:txBody>
      </p:sp>
      <p:sp>
        <p:nvSpPr>
          <p:cNvPr id="343" name="S343"/>
          <p:cNvSpPr/>
          <p:nvPr/>
        </p:nvSpPr>
        <p:spPr>
          <a:xfrm>
            <a:off x="3594100" y="6070600"/>
            <a:ext cx="10414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4" name="T344"/>
          <p:cNvSpPr txBox="1"/>
          <p:nvPr/>
        </p:nvSpPr>
        <p:spPr>
          <a:xfrm>
            <a:off x="3594100" y="6070600"/>
            <a:ext cx="1041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16A34A"/>
                </a:solidFill>
              </a:rPr>
              <a:t>✓ 보수적 추정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3530600" y="6477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dirty="0">
                <a:solidFill>
                  <a:srgbClr val="4A4A4A"/>
                </a:solidFill>
              </a:rPr>
              <a:t>50% 약속이 신뢰</a:t>
            </a:r>
          </a:p>
        </p:txBody>
      </p:sp>
      <p:sp>
        <p:nvSpPr>
          <p:cNvPr id="346" name="S346"/>
          <p:cNvSpPr/>
          <p:nvPr/>
        </p:nvSpPr>
        <p:spPr>
          <a:xfrm>
            <a:off x="4914900" y="6070600"/>
            <a:ext cx="10414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7" name="T347"/>
          <p:cNvSpPr txBox="1"/>
          <p:nvPr/>
        </p:nvSpPr>
        <p:spPr>
          <a:xfrm>
            <a:off x="4914900" y="6070600"/>
            <a:ext cx="1041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3B82F6"/>
                </a:solidFill>
              </a:rPr>
              <a:t>✓ 명확한 요청</a:t>
            </a:r>
          </a:p>
        </p:txBody>
      </p:sp>
      <p:sp>
        <p:nvSpPr>
          <p:cNvPr id="348" name="T348"/>
          <p:cNvSpPr txBox="1"/>
          <p:nvPr/>
        </p:nvSpPr>
        <p:spPr>
          <a:xfrm>
            <a:off x="4851400" y="6477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dirty="0">
                <a:solidFill>
                  <a:srgbClr val="4A4A4A"/>
                </a:solidFill>
              </a:rPr>
              <a:t>임원이 할 일</a:t>
            </a:r>
          </a:p>
        </p:txBody>
      </p:sp>
      <p:sp>
        <p:nvSpPr>
          <p:cNvPr id="349" name="S349"/>
          <p:cNvSpPr/>
          <p:nvPr/>
        </p:nvSpPr>
        <p:spPr>
          <a:xfrm>
            <a:off x="6235700" y="6070600"/>
            <a:ext cx="1041400" cy="27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50" name="T350"/>
          <p:cNvSpPr txBox="1"/>
          <p:nvPr/>
        </p:nvSpPr>
        <p:spPr>
          <a:xfrm>
            <a:off x="6235700" y="6070600"/>
            <a:ext cx="1041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b="1" dirty="0">
                <a:solidFill>
                  <a:srgbClr val="7C3AED"/>
                </a:solidFill>
              </a:rPr>
              <a:t>✓ 정기 보고</a:t>
            </a:r>
          </a:p>
        </p:txBody>
      </p:sp>
      <p:sp>
        <p:nvSpPr>
          <p:cNvPr id="351" name="T351"/>
          <p:cNvSpPr txBox="1"/>
          <p:nvPr/>
        </p:nvSpPr>
        <p:spPr>
          <a:xfrm>
            <a:off x="6172200" y="64770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50" dirty="0">
                <a:solidFill>
                  <a:srgbClr val="4A4A4A"/>
                </a:solidFill>
              </a:rPr>
              <a:t>분기 1회 약속</a:t>
            </a:r>
          </a:p>
        </p:txBody>
      </p:sp>
      <p:sp>
        <p:nvSpPr>
          <p:cNvPr id="352" name="T352"/>
          <p:cNvSpPr txBox="1"/>
          <p:nvPr/>
        </p:nvSpPr>
        <p:spPr>
          <a:xfrm>
            <a:off x="889000" y="70231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★ 5분 발표 = 임팩트 + 실행력 — 회사를 움직이는 시작</a:t>
            </a:r>
          </a:p>
        </p:txBody>
      </p:sp>
    </p:spTree>
    <p:extLst>
      <p:ext uri="{BB962C8B-B14F-4D97-AF65-F5344CB8AC3E}">
        <p14:creationId xmlns:p14="http://schemas.microsoft.com/office/powerpoint/2010/main" val="99236337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3.4 · 발표 시연 가이드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Ch.3.4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발표 시연 가이드 — 임원 질문 대응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10분 발표 + 5분 Q&amp;A — 임원 5 질문 사전 대비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10분 발표 시간 배분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1분 — 문제 (현재 비효율 + 비용 수치)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2분 — 해결 (데이터 자산화 5단계 + 도구)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3분 — ROI (4배 + Payback 3.2개월) + PoC 사례 1개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3분 — 90일 로드맵 (4 Phase 타임라인)  +  1분 — 명확한 요청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임원 5 질문 — 사전 준비 답변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💰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비용은? — 정량 답변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교육 1회 + 도구 200만/년 + 검수 인력 50% = 3,200만/년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📈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ROI는? — 4배 + Payback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ROI 275% (1년) / Payback 3.2개월 / 5년 누적 100억 영향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⚠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리스크는? — 사전 대응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보안: 사내 도구만 / 직원 저항: 챔피언 + 인센티브 / 품질 부실: 6차원 측정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🕐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타이밍은? — 90일 사전 합의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1개월 PoC + 1개월 부서간 + 1개월 전사 = 90일에 효과 가시화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사전 시연 자료 — 임원 신뢰 확보 도구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1쪽 임원 보고서 (5단계 구성) — 사전 송부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PoC 부서 사례 동영상 1분 — 효과 가시화 (시간 절약 등)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90일 로드맵 + KPI 측정 계획 — 후속 보고 방식 사전 합의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사전 준비 + 5 질문 답변 = 임원 의사결정 신속화 (1회 회의로 승인)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발표는 "임원 시간 절약" + "의사결정 지원"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준비 안 된 발표 = 추가 회의·자료 요청 → 의사결정 지연 → 자산화 늦춤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3605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Ch.3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Ch.3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3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ROI 4배 + 임원 보고 5단계 + 발표 가이드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ROI 4배 검증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비용 3,200만 → 효과 12,000만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1년 ROI 275% / Payback 3.2개월 / 5년 누적 100억 — 객관 증거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임원 보고 5단계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문제·해결·ROI·로드맵·요청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1쪽 + 수치 + 명확 요청 — 임원 의사결정 신속화 (1회 승인 가능)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발표 시연 + Q&amp;A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10분 발표 + 5 질문 대비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비용·ROI·리스크·타이밍·예시 5 질문 사전 답변 = 임원 신뢰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ROI = 임원의 언어 — 4배 검증 = 추가 투자 = 자산화 가속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1쪽 + 수치 + 명확 요청 = 임원 의사결정 지원 = 1회 회의로 승인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임원 1쪽 보고서 (자기 부서 ROI 4배 사례)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4 — 자사 적용 종합 실습 (6직무별 프로토타입)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4312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CHAPTER 4 · PROTOTYPE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CHAPTER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04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자사 적용 종합 실습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Corporate Application Workshop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"6직무별 자기 직무 종합 프로토타입 시연"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6직무별 자사 프로토타입 개관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실습 6-1 — 자기 직무 종합 프로토타입 (60분)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시연·피드백 가이드 (3분 시연 + 동료 피드백)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PART 01~05 통합 적용 — 자기 직무에 맞춤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산출물 — 자기 직무 1쪽 종합 프로토타입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챕터 핵심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이론 → 실습 → 시연 = 자사 적용 가능 검증 (1주 PoC 가동 가능)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224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38922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4.1 · 6직무별 프로토타입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Ch.4.1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6직무별 자사 프로토타입 개관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각 직무별 PART 01~05 통합 적용 — 6 우선 활용 영역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기술문서 — 매뉴얼 디지털화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정비 매뉴얼 OCR + 다국어 변환 + 단계별 영상 매뉴얼화 (1주 → 1H)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A/S — 정비 어시스턴트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Custom GPT "정비 어시스턴트" + 점검표 OCR + 베테랑 노하우 학습 카드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영업 — 견적 자동화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Custom GPT "견적 어시스턴트" + 유사 사례 검색 + Forms 표준 양식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해외영업 — 다국어 협업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다국어 OCR/STT + 글로벌 매뉴얼 + 다국가 회의 자동 회의록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마케팅 — 콘텐츠 자동화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고객 인터뷰 STT → 분석 → 콘텐츠 자동 생성 + AI 리뷰 분석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DX·IT — 시스템 통합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사내 시스템 로그 분석 + 자동 모니터링 + AI 알림 + 데이터 거버넌스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공통 적용 — PART 01~05 5단계 모두 활용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식별(인벤토리) → 수집 → 디지털화 → 구조화 → 품질 (5 시스템 동일 적용)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🔄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— 6직무 모두 동일 프레임워크 적용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다른 것은 "입력 데이터 종류"뿐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프레임워크 동일 → 학습한 5단계가 모든 직무에 적용 가능 (재학습 X)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자기 직무 선택 가이드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자기 부서 핵심 데이터 인벤토리 1순위 → PoC 우선 영역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자기 부서 KPI 측정 가능 영역 → ROI 검증 가능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307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900" b="1" spc="300" dirty="0">
                <a:solidFill>
                  <a:srgbClr val="FFFFFF"/>
                </a:solidFill>
              </a:rPr>
              <a:t>PART 06 · 4.1 · 6직무 통합 프로토타입 · 그림 6-7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Ch.4.1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900" b="1" dirty="0">
                <a:solidFill>
                  <a:srgbClr val="2C2C2C"/>
                </a:solidFill>
              </a:rPr>
              <a:t>[그림 6-7] 6직무별 자사 통합 프로토타입 매트릭스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100" dirty="0">
                <a:solidFill>
                  <a:srgbClr val="6B6B6B"/>
                </a:solidFill>
              </a:rPr>
              <a:t>— 직무 × 시스템 × KPI × ROI —</a:t>
            </a:r>
          </a:p>
        </p:txBody>
      </p:sp>
      <p:sp>
        <p:nvSpPr>
          <p:cNvPr id="300" name="S300"/>
          <p:cNvSpPr/>
          <p:nvPr/>
        </p:nvSpPr>
        <p:spPr>
          <a:xfrm>
            <a:off x="889000" y="2095500"/>
            <a:ext cx="5778500" cy="406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1" name="T301"/>
          <p:cNvSpPr txBox="1"/>
          <p:nvPr/>
        </p:nvSpPr>
        <p:spPr>
          <a:xfrm>
            <a:off x="889000" y="2095500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직무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2032000" y="20955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데이터 자산화 시스템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4572000" y="2095500"/>
            <a:ext cx="12065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핵심 KPI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5778500" y="2095500"/>
            <a:ext cx="889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305" name="S305"/>
          <p:cNvSpPr/>
          <p:nvPr/>
        </p:nvSpPr>
        <p:spPr>
          <a:xfrm>
            <a:off x="939800" y="2603500"/>
            <a:ext cx="1041400" cy="330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06" name="T306"/>
          <p:cNvSpPr txBox="1"/>
          <p:nvPr/>
        </p:nvSpPr>
        <p:spPr>
          <a:xfrm>
            <a:off x="939800" y="26035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1. 기술문서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2108200" y="25019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다국어 매뉴얼 자동화 + Audio Overview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4572000" y="25019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매뉴얼 75%↓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5778500" y="25019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2,000%</a:t>
            </a:r>
          </a:p>
        </p:txBody>
      </p:sp>
      <p:sp>
        <p:nvSpPr>
          <p:cNvPr id="310" name="S310"/>
          <p:cNvSpPr/>
          <p:nvPr/>
        </p:nvSpPr>
        <p:spPr>
          <a:xfrm>
            <a:off x="889000" y="30289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1" name="S311"/>
          <p:cNvSpPr/>
          <p:nvPr/>
        </p:nvSpPr>
        <p:spPr>
          <a:xfrm>
            <a:off x="889000" y="3035300"/>
            <a:ext cx="5778500" cy="533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2" name="S312"/>
          <p:cNvSpPr/>
          <p:nvPr/>
        </p:nvSpPr>
        <p:spPr>
          <a:xfrm>
            <a:off x="939800" y="3136900"/>
            <a:ext cx="1041400" cy="330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3" name="T313"/>
          <p:cNvSpPr txBox="1"/>
          <p:nvPr/>
        </p:nvSpPr>
        <p:spPr>
          <a:xfrm>
            <a:off x="939800" y="31369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2. A/S 엔지니어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2108200" y="30353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정비 어시스턴트 + 베테랑 자산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4572000" y="30353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보고서 83%↓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5778500" y="30353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800%</a:t>
            </a:r>
          </a:p>
        </p:txBody>
      </p:sp>
      <p:sp>
        <p:nvSpPr>
          <p:cNvPr id="317" name="S317"/>
          <p:cNvSpPr/>
          <p:nvPr/>
        </p:nvSpPr>
        <p:spPr>
          <a:xfrm>
            <a:off x="889000" y="35623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8" name="S318"/>
          <p:cNvSpPr/>
          <p:nvPr/>
        </p:nvSpPr>
        <p:spPr>
          <a:xfrm>
            <a:off x="939800" y="3670300"/>
            <a:ext cx="1041400" cy="330200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19" name="T319"/>
          <p:cNvSpPr txBox="1"/>
          <p:nvPr/>
        </p:nvSpPr>
        <p:spPr>
          <a:xfrm>
            <a:off x="939800" y="36703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3. 영업·견적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2108200" y="35687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견적 자동화 + 고객 응대 패턴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4572000" y="35687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견적 92%↓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5778500" y="35687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1,200%</a:t>
            </a:r>
          </a:p>
        </p:txBody>
      </p:sp>
      <p:sp>
        <p:nvSpPr>
          <p:cNvPr id="323" name="S323"/>
          <p:cNvSpPr/>
          <p:nvPr/>
        </p:nvSpPr>
        <p:spPr>
          <a:xfrm>
            <a:off x="889000" y="40957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4" name="S324"/>
          <p:cNvSpPr/>
          <p:nvPr/>
        </p:nvSpPr>
        <p:spPr>
          <a:xfrm>
            <a:off x="889000" y="4102100"/>
            <a:ext cx="5778500" cy="533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5" name="S325"/>
          <p:cNvSpPr/>
          <p:nvPr/>
        </p:nvSpPr>
        <p:spPr>
          <a:xfrm>
            <a:off x="939800" y="4203700"/>
            <a:ext cx="1041400" cy="330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26" name="T326"/>
          <p:cNvSpPr txBox="1"/>
          <p:nvPr/>
        </p:nvSpPr>
        <p:spPr>
          <a:xfrm>
            <a:off x="939800" y="42037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4. 해외영업</a:t>
            </a:r>
          </a:p>
        </p:txBody>
      </p:sp>
      <p:sp>
        <p:nvSpPr>
          <p:cNvPr id="327" name="T327"/>
          <p:cNvSpPr txBox="1"/>
          <p:nvPr/>
        </p:nvSpPr>
        <p:spPr>
          <a:xfrm>
            <a:off x="2108200" y="41021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ITB·시장 조사 통합 시스템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4572000" y="41021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ITB 87%↓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5778500" y="41021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700%</a:t>
            </a:r>
          </a:p>
        </p:txBody>
      </p:sp>
      <p:sp>
        <p:nvSpPr>
          <p:cNvPr id="330" name="S330"/>
          <p:cNvSpPr/>
          <p:nvPr/>
        </p:nvSpPr>
        <p:spPr>
          <a:xfrm>
            <a:off x="889000" y="46291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1" name="S331"/>
          <p:cNvSpPr/>
          <p:nvPr/>
        </p:nvSpPr>
        <p:spPr>
          <a:xfrm>
            <a:off x="939800" y="4737100"/>
            <a:ext cx="1041400" cy="330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2" name="T332"/>
          <p:cNvSpPr txBox="1"/>
          <p:nvPr/>
        </p:nvSpPr>
        <p:spPr>
          <a:xfrm>
            <a:off x="939800" y="47371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5. 마케팅·PM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2108200" y="46355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마케팅 콘텐츠 패키지 + 통계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4572000" y="46355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콘텐츠 86%↓</a:t>
            </a:r>
          </a:p>
        </p:txBody>
      </p:sp>
      <p:sp>
        <p:nvSpPr>
          <p:cNvPr id="335" name="T335"/>
          <p:cNvSpPr txBox="1"/>
          <p:nvPr/>
        </p:nvSpPr>
        <p:spPr>
          <a:xfrm>
            <a:off x="5778500" y="46355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600%</a:t>
            </a:r>
          </a:p>
        </p:txBody>
      </p:sp>
      <p:sp>
        <p:nvSpPr>
          <p:cNvPr id="336" name="S336"/>
          <p:cNvSpPr/>
          <p:nvPr/>
        </p:nvSpPr>
        <p:spPr>
          <a:xfrm>
            <a:off x="889000" y="51625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7" name="S337"/>
          <p:cNvSpPr/>
          <p:nvPr/>
        </p:nvSpPr>
        <p:spPr>
          <a:xfrm>
            <a:off x="889000" y="5168900"/>
            <a:ext cx="5778500" cy="533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8" name="S338"/>
          <p:cNvSpPr/>
          <p:nvPr/>
        </p:nvSpPr>
        <p:spPr>
          <a:xfrm>
            <a:off x="939800" y="5270500"/>
            <a:ext cx="1041400" cy="330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39" name="T339"/>
          <p:cNvSpPr txBox="1"/>
          <p:nvPr/>
        </p:nvSpPr>
        <p:spPr>
          <a:xfrm>
            <a:off x="939800" y="5270500"/>
            <a:ext cx="10414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6. DX·IT 혁신</a:t>
            </a:r>
          </a:p>
        </p:txBody>
      </p:sp>
      <p:sp>
        <p:nvSpPr>
          <p:cNvPr id="340" name="T340"/>
          <p:cNvSpPr txBox="1"/>
          <p:nvPr/>
        </p:nvSpPr>
        <p:spPr>
          <a:xfrm>
            <a:off x="2108200" y="5168900"/>
            <a:ext cx="2387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  <a:buNone/>
            </a:pPr>
            <a:r>
              <a:rPr lang="ko-KR" sz="1000" dirty="0">
                <a:solidFill>
                  <a:srgbClr val="2C2C2C"/>
                </a:solidFill>
              </a:rPr>
              <a:t>전사 데이터 거버넌스 + 자동화</a:t>
            </a:r>
          </a:p>
        </p:txBody>
      </p:sp>
      <p:sp>
        <p:nvSpPr>
          <p:cNvPr id="341" name="T341"/>
          <p:cNvSpPr txBox="1"/>
          <p:nvPr/>
        </p:nvSpPr>
        <p:spPr>
          <a:xfrm>
            <a:off x="4572000" y="5168900"/>
            <a:ext cx="12065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2C2C2C"/>
                </a:solidFill>
              </a:rPr>
              <a:t>자동화 70%</a:t>
            </a:r>
          </a:p>
        </p:txBody>
      </p:sp>
      <p:sp>
        <p:nvSpPr>
          <p:cNvPr id="342" name="T342"/>
          <p:cNvSpPr txBox="1"/>
          <p:nvPr/>
        </p:nvSpPr>
        <p:spPr>
          <a:xfrm>
            <a:off x="5778500" y="5168900"/>
            <a:ext cx="889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간접</a:t>
            </a:r>
          </a:p>
        </p:txBody>
      </p:sp>
      <p:sp>
        <p:nvSpPr>
          <p:cNvPr id="343" name="S343"/>
          <p:cNvSpPr/>
          <p:nvPr/>
        </p:nvSpPr>
        <p:spPr>
          <a:xfrm>
            <a:off x="889000" y="5695950"/>
            <a:ext cx="57785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4" name="S344"/>
          <p:cNvSpPr/>
          <p:nvPr/>
        </p:nvSpPr>
        <p:spPr>
          <a:xfrm>
            <a:off x="889000" y="2095500"/>
            <a:ext cx="5778500" cy="360680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5" name="S345"/>
          <p:cNvSpPr/>
          <p:nvPr/>
        </p:nvSpPr>
        <p:spPr>
          <a:xfrm>
            <a:off x="2028825" y="2095500"/>
            <a:ext cx="6350" cy="3606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6" name="S346"/>
          <p:cNvSpPr/>
          <p:nvPr/>
        </p:nvSpPr>
        <p:spPr>
          <a:xfrm>
            <a:off x="4568825" y="2095500"/>
            <a:ext cx="6350" cy="3606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7" name="S347"/>
          <p:cNvSpPr/>
          <p:nvPr/>
        </p:nvSpPr>
        <p:spPr>
          <a:xfrm>
            <a:off x="5775325" y="2095500"/>
            <a:ext cx="6350" cy="3606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8" name="S348"/>
          <p:cNvSpPr/>
          <p:nvPr/>
        </p:nvSpPr>
        <p:spPr>
          <a:xfrm>
            <a:off x="889000" y="6019800"/>
            <a:ext cx="5778500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07B39"/>
            </a:solidFill>
          </a:ln>
        </p:spPr>
        <p:txBody>
          <a:bodyPr wrap="square" anchor="ctr"/>
          <a:lstStyle/>
          <a:p>
            <a:endParaRPr lang="ko-KR"/>
          </a:p>
        </p:txBody>
      </p:sp>
      <p:sp>
        <p:nvSpPr>
          <p:cNvPr id="349" name="T349"/>
          <p:cNvSpPr txBox="1"/>
          <p:nvPr/>
        </p:nvSpPr>
        <p:spPr>
          <a:xfrm>
            <a:off x="889000" y="6210300"/>
            <a:ext cx="577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300" b="1" dirty="0">
                <a:solidFill>
                  <a:srgbClr val="E07B39"/>
                </a:solidFill>
              </a:rPr>
              <a:t>6직무 공통점</a:t>
            </a:r>
          </a:p>
        </p:txBody>
      </p:sp>
      <p:sp>
        <p:nvSpPr>
          <p:cNvPr id="350" name="T350"/>
          <p:cNvSpPr txBox="1"/>
          <p:nvPr/>
        </p:nvSpPr>
        <p:spPr>
          <a:xfrm>
            <a:off x="889000" y="6654800"/>
            <a:ext cx="577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2C2C2C"/>
                </a:solidFill>
              </a:rPr>
              <a:t>5단계 적용  +  4도구·멀티모달  +  KPI·ROI 측정  +  90일 로드맵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80F4D8-F17E-4C64-983E-52C8670F940E}"/>
              </a:ext>
            </a:extLst>
          </p:cNvPr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6B6B6B"/>
                </a:solidFill>
              </a:rPr>
              <a:t>— 226 —</a:t>
            </a:r>
            <a:endParaRPr lang="ko-KR" altLang="en-US" sz="90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4016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실습 6-1 · 종합 프로토타입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실습 6-1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[실습 6-1] 자기 직무 종합 프로토타입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60분 — PART 01~05 통합 적용 + 1쪽 시연 자료 + 동료 시연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698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927100" y="213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★ 종합 프로토타입 — PART 01~05 통합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27100" y="2387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1쪽 시연 자료 + 3분 시연 + 5분 동료 피드백 (60분 / 4 Step)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857500"/>
            <a:ext cx="3048000" cy="177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3048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(15분)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546100" y="3365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dirty="0">
                <a:solidFill>
                  <a:srgbClr val="F4B400"/>
                </a:solidFill>
              </a:rPr>
              <a:t>직무 핵심 시나리오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546100" y="3746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50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546100" y="4381500"/>
            <a:ext cx="304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E8632C"/>
                </a:solidFill>
              </a:rPr>
              <a:t>1 영역 선정</a:t>
            </a:r>
          </a:p>
        </p:txBody>
      </p:sp>
      <p:sp>
        <p:nvSpPr>
          <p:cNvPr id="118" name="S118"/>
          <p:cNvSpPr/>
          <p:nvPr/>
        </p:nvSpPr>
        <p:spPr>
          <a:xfrm>
            <a:off x="3657600" y="3594100"/>
            <a:ext cx="381000" cy="17780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3594100" y="33655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→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3594100" y="38100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4285F4"/>
                </a:solidFill>
              </a:rPr>
              <a:t>Step 2,3,4</a:t>
            </a:r>
          </a:p>
        </p:txBody>
      </p:sp>
      <p:sp>
        <p:nvSpPr>
          <p:cNvPr id="121" name="S121"/>
          <p:cNvSpPr/>
          <p:nvPr/>
        </p:nvSpPr>
        <p:spPr>
          <a:xfrm>
            <a:off x="4102100" y="2857500"/>
            <a:ext cx="2921000" cy="1778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4102100" y="2857500"/>
            <a:ext cx="292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[Step 2~4] 프로토타입 구축 + 시연</a:t>
            </a:r>
          </a:p>
        </p:txBody>
      </p:sp>
      <p:sp>
        <p:nvSpPr>
          <p:cNvPr id="124" name="S124"/>
          <p:cNvSpPr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/>
          <p:nvPr/>
        </p:nvSpPr>
        <p:spPr>
          <a:xfrm>
            <a:off x="4165600" y="3302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4864100" y="3314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20분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5562600" y="3314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PART 01~03 적용 — 인벤토리 + 수집 + 디지털화 (자기 데이터 1건)</a:t>
            </a:r>
          </a:p>
        </p:txBody>
      </p:sp>
      <p:sp>
        <p:nvSpPr>
          <p:cNvPr id="128" name="S128"/>
          <p:cNvSpPr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4165600" y="3556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4864100" y="3568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15분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5562600" y="3568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PART 04~05 적용 — 분류 + 품질 측정 (Custom GPT 활용)</a:t>
            </a:r>
          </a:p>
        </p:txBody>
      </p:sp>
      <p:sp>
        <p:nvSpPr>
          <p:cNvPr id="132" name="S132"/>
          <p:cNvSpPr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4165600" y="3810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4864100" y="3822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C73E1D"/>
                </a:solidFill>
              </a:rPr>
              <a:t>10분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562600" y="3822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b="1" dirty="0">
                <a:solidFill>
                  <a:srgbClr val="C73E1D"/>
                </a:solidFill>
              </a:rPr>
              <a:t>★ 1쪽 시연 자료 작성 + 3분 동료 시연</a:t>
            </a:r>
          </a:p>
        </p:txBody>
      </p:sp>
      <p:sp>
        <p:nvSpPr>
          <p:cNvPr id="136" name="S136"/>
          <p:cNvSpPr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4165600" y="4064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산출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4864100" y="4076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1쪽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5562600" y="4076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(자기 직무 종합 프로토타입 + 효과 + 다음 단계)</a:t>
            </a:r>
          </a:p>
        </p:txBody>
      </p:sp>
      <p:sp>
        <p:nvSpPr>
          <p:cNvPr id="140" name="S140"/>
          <p:cNvSpPr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4165600" y="43180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도구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4864100" y="433070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b="1" dirty="0">
                <a:solidFill>
                  <a:srgbClr val="4285F4"/>
                </a:solidFill>
              </a:rPr>
              <a:t>Notion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5562600" y="4330700"/>
            <a:ext cx="146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2C2C2C"/>
                </a:solidFill>
              </a:rPr>
              <a:t>(Custom GPT + Claude + Forms 통합)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4826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145"/>
          <p:cNvSpPr/>
          <p:nvPr/>
        </p:nvSpPr>
        <p:spPr>
          <a:xfrm>
            <a:off x="546100" y="4826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927100" y="4991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프로토타입 핵심 영역 — 직무별 우선 시나리오</a:t>
            </a:r>
          </a:p>
        </p:txBody>
      </p:sp>
      <p:sp>
        <p:nvSpPr>
          <p:cNvPr id="147" name="S147"/>
          <p:cNvSpPr/>
          <p:nvPr/>
        </p:nvSpPr>
        <p:spPr>
          <a:xfrm>
            <a:off x="9271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10287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🔧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4097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기술문서·A/S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4097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정비 매뉴얼·점검표 OCR + 어시스턴트</a:t>
            </a:r>
          </a:p>
        </p:txBody>
      </p:sp>
      <p:sp>
        <p:nvSpPr>
          <p:cNvPr id="151" name="S151"/>
          <p:cNvSpPr/>
          <p:nvPr/>
        </p:nvSpPr>
        <p:spPr>
          <a:xfrm>
            <a:off x="29337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30353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💼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34163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영업·해외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4163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견적·계약 자동화 + 다국어 협업</a:t>
            </a:r>
          </a:p>
        </p:txBody>
      </p:sp>
      <p:sp>
        <p:nvSpPr>
          <p:cNvPr id="155" name="S155"/>
          <p:cNvSpPr/>
          <p:nvPr/>
        </p:nvSpPr>
        <p:spPr>
          <a:xfrm>
            <a:off x="4940300" y="5334000"/>
            <a:ext cx="1905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5041900" y="5397500"/>
            <a:ext cx="31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2C2C2C"/>
                </a:solidFill>
              </a:rPr>
              <a:t>🌐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5422900" y="53975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E8632C"/>
                </a:solidFill>
              </a:rPr>
              <a:t>마케팅·DX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5422900" y="5613400"/>
            <a:ext cx="1397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50" dirty="0">
                <a:solidFill>
                  <a:srgbClr val="6B6B6B"/>
                </a:solidFill>
              </a:rPr>
              <a:t>콘텐츠 자동화 + 시스템 로그 분석</a:t>
            </a:r>
          </a:p>
        </p:txBody>
      </p:sp>
      <p:sp>
        <p:nvSpPr>
          <p:cNvPr id="159" name="S159"/>
          <p:cNvSpPr/>
          <p:nvPr/>
        </p:nvSpPr>
        <p:spPr>
          <a:xfrm>
            <a:off x="546100" y="6159500"/>
            <a:ext cx="6477000" cy="698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160"/>
          <p:cNvSpPr/>
          <p:nvPr/>
        </p:nvSpPr>
        <p:spPr>
          <a:xfrm>
            <a:off x="546100" y="6159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927100" y="63119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효과 — 60분 실습 = 자기 직무 PoC 가동 가능 자료 (1주일 내 가동)</a:t>
            </a:r>
          </a:p>
        </p:txBody>
      </p:sp>
      <p:sp>
        <p:nvSpPr>
          <p:cNvPr id="162" name="T162"/>
          <p:cNvSpPr txBox="1"/>
          <p:nvPr/>
        </p:nvSpPr>
        <p:spPr>
          <a:xfrm>
            <a:off x="927100" y="6578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1쪽 시연 자료 + 3분 시연 + 동료 피드백 = 부서장 보고 즉시 가능 자료</a:t>
            </a:r>
          </a:p>
        </p:txBody>
      </p:sp>
      <p:sp>
        <p:nvSpPr>
          <p:cNvPr id="163" name="S163"/>
          <p:cNvSpPr/>
          <p:nvPr/>
        </p:nvSpPr>
        <p:spPr>
          <a:xfrm>
            <a:off x="546100" y="704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4" name="T164"/>
          <p:cNvSpPr txBox="1"/>
          <p:nvPr/>
        </p:nvSpPr>
        <p:spPr>
          <a:xfrm>
            <a:off x="762000" y="7213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0F3A2E"/>
                </a:solidFill>
              </a:rPr>
              <a:t>실무 활용 — 시연 자료 4가지 활용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62000" y="7531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부서장 보고 — 자기 직무 적용 사례 + 효과 + 90일 plan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62000" y="77089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Custom GPT "직무 어시스턴트" — 즉시 가동 가능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762000" y="78867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부서원 공유 — 동료에게 전파 + 챔피언 추천 자료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762000" y="8064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임원 보고 — 부서장 → 임원 전달 시 사용</a:t>
            </a:r>
          </a:p>
        </p:txBody>
      </p:sp>
      <p:sp>
        <p:nvSpPr>
          <p:cNvPr id="169" name="S169"/>
          <p:cNvSpPr/>
          <p:nvPr/>
        </p:nvSpPr>
        <p:spPr>
          <a:xfrm>
            <a:off x="546100" y="8382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6100" y="8382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PRO TIP — 시연 = 임원 신뢰의 핵심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927100" y="882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FFFFFF"/>
                </a:solidFill>
              </a:rPr>
              <a:t>이론·로드맵보다 "실제 작동하는" 프로토타입 시연 = 1회 회의로 승인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27100" y="90297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3분 시연 = 1쪽 보고서보다 강력 — 가시화된 효과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9398000"/>
            <a:ext cx="6477000" cy="571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762000" y="95504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E8632C"/>
                </a:solidFill>
              </a:rPr>
              <a:t>★ 산출물 — 자기 직무 1쪽 종합 프로토타입 + 3분 시연 가능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T17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79" name="S17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18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7092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4.3 · 시연·피드백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Ch.4.3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시연·피드백 가이드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3분 시연 + 5분 동료 피드백 = 객관 검증 + 즉시 개선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3분 시연 — 시간 배분 가이드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30초 — 자기 직무 + 핵심 시나리오 ("굴삭기 정비 어시스턴트")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1분 30초 — 실제 시연 (Custom GPT 입력 → 결과)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1분 — ROI 효과 (시간 절약·정확도) + 다음 단계 (90일 plan)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•  ★ 핵심 — "이론"보다 "실제 작동" 강조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5분 피드백 — 4 영역 평가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✅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명확성 (Clarity)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직무·문제·해결 흐름이 명확한가? — 30초 안에 이해 가능?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💡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실용성 (Practicality)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실제 작동하는가? — "이론"이 아니라 "가동 가능" 프로토타입?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📈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효과성 (Impact)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ROI·KPI 수치가 명확한가? — "시간 90%↓" 등 정량 효과?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🚀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확장성 (Scalability)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다른 부서·직무에 확장 가능한가? — 90일 로드맵 명확?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피드백 진행 — 동료 1명 + 강사 1명 (총 2 피드백)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동료 — 같은 부서·직무 시각 (실용성 검증)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강사 — 표준 + 외부 시각 (확장성·임원 보고 가능성)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피드백 결과 — 1쪽 시연 자료 즉시 개선 → 부서장 보고 가능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시연 → 피드백 → 개선 = 즉시 가동 가능 (1주일 내 PoC 가동)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시연이 임원 신뢰의 90% 결정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이론 100쪽보다 3분 시연 = 임원 신뢰 + 추가 투자 + 자산화 가속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7577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Ch.4 정리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Ch.4 정리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Chapter 4 핵심 정리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자사 적용 종합 실습 — 6직무별 + 종합 프로토타입 + 시연·피드백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6직무 동일 프레임워크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기술문서·A/S·영업·해외·마케팅·DX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다른 것은 "입력 데이터 종류"뿐 — 학습한 5단계가 모든 직무에 적용 가능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60분 종합 프로토타입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PART 01~05 통합 적용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1쪽 시연 자료 + 3분 시연 + 5분 동료 피드백 = 부서장 보고 즉시 가능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시연이 임원 신뢰의 핵심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이론 100쪽 &lt; 3분 실제 작동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명확성 + 실용성 + 효과성 + 확장성 = 4 영역 피드백 → 즉시 개선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이론 → 실습 → 시연 = 자사 적용 검증 + 임원 신뢰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60분 실습 = 1주일 PoC 가동 가능 자료 (이론·로드맵보다 강력한 임원 설득력)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오늘의 산출물 — 자기 직무 1쪽 종합 프로토타입 + 3분 시연 가능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★ Chapter 5 BIG WIN — 자사 90일 데이터 자산화 로드맵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229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7400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7556500" cy="106934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/>
          <p:nvPr/>
        </p:nvSpPr>
        <p:spPr>
          <a:xfrm>
            <a:off x="5143500" y="5715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5803900" y="850900"/>
            <a:ext cx="850900" cy="8509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03"/>
          <p:cNvSpPr/>
          <p:nvPr/>
        </p:nvSpPr>
        <p:spPr>
          <a:xfrm>
            <a:off x="5334000" y="1333500"/>
            <a:ext cx="571500" cy="5715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spc="100" dirty="0">
                <a:solidFill>
                  <a:srgbClr val="BBBBBB"/>
                </a:solidFill>
              </a:rPr>
              <a:t>VOL.02 · PART 06 · DAY 6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spc="100" dirty="0">
                <a:solidFill>
                  <a:srgbClr val="BBBBBB"/>
                </a:solidFill>
              </a:rPr>
              <a:t>★ CHAPTER 5 · BIG WIN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952500" y="20955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600" dirty="0">
                <a:solidFill>
                  <a:srgbClr val="E8632C"/>
                </a:solidFill>
              </a:rPr>
              <a:t>★ BIG WIN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889000" y="23495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0" b="1" dirty="0">
                <a:solidFill>
                  <a:srgbClr val="F4B400"/>
                </a:solidFill>
              </a:rPr>
              <a:t>05</a:t>
            </a:r>
          </a:p>
        </p:txBody>
      </p:sp>
      <p:sp>
        <p:nvSpPr>
          <p:cNvPr id="108" name="S108"/>
          <p:cNvSpPr/>
          <p:nvPr/>
        </p:nvSpPr>
        <p:spPr>
          <a:xfrm>
            <a:off x="889000" y="4318000"/>
            <a:ext cx="11430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 txBox="1"/>
          <p:nvPr/>
        </p:nvSpPr>
        <p:spPr>
          <a:xfrm>
            <a:off x="889000" y="45720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자사 90일 데이터 자산화 로드맵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889000" y="5308600"/>
            <a:ext cx="57785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spc="100" dirty="0">
                <a:solidFill>
                  <a:srgbClr val="BBBBBB"/>
                </a:solidFill>
              </a:rPr>
              <a:t>Corporate 90-Day Data Asset Roadmap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889000" y="5778500"/>
            <a:ext cx="5778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"본 과정 최종 산출물 — 회사 변화의 출발점"</a:t>
            </a:r>
          </a:p>
        </p:txBody>
      </p:sp>
      <p:sp>
        <p:nvSpPr>
          <p:cNvPr id="112" name="S112"/>
          <p:cNvSpPr/>
          <p:nvPr/>
        </p:nvSpPr>
        <p:spPr>
          <a:xfrm>
            <a:off x="889000" y="6604000"/>
            <a:ext cx="5765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13"/>
          <p:cNvSpPr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889000" y="70485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371600" y="71120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Phase 1 (1~30일) — PoC 검증</a:t>
            </a:r>
          </a:p>
        </p:txBody>
      </p:sp>
      <p:sp>
        <p:nvSpPr>
          <p:cNvPr id="116" name="S116"/>
          <p:cNvSpPr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889000" y="74549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371600" y="7518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Phase 2 (30~60일) — 부서 확산</a:t>
            </a:r>
          </a:p>
        </p:txBody>
      </p:sp>
      <p:sp>
        <p:nvSpPr>
          <p:cNvPr id="119" name="S119"/>
          <p:cNvSpPr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889000" y="78613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3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1371600" y="7924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Phase 3 (60~90일) — 부서간 협업</a:t>
            </a:r>
          </a:p>
        </p:txBody>
      </p:sp>
      <p:sp>
        <p:nvSpPr>
          <p:cNvPr id="122" name="S122"/>
          <p:cNvSpPr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889000" y="82677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4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371600" y="8331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Phase 4 (90일+) — 전사 확산 + 지속</a:t>
            </a:r>
          </a:p>
        </p:txBody>
      </p:sp>
      <p:sp>
        <p:nvSpPr>
          <p:cNvPr id="125" name="S125"/>
          <p:cNvSpPr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889000" y="8674100"/>
            <a:ext cx="3429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F3A2E"/>
                </a:solidFill>
              </a:rPr>
              <a:t>★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371600" y="8737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</a:rPr>
              <a:t>임원 스폰서 + 챔피언 + 도구 + 인센티브 + 교육</a:t>
            </a:r>
          </a:p>
        </p:txBody>
      </p:sp>
      <p:sp>
        <p:nvSpPr>
          <p:cNvPr id="128" name="S128"/>
          <p:cNvSpPr/>
          <p:nvPr/>
        </p:nvSpPr>
        <p:spPr>
          <a:xfrm>
            <a:off x="889000" y="9334500"/>
            <a:ext cx="5765800" cy="698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889000" y="9334500"/>
            <a:ext cx="76200" cy="698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1143000" y="9461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★ 본 과정 최종 BIG WIN 산출물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143000" y="9715500"/>
            <a:ext cx="5511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자사 90일 로드맵 = 회사 변화의 헌법 (월간 KPI 측정 + 분기 임원 보고)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5715000" y="10236200"/>
            <a:ext cx="1308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230 —</a:t>
            </a:r>
            <a:endParaRPr lang="en-US" sz="900" dirty="0">
              <a:solidFill>
                <a:srgbClr val="6B6B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19288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5.1 · 90일 로드맵 · ★ BIG WIN · 그림 6-8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★ BIG WIN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자사 90일 데이터 자산화 로드맵 (★ BIG WIN)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본 과정 최종 산출물 — 회사 변화의 출발점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PoC 검증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1~30일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자기 부서 적용
3~5명 얼리어답터
매주 검토·개선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부서 확산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30~60일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부서 전체 도입
챔피언 그룹 형성
사내 가이드 작성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부서간 협업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60~90일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인접 부서 확산
데이터 공유 체계
표준 통일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전사 확산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90일+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전사 정책 수립
임원 보고·승인
신규 직원 교육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★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1·30·60·90·90+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마일스톤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5 체크포인트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Phase 1~4 + 측정·개선
월간 KPI + 분기 임원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Phase별 핵심 산출물 + 성공 지표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Phase 1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시스템 가동 + KPI 측정 (1~4주) + 챔피언 후보 1명 추천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Phase 2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부서 표준 + 챔피언 3~5명 그룹 + 월간 KPI 보고 (부서장)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Phase 3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공유 시스템 + 챔피언 10~20명 + 분기 KPI 보고 (임원)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핵심 성공 요소 — 5 요소 모두 작동해야 90일 후 정상 가동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임원 스폰서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임원 1명 후원 — 전사 확산 필수 ("데이터 자산화 = 회사 전략" 메시지)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부서 챔피언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각 부서 1명 = 챔피언 그룹 6명 — 정기 미팅·노하우 공유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도구 통합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ERP·CRM·LMS 연동 + 표준 도구 1종 (Notion·Forms·Slack 등)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인센티브·교육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데이터 품질 KPI 평가 반영 + 신규 직원 필수 + 분기 리프레시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마일스톤 6 — Day 1·30·60·90·180·1년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30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60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90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180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1년+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핵심 — 90일 로드맵 = 회사 변화의 출발점 → 1년 후 자산화 완성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231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53466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5.2 · Phase 1·2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Ch.5.2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Phase 1·2 — PoC 검증 + 부서 확산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1~30일 PoC + 30~60일 부서 확산 — 60일 만에 부서 가동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Phase 1 — PoC (1~30일)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Phase 2 — 부서 확산 (30~60일)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참여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3~5명 얼리어답터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부서 전체 + 챔피언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1~7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도구 가동 + 첫 KPI 측정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사내 가이드 작성 시작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8~14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1주 검토 + 개선 1차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챔피언 그룹 형성 (3~5명)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15~21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효과 가시화 + 동료 모집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부서 전체 도입 + 교육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22~30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PoC 효과 보고 + 챔피언 1명 추천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월간 KPI 보고 (부서장)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산출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시스템 가동 + KPI 4주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부서 표준 + 챔피언 그룹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결과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ROI 첫 검증 가능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부서장 신뢰 확보 + 임원 보고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Phase 1 핵심 — "빨리 가동" + "빨리 측정" / Phase 2 핵심 — "챔피언 그룹"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1~30일
3~5명 PoC
주간 검토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산출 1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시스템 가동
KPI 측정 (1~4주)
챔피언 후보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30~60일
부서 전체
챔피언 형성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산출 2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부서 표준
챔피언 (3~5명)
월간 KPI 보고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Phase 1·2 핵심 성공 요소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1: 도구 1개 선정 (Custom GPT 추천) + 챔피언 1명 사전 합의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Phase 2: 부서장 후원 + 부서 KPI 합의 + 월간 정기 보고 일정 사전 등록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Phase 1·2 = 60일 = 회사 변화의 "가시화" 단계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60일 후에 부서장·임원이 "이게 되는구나" 인정 → Phase 3·4 자동 진행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Phase 1 시작 1주일 체크리스트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챔피언 1명 + 얼리어답터 3명 사전 합의 + Day 1 일정 캘린더 등록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도구 1개 선정 + KPI 측정 표준 정의 + 주간 검토 회의 등록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232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3908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5.3 · Phase 3·4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Ch.5.3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Phase 3·4 — 부서간 협업 + 전사 확산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60~90일 부서간 + 90일+ 전사 — 회사 변화의 완성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457200" cy="4572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460500" y="2095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Phase 3 — 부서간 협업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460500" y="2451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🔄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1778000" y="2451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60~90일  ·  인접 부서 확산 (3~6 부서)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1460500" y="2705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778000" y="2705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데이터 공유 체계 + 표준 통일</a:t>
            </a:r>
          </a:p>
        </p:txBody>
      </p:sp>
      <p:sp>
        <p:nvSpPr>
          <p:cNvPr id="118" name="S118"/>
          <p:cNvSpPr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 txBox="1"/>
          <p:nvPr/>
        </p:nvSpPr>
        <p:spPr>
          <a:xfrm>
            <a:off x="6032500" y="2603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협업</a:t>
            </a:r>
          </a:p>
        </p:txBody>
      </p:sp>
      <p:sp>
        <p:nvSpPr>
          <p:cNvPr id="120" name="S120"/>
          <p:cNvSpPr/>
          <p:nvPr/>
        </p:nvSpPr>
        <p:spPr>
          <a:xfrm>
            <a:off x="546100" y="31750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546100" y="3175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460500" y="33020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Phase 4 — 전사 확산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460500" y="3657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🌍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3657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90일+  ·  전사 정책 수립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1460500" y="3911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778000" y="39116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임원 보고·승인 + 신규 직원 교육</a:t>
            </a:r>
          </a:p>
        </p:txBody>
      </p:sp>
      <p:sp>
        <p:nvSpPr>
          <p:cNvPr id="129" name="S129"/>
          <p:cNvSpPr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6032500" y="38100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전사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4381500"/>
            <a:ext cx="6477000" cy="1143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S132"/>
          <p:cNvSpPr/>
          <p:nvPr/>
        </p:nvSpPr>
        <p:spPr>
          <a:xfrm>
            <a:off x="546100" y="4381500"/>
            <a:ext cx="762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1460500" y="45085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지속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460500" y="4864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C73E1D"/>
                </a:solidFill>
              </a:rPr>
              <a:t>🔁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778000" y="4864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Phase 4+  ·  분기 KPI + 연간 재정의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460500" y="51181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8B9A3F"/>
                </a:solidFill>
              </a:rPr>
              <a:t>▶</a:t>
            </a:r>
          </a:p>
        </p:txBody>
      </p:sp>
      <p:sp>
        <p:nvSpPr>
          <p:cNvPr id="139" name="T139"/>
          <p:cNvSpPr txBox="1"/>
          <p:nvPr/>
        </p:nvSpPr>
        <p:spPr>
          <a:xfrm>
            <a:off x="1778000" y="51181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b="1" dirty="0">
                <a:solidFill>
                  <a:srgbClr val="2C2C2C"/>
                </a:solidFill>
              </a:rPr>
              <a:t>외부 검증·벤치마킹 + 자산 보고</a:t>
            </a:r>
          </a:p>
        </p:txBody>
      </p:sp>
      <p:sp>
        <p:nvSpPr>
          <p:cNvPr id="140" name="S140"/>
          <p:cNvSpPr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 txBox="1"/>
          <p:nvPr/>
        </p:nvSpPr>
        <p:spPr>
          <a:xfrm>
            <a:off x="6032500" y="5016500"/>
            <a:ext cx="825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진화</a:t>
            </a:r>
          </a:p>
        </p:txBody>
      </p:sp>
      <p:sp>
        <p:nvSpPr>
          <p:cNvPr id="142" name="S142"/>
          <p:cNvSpPr/>
          <p:nvPr/>
        </p:nvSpPr>
        <p:spPr>
          <a:xfrm>
            <a:off x="546100" y="5524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143"/>
          <p:cNvSpPr txBox="1"/>
          <p:nvPr/>
        </p:nvSpPr>
        <p:spPr>
          <a:xfrm>
            <a:off x="762000" y="5524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Phase 3·4 핵심 활동 + 산출물</a:t>
            </a:r>
          </a:p>
        </p:txBody>
      </p:sp>
      <p:sp>
        <p:nvSpPr>
          <p:cNvPr id="144" name="S144"/>
          <p:cNvSpPr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145"/>
          <p:cNvSpPr txBox="1"/>
          <p:nvPr/>
        </p:nvSpPr>
        <p:spPr>
          <a:xfrm>
            <a:off x="546100" y="5905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활동</a:t>
            </a:r>
          </a:p>
        </p:txBody>
      </p:sp>
      <p:sp>
        <p:nvSpPr>
          <p:cNvPr id="146" name="S146"/>
          <p:cNvSpPr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30861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(60~90일)</a:t>
            </a:r>
          </a:p>
        </p:txBody>
      </p:sp>
      <p:sp>
        <p:nvSpPr>
          <p:cNvPr id="148" name="S148"/>
          <p:cNvSpPr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149"/>
          <p:cNvSpPr txBox="1"/>
          <p:nvPr/>
        </p:nvSpPr>
        <p:spPr>
          <a:xfrm>
            <a:off x="5054600" y="59055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Phase 4 (90일+)</a:t>
            </a:r>
          </a:p>
        </p:txBody>
      </p:sp>
      <p:sp>
        <p:nvSpPr>
          <p:cNvPr id="150" name="S150"/>
          <p:cNvSpPr/>
          <p:nvPr/>
        </p:nvSpPr>
        <p:spPr>
          <a:xfrm>
            <a:off x="546100" y="62103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/>
          <p:nvPr/>
        </p:nvSpPr>
        <p:spPr>
          <a:xfrm>
            <a:off x="635000" y="62103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범위</a:t>
            </a:r>
          </a:p>
        </p:txBody>
      </p:sp>
      <p:sp>
        <p:nvSpPr>
          <p:cNvPr id="152" name="S152"/>
          <p:cNvSpPr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/>
          <p:nvPr/>
        </p:nvSpPr>
        <p:spPr>
          <a:xfrm>
            <a:off x="30861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인접 부서 (3~6)</a:t>
            </a:r>
          </a:p>
        </p:txBody>
      </p:sp>
      <p:sp>
        <p:nvSpPr>
          <p:cNvPr id="154" name="S154"/>
          <p:cNvSpPr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T155"/>
          <p:cNvSpPr txBox="1"/>
          <p:nvPr/>
        </p:nvSpPr>
        <p:spPr>
          <a:xfrm>
            <a:off x="5054600" y="62103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전사 100명+</a:t>
            </a:r>
          </a:p>
        </p:txBody>
      </p:sp>
      <p:sp>
        <p:nvSpPr>
          <p:cNvPr id="156" name="S156"/>
          <p:cNvSpPr/>
          <p:nvPr/>
        </p:nvSpPr>
        <p:spPr>
          <a:xfrm>
            <a:off x="546100" y="6540500"/>
            <a:ext cx="25400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635000" y="65405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챔피언</a:t>
            </a:r>
          </a:p>
        </p:txBody>
      </p:sp>
      <p:sp>
        <p:nvSpPr>
          <p:cNvPr id="158" name="S158"/>
          <p:cNvSpPr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30861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10~20명 그룹</a:t>
            </a:r>
          </a:p>
        </p:txBody>
      </p:sp>
      <p:sp>
        <p:nvSpPr>
          <p:cNvPr id="160" name="S160"/>
          <p:cNvSpPr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" name="T161"/>
          <p:cNvSpPr txBox="1"/>
          <p:nvPr/>
        </p:nvSpPr>
        <p:spPr>
          <a:xfrm>
            <a:off x="5054600" y="65405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부서별 1~2명 (전사 6~12)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6870700"/>
            <a:ext cx="25400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635000" y="68707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거버넌스</a:t>
            </a:r>
          </a:p>
        </p:txBody>
      </p:sp>
      <p:sp>
        <p:nvSpPr>
          <p:cNvPr id="164" name="S164"/>
          <p:cNvSpPr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30861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공유 표준 통일</a:t>
            </a:r>
          </a:p>
        </p:txBody>
      </p:sp>
      <p:sp>
        <p:nvSpPr>
          <p:cNvPr id="166" name="S166"/>
          <p:cNvSpPr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5054600" y="68707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8B9A3F"/>
                </a:solidFill>
              </a:rPr>
              <a:t>전사 정책 + 외부 검증</a:t>
            </a:r>
          </a:p>
        </p:txBody>
      </p:sp>
      <p:sp>
        <p:nvSpPr>
          <p:cNvPr id="168" name="S168"/>
          <p:cNvSpPr/>
          <p:nvPr/>
        </p:nvSpPr>
        <p:spPr>
          <a:xfrm>
            <a:off x="546100" y="7200900"/>
            <a:ext cx="25400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169"/>
          <p:cNvSpPr txBox="1"/>
          <p:nvPr/>
        </p:nvSpPr>
        <p:spPr>
          <a:xfrm>
            <a:off x="635000" y="7200900"/>
            <a:ext cx="24511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000" b="1" dirty="0">
                <a:solidFill>
                  <a:srgbClr val="2C2C2C"/>
                </a:solidFill>
              </a:rPr>
              <a:t>보고</a:t>
            </a:r>
          </a:p>
        </p:txBody>
      </p:sp>
      <p:sp>
        <p:nvSpPr>
          <p:cNvPr id="170" name="S170"/>
          <p:cNvSpPr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30861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C73E1D"/>
                </a:solidFill>
              </a:rPr>
              <a:t>분기 KPI 보고</a:t>
            </a:r>
          </a:p>
        </p:txBody>
      </p:sp>
      <p:sp>
        <p:nvSpPr>
          <p:cNvPr id="172" name="S172"/>
          <p:cNvSpPr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solidFill>
            <a:srgbClr val="FFF8E8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173"/>
          <p:cNvSpPr txBox="1"/>
          <p:nvPr/>
        </p:nvSpPr>
        <p:spPr>
          <a:xfrm>
            <a:off x="5054600" y="7200900"/>
            <a:ext cx="19685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★ 연간 보고 + 임원 승인</a:t>
            </a:r>
          </a:p>
        </p:txBody>
      </p:sp>
      <p:sp>
        <p:nvSpPr>
          <p:cNvPr id="174" name="S174"/>
          <p:cNvSpPr/>
          <p:nvPr/>
        </p:nvSpPr>
        <p:spPr>
          <a:xfrm>
            <a:off x="546100" y="77470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S175"/>
          <p:cNvSpPr/>
          <p:nvPr/>
        </p:nvSpPr>
        <p:spPr>
          <a:xfrm>
            <a:off x="546100" y="77470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T176"/>
          <p:cNvSpPr txBox="1"/>
          <p:nvPr/>
        </p:nvSpPr>
        <p:spPr>
          <a:xfrm>
            <a:off x="927100" y="791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전사 확산 5 성공 요소 — 90일 이후 1년 영향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7100" y="82296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임원 스폰서 + 챔피언 그룹 + 도구 통합 + 인센티브 + 지속 교육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5 요소 모두 = 1년 후 "회사 자산화 완성" — 1개라도 부재 = 90일 후 무너짐</a:t>
            </a:r>
          </a:p>
        </p:txBody>
      </p:sp>
      <p:sp>
        <p:nvSpPr>
          <p:cNvPr id="179" name="S179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S180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T181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94361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3·4 = 회사 변화의 "제도화" 단계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927100" y="977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DDDDDD"/>
                </a:solidFill>
              </a:rPr>
              <a:t>Phase 1·2 (가시화) → Phase 3·4 (제도화) → 1년 (문화화) — 3 단계 진화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5" name="T185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6" name="T186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233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87" name="S187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S188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S190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933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★ Ch.5 정리 · BIG WIN 달성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★ BIG WIN 달성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💡 ★ Chapter 5 핵심 정리 (BIG WIN 달성)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본 과정 최종 BIG WIN 완성 — 자사 90일 데이터 자산화 로드맵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Phase 1·2 — 가시화 (60일)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PoC + 부서 확산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1~30일 PoC (3~5명) + 30~60일 부서 확산 = 부서장·임원 신뢰 확보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Phase 3·4 — 제도화 (90일+)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부서간 + 전사 + 지속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60~90일 부서간 + 90일+ 전사 + 지속 = 회사 변화의 헌법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5 성공 요소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임원·챔피언·도구·인센티브·교육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5 요소 모두 = 1년 후 자산화 완성 / 1개라도 부재 = 90일 후 무너짐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본 과정 최종 BIG WIN 달성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자사 90일 로드맵 = 회사 변화의 출발점 + 1년 후 자산화 완성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DAY 1~6 = 6일 96시간 학습 → 90일 = 부서 가동 → 1년 = 회사 변화 완성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다음 단계 (1주일 내) — ☐ 부서장 보고  ☐ Day 1 일정 잡기  ☐ 챔피언 추천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챕터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Chapter 6 — 6일 전체 회고 + ★ VOL.01·02 통합 비전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234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0077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6일 전체 회고 · 그림 6-9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6일 회고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6일간의 학습 여정 — VOL.02 종합 회고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막연한 관심에서 데이터 자산화 리더로 — 6일 96시간의 변화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12954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6096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6096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9271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6096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데이터 자산화 개론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096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0F3A2E"/>
                </a:solidFill>
              </a:rPr>
              <a:t>Identify</a:t>
            </a:r>
          </a:p>
        </p:txBody>
      </p:sp>
      <p:sp>
        <p:nvSpPr>
          <p:cNvPr id="116" name="S116"/>
          <p:cNvSpPr/>
          <p:nvPr/>
        </p:nvSpPr>
        <p:spPr>
          <a:xfrm>
            <a:off x="7366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6096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암묵지·DIKW
4분면 진단</a:t>
            </a:r>
          </a:p>
        </p:txBody>
      </p:sp>
      <p:sp>
        <p:nvSpPr>
          <p:cNvPr id="118" name="S118"/>
          <p:cNvSpPr/>
          <p:nvPr/>
        </p:nvSpPr>
        <p:spPr>
          <a:xfrm>
            <a:off x="18415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18415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1841500" y="1968500"/>
            <a:ext cx="12954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121"/>
          <p:cNvSpPr/>
          <p:nvPr/>
        </p:nvSpPr>
        <p:spPr>
          <a:xfrm>
            <a:off x="19050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9050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8632C"/>
                </a:solidFill>
              </a:rPr>
              <a:t>2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22225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9050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현장 데이터 수집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9050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E8632C"/>
                </a:solidFill>
              </a:rPr>
              <a:t>Collect</a:t>
            </a:r>
          </a:p>
        </p:txBody>
      </p:sp>
      <p:sp>
        <p:nvSpPr>
          <p:cNvPr id="126" name="S126"/>
          <p:cNvSpPr/>
          <p:nvPr/>
        </p:nvSpPr>
        <p:spPr>
          <a:xfrm>
            <a:off x="20320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/>
          <p:nvPr/>
        </p:nvSpPr>
        <p:spPr>
          <a:xfrm>
            <a:off x="19050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스마트폰·인터뷰
1주 시스템</a:t>
            </a:r>
          </a:p>
        </p:txBody>
      </p:sp>
      <p:sp>
        <p:nvSpPr>
          <p:cNvPr id="128" name="S128"/>
          <p:cNvSpPr/>
          <p:nvPr/>
        </p:nvSpPr>
        <p:spPr>
          <a:xfrm>
            <a:off x="31369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31369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/>
          <p:nvPr/>
        </p:nvSpPr>
        <p:spPr>
          <a:xfrm>
            <a:off x="3136900" y="1968500"/>
            <a:ext cx="1295400" cy="381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31"/>
          <p:cNvSpPr/>
          <p:nvPr/>
        </p:nvSpPr>
        <p:spPr>
          <a:xfrm>
            <a:off x="32004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32004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D7BC8"/>
                </a:solidFill>
              </a:rPr>
              <a:t>3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35179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32004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OCR·STT 디지털화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32004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3D7BC8"/>
                </a:solidFill>
              </a:rPr>
              <a:t>Digitize</a:t>
            </a:r>
          </a:p>
        </p:txBody>
      </p:sp>
      <p:sp>
        <p:nvSpPr>
          <p:cNvPr id="136" name="S136"/>
          <p:cNvSpPr/>
          <p:nvPr/>
        </p:nvSpPr>
        <p:spPr>
          <a:xfrm>
            <a:off x="33274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/>
          <p:nvPr/>
        </p:nvSpPr>
        <p:spPr>
          <a:xfrm>
            <a:off x="32004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4기술·다국어
자동 파이프라인</a:t>
            </a:r>
          </a:p>
        </p:txBody>
      </p:sp>
      <p:sp>
        <p:nvSpPr>
          <p:cNvPr id="138" name="S138"/>
          <p:cNvSpPr/>
          <p:nvPr/>
        </p:nvSpPr>
        <p:spPr>
          <a:xfrm>
            <a:off x="44323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139"/>
          <p:cNvSpPr/>
          <p:nvPr/>
        </p:nvSpPr>
        <p:spPr>
          <a:xfrm>
            <a:off x="44323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4432300" y="1968500"/>
            <a:ext cx="12954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44958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44958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B9A3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48133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4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44958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구조화·표준화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44958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8B9A3F"/>
                </a:solidFill>
              </a:rPr>
              <a:t>Structure</a:t>
            </a:r>
          </a:p>
        </p:txBody>
      </p:sp>
      <p:sp>
        <p:nvSpPr>
          <p:cNvPr id="146" name="S146"/>
          <p:cNvSpPr/>
          <p:nvPr/>
        </p:nvSpPr>
        <p:spPr>
          <a:xfrm>
            <a:off x="46228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147"/>
          <p:cNvSpPr txBox="1"/>
          <p:nvPr/>
        </p:nvSpPr>
        <p:spPr>
          <a:xfrm>
            <a:off x="44958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메타데이터·분류
5 Layer 거버넌스</a:t>
            </a:r>
          </a:p>
        </p:txBody>
      </p:sp>
      <p:sp>
        <p:nvSpPr>
          <p:cNvPr id="148" name="S148"/>
          <p:cNvSpPr/>
          <p:nvPr/>
        </p:nvSpPr>
        <p:spPr>
          <a:xfrm>
            <a:off x="5727700" y="2997200"/>
            <a:ext cx="63500" cy="177800"/>
          </a:xfrm>
          <a:prstGeom prst="rightArrow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S149"/>
          <p:cNvSpPr/>
          <p:nvPr/>
        </p:nvSpPr>
        <p:spPr>
          <a:xfrm>
            <a:off x="5727700" y="1968500"/>
            <a:ext cx="1295400" cy="17018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/>
          <p:nvPr/>
        </p:nvSpPr>
        <p:spPr>
          <a:xfrm>
            <a:off x="5727700" y="1968500"/>
            <a:ext cx="1295400" cy="381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S151"/>
          <p:cNvSpPr/>
          <p:nvPr/>
        </p:nvSpPr>
        <p:spPr>
          <a:xfrm>
            <a:off x="5791200" y="20320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5791200" y="203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7E3FBF"/>
                </a:solidFill>
              </a:rPr>
              <a:t>5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6108700" y="2032000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850" b="1" spc="100" dirty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5791200" y="2476500"/>
            <a:ext cx="116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2C2C2C"/>
                </a:solidFill>
              </a:rPr>
              <a:t>품질 관리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5791200" y="2730500"/>
            <a:ext cx="116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spc="100" dirty="0">
                <a:solidFill>
                  <a:srgbClr val="7E3FBF"/>
                </a:solidFill>
              </a:rPr>
              <a:t>Quality</a:t>
            </a:r>
          </a:p>
        </p:txBody>
      </p:sp>
      <p:sp>
        <p:nvSpPr>
          <p:cNvPr id="156" name="S156"/>
          <p:cNvSpPr/>
          <p:nvPr/>
        </p:nvSpPr>
        <p:spPr>
          <a:xfrm>
            <a:off x="5918200" y="2984500"/>
            <a:ext cx="9144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/>
          <p:nvPr/>
        </p:nvSpPr>
        <p:spPr>
          <a:xfrm>
            <a:off x="5791200" y="3086100"/>
            <a:ext cx="1168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dirty="0">
                <a:solidFill>
                  <a:srgbClr val="6B6B6B"/>
                </a:solidFill>
              </a:rPr>
              <a:t>6차원·검수
품질 시스템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3924299"/>
            <a:ext cx="6477000" cy="1423987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159"/>
          <p:cNvSpPr/>
          <p:nvPr/>
        </p:nvSpPr>
        <p:spPr>
          <a:xfrm>
            <a:off x="546100" y="3924300"/>
            <a:ext cx="63500" cy="1423986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160"/>
          <p:cNvSpPr txBox="1"/>
          <p:nvPr/>
        </p:nvSpPr>
        <p:spPr>
          <a:xfrm>
            <a:off x="927100" y="4089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★ 6일 전후 변화 — 4 차원 변화</a:t>
            </a:r>
          </a:p>
        </p:txBody>
      </p:sp>
      <p:sp>
        <p:nvSpPr>
          <p:cNvPr id="161" name="S161"/>
          <p:cNvSpPr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T162"/>
          <p:cNvSpPr txBox="1"/>
          <p:nvPr/>
        </p:nvSpPr>
        <p:spPr>
          <a:xfrm>
            <a:off x="927100" y="4406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이해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1816100" y="4419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"데이터가 뭐지?" → 데이터 자산화 전문가 (DIKW·SECI·5단계 마스터)</a:t>
            </a:r>
          </a:p>
        </p:txBody>
      </p:sp>
      <p:sp>
        <p:nvSpPr>
          <p:cNvPr id="164" name="S164"/>
          <p:cNvSpPr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165"/>
          <p:cNvSpPr txBox="1"/>
          <p:nvPr/>
        </p:nvSpPr>
        <p:spPr>
          <a:xfrm>
            <a:off x="927100" y="4660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능력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1816100" y="4673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"OCR이 뭐지?" → 5단계 + KPI 마스터 (4기술·다국어·6차원)</a:t>
            </a:r>
          </a:p>
        </p:txBody>
      </p:sp>
      <p:sp>
        <p:nvSpPr>
          <p:cNvPr id="167" name="S167"/>
          <p:cNvSpPr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168"/>
          <p:cNvSpPr txBox="1"/>
          <p:nvPr/>
        </p:nvSpPr>
        <p:spPr>
          <a:xfrm>
            <a:off x="927100" y="49149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산출물·영향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1816100" y="49276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산출물 0개 → ★ 6대 시스템 + 90일 로드맵 → 전사 자산화 리더</a:t>
            </a:r>
          </a:p>
        </p:txBody>
      </p:sp>
      <p:sp>
        <p:nvSpPr>
          <p:cNvPr id="170" name="S170"/>
          <p:cNvSpPr/>
          <p:nvPr/>
        </p:nvSpPr>
        <p:spPr>
          <a:xfrm>
            <a:off x="546100" y="57785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762000" y="5778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★ DAY 6 — 본 과정 최종 (오늘)</a:t>
            </a:r>
          </a:p>
        </p:txBody>
      </p:sp>
      <p:sp>
        <p:nvSpPr>
          <p:cNvPr id="172" name="S172"/>
          <p:cNvSpPr/>
          <p:nvPr/>
        </p:nvSpPr>
        <p:spPr>
          <a:xfrm>
            <a:off x="546100" y="62865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S173"/>
          <p:cNvSpPr/>
          <p:nvPr/>
        </p:nvSpPr>
        <p:spPr>
          <a:xfrm>
            <a:off x="546100" y="6286500"/>
            <a:ext cx="76200" cy="4445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T174"/>
          <p:cNvSpPr txBox="1"/>
          <p:nvPr/>
        </p:nvSpPr>
        <p:spPr>
          <a:xfrm>
            <a:off x="762000" y="63881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D97757"/>
                </a:solidFill>
              </a:rPr>
              <a:t>오늘 배운 것</a:t>
            </a:r>
          </a:p>
        </p:txBody>
      </p:sp>
      <p:sp>
        <p:nvSpPr>
          <p:cNvPr id="175" name="T175"/>
          <p:cNvSpPr txBox="1"/>
          <p:nvPr/>
        </p:nvSpPr>
        <p:spPr>
          <a:xfrm>
            <a:off x="2921000" y="64008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KPI·자사 적용 (4대 KPI + ROI 4배 + 임원 보고 + 종합 프로토타입)</a:t>
            </a:r>
          </a:p>
        </p:txBody>
      </p:sp>
      <p:sp>
        <p:nvSpPr>
          <p:cNvPr id="176" name="S176"/>
          <p:cNvSpPr/>
          <p:nvPr/>
        </p:nvSpPr>
        <p:spPr>
          <a:xfrm>
            <a:off x="546100" y="67691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S177"/>
          <p:cNvSpPr/>
          <p:nvPr/>
        </p:nvSpPr>
        <p:spPr>
          <a:xfrm>
            <a:off x="546100" y="6769100"/>
            <a:ext cx="76200" cy="4445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T178"/>
          <p:cNvSpPr txBox="1"/>
          <p:nvPr/>
        </p:nvSpPr>
        <p:spPr>
          <a:xfrm>
            <a:off x="762000" y="68707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10A37F"/>
                </a:solidFill>
              </a:rPr>
              <a:t>★ BIG WIN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2921000" y="68834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자사 90일 로드맵 (Phase 1~4 + 5 성공 요소) = 회사 변화의 헌법</a:t>
            </a:r>
          </a:p>
        </p:txBody>
      </p:sp>
      <p:sp>
        <p:nvSpPr>
          <p:cNvPr id="180" name="S180"/>
          <p:cNvSpPr/>
          <p:nvPr/>
        </p:nvSpPr>
        <p:spPr>
          <a:xfrm>
            <a:off x="546100" y="72517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S181"/>
          <p:cNvSpPr/>
          <p:nvPr/>
        </p:nvSpPr>
        <p:spPr>
          <a:xfrm>
            <a:off x="546100" y="7251700"/>
            <a:ext cx="76200" cy="444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T182"/>
          <p:cNvSpPr txBox="1"/>
          <p:nvPr/>
        </p:nvSpPr>
        <p:spPr>
          <a:xfrm>
            <a:off x="762000" y="73533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7E3FBF"/>
                </a:solidFill>
              </a:rPr>
              <a:t>통합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2921000" y="7366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VOL.01 (4 도구 마스터) + VOL.02 (자산화 마스터) = 12일 96시간 통합</a:t>
            </a:r>
          </a:p>
        </p:txBody>
      </p:sp>
      <p:sp>
        <p:nvSpPr>
          <p:cNvPr id="184" name="S184"/>
          <p:cNvSpPr/>
          <p:nvPr/>
        </p:nvSpPr>
        <p:spPr>
          <a:xfrm>
            <a:off x="546100" y="7734300"/>
            <a:ext cx="6477000" cy="444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S185"/>
          <p:cNvSpPr/>
          <p:nvPr/>
        </p:nvSpPr>
        <p:spPr>
          <a:xfrm>
            <a:off x="546100" y="7734300"/>
            <a:ext cx="76200" cy="444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T186"/>
          <p:cNvSpPr txBox="1"/>
          <p:nvPr/>
        </p:nvSpPr>
        <p:spPr>
          <a:xfrm>
            <a:off x="762000" y="78359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dirty="0">
                <a:solidFill>
                  <a:srgbClr val="333333"/>
                </a:solidFill>
              </a:rPr>
              <a:t>최종 비전</a:t>
            </a:r>
          </a:p>
        </p:txBody>
      </p:sp>
      <p:sp>
        <p:nvSpPr>
          <p:cNvPr id="187" name="T187"/>
          <p:cNvSpPr txBox="1"/>
          <p:nvPr/>
        </p:nvSpPr>
        <p:spPr>
          <a:xfrm>
            <a:off x="2921000" y="78486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★ 건설기계 산업 AI 변화의 주역 — 베테랑 노하우 → 글로벌 경쟁력</a:t>
            </a:r>
          </a:p>
        </p:txBody>
      </p:sp>
      <p:sp>
        <p:nvSpPr>
          <p:cNvPr id="188" name="S188"/>
          <p:cNvSpPr/>
          <p:nvPr/>
        </p:nvSpPr>
        <p:spPr>
          <a:xfrm>
            <a:off x="546100" y="8382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S189"/>
          <p:cNvSpPr/>
          <p:nvPr/>
        </p:nvSpPr>
        <p:spPr>
          <a:xfrm>
            <a:off x="546100" y="8382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190"/>
          <p:cNvSpPr txBox="1"/>
          <p:nvPr/>
        </p:nvSpPr>
        <p:spPr>
          <a:xfrm>
            <a:off x="927100" y="854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DAY 6 — 본 과정 최종 BIG WIN — 90일 로드맵 (★ 본 과정 최종 산출물)</a:t>
            </a:r>
          </a:p>
        </p:txBody>
      </p:sp>
      <p:sp>
        <p:nvSpPr>
          <p:cNvPr id="191" name="S191"/>
          <p:cNvSpPr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T192"/>
          <p:cNvSpPr txBox="1"/>
          <p:nvPr/>
        </p:nvSpPr>
        <p:spPr>
          <a:xfrm>
            <a:off x="92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6</a:t>
            </a:r>
          </a:p>
        </p:txBody>
      </p:sp>
      <p:sp>
        <p:nvSpPr>
          <p:cNvPr id="193" name="S193"/>
          <p:cNvSpPr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T194"/>
          <p:cNvSpPr txBox="1"/>
          <p:nvPr/>
        </p:nvSpPr>
        <p:spPr>
          <a:xfrm>
            <a:off x="1943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KPI·ROI</a:t>
            </a:r>
          </a:p>
        </p:txBody>
      </p:sp>
      <p:sp>
        <p:nvSpPr>
          <p:cNvPr id="195" name="S195"/>
          <p:cNvSpPr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196"/>
          <p:cNvSpPr txBox="1"/>
          <p:nvPr/>
        </p:nvSpPr>
        <p:spPr>
          <a:xfrm>
            <a:off x="2959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임원 보고</a:t>
            </a:r>
          </a:p>
        </p:txBody>
      </p:sp>
      <p:sp>
        <p:nvSpPr>
          <p:cNvPr id="197" name="S197"/>
          <p:cNvSpPr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8" name="T198"/>
          <p:cNvSpPr txBox="1"/>
          <p:nvPr/>
        </p:nvSpPr>
        <p:spPr>
          <a:xfrm>
            <a:off x="3975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프로토타입</a:t>
            </a:r>
          </a:p>
        </p:txBody>
      </p:sp>
      <p:sp>
        <p:nvSpPr>
          <p:cNvPr id="199" name="S199"/>
          <p:cNvSpPr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T200"/>
          <p:cNvSpPr txBox="1"/>
          <p:nvPr/>
        </p:nvSpPr>
        <p:spPr>
          <a:xfrm>
            <a:off x="4991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90일</a:t>
            </a:r>
          </a:p>
        </p:txBody>
      </p:sp>
      <p:sp>
        <p:nvSpPr>
          <p:cNvPr id="201" name="S201"/>
          <p:cNvSpPr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202"/>
          <p:cNvSpPr txBox="1"/>
          <p:nvPr/>
        </p:nvSpPr>
        <p:spPr>
          <a:xfrm>
            <a:off x="6007100" y="8890000"/>
            <a:ext cx="952500" cy="317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비전</a:t>
            </a:r>
          </a:p>
        </p:txBody>
      </p:sp>
      <p:sp>
        <p:nvSpPr>
          <p:cNvPr id="203" name="S203"/>
          <p:cNvSpPr/>
          <p:nvPr/>
        </p:nvSpPr>
        <p:spPr>
          <a:xfrm>
            <a:off x="546100" y="9525000"/>
            <a:ext cx="6477000" cy="444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S204"/>
          <p:cNvSpPr/>
          <p:nvPr/>
        </p:nvSpPr>
        <p:spPr>
          <a:xfrm>
            <a:off x="546100" y="9525000"/>
            <a:ext cx="76200" cy="444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205"/>
          <p:cNvSpPr txBox="1"/>
          <p:nvPr/>
        </p:nvSpPr>
        <p:spPr>
          <a:xfrm>
            <a:off x="927100" y="965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★ 6일 학습 결과 = 회사 변화의 출발점 = 산업 AI 전환의 주역</a:t>
            </a:r>
          </a:p>
        </p:txBody>
      </p:sp>
      <p:sp>
        <p:nvSpPr>
          <p:cNvPr id="206" name="S206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235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209" name="S209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S211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S212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01308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VOL.01 + VOL.02 통합 · 그림 6-10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통합 비전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VOL.01 + VOL.02 통합 — 본 과정 최종 비전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12일 96시간의 종착점 — 건설기계 산업 AI 전환의 주역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 txBox="1"/>
          <p:nvPr/>
        </p:nvSpPr>
        <p:spPr>
          <a:xfrm>
            <a:off x="5461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VOL.01 (6일)</a:t>
            </a:r>
          </a:p>
        </p:txBody>
      </p:sp>
      <p:sp>
        <p:nvSpPr>
          <p:cNvPr id="111" name="S111"/>
          <p:cNvSpPr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3784600" y="1968500"/>
            <a:ext cx="32385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spc="100" dirty="0">
                <a:solidFill>
                  <a:srgbClr val="FFFFFF"/>
                </a:solidFill>
              </a:rPr>
              <a:t>VOL.02 (6일)</a:t>
            </a:r>
          </a:p>
        </p:txBody>
      </p:sp>
      <p:sp>
        <p:nvSpPr>
          <p:cNvPr id="113" name="S113"/>
          <p:cNvSpPr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114"/>
          <p:cNvSpPr txBox="1"/>
          <p:nvPr/>
        </p:nvSpPr>
        <p:spPr>
          <a:xfrm>
            <a:off x="546100" y="23495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1~2</a:t>
            </a:r>
          </a:p>
        </p:txBody>
      </p:sp>
      <p:sp>
        <p:nvSpPr>
          <p:cNvPr id="115" name="S115"/>
          <p:cNvSpPr/>
          <p:nvPr/>
        </p:nvSpPr>
        <p:spPr>
          <a:xfrm>
            <a:off x="1562100" y="23495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 txBox="1"/>
          <p:nvPr/>
        </p:nvSpPr>
        <p:spPr>
          <a:xfrm>
            <a:off x="1625600" y="23495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4대 AI 도구 비교·프롬프트</a:t>
            </a:r>
          </a:p>
        </p:txBody>
      </p:sp>
      <p:sp>
        <p:nvSpPr>
          <p:cNvPr id="117" name="S117"/>
          <p:cNvSpPr/>
          <p:nvPr/>
        </p:nvSpPr>
        <p:spPr>
          <a:xfrm>
            <a:off x="3784600" y="23495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3848100" y="23495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데이터 자산화 + 현장 수집</a:t>
            </a:r>
          </a:p>
        </p:txBody>
      </p:sp>
      <p:sp>
        <p:nvSpPr>
          <p:cNvPr id="119" name="S119"/>
          <p:cNvSpPr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120"/>
          <p:cNvSpPr txBox="1"/>
          <p:nvPr/>
        </p:nvSpPr>
        <p:spPr>
          <a:xfrm>
            <a:off x="546100" y="26924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3~4</a:t>
            </a:r>
          </a:p>
        </p:txBody>
      </p:sp>
      <p:sp>
        <p:nvSpPr>
          <p:cNvPr id="121" name="S121"/>
          <p:cNvSpPr/>
          <p:nvPr/>
        </p:nvSpPr>
        <p:spPr>
          <a:xfrm>
            <a:off x="1562100" y="26924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T122"/>
          <p:cNvSpPr txBox="1"/>
          <p:nvPr/>
        </p:nvSpPr>
        <p:spPr>
          <a:xfrm>
            <a:off x="1625600" y="26924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Custom GPT 3개 + Claude Artifacts</a:t>
            </a:r>
          </a:p>
        </p:txBody>
      </p:sp>
      <p:sp>
        <p:nvSpPr>
          <p:cNvPr id="123" name="S123"/>
          <p:cNvSpPr/>
          <p:nvPr/>
        </p:nvSpPr>
        <p:spPr>
          <a:xfrm>
            <a:off x="3784600" y="26924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3848100" y="26924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OCR·STT 디지털화 + 구조화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126"/>
          <p:cNvSpPr txBox="1"/>
          <p:nvPr/>
        </p:nvSpPr>
        <p:spPr>
          <a:xfrm>
            <a:off x="546100" y="30353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Day 5~6</a:t>
            </a:r>
          </a:p>
        </p:txBody>
      </p:sp>
      <p:sp>
        <p:nvSpPr>
          <p:cNvPr id="127" name="S127"/>
          <p:cNvSpPr/>
          <p:nvPr/>
        </p:nvSpPr>
        <p:spPr>
          <a:xfrm>
            <a:off x="1562100" y="30353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1625600" y="30353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AI Agent 자율 위임 + 멀티모달</a:t>
            </a:r>
          </a:p>
        </p:txBody>
      </p:sp>
      <p:sp>
        <p:nvSpPr>
          <p:cNvPr id="129" name="S129"/>
          <p:cNvSpPr/>
          <p:nvPr/>
        </p:nvSpPr>
        <p:spPr>
          <a:xfrm>
            <a:off x="3784600" y="30353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3848100" y="30353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품질 관리 + KPI·90일 로드맵</a:t>
            </a:r>
          </a:p>
        </p:txBody>
      </p:sp>
      <p:sp>
        <p:nvSpPr>
          <p:cNvPr id="131" name="S131"/>
          <p:cNvSpPr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T132"/>
          <p:cNvSpPr txBox="1"/>
          <p:nvPr/>
        </p:nvSpPr>
        <p:spPr>
          <a:xfrm>
            <a:off x="546100" y="33782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산출물</a:t>
            </a:r>
          </a:p>
        </p:txBody>
      </p:sp>
      <p:sp>
        <p:nvSpPr>
          <p:cNvPr id="133" name="S133"/>
          <p:cNvSpPr/>
          <p:nvPr/>
        </p:nvSpPr>
        <p:spPr>
          <a:xfrm>
            <a:off x="1562100" y="33782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134"/>
          <p:cNvSpPr txBox="1"/>
          <p:nvPr/>
        </p:nvSpPr>
        <p:spPr>
          <a:xfrm>
            <a:off x="1625600" y="33782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자사 프로토타입 (90일+)</a:t>
            </a:r>
          </a:p>
        </p:txBody>
      </p:sp>
      <p:sp>
        <p:nvSpPr>
          <p:cNvPr id="135" name="S135"/>
          <p:cNvSpPr/>
          <p:nvPr/>
        </p:nvSpPr>
        <p:spPr>
          <a:xfrm>
            <a:off x="3784600" y="33782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3848100" y="33782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★ 자사 90일 로드맵 (시스템)</a:t>
            </a:r>
          </a:p>
        </p:txBody>
      </p:sp>
      <p:sp>
        <p:nvSpPr>
          <p:cNvPr id="137" name="S137"/>
          <p:cNvSpPr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138"/>
          <p:cNvSpPr txBox="1"/>
          <p:nvPr/>
        </p:nvSpPr>
        <p:spPr>
          <a:xfrm>
            <a:off x="546100" y="37211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마스터</a:t>
            </a:r>
          </a:p>
        </p:txBody>
      </p:sp>
      <p:sp>
        <p:nvSpPr>
          <p:cNvPr id="139" name="S139"/>
          <p:cNvSpPr/>
          <p:nvPr/>
        </p:nvSpPr>
        <p:spPr>
          <a:xfrm>
            <a:off x="1562100" y="37211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T140"/>
          <p:cNvSpPr txBox="1"/>
          <p:nvPr/>
        </p:nvSpPr>
        <p:spPr>
          <a:xfrm>
            <a:off x="1625600" y="37211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AI 도구 + 멀티모달 워크플로우</a:t>
            </a:r>
          </a:p>
        </p:txBody>
      </p:sp>
      <p:sp>
        <p:nvSpPr>
          <p:cNvPr id="141" name="S141"/>
          <p:cNvSpPr/>
          <p:nvPr/>
        </p:nvSpPr>
        <p:spPr>
          <a:xfrm>
            <a:off x="3784600" y="37211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3848100" y="37211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데이터 자산화 5단계 + KPI 마스터</a:t>
            </a:r>
          </a:p>
        </p:txBody>
      </p:sp>
      <p:sp>
        <p:nvSpPr>
          <p:cNvPr id="143" name="S143"/>
          <p:cNvSpPr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144"/>
          <p:cNvSpPr txBox="1"/>
          <p:nvPr/>
        </p:nvSpPr>
        <p:spPr>
          <a:xfrm>
            <a:off x="546100" y="40640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역량</a:t>
            </a:r>
          </a:p>
        </p:txBody>
      </p:sp>
      <p:sp>
        <p:nvSpPr>
          <p:cNvPr id="145" name="S145"/>
          <p:cNvSpPr/>
          <p:nvPr/>
        </p:nvSpPr>
        <p:spPr>
          <a:xfrm>
            <a:off x="1562100" y="4064000"/>
            <a:ext cx="2222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T146"/>
          <p:cNvSpPr txBox="1"/>
          <p:nvPr/>
        </p:nvSpPr>
        <p:spPr>
          <a:xfrm>
            <a:off x="1625600" y="40640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AI 도구 활용 전문가</a:t>
            </a:r>
          </a:p>
        </p:txBody>
      </p:sp>
      <p:sp>
        <p:nvSpPr>
          <p:cNvPr id="147" name="S147"/>
          <p:cNvSpPr/>
          <p:nvPr/>
        </p:nvSpPr>
        <p:spPr>
          <a:xfrm>
            <a:off x="3784600" y="4064000"/>
            <a:ext cx="3238500" cy="342900"/>
          </a:xfrm>
          <a:prstGeom prst="rect">
            <a:avLst/>
          </a:prstGeom>
          <a:solidFill>
            <a:srgbClr val="FAFAFA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3848100" y="40640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E8632C"/>
                </a:solidFill>
              </a:rPr>
              <a:t>데이터 자산화 리더</a:t>
            </a:r>
          </a:p>
        </p:txBody>
      </p:sp>
      <p:sp>
        <p:nvSpPr>
          <p:cNvPr id="149" name="S149"/>
          <p:cNvSpPr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T150"/>
          <p:cNvSpPr txBox="1"/>
          <p:nvPr/>
        </p:nvSpPr>
        <p:spPr>
          <a:xfrm>
            <a:off x="546100" y="4406900"/>
            <a:ext cx="1016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2C2C2C"/>
                </a:solidFill>
              </a:rPr>
              <a:t>★ 통합</a:t>
            </a:r>
          </a:p>
        </p:txBody>
      </p:sp>
      <p:sp>
        <p:nvSpPr>
          <p:cNvPr id="151" name="S151"/>
          <p:cNvSpPr/>
          <p:nvPr/>
        </p:nvSpPr>
        <p:spPr>
          <a:xfrm>
            <a:off x="1562100" y="4406900"/>
            <a:ext cx="2222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152"/>
          <p:cNvSpPr txBox="1"/>
          <p:nvPr/>
        </p:nvSpPr>
        <p:spPr>
          <a:xfrm>
            <a:off x="1625600" y="4406900"/>
            <a:ext cx="2159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6B6B6B"/>
                </a:solidFill>
              </a:rPr>
              <a:t>AI 도구 X 데이터</a:t>
            </a:r>
          </a:p>
        </p:txBody>
      </p:sp>
      <p:sp>
        <p:nvSpPr>
          <p:cNvPr id="153" name="S153"/>
          <p:cNvSpPr/>
          <p:nvPr/>
        </p:nvSpPr>
        <p:spPr>
          <a:xfrm>
            <a:off x="3784600" y="4406900"/>
            <a:ext cx="32385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3848100" y="4406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dirty="0">
                <a:solidFill>
                  <a:srgbClr val="2C2C2C"/>
                </a:solidFill>
              </a:rPr>
              <a:t>★ 산업 AI 전환의 주역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4889500"/>
            <a:ext cx="6477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48895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12일 후 여러분은 — 4 변화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8B9A3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546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전문가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46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8B9A3F"/>
                </a:solidFill>
              </a:rPr>
              <a:t>건설기계 산업의
AI 활용 전문가</a:t>
            </a:r>
          </a:p>
        </p:txBody>
      </p:sp>
      <p:sp>
        <p:nvSpPr>
          <p:cNvPr id="161" name="S161"/>
          <p:cNvSpPr/>
          <p:nvPr/>
        </p:nvSpPr>
        <p:spPr>
          <a:xfrm>
            <a:off x="2197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197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0F3A2E"/>
                </a:solidFill>
              </a:rPr>
              <a:t>자산화 리더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197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4B400"/>
                </a:solidFill>
              </a:rPr>
              <a:t>회사 데이터
자산화 리더</a:t>
            </a:r>
          </a:p>
        </p:txBody>
      </p:sp>
      <p:sp>
        <p:nvSpPr>
          <p:cNvPr id="165" name="S165"/>
          <p:cNvSpPr/>
          <p:nvPr/>
        </p:nvSpPr>
        <p:spPr>
          <a:xfrm>
            <a:off x="3848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E8632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T167"/>
          <p:cNvSpPr txBox="1"/>
          <p:nvPr/>
        </p:nvSpPr>
        <p:spPr>
          <a:xfrm>
            <a:off x="3848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디지털 주역</a:t>
            </a:r>
          </a:p>
        </p:txBody>
      </p:sp>
      <p:sp>
        <p:nvSpPr>
          <p:cNvPr id="168" name="T168"/>
          <p:cNvSpPr txBox="1"/>
          <p:nvPr/>
        </p:nvSpPr>
        <p:spPr>
          <a:xfrm>
            <a:off x="3848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E8632C"/>
                </a:solidFill>
              </a:rPr>
              <a:t>회사 디지털
전환의 주역</a:t>
            </a:r>
          </a:p>
        </p:txBody>
      </p:sp>
      <p:sp>
        <p:nvSpPr>
          <p:cNvPr id="169" name="S169"/>
          <p:cNvSpPr/>
          <p:nvPr/>
        </p:nvSpPr>
        <p:spPr>
          <a:xfrm>
            <a:off x="5499100" y="5397500"/>
            <a:ext cx="152400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0" name="S170"/>
          <p:cNvSpPr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171"/>
          <p:cNvSpPr txBox="1"/>
          <p:nvPr/>
        </p:nvSpPr>
        <p:spPr>
          <a:xfrm>
            <a:off x="5499100" y="53975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산업 변화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5499100" y="5905500"/>
            <a:ext cx="1524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0F3A2E"/>
                </a:solidFill>
              </a:rPr>
              <a:t>산업 AI
변화의 선두주자</a:t>
            </a:r>
          </a:p>
        </p:txBody>
      </p:sp>
      <p:sp>
        <p:nvSpPr>
          <p:cNvPr id="173" name="S173"/>
          <p:cNvSpPr/>
          <p:nvPr/>
        </p:nvSpPr>
        <p:spPr>
          <a:xfrm>
            <a:off x="546100" y="6731000"/>
            <a:ext cx="6477000" cy="9525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S174"/>
          <p:cNvSpPr/>
          <p:nvPr/>
        </p:nvSpPr>
        <p:spPr>
          <a:xfrm>
            <a:off x="546100" y="6731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T175"/>
          <p:cNvSpPr txBox="1"/>
          <p:nvPr/>
        </p:nvSpPr>
        <p:spPr>
          <a:xfrm>
            <a:off x="927100" y="6896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통합 메시지 — "베테랑의 노하우 → 회사 자산 → 글로벌 경쟁력"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927100" y="71882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VOL.01 = AI 도구 손에 익히기 / VOL.02 = 회사 데이터 자산화 마스터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922812" y="7416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DDDDDD"/>
                </a:solidFill>
              </a:rPr>
              <a:t>둘 통합 = 산업 AI 전환의 주역 — 그리고 여러분이 그 변화의 출발점</a:t>
            </a:r>
          </a:p>
        </p:txBody>
      </p:sp>
      <p:sp>
        <p:nvSpPr>
          <p:cNvPr id="178" name="S178"/>
          <p:cNvSpPr/>
          <p:nvPr/>
        </p:nvSpPr>
        <p:spPr>
          <a:xfrm>
            <a:off x="546100" y="7874000"/>
            <a:ext cx="6477000" cy="952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179"/>
          <p:cNvSpPr/>
          <p:nvPr/>
        </p:nvSpPr>
        <p:spPr>
          <a:xfrm>
            <a:off x="546100" y="7874000"/>
            <a:ext cx="76200" cy="952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180"/>
          <p:cNvSpPr txBox="1"/>
          <p:nvPr/>
        </p:nvSpPr>
        <p:spPr>
          <a:xfrm>
            <a:off x="927100" y="8039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핵심 메시지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927100" y="83185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베테랑의 노하우 → 회사 자산 → 글로벌 경쟁력</a:t>
            </a:r>
          </a:p>
        </p:txBody>
      </p:sp>
      <p:sp>
        <p:nvSpPr>
          <p:cNvPr id="182" name="T182"/>
          <p:cNvSpPr txBox="1"/>
          <p:nvPr/>
        </p:nvSpPr>
        <p:spPr>
          <a:xfrm>
            <a:off x="927100" y="8636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FFEEDD"/>
                </a:solidFill>
              </a:rPr>
              <a:t>그리고 여러분이 그 변화의 주역 — 12일 후 산업 AI 변화의 선두주자</a:t>
            </a:r>
          </a:p>
        </p:txBody>
      </p:sp>
      <p:sp>
        <p:nvSpPr>
          <p:cNvPr id="183" name="S183"/>
          <p:cNvSpPr/>
          <p:nvPr/>
        </p:nvSpPr>
        <p:spPr>
          <a:xfrm>
            <a:off x="546100" y="9017000"/>
            <a:ext cx="6477000" cy="952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184"/>
          <p:cNvSpPr txBox="1"/>
          <p:nvPr/>
        </p:nvSpPr>
        <p:spPr>
          <a:xfrm>
            <a:off x="762000" y="9182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💡 본 과정 종료 — 다음 단계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762000" y="94615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1. 부서장 보고 (1주) → Phase 1 PoC 시작 (1개월)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762000" y="96901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2. 분기 KPI 보고 → 연간 임원 보고 → 1년 후 회사 자산화 완성</a:t>
            </a:r>
          </a:p>
        </p:txBody>
      </p:sp>
      <p:sp>
        <p:nvSpPr>
          <p:cNvPr id="187" name="S187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" name="T188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>
                <a:solidFill>
                  <a:srgbClr val="6B6B6B"/>
                </a:solidFill>
              </a:rPr>
              <a:t>VOL.02 · PART 06 · DAY 6</a:t>
            </a:r>
            <a:endParaRPr lang="en-US" sz="800" dirty="0">
              <a:solidFill>
                <a:srgbClr val="6B6B6B"/>
              </a:solidFill>
            </a:endParaRPr>
          </a:p>
        </p:txBody>
      </p:sp>
      <p:sp>
        <p:nvSpPr>
          <p:cNvPr id="189" name="T189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236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90" name="S190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S191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S192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S193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01371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VOL.02 자가진단 종합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자가진단 종합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2C2C2C"/>
                </a:solidFill>
              </a:rPr>
              <a:t>VOL.02 자가진단 종합 (6일 학습 평가)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PART 01~06 마스터 평가 — 데이터 자산화 리더 자격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762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11"/>
          <p:cNvSpPr/>
          <p:nvPr/>
        </p:nvSpPr>
        <p:spPr>
          <a:xfrm>
            <a:off x="762000" y="21590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112"/>
          <p:cNvSpPr txBox="1"/>
          <p:nvPr/>
        </p:nvSpPr>
        <p:spPr>
          <a:xfrm>
            <a:off x="762000" y="2159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270000" y="20955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자산화 개론 — DIKW·암묵지·SECI 마스터 / 4분면 진단표 작성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270000" y="23876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암묵지 → 형식지 변환 + 회사 데이터 자산 인벤토리 식별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27686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546100" y="2768600"/>
            <a:ext cx="762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117"/>
          <p:cNvSpPr/>
          <p:nvPr/>
        </p:nvSpPr>
        <p:spPr>
          <a:xfrm>
            <a:off x="762000" y="29591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118"/>
          <p:cNvSpPr txBox="1"/>
          <p:nvPr/>
        </p:nvSpPr>
        <p:spPr>
          <a:xfrm>
            <a:off x="762000" y="29591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PART 02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270000" y="28956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현장 데이터 수집 — 스마트폰·인터뷰·1주 시스템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270000" y="31877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Forms·인터뷰·정기 사이클 = 비정형 자료 자동 수집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35687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546100" y="3568700"/>
            <a:ext cx="76200" cy="7620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123"/>
          <p:cNvSpPr/>
          <p:nvPr/>
        </p:nvSpPr>
        <p:spPr>
          <a:xfrm>
            <a:off x="762000" y="37592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T124"/>
          <p:cNvSpPr txBox="1"/>
          <p:nvPr/>
        </p:nvSpPr>
        <p:spPr>
          <a:xfrm>
            <a:off x="762000" y="3759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 03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270000" y="36957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OCR·STT 디지털화 — 4기술·다국어·자동 분류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270000" y="39878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도면·점검표·회의·매뉴얼 → 정형 데이터 (1주 → 1H)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43688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4368800"/>
            <a:ext cx="76200" cy="762000"/>
          </a:xfrm>
          <a:prstGeom prst="rect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/>
          <p:nvPr/>
        </p:nvSpPr>
        <p:spPr>
          <a:xfrm>
            <a:off x="762000" y="4559300"/>
            <a:ext cx="381000" cy="381000"/>
          </a:xfrm>
          <a:prstGeom prst="ellipse">
            <a:avLst/>
          </a:prstGeom>
          <a:solidFill>
            <a:srgbClr val="3D7B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130"/>
          <p:cNvSpPr txBox="1"/>
          <p:nvPr/>
        </p:nvSpPr>
        <p:spPr>
          <a:xfrm>
            <a:off x="762000" y="45593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 04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270000" y="44958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구조화·표준화 — 메타데이터·Taxonomy·5 Layer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1270000" y="47879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자사 표준 분류 체계 (BIG WIN) = 회사 운영 헌법</a:t>
            </a:r>
          </a:p>
        </p:txBody>
      </p:sp>
      <p:sp>
        <p:nvSpPr>
          <p:cNvPr id="133" name="S133"/>
          <p:cNvSpPr/>
          <p:nvPr/>
        </p:nvSpPr>
        <p:spPr>
          <a:xfrm>
            <a:off x="546100" y="51689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546100" y="5168900"/>
            <a:ext cx="76200" cy="7620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762000" y="5359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762000" y="5359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 05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270000" y="52959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데이터 품질 관리 — 6차원·클린징·검수·5 Layer 시스템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270000" y="55880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자사 품질 관리 시스템 (BIG WIN) = 회사 자산 신뢰성 인프라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5969000"/>
            <a:ext cx="6477000" cy="762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5969000"/>
            <a:ext cx="76200" cy="76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762000" y="6159500"/>
            <a:ext cx="381000" cy="381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762000" y="61595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 06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70000" y="60960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★ KPI·자사 적용 — ROI 4배 + 90일 로드맵 (★ 본 과정 최종)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270000" y="63881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★ 자사 90일 로드맵 (★ BIG WIN) = 회사 변화의 출발점 + 1년 자산화 완성</a:t>
            </a:r>
          </a:p>
        </p:txBody>
      </p:sp>
      <p:sp>
        <p:nvSpPr>
          <p:cNvPr id="145" name="S145"/>
          <p:cNvSpPr/>
          <p:nvPr/>
        </p:nvSpPr>
        <p:spPr>
          <a:xfrm>
            <a:off x="546100" y="6769100"/>
            <a:ext cx="6477000" cy="762000"/>
          </a:xfrm>
          <a:prstGeom prst="rect">
            <a:avLst/>
          </a:prstGeom>
          <a:solidFill>
            <a:srgbClr val="FFF8E8"/>
          </a:solidFill>
          <a:ln w="9525">
            <a:solidFill>
              <a:srgbClr val="0F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6" name="S146"/>
          <p:cNvSpPr/>
          <p:nvPr/>
        </p:nvSpPr>
        <p:spPr>
          <a:xfrm>
            <a:off x="546100" y="6769100"/>
            <a:ext cx="76200" cy="76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762000" y="6959600"/>
            <a:ext cx="381000" cy="381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762000" y="6959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1270000" y="6896100"/>
            <a:ext cx="5651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0F3A2E"/>
                </a:solidFill>
              </a:rPr>
              <a:t>VOL.02 통과 = 회사 데이터 자산화 리더 자격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1270000" y="7188200"/>
            <a:ext cx="5651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PART 01~06 6 BIG WIN 산출물 = 회사 변화 가능한 시스템 완성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6731000" y="69342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0F3A2E"/>
                </a:solidFill>
              </a:rPr>
              <a:t>🎓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7620000"/>
            <a:ext cx="6477000" cy="114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7620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7785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VOL.02 학습 결과 — 종합 평가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27100" y="81026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E8632C"/>
                </a:solidFill>
              </a:rPr>
              <a:t>6 PART 통과 시 본 과정 수료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927100" y="8509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DDDDDD"/>
                </a:solidFill>
              </a:rPr>
              <a:t>PART 01~06 모든 BIG WIN 산출물 보유 = 회사 데이터 자산화 리더 자격</a:t>
            </a:r>
          </a:p>
        </p:txBody>
      </p:sp>
      <p:sp>
        <p:nvSpPr>
          <p:cNvPr id="157" name="S157"/>
          <p:cNvSpPr/>
          <p:nvPr/>
        </p:nvSpPr>
        <p:spPr>
          <a:xfrm>
            <a:off x="546100" y="8953500"/>
            <a:ext cx="64770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S158"/>
          <p:cNvSpPr/>
          <p:nvPr/>
        </p:nvSpPr>
        <p:spPr>
          <a:xfrm>
            <a:off x="546100" y="8953500"/>
            <a:ext cx="76200" cy="1016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927100" y="91186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💡 다음 단계 1주일 체크리스트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927100" y="9398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부서장 1쪽 보고서 (PART 06 ROI 4배 사례) → Day 1 일정 잡기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27100" y="96520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챔피언 후보 1명 추천 + Phase 1 PoC 가동 일정 캘린더 등록 (1개월 내)</a:t>
            </a:r>
          </a:p>
        </p:txBody>
      </p:sp>
      <p:sp>
        <p:nvSpPr>
          <p:cNvPr id="162" name="S162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T163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237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5" name="S165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S166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S167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168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82480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다음 단계·실행 약속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실행 약속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2C2C2C"/>
                </a:solidFill>
              </a:rPr>
              <a:t>🚀 다음 단계 + 실행 약속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1주일 / 1개월 / 90일 / 1년 — 4 마일스톤 약속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016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546100" y="1968500"/>
            <a:ext cx="76200" cy="1016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0955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E8632C"/>
                </a:solidFill>
              </a:rPr>
              <a:t>★ 1주일 약속 — 가장 중요한 첫 단계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762000" y="23876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부서장 1쪽 보고서 (PART 06 ROI 4배) — 정량 효과 + 90일 plan 포함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762000" y="25400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챔피언 후보 1명 추천 — 데이터 자산화 의지 + 일관성 있는 동료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762000" y="26924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Day 1 PoC 일정 캘린더 등록 — "미루지 않기 위한 강제장치"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762000" y="2844800"/>
            <a:ext cx="61595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2C2C2C"/>
                </a:solidFill>
              </a:rPr>
              <a:t>✓  ★ 첫 1주가 90% 결정 — 일정 잡지 않으면 영원히 시작 X</a:t>
            </a:r>
          </a:p>
        </p:txBody>
      </p:sp>
      <p:sp>
        <p:nvSpPr>
          <p:cNvPr id="116" name="S116"/>
          <p:cNvSpPr/>
          <p:nvPr/>
        </p:nvSpPr>
        <p:spPr>
          <a:xfrm>
            <a:off x="546100" y="3175000"/>
            <a:ext cx="6477000" cy="381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175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4B400"/>
                </a:solidFill>
              </a:rPr>
              <a:t>4 마일스톤 — 1주 → 1개월 → 90일 → 1년</a:t>
            </a:r>
          </a:p>
        </p:txBody>
      </p:sp>
      <p:sp>
        <p:nvSpPr>
          <p:cNvPr id="118" name="S118"/>
          <p:cNvSpPr/>
          <p:nvPr/>
        </p:nvSpPr>
        <p:spPr>
          <a:xfrm>
            <a:off x="546100" y="36830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/>
          <p:nvPr/>
        </p:nvSpPr>
        <p:spPr>
          <a:xfrm>
            <a:off x="546100" y="3683000"/>
            <a:ext cx="762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/>
          <p:nvPr/>
        </p:nvSpPr>
        <p:spPr>
          <a:xfrm>
            <a:off x="698500" y="3911600"/>
            <a:ext cx="381000" cy="381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/>
          <p:nvPr/>
        </p:nvSpPr>
        <p:spPr>
          <a:xfrm>
            <a:off x="698500" y="3911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206500" y="38354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📅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587500" y="38354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1주일 — 부서장 보고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587500" y="41656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1쪽 보고서 + 챔피언 추천 + Day 1 일정 잡기</a:t>
            </a:r>
          </a:p>
        </p:txBody>
      </p:sp>
      <p:sp>
        <p:nvSpPr>
          <p:cNvPr id="125" name="S125"/>
          <p:cNvSpPr/>
          <p:nvPr/>
        </p:nvSpPr>
        <p:spPr>
          <a:xfrm>
            <a:off x="546100" y="4546600"/>
            <a:ext cx="6477000" cy="825500"/>
          </a:xfrm>
          <a:prstGeom prst="rect">
            <a:avLst/>
          </a:prstGeom>
          <a:solidFill>
            <a:srgbClr val="FFF8E8"/>
          </a:solidFill>
          <a:ln w="9525">
            <a:solidFill>
              <a:srgbClr val="F4B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S126"/>
          <p:cNvSpPr/>
          <p:nvPr/>
        </p:nvSpPr>
        <p:spPr>
          <a:xfrm>
            <a:off x="546100" y="45466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7"/>
          <p:cNvSpPr/>
          <p:nvPr/>
        </p:nvSpPr>
        <p:spPr>
          <a:xfrm>
            <a:off x="698500" y="4775200"/>
            <a:ext cx="381000" cy="381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T128"/>
          <p:cNvSpPr txBox="1"/>
          <p:nvPr/>
        </p:nvSpPr>
        <p:spPr>
          <a:xfrm>
            <a:off x="698500" y="477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F3A2E"/>
                </a:solidFill>
              </a:rPr>
              <a:t>2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1206500" y="46990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1587500" y="46990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1개월 — Phase 1 PoC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1587500" y="50292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도구 가동 + KPI 측정 + 첫 효과 가시화 + 부서장 신뢰</a:t>
            </a:r>
          </a:p>
        </p:txBody>
      </p:sp>
      <p:sp>
        <p:nvSpPr>
          <p:cNvPr id="132" name="S132"/>
          <p:cNvSpPr/>
          <p:nvPr/>
        </p:nvSpPr>
        <p:spPr>
          <a:xfrm>
            <a:off x="546100" y="54102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S133"/>
          <p:cNvSpPr/>
          <p:nvPr/>
        </p:nvSpPr>
        <p:spPr>
          <a:xfrm>
            <a:off x="546100" y="5410200"/>
            <a:ext cx="76200" cy="8255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134"/>
          <p:cNvSpPr/>
          <p:nvPr/>
        </p:nvSpPr>
        <p:spPr>
          <a:xfrm>
            <a:off x="698500" y="5638800"/>
            <a:ext cx="381000" cy="381000"/>
          </a:xfrm>
          <a:prstGeom prst="ellipse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/>
          <p:nvPr/>
        </p:nvSpPr>
        <p:spPr>
          <a:xfrm>
            <a:off x="698500" y="5638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1206500" y="55626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🌍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1587500" y="55626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90일 — Phase 1~3 완료</a:t>
            </a:r>
          </a:p>
        </p:txBody>
      </p:sp>
      <p:sp>
        <p:nvSpPr>
          <p:cNvPr id="138" name="T138"/>
          <p:cNvSpPr txBox="1"/>
          <p:nvPr/>
        </p:nvSpPr>
        <p:spPr>
          <a:xfrm>
            <a:off x="1587500" y="58928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PoC + 부서 확산 + 부서간 협업 → 분기 임원 보고</a:t>
            </a:r>
          </a:p>
        </p:txBody>
      </p:sp>
      <p:sp>
        <p:nvSpPr>
          <p:cNvPr id="139" name="S139"/>
          <p:cNvSpPr/>
          <p:nvPr/>
        </p:nvSpPr>
        <p:spPr>
          <a:xfrm>
            <a:off x="546100" y="6273800"/>
            <a:ext cx="6477000" cy="825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" name="S140"/>
          <p:cNvSpPr/>
          <p:nvPr/>
        </p:nvSpPr>
        <p:spPr>
          <a:xfrm>
            <a:off x="546100" y="6273800"/>
            <a:ext cx="76200" cy="825500"/>
          </a:xfrm>
          <a:prstGeom prst="rect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141"/>
          <p:cNvSpPr/>
          <p:nvPr/>
        </p:nvSpPr>
        <p:spPr>
          <a:xfrm>
            <a:off x="698500" y="6502400"/>
            <a:ext cx="381000" cy="381000"/>
          </a:xfrm>
          <a:prstGeom prst="ellipse">
            <a:avLst/>
          </a:prstGeom>
          <a:solidFill>
            <a:srgbClr val="7E3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142"/>
          <p:cNvSpPr txBox="1"/>
          <p:nvPr/>
        </p:nvSpPr>
        <p:spPr>
          <a:xfrm>
            <a:off x="698500" y="65024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1206500" y="6426200"/>
            <a:ext cx="317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2C2C2C"/>
                </a:solidFill>
              </a:rPr>
              <a:t>🏆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1587500" y="6426200"/>
            <a:ext cx="5270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2C2C2C"/>
                </a:solidFill>
              </a:rPr>
              <a:t>1년 — 회사 자산화 완성</a:t>
            </a:r>
          </a:p>
        </p:txBody>
      </p:sp>
      <p:sp>
        <p:nvSpPr>
          <p:cNvPr id="145" name="T145"/>
          <p:cNvSpPr txBox="1"/>
          <p:nvPr/>
        </p:nvSpPr>
        <p:spPr>
          <a:xfrm>
            <a:off x="1587500" y="6756400"/>
            <a:ext cx="5270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950" dirty="0">
                <a:solidFill>
                  <a:srgbClr val="6B6B6B"/>
                </a:solidFill>
              </a:rPr>
              <a:t>Phase 4 전사 확산 + 거버넌스 정책 + 1년 누적 ROI 20억+</a:t>
            </a:r>
          </a:p>
        </p:txBody>
      </p:sp>
      <p:sp>
        <p:nvSpPr>
          <p:cNvPr id="146" name="S146"/>
          <p:cNvSpPr/>
          <p:nvPr/>
        </p:nvSpPr>
        <p:spPr>
          <a:xfrm>
            <a:off x="546100" y="7112000"/>
            <a:ext cx="6477000" cy="11430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S147"/>
          <p:cNvSpPr/>
          <p:nvPr/>
        </p:nvSpPr>
        <p:spPr>
          <a:xfrm>
            <a:off x="546100" y="7112000"/>
            <a:ext cx="76200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148"/>
          <p:cNvSpPr txBox="1"/>
          <p:nvPr/>
        </p:nvSpPr>
        <p:spPr>
          <a:xfrm>
            <a:off x="927100" y="72771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F4B400"/>
                </a:solidFill>
              </a:rPr>
              <a:t>실행 약속 - 자기 자신과의 약속 4가지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27100" y="75565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매주 30분 — KPI 측정 + 챔피언 미팅 (캘린더 정기 반복)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927100" y="77978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FFFFFF"/>
                </a:solidFill>
              </a:rPr>
              <a:t>☐  매월 1회 — 부서장 보고 + 다음 달 plan (월 첫째 주 금요일 등)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927100" y="8039100"/>
            <a:ext cx="5892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b="1" dirty="0">
                <a:solidFill>
                  <a:srgbClr val="F4B400"/>
                </a:solidFill>
              </a:rPr>
              <a:t>☐  분기 1회 — 임원 보고 + 다음 분기 KPI 합의 (일정 사전 등록)</a:t>
            </a:r>
          </a:p>
        </p:txBody>
      </p:sp>
      <p:sp>
        <p:nvSpPr>
          <p:cNvPr id="152" name="S152"/>
          <p:cNvSpPr/>
          <p:nvPr/>
        </p:nvSpPr>
        <p:spPr>
          <a:xfrm>
            <a:off x="546100" y="8445500"/>
            <a:ext cx="6477000" cy="635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153"/>
          <p:cNvSpPr/>
          <p:nvPr/>
        </p:nvSpPr>
        <p:spPr>
          <a:xfrm>
            <a:off x="546100" y="8445500"/>
            <a:ext cx="76200" cy="635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T154"/>
          <p:cNvSpPr txBox="1"/>
          <p:nvPr/>
        </p:nvSpPr>
        <p:spPr>
          <a:xfrm>
            <a:off x="927100" y="8597900"/>
            <a:ext cx="609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F4B400"/>
                </a:solidFill>
              </a:rPr>
              <a:t>효과 — 1주일 약속이 1년 후 회사 변화로 이어지는 "복리" 효과</a:t>
            </a:r>
          </a:p>
        </p:txBody>
      </p:sp>
      <p:sp>
        <p:nvSpPr>
          <p:cNvPr id="155" name="S155"/>
          <p:cNvSpPr/>
          <p:nvPr/>
        </p:nvSpPr>
        <p:spPr>
          <a:xfrm>
            <a:off x="546100" y="9271000"/>
            <a:ext cx="6477000" cy="6985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T156"/>
          <p:cNvSpPr txBox="1"/>
          <p:nvPr/>
        </p:nvSpPr>
        <p:spPr>
          <a:xfrm>
            <a:off x="762000" y="9398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2C2C2C"/>
                </a:solidFill>
              </a:rPr>
              <a:t>💡 핵심 — 일정이 없으면 약속이 아니다</a:t>
            </a:r>
          </a:p>
        </p:txBody>
      </p:sp>
      <p:sp>
        <p:nvSpPr>
          <p:cNvPr id="157" name="T157"/>
          <p:cNvSpPr txBox="1"/>
          <p:nvPr/>
        </p:nvSpPr>
        <p:spPr>
          <a:xfrm>
            <a:off x="762000" y="9677400"/>
            <a:ext cx="609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dirty="0">
                <a:solidFill>
                  <a:srgbClr val="6B6B6B"/>
                </a:solidFill>
              </a:rPr>
              <a:t>캘린더에 등록된 일정만이 "실제 약속" — "하고 싶다"가 아닌 "한다"</a:t>
            </a:r>
          </a:p>
        </p:txBody>
      </p:sp>
      <p:sp>
        <p:nvSpPr>
          <p:cNvPr id="158" name="S15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15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238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61" name="S16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S16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S16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16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5186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0" y="1231900"/>
            <a:ext cx="342900" cy="4953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/>
          <p:nvPr/>
        </p:nvSpPr>
        <p:spPr>
          <a:xfrm>
            <a:off x="0" y="1231900"/>
            <a:ext cx="342900" cy="76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/>
          <p:nvPr/>
        </p:nvSpPr>
        <p:spPr>
          <a:xfrm>
            <a:off x="101600" y="3175000"/>
            <a:ext cx="139700" cy="20447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FFFFFF"/>
                </a:solidFill>
              </a:rPr>
              <a:t>PART 06 · 수료 · 다음 단계로</a:t>
            </a:r>
          </a:p>
        </p:txBody>
      </p:sp>
      <p:sp>
        <p:nvSpPr>
          <p:cNvPr id="104" name="T104"/>
          <p:cNvSpPr txBox="1"/>
          <p:nvPr/>
        </p:nvSpPr>
        <p:spPr>
          <a:xfrm>
            <a:off x="546100" y="3429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dirty="0">
                <a:solidFill>
                  <a:srgbClr val="6B6B6B"/>
                </a:solidFill>
              </a:rPr>
              <a:t>VOL.02 — 현장 데이터 수집 및 디지털화 (암묵지 자산화)</a:t>
            </a:r>
          </a:p>
        </p:txBody>
      </p:sp>
      <p:sp>
        <p:nvSpPr>
          <p:cNvPr id="105" name="T105"/>
          <p:cNvSpPr txBox="1"/>
          <p:nvPr/>
        </p:nvSpPr>
        <p:spPr>
          <a:xfrm>
            <a:off x="4572000" y="342900"/>
            <a:ext cx="245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800" dirty="0">
                <a:solidFill>
                  <a:srgbClr val="6B6B6B"/>
                </a:solidFill>
              </a:rPr>
              <a:t>PART 06 · DAY 6 · 수료</a:t>
            </a:r>
          </a:p>
        </p:txBody>
      </p:sp>
      <p:sp>
        <p:nvSpPr>
          <p:cNvPr id="106" name="S106"/>
          <p:cNvSpPr/>
          <p:nvPr/>
        </p:nvSpPr>
        <p:spPr>
          <a:xfrm>
            <a:off x="546100" y="5969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/>
          <p:nvPr/>
        </p:nvSpPr>
        <p:spPr>
          <a:xfrm>
            <a:off x="889000" y="952500"/>
            <a:ext cx="5778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2C2C2C"/>
                </a:solidFill>
              </a:rPr>
              <a:t>🎓 수료 — 다음 단계로 (본 과정 끝)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889000" y="1422400"/>
            <a:ext cx="577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6B6B6B"/>
                </a:solidFill>
              </a:rPr>
              <a:t>12일 96시간 종착점 — 산업 AI 변화의 주역으로</a:t>
            </a:r>
          </a:p>
        </p:txBody>
      </p:sp>
      <p:sp>
        <p:nvSpPr>
          <p:cNvPr id="109" name="S109"/>
          <p:cNvSpPr/>
          <p:nvPr/>
        </p:nvSpPr>
        <p:spPr>
          <a:xfrm>
            <a:off x="546100" y="1968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S110"/>
          <p:cNvSpPr/>
          <p:nvPr/>
        </p:nvSpPr>
        <p:spPr>
          <a:xfrm>
            <a:off x="762000" y="2247900"/>
            <a:ext cx="762000" cy="762000"/>
          </a:xfrm>
          <a:prstGeom prst="ellipse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111"/>
          <p:cNvSpPr txBox="1"/>
          <p:nvPr/>
        </p:nvSpPr>
        <p:spPr>
          <a:xfrm>
            <a:off x="762000" y="2247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1778000" y="2197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본 과정 학습 결과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1778000" y="2527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E8632C"/>
                </a:solidFill>
              </a:rPr>
              <a:t>VOL.01 + VOL.02 = 12일 통합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1778000" y="2832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AI 도구 마스터 + 데이터 자산화 마스터 = 산업 AI 전환의 주역 자격</a:t>
            </a:r>
          </a:p>
        </p:txBody>
      </p:sp>
      <p:sp>
        <p:nvSpPr>
          <p:cNvPr id="115" name="S115"/>
          <p:cNvSpPr/>
          <p:nvPr/>
        </p:nvSpPr>
        <p:spPr>
          <a:xfrm>
            <a:off x="546100" y="35560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116"/>
          <p:cNvSpPr/>
          <p:nvPr/>
        </p:nvSpPr>
        <p:spPr>
          <a:xfrm>
            <a:off x="762000" y="3835400"/>
            <a:ext cx="762000" cy="7620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117"/>
          <p:cNvSpPr txBox="1"/>
          <p:nvPr/>
        </p:nvSpPr>
        <p:spPr>
          <a:xfrm>
            <a:off x="762000" y="38354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F3A2E"/>
                </a:solidFill>
              </a:rPr>
              <a:t>02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1778000" y="37846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★ 보유 산출물 — 6+1 시스템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1778000" y="41148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4B400"/>
                </a:solidFill>
              </a:rPr>
              <a:t>5종 시스템 + 90일 로드맵 + 통합 비전</a:t>
            </a:r>
          </a:p>
        </p:txBody>
      </p:sp>
      <p:sp>
        <p:nvSpPr>
          <p:cNvPr id="120" name="T120"/>
          <p:cNvSpPr txBox="1"/>
          <p:nvPr/>
        </p:nvSpPr>
        <p:spPr>
          <a:xfrm>
            <a:off x="1778000" y="44196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회사 변화 가능한 시스템 — Phase 1 PoC 가동 가능 (1주일 내)</a:t>
            </a:r>
          </a:p>
        </p:txBody>
      </p:sp>
      <p:sp>
        <p:nvSpPr>
          <p:cNvPr id="121" name="S121"/>
          <p:cNvSpPr/>
          <p:nvPr/>
        </p:nvSpPr>
        <p:spPr>
          <a:xfrm>
            <a:off x="546100" y="5143500"/>
            <a:ext cx="6477000" cy="13970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2"/>
          <p:cNvSpPr/>
          <p:nvPr/>
        </p:nvSpPr>
        <p:spPr>
          <a:xfrm>
            <a:off x="762000" y="5422900"/>
            <a:ext cx="762000" cy="762000"/>
          </a:xfrm>
          <a:prstGeom prst="ellipse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123"/>
          <p:cNvSpPr txBox="1"/>
          <p:nvPr/>
        </p:nvSpPr>
        <p:spPr>
          <a:xfrm>
            <a:off x="762000" y="54229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1778000" y="5372100"/>
            <a:ext cx="5016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C2C2C"/>
                </a:solidFill>
              </a:rPr>
              <a:t>다음 단계 — 1주일 시작</a:t>
            </a:r>
          </a:p>
        </p:txBody>
      </p:sp>
      <p:sp>
        <p:nvSpPr>
          <p:cNvPr id="125" name="T125"/>
          <p:cNvSpPr txBox="1"/>
          <p:nvPr/>
        </p:nvSpPr>
        <p:spPr>
          <a:xfrm>
            <a:off x="1778000" y="5702300"/>
            <a:ext cx="5016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0F3A2E"/>
                </a:solidFill>
              </a:rPr>
              <a:t>부서장 보고 + 챔피언 추천 + Day 1</a:t>
            </a:r>
          </a:p>
        </p:txBody>
      </p:sp>
      <p:sp>
        <p:nvSpPr>
          <p:cNvPr id="126" name="T126"/>
          <p:cNvSpPr txBox="1"/>
          <p:nvPr/>
        </p:nvSpPr>
        <p:spPr>
          <a:xfrm>
            <a:off x="1778000" y="6007100"/>
            <a:ext cx="5016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50" dirty="0">
                <a:solidFill>
                  <a:srgbClr val="6B6B6B"/>
                </a:solidFill>
              </a:rPr>
              <a:t>1주 → 1개월 → 90일 → 1년 — 4 마일스톤 = 회사 변화의 출발점</a:t>
            </a:r>
          </a:p>
        </p:txBody>
      </p:sp>
      <p:sp>
        <p:nvSpPr>
          <p:cNvPr id="127" name="S127"/>
          <p:cNvSpPr/>
          <p:nvPr/>
        </p:nvSpPr>
        <p:spPr>
          <a:xfrm>
            <a:off x="546100" y="6858000"/>
            <a:ext cx="6477000" cy="20320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8"/>
          <p:cNvSpPr/>
          <p:nvPr/>
        </p:nvSpPr>
        <p:spPr>
          <a:xfrm>
            <a:off x="546100" y="6858000"/>
            <a:ext cx="76200" cy="2032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 txBox="1"/>
          <p:nvPr/>
        </p:nvSpPr>
        <p:spPr>
          <a:xfrm>
            <a:off x="927100" y="71120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300" dirty="0">
                <a:solidFill>
                  <a:srgbClr val="F4B400"/>
                </a:solidFill>
              </a:rPr>
              <a:t>본 과정 마지막 메시지</a:t>
            </a:r>
          </a:p>
        </p:txBody>
      </p:sp>
      <p:sp>
        <p:nvSpPr>
          <p:cNvPr id="130" name="T130"/>
          <p:cNvSpPr txBox="1"/>
          <p:nvPr/>
        </p:nvSpPr>
        <p:spPr>
          <a:xfrm>
            <a:off x="927100" y="7493000"/>
            <a:ext cx="589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베테랑의 노하우 → 회사 자산 → 글로벌 경쟁력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927100" y="7937500"/>
            <a:ext cx="5892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★ 그리고 여러분이 그 변화의 주역 — 산업 AI 변화의 선두주자</a:t>
            </a:r>
          </a:p>
        </p:txBody>
      </p:sp>
      <p:sp>
        <p:nvSpPr>
          <p:cNvPr id="132" name="S132"/>
          <p:cNvSpPr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T133"/>
          <p:cNvSpPr txBox="1"/>
          <p:nvPr/>
        </p:nvSpPr>
        <p:spPr>
          <a:xfrm>
            <a:off x="927100" y="8509000"/>
            <a:ext cx="5892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F3A2E"/>
                </a:solidFill>
              </a:rPr>
              <a:t>본 과정 끝 — VOL.01 + VOL.02 통합 12일 96시간 학습 완료 — 수료를 축하합니다</a:t>
            </a:r>
          </a:p>
        </p:txBody>
      </p:sp>
      <p:sp>
        <p:nvSpPr>
          <p:cNvPr id="134" name="S134"/>
          <p:cNvSpPr/>
          <p:nvPr/>
        </p:nvSpPr>
        <p:spPr>
          <a:xfrm>
            <a:off x="546100" y="9144000"/>
            <a:ext cx="6477000" cy="8255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35"/>
          <p:cNvSpPr/>
          <p:nvPr/>
        </p:nvSpPr>
        <p:spPr>
          <a:xfrm>
            <a:off x="546100" y="9144000"/>
            <a:ext cx="76200" cy="8255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136"/>
          <p:cNvSpPr txBox="1"/>
          <p:nvPr/>
        </p:nvSpPr>
        <p:spPr>
          <a:xfrm>
            <a:off x="927100" y="9296400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F4B400"/>
                </a:solidFill>
              </a:rPr>
              <a:t>다음 단계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927100" y="9550400"/>
            <a:ext cx="5892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4B400"/>
                </a:solidFill>
              </a:rPr>
              <a:t>이 책을 덮는 순간 = 회사 변화의 첫 1초 — Day 1 일정 캘린더 등록부터</a:t>
            </a:r>
          </a:p>
        </p:txBody>
      </p:sp>
      <p:sp>
        <p:nvSpPr>
          <p:cNvPr id="138" name="S138"/>
          <p:cNvSpPr/>
          <p:nvPr/>
        </p:nvSpPr>
        <p:spPr>
          <a:xfrm>
            <a:off x="546100" y="10109200"/>
            <a:ext cx="6477000" cy="127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139"/>
          <p:cNvSpPr txBox="1"/>
          <p:nvPr/>
        </p:nvSpPr>
        <p:spPr>
          <a:xfrm>
            <a:off x="2540000" y="102362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00" dirty="0">
                <a:solidFill>
                  <a:srgbClr val="6B6B6B"/>
                </a:solidFill>
              </a:rPr>
              <a:t>VOL.02 · PART 06 · DAY 6 — 끝 / 본 과정 수료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5842000" y="10236200"/>
            <a:ext cx="11811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900">
                <a:solidFill>
                  <a:srgbClr val="6B6B6B"/>
                </a:solidFill>
              </a:rPr>
              <a:t>— 239 —</a:t>
            </a:r>
            <a:endParaRPr lang="en-US" sz="900" dirty="0">
              <a:solidFill>
                <a:srgbClr val="6B6B6B"/>
              </a:solidFill>
            </a:endParaRPr>
          </a:p>
        </p:txBody>
      </p:sp>
      <p:sp>
        <p:nvSpPr>
          <p:cNvPr id="141" name="S141"/>
          <p:cNvSpPr/>
          <p:nvPr/>
        </p:nvSpPr>
        <p:spPr>
          <a:xfrm>
            <a:off x="889000" y="10287000"/>
            <a:ext cx="101600" cy="101600"/>
          </a:xfrm>
          <a:prstGeom prst="rect">
            <a:avLst/>
          </a:prstGeom>
          <a:solidFill>
            <a:srgbClr val="E863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142"/>
          <p:cNvSpPr/>
          <p:nvPr/>
        </p:nvSpPr>
        <p:spPr>
          <a:xfrm>
            <a:off x="1041400" y="10287000"/>
            <a:ext cx="101600" cy="1016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143"/>
          <p:cNvSpPr/>
          <p:nvPr/>
        </p:nvSpPr>
        <p:spPr>
          <a:xfrm>
            <a:off x="1193800" y="10287000"/>
            <a:ext cx="101600" cy="101600"/>
          </a:xfrm>
          <a:prstGeom prst="rect">
            <a:avLst/>
          </a:prstGeom>
          <a:solidFill>
            <a:srgbClr val="8B9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S144"/>
          <p:cNvSpPr/>
          <p:nvPr/>
        </p:nvSpPr>
        <p:spPr>
          <a:xfrm>
            <a:off x="1346200" y="10287000"/>
            <a:ext cx="101600" cy="101600"/>
          </a:xfrm>
          <a:prstGeom prst="rect">
            <a:avLst/>
          </a:prstGeom>
          <a:solidFill>
            <a:srgbClr val="0F3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1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61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DA195C-A656-4048-9098-F5C2EB7549A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a9c0103-cd9a-4aa4-a9c6-44b1cc9d34c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55641</Words>
  <Application>Microsoft Office PowerPoint</Application>
  <PresentationFormat>사용자 지정</PresentationFormat>
  <Paragraphs>9301</Paragraphs>
  <Slides>245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245</vt:i4>
      </vt:variant>
    </vt:vector>
  </HeadingPairs>
  <TitlesOfParts>
    <vt:vector size="250" baseType="lpstr">
      <vt:lpstr>D2Coding</vt:lpstr>
      <vt:lpstr>Malgun Gothic</vt:lpstr>
      <vt:lpstr>Arial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18</cp:revision>
  <dcterms:created xsi:type="dcterms:W3CDTF">2026-05-09T09:15:41Z</dcterms:created>
  <dcterms:modified xsi:type="dcterms:W3CDTF">2026-05-11T04:36:25Z</dcterms:modified>
</cp:coreProperties>
</file>